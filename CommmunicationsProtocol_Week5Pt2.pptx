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366" r:id="rId2"/>
    <p:sldId id="290" r:id="rId3"/>
    <p:sldId id="294" r:id="rId4"/>
    <p:sldId id="323" r:id="rId5"/>
    <p:sldId id="327" r:id="rId6"/>
    <p:sldId id="329" r:id="rId7"/>
    <p:sldId id="330" r:id="rId8"/>
    <p:sldId id="348" r:id="rId9"/>
    <p:sldId id="349" r:id="rId10"/>
    <p:sldId id="350" r:id="rId11"/>
    <p:sldId id="355" r:id="rId12"/>
    <p:sldId id="331" r:id="rId13"/>
    <p:sldId id="368" r:id="rId14"/>
    <p:sldId id="369" r:id="rId15"/>
    <p:sldId id="370" r:id="rId16"/>
    <p:sldId id="371" r:id="rId17"/>
    <p:sldId id="372" r:id="rId18"/>
    <p:sldId id="353" r:id="rId19"/>
    <p:sldId id="359" r:id="rId20"/>
    <p:sldId id="360" r:id="rId21"/>
    <p:sldId id="361" r:id="rId22"/>
    <p:sldId id="364" r:id="rId23"/>
    <p:sldId id="365" r:id="rId24"/>
    <p:sldId id="373" r:id="rId2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521415D9-36F7-43E2-AB2F-B90AF26B5E84}">
      <p14:sectionLst xmlns:p14="http://schemas.microsoft.com/office/powerpoint/2010/main">
        <p14:section name="Publish/Subscribe" id="{EAA3E309-5701-49BB-A225-964D18CB9C10}">
          <p14:sldIdLst>
            <p14:sldId id="366"/>
            <p14:sldId id="290"/>
            <p14:sldId id="294"/>
            <p14:sldId id="323"/>
            <p14:sldId id="327"/>
            <p14:sldId id="329"/>
            <p14:sldId id="330"/>
            <p14:sldId id="348"/>
            <p14:sldId id="349"/>
            <p14:sldId id="350"/>
            <p14:sldId id="355"/>
          </p14:sldIdLst>
        </p14:section>
        <p14:section name="ROS API" id="{5A356496-D4C8-4A7D-A321-B716207821A1}">
          <p14:sldIdLst>
            <p14:sldId id="331"/>
          </p14:sldIdLst>
        </p14:section>
        <p14:section name="ROS-Code Intro" id="{0D8C1575-EC63-4BFE-8C48-3B75F8956613}">
          <p14:sldIdLst>
            <p14:sldId id="368"/>
            <p14:sldId id="369"/>
            <p14:sldId id="370"/>
            <p14:sldId id="371"/>
            <p14:sldId id="372"/>
          </p14:sldIdLst>
        </p14:section>
        <p14:section name="Communication Protocols" id="{F2E07FD4-2B33-416A-9536-4EBE07527572}">
          <p14:sldIdLst>
            <p14:sldId id="353"/>
            <p14:sldId id="359"/>
          </p14:sldIdLst>
        </p14:section>
        <p14:section name="Transmission Control Protocol" id="{0C002314-D04A-4AC9-91DC-168130B0B5BF}">
          <p14:sldIdLst>
            <p14:sldId id="360"/>
            <p14:sldId id="361"/>
            <p14:sldId id="364"/>
            <p14:sldId id="365"/>
            <p14:sldId id="3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4" autoAdjust="0"/>
    <p:restoredTop sz="77630" autoAdjust="0"/>
  </p:normalViewPr>
  <p:slideViewPr>
    <p:cSldViewPr snapToGrid="0">
      <p:cViewPr varScale="1">
        <p:scale>
          <a:sx n="77" d="100"/>
          <a:sy n="77" d="100"/>
        </p:scale>
        <p:origin x="79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009A5-4426-4B4A-BAE5-B27F6ED72B9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566269-E0F6-4485-B5C2-D88F85B814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591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566269-E0F6-4485-B5C2-D88F85B8145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98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Asynchronous means write and read may take unequal times.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566269-E0F6-4485-B5C2-D88F85B8145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386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Asynchronous means write and read may take unequal times.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566269-E0F6-4485-B5C2-D88F85B8145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1445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Youtube</a:t>
            </a:r>
            <a:r>
              <a:rPr lang="en-US" dirty="0"/>
              <a:t> video explaining this here: https://www.youtube.com/watch?v=qSjNQC2AT_4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566269-E0F6-4485-B5C2-D88F85B8145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834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Users/mac1/Desktop/KCL%20LOGO%20WOB.png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Volumes/Day1_Data/WORK%20ARCHIVE/%20K/KING'S/11143%20KCL%20POWERPOINT%20UPDATE/BUILD/IMAGES/_DSC8361-rs.jpg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file://localhost/Users/mac1/Desktop/KCL_box_red_485_rgb.png" TargetMode="Externa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Users/mac1/Desktop/KCL_box_red_485_rgb.png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K 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CL-LOGO-INTERNATIONAL.png"/>
          <p:cNvPicPr>
            <a:picLocks noChangeAspect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959" y="1397958"/>
            <a:ext cx="7814084" cy="4062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27500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joint - a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_DSC1517.jpg"/>
          <p:cNvPicPr>
            <a:picLocks noChangeAspect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45" r="4990" b="23836"/>
          <a:stretch>
            <a:fillRect/>
          </a:stretch>
        </p:blipFill>
        <p:spPr>
          <a:xfrm>
            <a:off x="0" y="4"/>
            <a:ext cx="12192000" cy="555497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0"/>
            <a:ext cx="12192000" cy="339725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50000"/>
                </a:schemeClr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180001"/>
            <a:ext cx="11232000" cy="1080000"/>
          </a:xfrm>
        </p:spPr>
        <p:txBody>
          <a:bodyPr anchor="b" anchorCtr="0"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1440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480484" y="5733722"/>
            <a:ext cx="8995856" cy="94428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0" name="KCL-LOGO-UK-1.png"/>
          <p:cNvPicPr>
            <a:picLocks noChangeAspect="1"/>
          </p:cNvPicPr>
          <p:nvPr/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000" y="5555734"/>
            <a:ext cx="2280000" cy="1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852332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99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10800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450031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lim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99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026412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99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670448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sea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99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194267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text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>
                <a:solidFill>
                  <a:srgbClr val="0A2D50"/>
                </a:solidFill>
                <a:latin typeface="Impact"/>
                <a:cs typeface="Impac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buNone/>
              <a:defRPr sz="2000">
                <a:latin typeface="Georgia"/>
                <a:cs typeface="Georgia"/>
              </a:defRPr>
            </a:lvl2pPr>
            <a:lvl3pPr marL="269875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3pPr>
            <a:lvl4pPr marL="539750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4pPr>
            <a:lvl5pPr marL="809625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fld id="{42BACF92-AEE7-41BA-9B4D-7151550B7140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52000" y="6498000"/>
            <a:ext cx="960000" cy="360000"/>
          </a:xfrm>
        </p:spPr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fld id="{7BEA97A8-AC6B-4E78-AF1F-D021628EDAA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rgbClr val="C2B6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023520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-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69875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1pPr>
            <a:lvl2pPr marL="539750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2pPr>
            <a:lvl3pPr marL="809625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3pPr>
            <a:lvl4pPr marL="1079500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4pPr>
            <a:lvl5pPr marL="1341438" indent="-261938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fld id="{42BACF92-AEE7-41BA-9B4D-7151550B7140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52000" y="6498000"/>
            <a:ext cx="960000" cy="360000"/>
          </a:xfrm>
        </p:spPr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fld id="{7BEA97A8-AC6B-4E78-AF1F-D021628EDAAE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7826336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 - text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A2D50"/>
                </a:solidFill>
                <a:latin typeface="Impact"/>
                <a:cs typeface="Impact"/>
              </a:defRPr>
            </a:lvl1pPr>
            <a:lvl2pPr marL="0" indent="0">
              <a:buNone/>
              <a:defRPr sz="2000"/>
            </a:lvl2pPr>
            <a:lvl3pPr marL="269875" indent="-269875">
              <a:defRPr sz="2000"/>
            </a:lvl3pPr>
            <a:lvl4pPr marL="539750" indent="-269875">
              <a:defRPr sz="2000"/>
            </a:lvl4pPr>
            <a:lvl5pPr marL="809625" indent="-269875"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A2D50"/>
                </a:solidFill>
                <a:latin typeface="Impact"/>
                <a:cs typeface="Impact"/>
              </a:defRPr>
            </a:lvl1pPr>
            <a:lvl2pPr marL="0" indent="0">
              <a:buNone/>
              <a:defRPr sz="2000"/>
            </a:lvl2pPr>
            <a:lvl3pPr marL="269875" indent="-269875">
              <a:defRPr sz="2000"/>
            </a:lvl3pPr>
            <a:lvl4pPr marL="539750" indent="-269875">
              <a:defRPr sz="2000"/>
            </a:lvl4pPr>
            <a:lvl5pPr marL="809625" indent="-269875"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ACF92-AEE7-41BA-9B4D-7151550B7140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A97A8-AC6B-4E78-AF1F-D021628EDAAE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1171810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 - bullet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ACF92-AEE7-41BA-9B4D-7151550B7140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A97A8-AC6B-4E78-AF1F-D021628EDAAE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226607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x1 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0000" y="1088723"/>
            <a:ext cx="11232000" cy="46805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00" y="5949280"/>
            <a:ext cx="11232000" cy="5487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ACF92-AEE7-41BA-9B4D-7151550B7140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A97A8-AC6B-4E78-AF1F-D021628EDAA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6688453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x 6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0003" y="1088720"/>
            <a:ext cx="3600028" cy="22502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00" y="5949280"/>
            <a:ext cx="11232000" cy="5487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ACF92-AEE7-41BA-9B4D-7151550B7140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A97A8-AC6B-4E78-AF1F-D021628EDAAE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/>
          </p:nvPr>
        </p:nvSpPr>
        <p:spPr>
          <a:xfrm>
            <a:off x="480003" y="3519000"/>
            <a:ext cx="3600028" cy="2254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/>
          </p:nvPr>
        </p:nvSpPr>
        <p:spPr>
          <a:xfrm>
            <a:off x="8111971" y="1088720"/>
            <a:ext cx="3603072" cy="22502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5"/>
          </p:nvPr>
        </p:nvSpPr>
        <p:spPr>
          <a:xfrm>
            <a:off x="8111971" y="3519000"/>
            <a:ext cx="3603072" cy="2254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Picture Placeholder 2"/>
          <p:cNvSpPr>
            <a:spLocks noGrp="1"/>
          </p:cNvSpPr>
          <p:nvPr>
            <p:ph type="pic" idx="16"/>
          </p:nvPr>
        </p:nvSpPr>
        <p:spPr>
          <a:xfrm>
            <a:off x="4295985" y="1088720"/>
            <a:ext cx="3603072" cy="22502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"/>
          <p:cNvSpPr>
            <a:spLocks noGrp="1"/>
          </p:cNvSpPr>
          <p:nvPr>
            <p:ph type="pic" idx="17"/>
          </p:nvPr>
        </p:nvSpPr>
        <p:spPr>
          <a:xfrm>
            <a:off x="4295985" y="3519000"/>
            <a:ext cx="3603072" cy="2254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20" name="Straight Connector 19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7655492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x 4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0000" y="1088720"/>
            <a:ext cx="5496000" cy="22502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00" y="5949280"/>
            <a:ext cx="11232000" cy="5487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ACF92-AEE7-41BA-9B4D-7151550B7140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A97A8-AC6B-4E78-AF1F-D021628EDAAE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/>
          </p:nvPr>
        </p:nvSpPr>
        <p:spPr>
          <a:xfrm>
            <a:off x="480000" y="3519000"/>
            <a:ext cx="5496000" cy="2254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/>
          </p:nvPr>
        </p:nvSpPr>
        <p:spPr>
          <a:xfrm>
            <a:off x="6216001" y="1088720"/>
            <a:ext cx="5499043" cy="22502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5"/>
          </p:nvPr>
        </p:nvSpPr>
        <p:spPr>
          <a:xfrm>
            <a:off x="6216001" y="3519000"/>
            <a:ext cx="5499043" cy="2254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5999733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bullets and image - a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ACF92-AEE7-41BA-9B4D-7151550B7140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A97A8-AC6B-4E78-AF1F-D021628EDAA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6339903" y="1089025"/>
            <a:ext cx="5372100" cy="4860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441483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bullets and image - a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ACF92-AEE7-41BA-9B4D-7151550B7140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A97A8-AC6B-4E78-AF1F-D021628EDAA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80003" y="1089025"/>
            <a:ext cx="5372100" cy="4860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549210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- text/bullets and image - a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A2D50"/>
                </a:solidFill>
                <a:latin typeface="Impact"/>
                <a:cs typeface="Impact"/>
              </a:defRPr>
            </a:lvl1pPr>
            <a:lvl2pPr marL="0" indent="0">
              <a:buNone/>
              <a:defRPr sz="2000"/>
            </a:lvl2pPr>
            <a:lvl3pPr marL="269875" indent="-269875">
              <a:defRPr sz="2000"/>
            </a:lvl3pPr>
            <a:lvl4pPr marL="539750" indent="-269875">
              <a:defRPr sz="2000"/>
            </a:lvl4pPr>
            <a:lvl5pPr marL="809625" indent="-269875"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ACF92-AEE7-41BA-9B4D-7151550B7140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A97A8-AC6B-4E78-AF1F-D021628EDAA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6335668" y="1089025"/>
            <a:ext cx="5376333" cy="4860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4556386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- text/bullets and image - a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A2D50"/>
                </a:solidFill>
                <a:latin typeface="Impact"/>
                <a:cs typeface="Impact"/>
              </a:defRPr>
            </a:lvl1pPr>
            <a:lvl2pPr marL="0" indent="0">
              <a:buNone/>
              <a:defRPr sz="2000"/>
            </a:lvl2pPr>
            <a:lvl3pPr marL="269875" indent="-269875">
              <a:defRPr sz="2000"/>
            </a:lvl3pPr>
            <a:lvl4pPr marL="539750" indent="-269875">
              <a:defRPr sz="2000"/>
            </a:lvl4pPr>
            <a:lvl5pPr marL="809625" indent="-269875"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ACF92-AEE7-41BA-9B4D-7151550B7140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A97A8-AC6B-4E78-AF1F-D021628EDAA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480000" y="1088356"/>
            <a:ext cx="5376333" cy="4860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227484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00" y="3420000"/>
            <a:ext cx="11232000" cy="2520000"/>
          </a:xfrm>
        </p:spPr>
        <p:txBody>
          <a:bodyPr anchor="b" anchorCtr="0">
            <a:normAutofit/>
          </a:bodyPr>
          <a:lstStyle>
            <a:lvl1pPr>
              <a:defRPr sz="1600" b="0" baseline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00" y="6120019"/>
            <a:ext cx="11232000" cy="358407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1200"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12" name="Group 11"/>
          <p:cNvGrpSpPr>
            <a:grpSpLocks noChangeAspect="1"/>
          </p:cNvGrpSpPr>
          <p:nvPr/>
        </p:nvGrpSpPr>
        <p:grpSpPr>
          <a:xfrm>
            <a:off x="9912000" y="3"/>
            <a:ext cx="2280000" cy="1303021"/>
            <a:chOff x="7949775" y="1"/>
            <a:chExt cx="1194225" cy="910000"/>
          </a:xfrm>
        </p:grpSpPr>
        <p:sp>
          <p:nvSpPr>
            <p:cNvPr id="13" name="Rectangle 12"/>
            <p:cNvSpPr/>
            <p:nvPr userDrawn="1"/>
          </p:nvSpPr>
          <p:spPr>
            <a:xfrm>
              <a:off x="7949775" y="1"/>
              <a:ext cx="1194225" cy="91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pic>
          <p:nvPicPr>
            <p:cNvPr id="14" name="KCL-LOGO-UK-1.png"/>
            <p:cNvPicPr>
              <a:picLocks noChangeAspect="1"/>
            </p:cNvPicPr>
            <p:nvPr userDrawn="1"/>
          </p:nvPicPr>
          <p:blipFill>
            <a:blip r:embed="rId2" r:link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9775" y="258"/>
              <a:ext cx="1194225" cy="909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67290090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56793"/>
            <a:ext cx="5384800" cy="426946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2130"/>
            </a:lvl2pPr>
            <a:lvl3pPr>
              <a:defRPr sz="1870"/>
            </a:lvl3pPr>
            <a:lvl4pPr>
              <a:defRPr sz="2133"/>
            </a:lvl4pPr>
            <a:lvl5pPr>
              <a:defRPr sz="2133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7276534-D227-482D-AC62-73FA3EB83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2BACF92-AEE7-41BA-9B4D-7151550B7140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9FEEBE0-EE3E-44CA-9D29-BE798CB79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1" y="6356351"/>
            <a:ext cx="3860800" cy="36618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646E212-76A5-422F-A842-EDE34BF20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EA97A8-AC6B-4E78-AF1F-D021628EDAA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5"/>
          <p:cNvSpPr>
            <a:spLocks noGrp="1"/>
          </p:cNvSpPr>
          <p:nvPr>
            <p:ph type="title"/>
          </p:nvPr>
        </p:nvSpPr>
        <p:spPr>
          <a:xfrm>
            <a:off x="609600" y="793378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08483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15"/>
          <p:cNvSpPr>
            <a:spLocks noGrp="1"/>
          </p:cNvSpPr>
          <p:nvPr>
            <p:ph sz="quarter" idx="13"/>
          </p:nvPr>
        </p:nvSpPr>
        <p:spPr>
          <a:xfrm>
            <a:off x="609601" y="1628799"/>
            <a:ext cx="10972800" cy="453650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algn="r">
              <a:defRPr/>
            </a:lvl1pPr>
          </a:lstStyle>
          <a:p>
            <a:fld id="{42BACF92-AEE7-41BA-9B4D-7151550B7140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BEA97A8-AC6B-4E78-AF1F-D021628EDAAE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itle 5"/>
          <p:cNvSpPr>
            <a:spLocks noGrp="1"/>
          </p:cNvSpPr>
          <p:nvPr>
            <p:ph type="title"/>
          </p:nvPr>
        </p:nvSpPr>
        <p:spPr>
          <a:xfrm>
            <a:off x="609600" y="793378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20916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rategy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15"/>
          <p:cNvSpPr>
            <a:spLocks noGrp="1"/>
          </p:cNvSpPr>
          <p:nvPr>
            <p:ph sz="quarter" idx="13"/>
          </p:nvPr>
        </p:nvSpPr>
        <p:spPr>
          <a:xfrm>
            <a:off x="609601" y="1628799"/>
            <a:ext cx="10972800" cy="453650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algn="r">
              <a:defRPr/>
            </a:lvl1pPr>
          </a:lstStyle>
          <a:p>
            <a:fld id="{42BACF92-AEE7-41BA-9B4D-7151550B7140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BEA97A8-AC6B-4E78-AF1F-D021628EDAAE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itle 5"/>
          <p:cNvSpPr>
            <a:spLocks noGrp="1"/>
          </p:cNvSpPr>
          <p:nvPr>
            <p:ph type="title"/>
          </p:nvPr>
        </p:nvSpPr>
        <p:spPr>
          <a:xfrm>
            <a:off x="609600" y="793378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24257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91C3AB7-B446-4F72-ABF4-5CD8EB436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2BACF92-AEE7-41BA-9B4D-7151550B7140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A30E2C6-999F-4EDE-95E6-51D642113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EA97A8-AC6B-4E78-AF1F-D021628EDAA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2A6D1-940A-4FE1-91A1-99304940D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1" y="6356351"/>
            <a:ext cx="3860800" cy="36618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255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0000" y="180000"/>
            <a:ext cx="11232000" cy="720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000" y="1089220"/>
            <a:ext cx="11232000" cy="4856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0000" y="6498000"/>
            <a:ext cx="960000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>
                <a:solidFill>
                  <a:schemeClr val="tx2"/>
                </a:solidFill>
                <a:latin typeface="Georgia"/>
                <a:cs typeface="Georgia"/>
              </a:defRPr>
            </a:lvl1pPr>
          </a:lstStyle>
          <a:p>
            <a:fld id="{42BACF92-AEE7-41BA-9B4D-7151550B7140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0000" y="6498000"/>
            <a:ext cx="9312000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>
                <a:solidFill>
                  <a:schemeClr val="tx2"/>
                </a:solidFill>
                <a:latin typeface="Georgia"/>
                <a:cs typeface="Georgia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2000" y="6498000"/>
            <a:ext cx="960000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lvl1pPr algn="r">
              <a:defRPr sz="1000">
                <a:solidFill>
                  <a:schemeClr val="tx2"/>
                </a:solidFill>
                <a:latin typeface="Georgia"/>
                <a:cs typeface="Georgia"/>
              </a:defRPr>
            </a:lvl1pPr>
          </a:lstStyle>
          <a:p>
            <a:fld id="{7BEA97A8-AC6B-4E78-AF1F-D021628ED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392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transition>
    <p:fade/>
  </p:transition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rgbClr val="0A2D50"/>
          </a:solidFill>
          <a:latin typeface="Impact"/>
          <a:ea typeface="+mj-ea"/>
          <a:cs typeface="Impact"/>
        </a:defRPr>
      </a:lvl1pPr>
    </p:titleStyle>
    <p:bodyStyle>
      <a:lvl1pPr marL="269875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Georgia"/>
          <a:ea typeface="+mn-ea"/>
          <a:cs typeface="Georgia"/>
        </a:defRPr>
      </a:lvl1pPr>
      <a:lvl2pPr marL="539750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Georgia"/>
          <a:ea typeface="+mn-ea"/>
          <a:cs typeface="Georgia"/>
        </a:defRPr>
      </a:lvl2pPr>
      <a:lvl3pPr marL="809625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Georgia"/>
          <a:ea typeface="+mn-ea"/>
          <a:cs typeface="Georgia"/>
        </a:defRPr>
      </a:lvl3pPr>
      <a:lvl4pPr marL="1079500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Georgia"/>
          <a:ea typeface="+mn-ea"/>
          <a:cs typeface="Georgia"/>
        </a:defRPr>
      </a:lvl4pPr>
      <a:lvl5pPr marL="1341438" indent="-261938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Georgia"/>
          <a:ea typeface="+mn-ea"/>
          <a:cs typeface="Georgia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ros.org/en/foxy/Tutorials/Beginner-Client-Libraries/Creating-Your-First-ROS2-Package.html" TargetMode="External"/><Relationship Id="rId2" Type="http://schemas.openxmlformats.org/officeDocument/2006/relationships/hyperlink" Target="https://docs.ros.org/en/kilted/Tutorials/Beginner-Client-Libraries/Creating-A-Workspace/Creating-A-Workspace.html" TargetMode="Externa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docs.ros.org/en/foxy/Concepts/About-ROS-Interfaces.html#message-description-specification" TargetMode="Externa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ros.org/en/foxy/Concepts/About-Domain-ID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github.com/openigtlink/ros2_igtl_bridge" TargetMode="External"/><Relationship Id="rId4" Type="http://schemas.openxmlformats.org/officeDocument/2006/relationships/hyperlink" Target="https://openigtlink.org/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C0BA1EB-1949-4708-884C-5B234C9A0A39}"/>
              </a:ext>
            </a:extLst>
          </p:cNvPr>
          <p:cNvSpPr txBox="1"/>
          <p:nvPr/>
        </p:nvSpPr>
        <p:spPr>
          <a:xfrm>
            <a:off x="0" y="150982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+mj-lt"/>
              </a:rPr>
              <a:t>Image-guided Navigation for Robotics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984BE8-D9D7-4702-AC20-1B3D92B8229D}"/>
              </a:ext>
            </a:extLst>
          </p:cNvPr>
          <p:cNvSpPr txBox="1"/>
          <p:nvPr/>
        </p:nvSpPr>
        <p:spPr>
          <a:xfrm>
            <a:off x="1488557" y="2340821"/>
            <a:ext cx="85804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Communication Protocols: Pt. </a:t>
            </a:r>
            <a:r>
              <a:rPr lang="en-US" sz="3200">
                <a:latin typeface="+mj-lt"/>
              </a:rPr>
              <a:t>2 </a:t>
            </a:r>
            <a:r>
              <a:rPr lang="en-US" sz="3200" dirty="0">
                <a:latin typeface="+mj-lt"/>
              </a:rPr>
              <a:t>Non-API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796224-C4FA-4630-94A6-BA5E5072FA86}"/>
              </a:ext>
            </a:extLst>
          </p:cNvPr>
          <p:cNvSpPr txBox="1"/>
          <p:nvPr/>
        </p:nvSpPr>
        <p:spPr>
          <a:xfrm>
            <a:off x="154709" y="4882490"/>
            <a:ext cx="70493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n-lt"/>
              </a:rPr>
              <a:t>Rachel Sparks, Ph.D.</a:t>
            </a:r>
          </a:p>
          <a:p>
            <a:r>
              <a:rPr lang="en-US" sz="2400" dirty="0">
                <a:latin typeface="+mn-lt"/>
              </a:rPr>
              <a:t>Rachel.sparks@kcl.ac.uk</a:t>
            </a:r>
          </a:p>
          <a:p>
            <a:r>
              <a:rPr lang="en-US" sz="2400" dirty="0">
                <a:latin typeface="+mj-lt"/>
              </a:rPr>
              <a:t>Lecturer in Surgical &amp; Interventional Engineering</a:t>
            </a:r>
          </a:p>
          <a:p>
            <a:r>
              <a:rPr lang="en-US" sz="2400" dirty="0">
                <a:latin typeface="+mj-lt"/>
              </a:rPr>
              <a:t>School of Biomedical Engineering &amp; Imaging Sciences</a:t>
            </a:r>
          </a:p>
        </p:txBody>
      </p:sp>
    </p:spTree>
    <p:extLst>
      <p:ext uri="{BB962C8B-B14F-4D97-AF65-F5344CB8AC3E}">
        <p14:creationId xmlns:p14="http://schemas.microsoft.com/office/powerpoint/2010/main" val="235385599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65D5D9-ABE2-4DDE-8E7A-033D7C1C8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Protocols Part 1 Recap: API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8890CBE-A55D-4974-BB14-3A733A6C1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software intermediary that allows two pieces of software to communicate</a:t>
            </a:r>
          </a:p>
          <a:p>
            <a:pPr marL="539750" lvl="2" indent="0">
              <a:buNone/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59C6B1-949A-474F-A9EE-E750D102443B}"/>
              </a:ext>
            </a:extLst>
          </p:cNvPr>
          <p:cNvSpPr txBox="1"/>
          <p:nvPr/>
        </p:nvSpPr>
        <p:spPr>
          <a:xfrm>
            <a:off x="6851904" y="3020324"/>
            <a:ext cx="3584448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dirty="0"/>
              <a:t>Software 2</a:t>
            </a:r>
          </a:p>
          <a:p>
            <a:pPr algn="ctr"/>
            <a:endParaRPr lang="en-US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920F90B-9BFF-4D73-AA2E-7C00227D7ACC}"/>
              </a:ext>
            </a:extLst>
          </p:cNvPr>
          <p:cNvSpPr/>
          <p:nvPr/>
        </p:nvSpPr>
        <p:spPr>
          <a:xfrm>
            <a:off x="4791456" y="3020324"/>
            <a:ext cx="2060448" cy="438912"/>
          </a:xfrm>
          <a:prstGeom prst="rightArrow">
            <a:avLst/>
          </a:prstGeom>
          <a:solidFill>
            <a:srgbClr val="D80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Variable 1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6F1DFDA3-41A8-472A-95FE-B20BBC08079F}"/>
              </a:ext>
            </a:extLst>
          </p:cNvPr>
          <p:cNvSpPr/>
          <p:nvPr/>
        </p:nvSpPr>
        <p:spPr>
          <a:xfrm>
            <a:off x="4791456" y="3429000"/>
            <a:ext cx="2060448" cy="438912"/>
          </a:xfrm>
          <a:prstGeom prst="rightArrow">
            <a:avLst/>
          </a:prstGeom>
          <a:solidFill>
            <a:srgbClr val="D80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Variable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28AC0B-329F-47E2-8D2E-AF09D33DC186}"/>
              </a:ext>
            </a:extLst>
          </p:cNvPr>
          <p:cNvSpPr txBox="1"/>
          <p:nvPr/>
        </p:nvSpPr>
        <p:spPr>
          <a:xfrm>
            <a:off x="1207008" y="2967335"/>
            <a:ext cx="3584448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dirty="0"/>
              <a:t>Software 1</a:t>
            </a:r>
          </a:p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31B8BA-48F7-45C3-A82C-18C82E29BE27}"/>
              </a:ext>
            </a:extLst>
          </p:cNvPr>
          <p:cNvSpPr txBox="1"/>
          <p:nvPr/>
        </p:nvSpPr>
        <p:spPr>
          <a:xfrm>
            <a:off x="1207008" y="2967335"/>
            <a:ext cx="3584448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dirty="0"/>
              <a:t>Class 1</a:t>
            </a:r>
          </a:p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C0C9A0-4AC3-4B0D-AFBD-4FFE5E9A0204}"/>
              </a:ext>
            </a:extLst>
          </p:cNvPr>
          <p:cNvSpPr txBox="1"/>
          <p:nvPr/>
        </p:nvSpPr>
        <p:spPr>
          <a:xfrm>
            <a:off x="6851904" y="3020324"/>
            <a:ext cx="3584448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dirty="0"/>
              <a:t>Class 2</a:t>
            </a:r>
          </a:p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62E2E7-81AA-4BA6-A876-3DD749F06448}"/>
              </a:ext>
            </a:extLst>
          </p:cNvPr>
          <p:cNvSpPr txBox="1"/>
          <p:nvPr/>
        </p:nvSpPr>
        <p:spPr>
          <a:xfrm>
            <a:off x="1207008" y="2961453"/>
            <a:ext cx="3584448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dirty="0"/>
              <a:t>Process1</a:t>
            </a:r>
          </a:p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BE01AC-232D-4121-8FB7-E4631CE64F5D}"/>
              </a:ext>
            </a:extLst>
          </p:cNvPr>
          <p:cNvSpPr txBox="1"/>
          <p:nvPr/>
        </p:nvSpPr>
        <p:spPr>
          <a:xfrm>
            <a:off x="6851904" y="3020324"/>
            <a:ext cx="3584448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dirty="0"/>
              <a:t>Process2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1072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65D5D9-ABE2-4DDE-8E7A-033D7C1C8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Protocols Part 1 Recap: API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8890CBE-A55D-4974-BB14-3A733A6C1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software intermediary that allows two pieces of software to communicate</a:t>
            </a:r>
          </a:p>
          <a:p>
            <a:pPr lvl="2"/>
            <a:r>
              <a:rPr lang="en-US" dirty="0"/>
              <a:t>Comes in many different </a:t>
            </a:r>
            <a:r>
              <a:rPr lang="en-US" dirty="0" err="1"/>
              <a:t>flavours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Any command line input, user interface or program you have written or called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99B3FE-41C4-40BF-B41C-8D0586EA31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807" y="3322364"/>
            <a:ext cx="2057687" cy="2267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26C5A07-6FA5-4159-9E63-DE34FE484C2E}"/>
              </a:ext>
            </a:extLst>
          </p:cNvPr>
          <p:cNvSpPr txBox="1"/>
          <p:nvPr/>
        </p:nvSpPr>
        <p:spPr>
          <a:xfrm>
            <a:off x="0" y="5552870"/>
            <a:ext cx="238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n-lt"/>
              </a:rPr>
              <a:t>USER INTERFACE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FDFE35-A1A1-4372-AED6-29B892928B2B}"/>
              </a:ext>
            </a:extLst>
          </p:cNvPr>
          <p:cNvSpPr txBox="1"/>
          <p:nvPr/>
        </p:nvSpPr>
        <p:spPr>
          <a:xfrm>
            <a:off x="7691838" y="5552870"/>
            <a:ext cx="4929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n-lt"/>
              </a:rPr>
              <a:t>FUNCTION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614ACD-2319-4F6F-9DCA-6CD93926E58E}"/>
              </a:ext>
            </a:extLst>
          </p:cNvPr>
          <p:cNvSpPr txBox="1"/>
          <p:nvPr/>
        </p:nvSpPr>
        <p:spPr>
          <a:xfrm>
            <a:off x="7968065" y="3994332"/>
            <a:ext cx="43770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MyAwesomeClass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def run(self, var1, var2):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return output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9B468D-D50C-4890-AD9B-42D3D44B73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9300" y="4100858"/>
            <a:ext cx="5578764" cy="67351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19FBA67-83FB-4608-BA11-55B3613D097F}"/>
              </a:ext>
            </a:extLst>
          </p:cNvPr>
          <p:cNvSpPr txBox="1"/>
          <p:nvPr/>
        </p:nvSpPr>
        <p:spPr>
          <a:xfrm>
            <a:off x="2492936" y="5552870"/>
            <a:ext cx="4929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n-lt"/>
              </a:rPr>
              <a:t>COMMAND</a:t>
            </a:r>
          </a:p>
        </p:txBody>
      </p:sp>
    </p:spTree>
    <p:extLst>
      <p:ext uri="{BB962C8B-B14F-4D97-AF65-F5344CB8AC3E}">
        <p14:creationId xmlns:p14="http://schemas.microsoft.com/office/powerpoint/2010/main" val="28245489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7C1B9-92AD-4FC3-98CB-C719D56C3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Protocols Part 1 Recap: Rest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AACDF-A8FF-4405-B828-E474C59CB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Client queries a server</a:t>
            </a:r>
          </a:p>
          <a:p>
            <a:r>
              <a:rPr lang="en-US" dirty="0"/>
              <a:t>Each client message to server contains all necessary information to run algorithm</a:t>
            </a:r>
          </a:p>
          <a:p>
            <a:r>
              <a:rPr lang="en-US" dirty="0"/>
              <a:t>Each message treated independently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54577B-1A56-44CA-ACAB-841918AAA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071" y="3592954"/>
            <a:ext cx="9975858" cy="146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99705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39915-9A88-425E-891B-F4EA5031F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Publish-Subscribe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9813D-2849-4CF9-BE42-E769DCE85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1089220"/>
            <a:ext cx="5225856" cy="4856400"/>
          </a:xfrm>
        </p:spPr>
        <p:txBody>
          <a:bodyPr/>
          <a:lstStyle/>
          <a:p>
            <a:r>
              <a:rPr lang="en-US" dirty="0"/>
              <a:t>Publisher writes messages</a:t>
            </a:r>
          </a:p>
          <a:p>
            <a:r>
              <a:rPr lang="en-US" dirty="0"/>
              <a:t>Subscribers read messages</a:t>
            </a:r>
          </a:p>
          <a:p>
            <a:pPr lvl="2"/>
            <a:r>
              <a:rPr lang="en-US" dirty="0"/>
              <a:t>FIFO (First In – First Out)</a:t>
            </a:r>
          </a:p>
          <a:p>
            <a:r>
              <a:rPr lang="en-US" dirty="0"/>
              <a:t>Asynchronous – which is great because publisher will continue to write to file even when subscriber is still acting on an earlier message</a:t>
            </a:r>
          </a:p>
          <a:p>
            <a:r>
              <a:rPr lang="en-US" dirty="0"/>
              <a:t>Lossy format</a:t>
            </a:r>
          </a:p>
          <a:p>
            <a:pPr lvl="2"/>
            <a:r>
              <a:rPr lang="en-US" dirty="0"/>
              <a:t>No error checking to ensure all messages arrive</a:t>
            </a:r>
          </a:p>
          <a:p>
            <a:pPr lvl="2"/>
            <a:r>
              <a:rPr lang="en-US" dirty="0"/>
              <a:t>All messages may not be relevant</a:t>
            </a:r>
          </a:p>
          <a:p>
            <a:r>
              <a:rPr lang="en-US" dirty="0"/>
              <a:t>Very low computational overhead</a:t>
            </a:r>
          </a:p>
          <a:p>
            <a:r>
              <a:rPr lang="en-US" dirty="0"/>
              <a:t>Allows multiple publishers and subscribers</a:t>
            </a:r>
          </a:p>
          <a:p>
            <a:endParaRPr lang="en-US" dirty="0"/>
          </a:p>
          <a:p>
            <a:pPr lvl="2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05FCF2-78BD-4581-8CA4-88E367A40207}"/>
              </a:ext>
            </a:extLst>
          </p:cNvPr>
          <p:cNvSpPr/>
          <p:nvPr/>
        </p:nvSpPr>
        <p:spPr>
          <a:xfrm>
            <a:off x="9460992" y="2865120"/>
            <a:ext cx="841248" cy="7200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CB4500-FE19-4363-854F-5666D1CCB80F}"/>
              </a:ext>
            </a:extLst>
          </p:cNvPr>
          <p:cNvSpPr/>
          <p:nvPr/>
        </p:nvSpPr>
        <p:spPr>
          <a:xfrm>
            <a:off x="8619744" y="2865120"/>
            <a:ext cx="841248" cy="7200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1D6901-57F8-47A6-8243-CBDDB725F614}"/>
              </a:ext>
            </a:extLst>
          </p:cNvPr>
          <p:cNvSpPr/>
          <p:nvPr/>
        </p:nvSpPr>
        <p:spPr>
          <a:xfrm>
            <a:off x="7778496" y="2865120"/>
            <a:ext cx="841248" cy="7200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1C20CF-1FDE-4667-B89F-75AD77C251B6}"/>
              </a:ext>
            </a:extLst>
          </p:cNvPr>
          <p:cNvSpPr/>
          <p:nvPr/>
        </p:nvSpPr>
        <p:spPr>
          <a:xfrm>
            <a:off x="6937248" y="2865120"/>
            <a:ext cx="841248" cy="7200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9C5B99-2B92-48FD-B58B-F52D6946420C}"/>
              </a:ext>
            </a:extLst>
          </p:cNvPr>
          <p:cNvSpPr/>
          <p:nvPr/>
        </p:nvSpPr>
        <p:spPr>
          <a:xfrm>
            <a:off x="6096000" y="2865120"/>
            <a:ext cx="841248" cy="7200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6122BC-AD20-4889-9796-98F60EDA7537}"/>
              </a:ext>
            </a:extLst>
          </p:cNvPr>
          <p:cNvSpPr/>
          <p:nvPr/>
        </p:nvSpPr>
        <p:spPr>
          <a:xfrm>
            <a:off x="5888736" y="1658112"/>
            <a:ext cx="4437888" cy="65836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Publisher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586455-41DB-4BFF-837A-F9800469F70F}"/>
              </a:ext>
            </a:extLst>
          </p:cNvPr>
          <p:cNvSpPr/>
          <p:nvPr/>
        </p:nvSpPr>
        <p:spPr>
          <a:xfrm>
            <a:off x="5864352" y="4285488"/>
            <a:ext cx="4437888" cy="658368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Subscriber</a:t>
            </a:r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3F589D4B-FA5D-4618-9EED-71C2C83B8924}"/>
              </a:ext>
            </a:extLst>
          </p:cNvPr>
          <p:cNvSpPr/>
          <p:nvPr/>
        </p:nvSpPr>
        <p:spPr>
          <a:xfrm>
            <a:off x="9656064" y="3615600"/>
            <a:ext cx="451104" cy="658368"/>
          </a:xfrm>
          <a:prstGeom prst="upArrow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2A6FB88A-44D7-4C3F-AC81-A43C8A355A37}"/>
              </a:ext>
            </a:extLst>
          </p:cNvPr>
          <p:cNvSpPr/>
          <p:nvPr/>
        </p:nvSpPr>
        <p:spPr>
          <a:xfrm>
            <a:off x="8814816" y="3606120"/>
            <a:ext cx="451104" cy="658368"/>
          </a:xfrm>
          <a:prstGeom prst="upArrow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43B2965C-22E1-48AC-B9A6-3D90AB974BC6}"/>
              </a:ext>
            </a:extLst>
          </p:cNvPr>
          <p:cNvSpPr/>
          <p:nvPr/>
        </p:nvSpPr>
        <p:spPr>
          <a:xfrm>
            <a:off x="7973568" y="3627120"/>
            <a:ext cx="451104" cy="658368"/>
          </a:xfrm>
          <a:prstGeom prst="upArrow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Up 13">
            <a:extLst>
              <a:ext uri="{FF2B5EF4-FFF2-40B4-BE49-F238E27FC236}">
                <a16:creationId xmlns:a16="http://schemas.microsoft.com/office/drawing/2014/main" id="{DE756D07-6D5E-46F2-881E-A6ABDC19C35C}"/>
              </a:ext>
            </a:extLst>
          </p:cNvPr>
          <p:cNvSpPr/>
          <p:nvPr/>
        </p:nvSpPr>
        <p:spPr>
          <a:xfrm>
            <a:off x="7132320" y="3628464"/>
            <a:ext cx="451104" cy="658368"/>
          </a:xfrm>
          <a:prstGeom prst="upArrow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4E24FA09-DA07-479C-864E-572ECF53A910}"/>
              </a:ext>
            </a:extLst>
          </p:cNvPr>
          <p:cNvSpPr/>
          <p:nvPr/>
        </p:nvSpPr>
        <p:spPr>
          <a:xfrm>
            <a:off x="6291072" y="3639984"/>
            <a:ext cx="451104" cy="658368"/>
          </a:xfrm>
          <a:prstGeom prst="upArrow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D70EF1AC-71DE-403F-89D5-33B7F7FE931F}"/>
              </a:ext>
            </a:extLst>
          </p:cNvPr>
          <p:cNvSpPr/>
          <p:nvPr/>
        </p:nvSpPr>
        <p:spPr>
          <a:xfrm>
            <a:off x="9656064" y="2316480"/>
            <a:ext cx="451104" cy="518160"/>
          </a:xfrm>
          <a:prstGeom prst="downArrow">
            <a:avLst/>
          </a:prstGeom>
          <a:solidFill>
            <a:srgbClr val="D80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C4C77857-B163-4DA1-A7B3-60C0E519DC45}"/>
              </a:ext>
            </a:extLst>
          </p:cNvPr>
          <p:cNvSpPr/>
          <p:nvPr/>
        </p:nvSpPr>
        <p:spPr>
          <a:xfrm>
            <a:off x="8769096" y="2316480"/>
            <a:ext cx="451104" cy="518160"/>
          </a:xfrm>
          <a:prstGeom prst="downArrow">
            <a:avLst/>
          </a:prstGeom>
          <a:solidFill>
            <a:srgbClr val="D80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940F4E2C-5EE4-46B3-841A-C0EA8E38D9CC}"/>
              </a:ext>
            </a:extLst>
          </p:cNvPr>
          <p:cNvSpPr/>
          <p:nvPr/>
        </p:nvSpPr>
        <p:spPr>
          <a:xfrm>
            <a:off x="7882128" y="2316480"/>
            <a:ext cx="451104" cy="518160"/>
          </a:xfrm>
          <a:prstGeom prst="downArrow">
            <a:avLst/>
          </a:prstGeom>
          <a:solidFill>
            <a:srgbClr val="D80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F292959A-A15F-452D-A490-21B7D18B5F87}"/>
              </a:ext>
            </a:extLst>
          </p:cNvPr>
          <p:cNvSpPr/>
          <p:nvPr/>
        </p:nvSpPr>
        <p:spPr>
          <a:xfrm>
            <a:off x="7132320" y="2316480"/>
            <a:ext cx="451104" cy="518160"/>
          </a:xfrm>
          <a:prstGeom prst="downArrow">
            <a:avLst/>
          </a:prstGeom>
          <a:solidFill>
            <a:srgbClr val="D80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9071BD2C-02E1-479F-9578-91AAF1140C75}"/>
              </a:ext>
            </a:extLst>
          </p:cNvPr>
          <p:cNvSpPr/>
          <p:nvPr/>
        </p:nvSpPr>
        <p:spPr>
          <a:xfrm>
            <a:off x="6271200" y="2316480"/>
            <a:ext cx="451104" cy="518160"/>
          </a:xfrm>
          <a:prstGeom prst="downArrow">
            <a:avLst/>
          </a:prstGeom>
          <a:solidFill>
            <a:srgbClr val="D80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02677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5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12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39915-9A88-425E-891B-F4EA5031F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Publish-Subscribe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9813D-2849-4CF9-BE42-E769DCE85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1089220"/>
            <a:ext cx="5225856" cy="4856400"/>
          </a:xfrm>
        </p:spPr>
        <p:txBody>
          <a:bodyPr/>
          <a:lstStyle/>
          <a:p>
            <a:r>
              <a:rPr lang="en-US" dirty="0"/>
              <a:t>Topics allow publisher to assign messages by type</a:t>
            </a:r>
          </a:p>
          <a:p>
            <a:r>
              <a:rPr lang="en-US" dirty="0"/>
              <a:t>Content filters allow subscribers to determine what messages to read</a:t>
            </a:r>
          </a:p>
          <a:p>
            <a:endParaRPr lang="en-US" dirty="0"/>
          </a:p>
          <a:p>
            <a:pPr lvl="2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05FCF2-78BD-4581-8CA4-88E367A40207}"/>
              </a:ext>
            </a:extLst>
          </p:cNvPr>
          <p:cNvSpPr/>
          <p:nvPr/>
        </p:nvSpPr>
        <p:spPr>
          <a:xfrm>
            <a:off x="9460992" y="2865120"/>
            <a:ext cx="841248" cy="7200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CB4500-FE19-4363-854F-5666D1CCB80F}"/>
              </a:ext>
            </a:extLst>
          </p:cNvPr>
          <p:cNvSpPr/>
          <p:nvPr/>
        </p:nvSpPr>
        <p:spPr>
          <a:xfrm>
            <a:off x="8619744" y="2865120"/>
            <a:ext cx="841248" cy="72000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1D6901-57F8-47A6-8243-CBDDB725F614}"/>
              </a:ext>
            </a:extLst>
          </p:cNvPr>
          <p:cNvSpPr/>
          <p:nvPr/>
        </p:nvSpPr>
        <p:spPr>
          <a:xfrm>
            <a:off x="7778496" y="2865120"/>
            <a:ext cx="841248" cy="7200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1C20CF-1FDE-4667-B89F-75AD77C251B6}"/>
              </a:ext>
            </a:extLst>
          </p:cNvPr>
          <p:cNvSpPr/>
          <p:nvPr/>
        </p:nvSpPr>
        <p:spPr>
          <a:xfrm>
            <a:off x="6937248" y="2865120"/>
            <a:ext cx="841248" cy="72000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9C5B99-2B92-48FD-B58B-F52D6946420C}"/>
              </a:ext>
            </a:extLst>
          </p:cNvPr>
          <p:cNvSpPr/>
          <p:nvPr/>
        </p:nvSpPr>
        <p:spPr>
          <a:xfrm>
            <a:off x="6096000" y="2865120"/>
            <a:ext cx="841248" cy="72000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6122BC-AD20-4889-9796-98F60EDA7537}"/>
              </a:ext>
            </a:extLst>
          </p:cNvPr>
          <p:cNvSpPr/>
          <p:nvPr/>
        </p:nvSpPr>
        <p:spPr>
          <a:xfrm>
            <a:off x="5888736" y="1658112"/>
            <a:ext cx="4437888" cy="65836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Publisher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586455-41DB-4BFF-837A-F9800469F70F}"/>
              </a:ext>
            </a:extLst>
          </p:cNvPr>
          <p:cNvSpPr/>
          <p:nvPr/>
        </p:nvSpPr>
        <p:spPr>
          <a:xfrm>
            <a:off x="5864352" y="4285488"/>
            <a:ext cx="4437888" cy="658368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Subscriber</a:t>
            </a:r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2A6FB88A-44D7-4C3F-AC81-A43C8A355A37}"/>
              </a:ext>
            </a:extLst>
          </p:cNvPr>
          <p:cNvSpPr/>
          <p:nvPr/>
        </p:nvSpPr>
        <p:spPr>
          <a:xfrm>
            <a:off x="8814816" y="3606120"/>
            <a:ext cx="451104" cy="658368"/>
          </a:xfrm>
          <a:prstGeom prst="upArrow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Up 13">
            <a:extLst>
              <a:ext uri="{FF2B5EF4-FFF2-40B4-BE49-F238E27FC236}">
                <a16:creationId xmlns:a16="http://schemas.microsoft.com/office/drawing/2014/main" id="{DE756D07-6D5E-46F2-881E-A6ABDC19C35C}"/>
              </a:ext>
            </a:extLst>
          </p:cNvPr>
          <p:cNvSpPr/>
          <p:nvPr/>
        </p:nvSpPr>
        <p:spPr>
          <a:xfrm>
            <a:off x="7132320" y="3628464"/>
            <a:ext cx="451104" cy="658368"/>
          </a:xfrm>
          <a:prstGeom prst="upArrow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4E24FA09-DA07-479C-864E-572ECF53A910}"/>
              </a:ext>
            </a:extLst>
          </p:cNvPr>
          <p:cNvSpPr/>
          <p:nvPr/>
        </p:nvSpPr>
        <p:spPr>
          <a:xfrm>
            <a:off x="6291072" y="3639984"/>
            <a:ext cx="451104" cy="658368"/>
          </a:xfrm>
          <a:prstGeom prst="upArrow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D70EF1AC-71DE-403F-89D5-33B7F7FE931F}"/>
              </a:ext>
            </a:extLst>
          </p:cNvPr>
          <p:cNvSpPr/>
          <p:nvPr/>
        </p:nvSpPr>
        <p:spPr>
          <a:xfrm>
            <a:off x="9656064" y="2316480"/>
            <a:ext cx="451104" cy="518160"/>
          </a:xfrm>
          <a:prstGeom prst="downArrow">
            <a:avLst/>
          </a:prstGeom>
          <a:solidFill>
            <a:srgbClr val="D80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C4C77857-B163-4DA1-A7B3-60C0E519DC45}"/>
              </a:ext>
            </a:extLst>
          </p:cNvPr>
          <p:cNvSpPr/>
          <p:nvPr/>
        </p:nvSpPr>
        <p:spPr>
          <a:xfrm>
            <a:off x="8769096" y="2316480"/>
            <a:ext cx="451104" cy="518160"/>
          </a:xfrm>
          <a:prstGeom prst="downArrow">
            <a:avLst/>
          </a:prstGeom>
          <a:solidFill>
            <a:srgbClr val="D80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940F4E2C-5EE4-46B3-841A-C0EA8E38D9CC}"/>
              </a:ext>
            </a:extLst>
          </p:cNvPr>
          <p:cNvSpPr/>
          <p:nvPr/>
        </p:nvSpPr>
        <p:spPr>
          <a:xfrm>
            <a:off x="7882128" y="2316480"/>
            <a:ext cx="451104" cy="518160"/>
          </a:xfrm>
          <a:prstGeom prst="downArrow">
            <a:avLst/>
          </a:prstGeom>
          <a:solidFill>
            <a:srgbClr val="D80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F292959A-A15F-452D-A490-21B7D18B5F87}"/>
              </a:ext>
            </a:extLst>
          </p:cNvPr>
          <p:cNvSpPr/>
          <p:nvPr/>
        </p:nvSpPr>
        <p:spPr>
          <a:xfrm>
            <a:off x="7132320" y="2316480"/>
            <a:ext cx="451104" cy="518160"/>
          </a:xfrm>
          <a:prstGeom prst="downArrow">
            <a:avLst/>
          </a:prstGeom>
          <a:solidFill>
            <a:srgbClr val="D80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9071BD2C-02E1-479F-9578-91AAF1140C75}"/>
              </a:ext>
            </a:extLst>
          </p:cNvPr>
          <p:cNvSpPr/>
          <p:nvPr/>
        </p:nvSpPr>
        <p:spPr>
          <a:xfrm>
            <a:off x="6271200" y="2316480"/>
            <a:ext cx="451104" cy="518160"/>
          </a:xfrm>
          <a:prstGeom prst="downArrow">
            <a:avLst/>
          </a:prstGeom>
          <a:solidFill>
            <a:srgbClr val="D80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0794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2" grpId="0" animBg="1"/>
      <p:bldP spid="12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8AF54-E321-4667-AB89-A12B175B3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 Summary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9A4D064-B0A8-4659-BC2F-5081F7786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188101"/>
              </p:ext>
            </p:extLst>
          </p:nvPr>
        </p:nvGraphicFramePr>
        <p:xfrm>
          <a:off x="1255594" y="2501900"/>
          <a:ext cx="8740632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85158">
                  <a:extLst>
                    <a:ext uri="{9D8B030D-6E8A-4147-A177-3AD203B41FA5}">
                      <a16:colId xmlns:a16="http://schemas.microsoft.com/office/drawing/2014/main" val="880394863"/>
                    </a:ext>
                  </a:extLst>
                </a:gridCol>
                <a:gridCol w="2185158">
                  <a:extLst>
                    <a:ext uri="{9D8B030D-6E8A-4147-A177-3AD203B41FA5}">
                      <a16:colId xmlns:a16="http://schemas.microsoft.com/office/drawing/2014/main" val="4140987342"/>
                    </a:ext>
                  </a:extLst>
                </a:gridCol>
                <a:gridCol w="2185158">
                  <a:extLst>
                    <a:ext uri="{9D8B030D-6E8A-4147-A177-3AD203B41FA5}">
                      <a16:colId xmlns:a16="http://schemas.microsoft.com/office/drawing/2014/main" val="3083252771"/>
                    </a:ext>
                  </a:extLst>
                </a:gridCol>
                <a:gridCol w="2185158">
                  <a:extLst>
                    <a:ext uri="{9D8B030D-6E8A-4147-A177-3AD203B41FA5}">
                      <a16:colId xmlns:a16="http://schemas.microsoft.com/office/drawing/2014/main" val="21137317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Coupling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Scalable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Lossy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8716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071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Signal/Slot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034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Depends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840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Publish/Subscriber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954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880591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8AF54-E321-4667-AB89-A12B175B3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180000"/>
            <a:ext cx="11232000" cy="720000"/>
          </a:xfrm>
        </p:spPr>
        <p:txBody>
          <a:bodyPr/>
          <a:lstStyle/>
          <a:p>
            <a:r>
              <a:rPr lang="en-US" dirty="0"/>
              <a:t>API Summary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1E2BD3-D8CF-4210-983B-3E8BEE957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Covered a lot about how to design (architecture) of communication between applications</a:t>
            </a:r>
          </a:p>
          <a:p>
            <a:r>
              <a:rPr lang="en-US" dirty="0"/>
              <a:t>Not a lot about how to communicate that information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9A4D064-B0A8-4659-BC2F-5081F77860F2}"/>
              </a:ext>
            </a:extLst>
          </p:cNvPr>
          <p:cNvGraphicFramePr>
            <a:graphicFrameLocks noGrp="1"/>
          </p:cNvGraphicFramePr>
          <p:nvPr/>
        </p:nvGraphicFramePr>
        <p:xfrm>
          <a:off x="1255594" y="2501900"/>
          <a:ext cx="8740632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85158">
                  <a:extLst>
                    <a:ext uri="{9D8B030D-6E8A-4147-A177-3AD203B41FA5}">
                      <a16:colId xmlns:a16="http://schemas.microsoft.com/office/drawing/2014/main" val="880394863"/>
                    </a:ext>
                  </a:extLst>
                </a:gridCol>
                <a:gridCol w="2185158">
                  <a:extLst>
                    <a:ext uri="{9D8B030D-6E8A-4147-A177-3AD203B41FA5}">
                      <a16:colId xmlns:a16="http://schemas.microsoft.com/office/drawing/2014/main" val="4140987342"/>
                    </a:ext>
                  </a:extLst>
                </a:gridCol>
                <a:gridCol w="2185158">
                  <a:extLst>
                    <a:ext uri="{9D8B030D-6E8A-4147-A177-3AD203B41FA5}">
                      <a16:colId xmlns:a16="http://schemas.microsoft.com/office/drawing/2014/main" val="3083252771"/>
                    </a:ext>
                  </a:extLst>
                </a:gridCol>
                <a:gridCol w="2185158">
                  <a:extLst>
                    <a:ext uri="{9D8B030D-6E8A-4147-A177-3AD203B41FA5}">
                      <a16:colId xmlns:a16="http://schemas.microsoft.com/office/drawing/2014/main" val="21137317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Coupling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Scalable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Lossy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8716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071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Signal/Slot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034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Depends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840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Publish/Subscriber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954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446108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8AF54-E321-4667-AB89-A12B175B3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180000"/>
            <a:ext cx="11232000" cy="720000"/>
          </a:xfrm>
        </p:spPr>
        <p:txBody>
          <a:bodyPr/>
          <a:lstStyle/>
          <a:p>
            <a:r>
              <a:rPr lang="en-US" dirty="0"/>
              <a:t>Communication Protocols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1E2BD3-D8CF-4210-983B-3E8BEE957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Covered a lot about how to design (architecture) of communication between applications</a:t>
            </a:r>
          </a:p>
          <a:p>
            <a:r>
              <a:rPr lang="en-US" dirty="0"/>
              <a:t>Not a lot about how to communicate that information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9A4D064-B0A8-4659-BC2F-5081F77860F2}"/>
              </a:ext>
            </a:extLst>
          </p:cNvPr>
          <p:cNvGraphicFramePr>
            <a:graphicFrameLocks noGrp="1"/>
          </p:cNvGraphicFramePr>
          <p:nvPr/>
        </p:nvGraphicFramePr>
        <p:xfrm>
          <a:off x="1255594" y="2501900"/>
          <a:ext cx="8740632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85158">
                  <a:extLst>
                    <a:ext uri="{9D8B030D-6E8A-4147-A177-3AD203B41FA5}">
                      <a16:colId xmlns:a16="http://schemas.microsoft.com/office/drawing/2014/main" val="880394863"/>
                    </a:ext>
                  </a:extLst>
                </a:gridCol>
                <a:gridCol w="2185158">
                  <a:extLst>
                    <a:ext uri="{9D8B030D-6E8A-4147-A177-3AD203B41FA5}">
                      <a16:colId xmlns:a16="http://schemas.microsoft.com/office/drawing/2014/main" val="4140987342"/>
                    </a:ext>
                  </a:extLst>
                </a:gridCol>
                <a:gridCol w="2185158">
                  <a:extLst>
                    <a:ext uri="{9D8B030D-6E8A-4147-A177-3AD203B41FA5}">
                      <a16:colId xmlns:a16="http://schemas.microsoft.com/office/drawing/2014/main" val="3083252771"/>
                    </a:ext>
                  </a:extLst>
                </a:gridCol>
                <a:gridCol w="2185158">
                  <a:extLst>
                    <a:ext uri="{9D8B030D-6E8A-4147-A177-3AD203B41FA5}">
                      <a16:colId xmlns:a16="http://schemas.microsoft.com/office/drawing/2014/main" val="21137317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Coupling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Scalable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Lossy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8716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071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Signal/Slot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034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Depends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840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Publish/Subscriber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954014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99723654-66FF-46B7-A60D-48FA14DA7EAB}"/>
              </a:ext>
            </a:extLst>
          </p:cNvPr>
          <p:cNvSpPr/>
          <p:nvPr/>
        </p:nvSpPr>
        <p:spPr>
          <a:xfrm>
            <a:off x="1136470" y="2808513"/>
            <a:ext cx="8961120" cy="862149"/>
          </a:xfrm>
          <a:prstGeom prst="rect">
            <a:avLst/>
          </a:prstGeom>
          <a:noFill/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35BF43-30AB-4C9C-8BCE-DEF1E327F5F6}"/>
              </a:ext>
            </a:extLst>
          </p:cNvPr>
          <p:cNvSpPr txBox="1"/>
          <p:nvPr/>
        </p:nvSpPr>
        <p:spPr>
          <a:xfrm>
            <a:off x="479425" y="4794069"/>
            <a:ext cx="1123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Written in programming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Compile translates to machine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Physically manipulate memory on computer</a:t>
            </a:r>
          </a:p>
        </p:txBody>
      </p:sp>
    </p:spTree>
    <p:extLst>
      <p:ext uri="{BB962C8B-B14F-4D97-AF65-F5344CB8AC3E}">
        <p14:creationId xmlns:p14="http://schemas.microsoft.com/office/powerpoint/2010/main" val="36184766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8AF54-E321-4667-AB89-A12B175B3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180000"/>
            <a:ext cx="11232000" cy="720000"/>
          </a:xfrm>
        </p:spPr>
        <p:txBody>
          <a:bodyPr/>
          <a:lstStyle/>
          <a:p>
            <a:r>
              <a:rPr lang="en-US" dirty="0"/>
              <a:t>Communication Protocols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1E2BD3-D8CF-4210-983B-3E8BEE957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Covered a lot about how to design (architecture) of communication between applications</a:t>
            </a:r>
          </a:p>
          <a:p>
            <a:r>
              <a:rPr lang="en-US" dirty="0"/>
              <a:t>Not a lot about how to communicate that information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9A4D064-B0A8-4659-BC2F-5081F77860F2}"/>
              </a:ext>
            </a:extLst>
          </p:cNvPr>
          <p:cNvGraphicFramePr>
            <a:graphicFrameLocks noGrp="1"/>
          </p:cNvGraphicFramePr>
          <p:nvPr/>
        </p:nvGraphicFramePr>
        <p:xfrm>
          <a:off x="1255594" y="2501900"/>
          <a:ext cx="8740632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85158">
                  <a:extLst>
                    <a:ext uri="{9D8B030D-6E8A-4147-A177-3AD203B41FA5}">
                      <a16:colId xmlns:a16="http://schemas.microsoft.com/office/drawing/2014/main" val="880394863"/>
                    </a:ext>
                  </a:extLst>
                </a:gridCol>
                <a:gridCol w="2185158">
                  <a:extLst>
                    <a:ext uri="{9D8B030D-6E8A-4147-A177-3AD203B41FA5}">
                      <a16:colId xmlns:a16="http://schemas.microsoft.com/office/drawing/2014/main" val="4140987342"/>
                    </a:ext>
                  </a:extLst>
                </a:gridCol>
                <a:gridCol w="2185158">
                  <a:extLst>
                    <a:ext uri="{9D8B030D-6E8A-4147-A177-3AD203B41FA5}">
                      <a16:colId xmlns:a16="http://schemas.microsoft.com/office/drawing/2014/main" val="3083252771"/>
                    </a:ext>
                  </a:extLst>
                </a:gridCol>
                <a:gridCol w="2185158">
                  <a:extLst>
                    <a:ext uri="{9D8B030D-6E8A-4147-A177-3AD203B41FA5}">
                      <a16:colId xmlns:a16="http://schemas.microsoft.com/office/drawing/2014/main" val="21137317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Coupling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Scalable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Lossy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8716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071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Signal/Slot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034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Depends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840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Publish/Subscriber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954014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99723654-66FF-46B7-A60D-48FA14DA7EAB}"/>
              </a:ext>
            </a:extLst>
          </p:cNvPr>
          <p:cNvSpPr/>
          <p:nvPr/>
        </p:nvSpPr>
        <p:spPr>
          <a:xfrm>
            <a:off x="1145350" y="3561895"/>
            <a:ext cx="8961120" cy="862149"/>
          </a:xfrm>
          <a:prstGeom prst="rect">
            <a:avLst/>
          </a:prstGeom>
          <a:noFill/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35BF43-30AB-4C9C-8BCE-DEF1E327F5F6}"/>
              </a:ext>
            </a:extLst>
          </p:cNvPr>
          <p:cNvSpPr txBox="1"/>
          <p:nvPr/>
        </p:nvSpPr>
        <p:spPr>
          <a:xfrm>
            <a:off x="479425" y="4794069"/>
            <a:ext cx="1123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May not be on the same computer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May not even be on the same operating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Need another method to transfer information</a:t>
            </a:r>
          </a:p>
        </p:txBody>
      </p:sp>
    </p:spTree>
    <p:extLst>
      <p:ext uri="{BB962C8B-B14F-4D97-AF65-F5344CB8AC3E}">
        <p14:creationId xmlns:p14="http://schemas.microsoft.com/office/powerpoint/2010/main" val="40993972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8AF54-E321-4667-AB89-A12B175B3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180000"/>
            <a:ext cx="11232000" cy="720000"/>
          </a:xfrm>
        </p:spPr>
        <p:txBody>
          <a:bodyPr/>
          <a:lstStyle/>
          <a:p>
            <a:r>
              <a:rPr lang="en-US" dirty="0"/>
              <a:t>Communication Protocols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1E2BD3-D8CF-4210-983B-3E8BEE957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Covered a lot about how to design (architecture) of communication between applications</a:t>
            </a:r>
          </a:p>
          <a:p>
            <a:r>
              <a:rPr lang="en-US" dirty="0"/>
              <a:t>Not a lot about how to communicate that information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9A4D064-B0A8-4659-BC2F-5081F77860F2}"/>
              </a:ext>
            </a:extLst>
          </p:cNvPr>
          <p:cNvGraphicFramePr>
            <a:graphicFrameLocks noGrp="1"/>
          </p:cNvGraphicFramePr>
          <p:nvPr/>
        </p:nvGraphicFramePr>
        <p:xfrm>
          <a:off x="1255594" y="2501900"/>
          <a:ext cx="8740632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85158">
                  <a:extLst>
                    <a:ext uri="{9D8B030D-6E8A-4147-A177-3AD203B41FA5}">
                      <a16:colId xmlns:a16="http://schemas.microsoft.com/office/drawing/2014/main" val="880394863"/>
                    </a:ext>
                  </a:extLst>
                </a:gridCol>
                <a:gridCol w="2185158">
                  <a:extLst>
                    <a:ext uri="{9D8B030D-6E8A-4147-A177-3AD203B41FA5}">
                      <a16:colId xmlns:a16="http://schemas.microsoft.com/office/drawing/2014/main" val="4140987342"/>
                    </a:ext>
                  </a:extLst>
                </a:gridCol>
                <a:gridCol w="2185158">
                  <a:extLst>
                    <a:ext uri="{9D8B030D-6E8A-4147-A177-3AD203B41FA5}">
                      <a16:colId xmlns:a16="http://schemas.microsoft.com/office/drawing/2014/main" val="3083252771"/>
                    </a:ext>
                  </a:extLst>
                </a:gridCol>
                <a:gridCol w="2185158">
                  <a:extLst>
                    <a:ext uri="{9D8B030D-6E8A-4147-A177-3AD203B41FA5}">
                      <a16:colId xmlns:a16="http://schemas.microsoft.com/office/drawing/2014/main" val="21137317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Coupling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Scalable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Lossy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8716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071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Signal/Slot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034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Depends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840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Publish/Subscriber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954014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99723654-66FF-46B7-A60D-48FA14DA7EAB}"/>
              </a:ext>
            </a:extLst>
          </p:cNvPr>
          <p:cNvSpPr/>
          <p:nvPr/>
        </p:nvSpPr>
        <p:spPr>
          <a:xfrm>
            <a:off x="1145350" y="3984171"/>
            <a:ext cx="8961120" cy="439873"/>
          </a:xfrm>
          <a:prstGeom prst="rect">
            <a:avLst/>
          </a:prstGeom>
          <a:noFill/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35BF43-30AB-4C9C-8BCE-DEF1E327F5F6}"/>
              </a:ext>
            </a:extLst>
          </p:cNvPr>
          <p:cNvSpPr txBox="1"/>
          <p:nvPr/>
        </p:nvSpPr>
        <p:spPr>
          <a:xfrm>
            <a:off x="479425" y="4794069"/>
            <a:ext cx="1123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May not be on the same computer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May not even be on the same operating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Need another method to transfer information</a:t>
            </a:r>
          </a:p>
        </p:txBody>
      </p:sp>
    </p:spTree>
    <p:extLst>
      <p:ext uri="{BB962C8B-B14F-4D97-AF65-F5344CB8AC3E}">
        <p14:creationId xmlns:p14="http://schemas.microsoft.com/office/powerpoint/2010/main" val="16773752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8AF54-E321-4667-AB89-A12B175B3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180000"/>
            <a:ext cx="11232000" cy="720000"/>
          </a:xfrm>
        </p:spPr>
        <p:txBody>
          <a:bodyPr/>
          <a:lstStyle/>
          <a:p>
            <a:r>
              <a:rPr lang="en-US" dirty="0"/>
              <a:t>ROS API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50B0EB-D3F3-4556-B3E0-B3FDBFCC1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ROS combines a REST API (Server-Client) and Publisher-Subscriber </a:t>
            </a:r>
          </a:p>
          <a:p>
            <a:pPr lvl="2"/>
            <a:r>
              <a:rPr lang="en-US" dirty="0"/>
              <a:t>Ensures loose coupling between modules and highly scalable system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9A4D064-B0A8-4659-BC2F-5081F7786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445197"/>
              </p:ext>
            </p:extLst>
          </p:nvPr>
        </p:nvGraphicFramePr>
        <p:xfrm>
          <a:off x="1542197" y="3975858"/>
          <a:ext cx="8740632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85158">
                  <a:extLst>
                    <a:ext uri="{9D8B030D-6E8A-4147-A177-3AD203B41FA5}">
                      <a16:colId xmlns:a16="http://schemas.microsoft.com/office/drawing/2014/main" val="880394863"/>
                    </a:ext>
                  </a:extLst>
                </a:gridCol>
                <a:gridCol w="2185158">
                  <a:extLst>
                    <a:ext uri="{9D8B030D-6E8A-4147-A177-3AD203B41FA5}">
                      <a16:colId xmlns:a16="http://schemas.microsoft.com/office/drawing/2014/main" val="4140987342"/>
                    </a:ext>
                  </a:extLst>
                </a:gridCol>
                <a:gridCol w="2185158">
                  <a:extLst>
                    <a:ext uri="{9D8B030D-6E8A-4147-A177-3AD203B41FA5}">
                      <a16:colId xmlns:a16="http://schemas.microsoft.com/office/drawing/2014/main" val="3083252771"/>
                    </a:ext>
                  </a:extLst>
                </a:gridCol>
                <a:gridCol w="2185158">
                  <a:extLst>
                    <a:ext uri="{9D8B030D-6E8A-4147-A177-3AD203B41FA5}">
                      <a16:colId xmlns:a16="http://schemas.microsoft.com/office/drawing/2014/main" val="21137317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Coupling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Scalable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Lossy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8716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071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Signal/Slot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034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Depends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840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Publish/Subscriber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954014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9AB9ACBE-2B25-49AB-9DBE-EFD213D71502}"/>
              </a:ext>
            </a:extLst>
          </p:cNvPr>
          <p:cNvSpPr/>
          <p:nvPr/>
        </p:nvSpPr>
        <p:spPr>
          <a:xfrm>
            <a:off x="1446663" y="5049670"/>
            <a:ext cx="8939284" cy="887105"/>
          </a:xfrm>
          <a:prstGeom prst="rect">
            <a:avLst/>
          </a:prstGeom>
          <a:noFill/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08761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9790F-9F10-1ACD-2AA7-C6E630214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ROS2 API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224FC91-D7C6-281A-F25F-8B0EC08B6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1089220"/>
            <a:ext cx="5303283" cy="4856400"/>
          </a:xfrm>
        </p:spPr>
        <p:txBody>
          <a:bodyPr>
            <a:normAutofit/>
          </a:bodyPr>
          <a:lstStyle/>
          <a:p>
            <a:r>
              <a:rPr lang="en-GB" dirty="0"/>
              <a:t>All </a:t>
            </a:r>
            <a:r>
              <a:rPr lang="en-GB" dirty="0" err="1"/>
              <a:t>ROSw</a:t>
            </a:r>
            <a:r>
              <a:rPr lang="en-GB" dirty="0"/>
              <a:t> programs are built on top of </a:t>
            </a:r>
            <a:r>
              <a:rPr lang="en-GB" b="1" dirty="0" err="1"/>
              <a:t>ros_core</a:t>
            </a:r>
            <a:r>
              <a:rPr lang="en-GB" b="1" dirty="0"/>
              <a:t>:</a:t>
            </a:r>
          </a:p>
          <a:p>
            <a:pPr lvl="2"/>
            <a:r>
              <a:rPr lang="en-GB" dirty="0"/>
              <a:t>A build system (</a:t>
            </a:r>
            <a:r>
              <a:rPr lang="en-GB" dirty="0" err="1"/>
              <a:t>colcon</a:t>
            </a:r>
            <a:r>
              <a:rPr lang="en-GB" dirty="0"/>
              <a:t>)</a:t>
            </a:r>
          </a:p>
          <a:p>
            <a:pPr lvl="2"/>
            <a:r>
              <a:rPr lang="en-GB" dirty="0"/>
              <a:t>Client library interface (</a:t>
            </a:r>
            <a:r>
              <a:rPr lang="en-GB" dirty="0" err="1"/>
              <a:t>rcl</a:t>
            </a:r>
            <a:r>
              <a:rPr lang="en-GB" dirty="0"/>
              <a:t>)</a:t>
            </a:r>
          </a:p>
          <a:p>
            <a:pPr lvl="4"/>
            <a:r>
              <a:rPr lang="en-GB" dirty="0"/>
              <a:t>How we find services</a:t>
            </a:r>
          </a:p>
          <a:p>
            <a:pPr lvl="4"/>
            <a:r>
              <a:rPr lang="en-GB" dirty="0"/>
              <a:t>Manages names and parameters</a:t>
            </a:r>
          </a:p>
          <a:p>
            <a:pPr lvl="4"/>
            <a:r>
              <a:rPr lang="en-GB" dirty="0"/>
              <a:t>Logging</a:t>
            </a:r>
          </a:p>
          <a:p>
            <a:pPr lvl="2"/>
            <a:r>
              <a:rPr lang="en-GB" dirty="0"/>
              <a:t>ROS middleware interface (</a:t>
            </a:r>
            <a:r>
              <a:rPr lang="en-GB" dirty="0" err="1"/>
              <a:t>rmw</a:t>
            </a:r>
            <a:r>
              <a:rPr lang="en-GB" dirty="0"/>
              <a:t>)</a:t>
            </a:r>
          </a:p>
          <a:p>
            <a:pPr lvl="4"/>
            <a:r>
              <a:rPr lang="en-GB" dirty="0"/>
              <a:t>Packages to manage specific interfaces with other middleware systems (</a:t>
            </a:r>
            <a:r>
              <a:rPr lang="en-GB" dirty="0" err="1"/>
              <a:t>ros_to_dds</a:t>
            </a:r>
            <a:r>
              <a:rPr lang="en-GB" dirty="0"/>
              <a:t>)</a:t>
            </a:r>
          </a:p>
          <a:p>
            <a:pPr lvl="2"/>
            <a:endParaRPr lang="en-GB" dirty="0"/>
          </a:p>
        </p:txBody>
      </p:sp>
      <p:pic>
        <p:nvPicPr>
          <p:cNvPr id="1028" name="Picture 4" descr="ros2 software stack">
            <a:extLst>
              <a:ext uri="{FF2B5EF4-FFF2-40B4-BE49-F238E27FC236}">
                <a16:creationId xmlns:a16="http://schemas.microsoft.com/office/drawing/2014/main" id="{79859BBA-901B-7989-D590-4683D05A9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6019" y="1089220"/>
            <a:ext cx="6415981" cy="4679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185175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6D2F1-2925-E090-35DC-38E0B3FCA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6A4E-A8FD-1DB5-EA8A-95D831B55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ROS2 API</a:t>
            </a:r>
          </a:p>
        </p:txBody>
      </p:sp>
      <p:pic>
        <p:nvPicPr>
          <p:cNvPr id="1026" name="Picture 2" descr="ros2 idl dynamic type support stack">
            <a:extLst>
              <a:ext uri="{FF2B5EF4-FFF2-40B4-BE49-F238E27FC236}">
                <a16:creationId xmlns:a16="http://schemas.microsoft.com/office/drawing/2014/main" id="{062C6C6F-55C7-A2AB-F175-A9F0652EE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6682" y="1069675"/>
            <a:ext cx="6212729" cy="3942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6B67191-3B2F-A32B-1D96-3B50CBB10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1089220"/>
            <a:ext cx="5303283" cy="4856400"/>
          </a:xfrm>
        </p:spPr>
        <p:txBody>
          <a:bodyPr>
            <a:normAutofit/>
          </a:bodyPr>
          <a:lstStyle/>
          <a:p>
            <a:r>
              <a:rPr lang="en-GB" dirty="0"/>
              <a:t>All </a:t>
            </a:r>
            <a:r>
              <a:rPr lang="en-GB" dirty="0" err="1"/>
              <a:t>ROSw</a:t>
            </a:r>
            <a:r>
              <a:rPr lang="en-GB" dirty="0"/>
              <a:t> programs are built on top of </a:t>
            </a:r>
            <a:r>
              <a:rPr lang="en-GB" b="1" dirty="0" err="1"/>
              <a:t>ros_core</a:t>
            </a:r>
            <a:endParaRPr lang="en-GB" b="1" dirty="0"/>
          </a:p>
          <a:p>
            <a:r>
              <a:rPr lang="en-GB" dirty="0"/>
              <a:t>Regardless of which packages we are using messages (.</a:t>
            </a:r>
            <a:r>
              <a:rPr lang="en-GB" dirty="0" err="1"/>
              <a:t>msg</a:t>
            </a:r>
            <a:r>
              <a:rPr lang="en-GB" dirty="0"/>
              <a:t>) are generated and passed between processes to control </a:t>
            </a:r>
            <a:r>
              <a:rPr lang="en-GB" dirty="0" err="1"/>
              <a:t>behavior</a:t>
            </a:r>
            <a:endParaRPr lang="en-GB" dirty="0"/>
          </a:p>
          <a:p>
            <a:r>
              <a:rPr lang="en-GB" dirty="0"/>
              <a:t>Enables flexibility in terms of which packages and processes are running.</a:t>
            </a:r>
          </a:p>
          <a:p>
            <a:r>
              <a:rPr lang="en-GB" dirty="0"/>
              <a:t>Messages supported in python, c and </a:t>
            </a:r>
            <a:r>
              <a:rPr lang="en-GB" dirty="0" err="1"/>
              <a:t>c++</a:t>
            </a:r>
            <a:r>
              <a:rPr lang="en-GB" dirty="0"/>
              <a:t> </a:t>
            </a:r>
          </a:p>
          <a:p>
            <a:pPr marL="0" indent="0">
              <a:buNone/>
            </a:pPr>
            <a:r>
              <a:rPr lang="en-GB" dirty="0"/>
              <a:t>     as well as vendor specific APIs</a:t>
            </a:r>
          </a:p>
        </p:txBody>
      </p:sp>
    </p:spTree>
    <p:extLst>
      <p:ext uri="{BB962C8B-B14F-4D97-AF65-F5344CB8AC3E}">
        <p14:creationId xmlns:p14="http://schemas.microsoft.com/office/powerpoint/2010/main" val="13929713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4E46A-388F-BC7E-511D-7ACB42293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ROS2 Build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BCF2C-4D6D-E20D-F058-1F3AAA309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ROS is organized into </a:t>
            </a:r>
            <a:r>
              <a:rPr lang="en-US" i="1" dirty="0"/>
              <a:t>workspaces </a:t>
            </a:r>
            <a:r>
              <a:rPr lang="en-US" dirty="0"/>
              <a:t>that define a set of </a:t>
            </a:r>
            <a:r>
              <a:rPr lang="en-US" i="1" dirty="0"/>
              <a:t>packages</a:t>
            </a:r>
            <a:r>
              <a:rPr lang="en-US" dirty="0"/>
              <a:t> to be loaded and cross referenced with each other.</a:t>
            </a:r>
          </a:p>
          <a:p>
            <a:pPr lvl="2"/>
            <a:r>
              <a:rPr lang="en-US" dirty="0"/>
              <a:t>At any one time the base ROS2 workspace and one additional workspace may be loaded</a:t>
            </a:r>
          </a:p>
          <a:p>
            <a:pPr lvl="2"/>
            <a:r>
              <a:rPr lang="en-US" dirty="0"/>
              <a:t>The additional workspace is overlaid</a:t>
            </a:r>
          </a:p>
          <a:p>
            <a:pPr lvl="2"/>
            <a:r>
              <a:rPr lang="en-US" dirty="0"/>
              <a:t>Each package is identified by a unique name; overlaid workspaces are preferred when duplicates exist</a:t>
            </a:r>
          </a:p>
          <a:p>
            <a:pPr lvl="2"/>
            <a:r>
              <a:rPr lang="en-US" dirty="0"/>
              <a:t>In your workspace you can create as many packages as you like switching between workspaces enables rapid testing of different implementations.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Note Colcon has replaced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ament</a:t>
            </a:r>
            <a:r>
              <a:rPr lang="en-US" dirty="0"/>
              <a:t> and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catkin</a:t>
            </a:r>
            <a:r>
              <a:rPr lang="en-US" dirty="0"/>
              <a:t> but you will still see references to these other build tools as well</a:t>
            </a:r>
          </a:p>
        </p:txBody>
      </p:sp>
    </p:spTree>
    <p:extLst>
      <p:ext uri="{BB962C8B-B14F-4D97-AF65-F5344CB8AC3E}">
        <p14:creationId xmlns:p14="http://schemas.microsoft.com/office/powerpoint/2010/main" val="41841893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83848-0F62-5484-F629-BE4138159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A4F3F-4884-36AB-478A-30A223152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ROS2 Build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4CB6D-89AB-5BFE-B184-E7B915856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create a workspace can be found </a:t>
            </a:r>
            <a:r>
              <a:rPr lang="en-US" dirty="0">
                <a:hlinkClick r:id="rId2"/>
              </a:rPr>
              <a:t>here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How to create a package can be found </a:t>
            </a:r>
            <a:r>
              <a:rPr lang="en-US" dirty="0">
                <a:hlinkClick r:id="rId3"/>
              </a:rPr>
              <a:t>here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These are the two fundamental steps to master to begin programming in ROS2.</a:t>
            </a:r>
          </a:p>
        </p:txBody>
      </p:sp>
    </p:spTree>
    <p:extLst>
      <p:ext uri="{BB962C8B-B14F-4D97-AF65-F5344CB8AC3E}">
        <p14:creationId xmlns:p14="http://schemas.microsoft.com/office/powerpoint/2010/main" val="2553607930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3F212-8319-3489-3E2E-2489DA69C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ROS2 Message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839BD-33F1-25A4-8C6F-CFDFE6608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Message passing in ROS2 has two fundamental types</a:t>
            </a:r>
          </a:p>
          <a:p>
            <a:pPr lvl="1"/>
            <a:r>
              <a:rPr lang="en-US" dirty="0"/>
              <a:t>Publisher/subscriber:</a:t>
            </a:r>
          </a:p>
          <a:p>
            <a:pPr lvl="2"/>
            <a:r>
              <a:rPr lang="en-US" dirty="0"/>
              <a:t>Publishers send messages out at a fix rate on a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topic</a:t>
            </a:r>
            <a:r>
              <a:rPr lang="en-US" dirty="0"/>
              <a:t>. </a:t>
            </a:r>
          </a:p>
          <a:p>
            <a:pPr lvl="2"/>
            <a:r>
              <a:rPr lang="en-US" dirty="0"/>
              <a:t> Subscribers receive any message on the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topic</a:t>
            </a:r>
            <a:r>
              <a:rPr lang="en-US" dirty="0"/>
              <a:t> with the correct type.</a:t>
            </a:r>
          </a:p>
          <a:p>
            <a:pPr lvl="2"/>
            <a:r>
              <a:rPr lang="en-US" dirty="0"/>
              <a:t>This enables a many-to-many lossy coupling</a:t>
            </a:r>
          </a:p>
          <a:p>
            <a:pPr lvl="2"/>
            <a:r>
              <a:rPr lang="en-US" dirty="0"/>
              <a:t>Publishers and subscribers can be started in any order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Service/client</a:t>
            </a:r>
          </a:p>
          <a:p>
            <a:pPr lvl="2"/>
            <a:r>
              <a:rPr lang="en-US" dirty="0"/>
              <a:t>Clients send a request for data</a:t>
            </a:r>
          </a:p>
          <a:p>
            <a:pPr lvl="2"/>
            <a:r>
              <a:rPr lang="en-US" dirty="0"/>
              <a:t>Services process the request and send back a response</a:t>
            </a:r>
          </a:p>
          <a:p>
            <a:pPr lvl="2"/>
            <a:r>
              <a:rPr lang="en-US" dirty="0"/>
              <a:t>This enables a one-to-one lossless coupling</a:t>
            </a:r>
          </a:p>
          <a:p>
            <a:pPr lvl="2"/>
            <a:r>
              <a:rPr lang="en-US" dirty="0"/>
              <a:t>Services must be started before the client to appropriately receive the data</a:t>
            </a:r>
          </a:p>
          <a:p>
            <a:pPr lvl="2"/>
            <a:endParaRPr lang="en-US" dirty="0"/>
          </a:p>
          <a:p>
            <a:r>
              <a:rPr lang="en-US" dirty="0"/>
              <a:t>In the upcoming weeks we will talk more about message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929943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8AF54-E321-4667-AB89-A12B175B3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180000"/>
            <a:ext cx="11232000" cy="720000"/>
          </a:xfrm>
        </p:spPr>
        <p:txBody>
          <a:bodyPr/>
          <a:lstStyle/>
          <a:p>
            <a:r>
              <a:rPr lang="en-US" dirty="0"/>
              <a:t>ROS2 Messages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1E2BD3-D8CF-4210-983B-3E8BEE957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1089220"/>
            <a:ext cx="6613131" cy="4856400"/>
          </a:xfrm>
        </p:spPr>
        <p:txBody>
          <a:bodyPr/>
          <a:lstStyle/>
          <a:p>
            <a:r>
              <a:rPr lang="en-US" dirty="0"/>
              <a:t>Need to use the </a:t>
            </a:r>
            <a:r>
              <a:rPr lang="en-US" dirty="0">
                <a:hlinkClick r:id="rId2"/>
              </a:rPr>
              <a:t>API</a:t>
            </a:r>
            <a:r>
              <a:rPr lang="en-US" dirty="0"/>
              <a:t> to determine exact format</a:t>
            </a:r>
          </a:p>
          <a:p>
            <a:pPr lvl="2"/>
            <a:r>
              <a:rPr lang="en-US" dirty="0"/>
              <a:t>Bool, char, string, int, float, double, </a:t>
            </a:r>
            <a:r>
              <a:rPr lang="en-US" dirty="0" err="1"/>
              <a:t>etc</a:t>
            </a:r>
            <a:endParaRPr lang="en-US" dirty="0"/>
          </a:p>
          <a:p>
            <a:pPr lvl="2"/>
            <a:r>
              <a:rPr lang="en-US" dirty="0"/>
              <a:t>Combined into some simple combo</a:t>
            </a:r>
          </a:p>
          <a:p>
            <a:pPr lvl="2"/>
            <a:r>
              <a:rPr lang="en-US" dirty="0"/>
              <a:t>Each value has a corresponding unique field name to identify it uniquely</a:t>
            </a:r>
          </a:p>
          <a:p>
            <a:pPr lvl="2"/>
            <a:r>
              <a:rPr lang="en-US" dirty="0"/>
              <a:t>Specification can be found in a .msg file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93466B-7CED-452D-A65C-D01B2ACD9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0697" y="1165044"/>
            <a:ext cx="4405721" cy="479594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2D8DE67-23D9-4243-AFE0-DA945ACB181E}"/>
              </a:ext>
            </a:extLst>
          </p:cNvPr>
          <p:cNvSpPr/>
          <p:nvPr/>
        </p:nvSpPr>
        <p:spPr>
          <a:xfrm>
            <a:off x="796754" y="410731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  <a:latin typeface="+mn-lt"/>
              </a:rPr>
              <a:t>msg.linear.x</a:t>
            </a:r>
            <a:r>
              <a:rPr lang="en-US" dirty="0">
                <a:solidFill>
                  <a:srgbClr val="00B050"/>
                </a:solidFill>
                <a:latin typeface="+mn-lt"/>
              </a:rPr>
              <a:t>=4*double(rand())/double(RAND_MAX)-2</a:t>
            </a:r>
          </a:p>
          <a:p>
            <a:r>
              <a:rPr lang="en-US" dirty="0" err="1">
                <a:solidFill>
                  <a:srgbClr val="00B050"/>
                </a:solidFill>
                <a:latin typeface="+mn-lt"/>
              </a:rPr>
              <a:t>msg.angular.z</a:t>
            </a:r>
            <a:r>
              <a:rPr lang="en-US" dirty="0">
                <a:solidFill>
                  <a:srgbClr val="00B050"/>
                </a:solidFill>
                <a:latin typeface="+mn-lt"/>
              </a:rPr>
              <a:t>=6*double(rand())/double(RAND_MAX)-3</a:t>
            </a:r>
          </a:p>
          <a:p>
            <a:endParaRPr lang="en-US" dirty="0">
              <a:solidFill>
                <a:srgbClr val="00B050"/>
              </a:solidFill>
              <a:latin typeface="+mn-lt"/>
            </a:endParaRPr>
          </a:p>
          <a:p>
            <a:r>
              <a:rPr lang="en-US" dirty="0" err="1">
                <a:solidFill>
                  <a:srgbClr val="00B050"/>
                </a:solidFill>
                <a:latin typeface="+mn-lt"/>
              </a:rPr>
              <a:t>pub.publish</a:t>
            </a:r>
            <a:r>
              <a:rPr lang="en-US" dirty="0">
                <a:solidFill>
                  <a:srgbClr val="00B050"/>
                </a:solidFill>
                <a:latin typeface="+mn-lt"/>
              </a:rPr>
              <a:t>(msg)</a:t>
            </a:r>
          </a:p>
        </p:txBody>
      </p:sp>
    </p:spTree>
    <p:extLst>
      <p:ext uri="{BB962C8B-B14F-4D97-AF65-F5344CB8AC3E}">
        <p14:creationId xmlns:p14="http://schemas.microsoft.com/office/powerpoint/2010/main" val="35435695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8AF54-E321-4667-AB89-A12B175B3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180000"/>
            <a:ext cx="11232000" cy="720000"/>
          </a:xfrm>
        </p:spPr>
        <p:txBody>
          <a:bodyPr/>
          <a:lstStyle/>
          <a:p>
            <a:r>
              <a:rPr lang="en-US" dirty="0"/>
              <a:t>Communication Protocols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1E2BD3-D8CF-4210-983B-3E8BEE957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Covered a lot about how to design (architecture) of communication between applications</a:t>
            </a:r>
          </a:p>
          <a:p>
            <a:r>
              <a:rPr lang="en-US" dirty="0"/>
              <a:t>Not a lot about how to communicate that information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9A4D064-B0A8-4659-BC2F-5081F77860F2}"/>
              </a:ext>
            </a:extLst>
          </p:cNvPr>
          <p:cNvGraphicFramePr>
            <a:graphicFrameLocks noGrp="1"/>
          </p:cNvGraphicFramePr>
          <p:nvPr/>
        </p:nvGraphicFramePr>
        <p:xfrm>
          <a:off x="1255594" y="2501900"/>
          <a:ext cx="8740632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85158">
                  <a:extLst>
                    <a:ext uri="{9D8B030D-6E8A-4147-A177-3AD203B41FA5}">
                      <a16:colId xmlns:a16="http://schemas.microsoft.com/office/drawing/2014/main" val="880394863"/>
                    </a:ext>
                  </a:extLst>
                </a:gridCol>
                <a:gridCol w="2185158">
                  <a:extLst>
                    <a:ext uri="{9D8B030D-6E8A-4147-A177-3AD203B41FA5}">
                      <a16:colId xmlns:a16="http://schemas.microsoft.com/office/drawing/2014/main" val="4140987342"/>
                    </a:ext>
                  </a:extLst>
                </a:gridCol>
                <a:gridCol w="2185158">
                  <a:extLst>
                    <a:ext uri="{9D8B030D-6E8A-4147-A177-3AD203B41FA5}">
                      <a16:colId xmlns:a16="http://schemas.microsoft.com/office/drawing/2014/main" val="3083252771"/>
                    </a:ext>
                  </a:extLst>
                </a:gridCol>
                <a:gridCol w="2185158">
                  <a:extLst>
                    <a:ext uri="{9D8B030D-6E8A-4147-A177-3AD203B41FA5}">
                      <a16:colId xmlns:a16="http://schemas.microsoft.com/office/drawing/2014/main" val="21137317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Coupling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Scalable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Lossy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8716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071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Signal/Slot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034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Depends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840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Publish/Subscriber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954014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99723654-66FF-46B7-A60D-48FA14DA7EAB}"/>
              </a:ext>
            </a:extLst>
          </p:cNvPr>
          <p:cNvSpPr/>
          <p:nvPr/>
        </p:nvSpPr>
        <p:spPr>
          <a:xfrm>
            <a:off x="1145350" y="3579222"/>
            <a:ext cx="8961120" cy="439873"/>
          </a:xfrm>
          <a:prstGeom prst="rect">
            <a:avLst/>
          </a:prstGeom>
          <a:noFill/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35BF43-30AB-4C9C-8BCE-DEF1E327F5F6}"/>
              </a:ext>
            </a:extLst>
          </p:cNvPr>
          <p:cNvSpPr txBox="1"/>
          <p:nvPr/>
        </p:nvSpPr>
        <p:spPr>
          <a:xfrm>
            <a:off x="479425" y="4794069"/>
            <a:ext cx="1123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Data transfer </a:t>
            </a:r>
            <a:r>
              <a:rPr lang="en-US" sz="2000" dirty="0" err="1">
                <a:latin typeface="+mn-lt"/>
              </a:rPr>
              <a:t>lossyness</a:t>
            </a:r>
            <a:r>
              <a:rPr lang="en-US" sz="2000" dirty="0">
                <a:latin typeface="+mn-lt"/>
              </a:rPr>
              <a:t> depends on communication protocol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Server-client information in robots should be lossless for safety reasons</a:t>
            </a:r>
          </a:p>
        </p:txBody>
      </p:sp>
    </p:spTree>
    <p:extLst>
      <p:ext uri="{BB962C8B-B14F-4D97-AF65-F5344CB8AC3E}">
        <p14:creationId xmlns:p14="http://schemas.microsoft.com/office/powerpoint/2010/main" val="14381703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8AF54-E321-4667-AB89-A12B175B3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180000"/>
            <a:ext cx="11232000" cy="720000"/>
          </a:xfrm>
        </p:spPr>
        <p:txBody>
          <a:bodyPr/>
          <a:lstStyle/>
          <a:p>
            <a:r>
              <a:rPr lang="en-US" dirty="0"/>
              <a:t>Transmission Control Protocol (TCP)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1E2BD3-D8CF-4210-983B-3E8BEE957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TCP guarantees a lossless transmission of all necessary data</a:t>
            </a:r>
          </a:p>
          <a:p>
            <a:r>
              <a:rPr lang="en-US" dirty="0"/>
              <a:t>Ensures security and correctness of transfer</a:t>
            </a:r>
          </a:p>
          <a:p>
            <a:pPr lvl="2"/>
            <a:r>
              <a:rPr lang="en-US" dirty="0"/>
              <a:t>Server recognizes the client as being a valid client</a:t>
            </a:r>
          </a:p>
          <a:p>
            <a:pPr lvl="2"/>
            <a:r>
              <a:rPr lang="en-US" dirty="0"/>
              <a:t>Server can receive the message from the client</a:t>
            </a:r>
          </a:p>
          <a:p>
            <a:pPr lvl="2"/>
            <a:r>
              <a:rPr lang="en-US" dirty="0"/>
              <a:t>Client recognizes the server</a:t>
            </a:r>
          </a:p>
          <a:p>
            <a:pPr lvl="2"/>
            <a:r>
              <a:rPr lang="en-US" dirty="0"/>
              <a:t>Client can receive the messages from the server</a:t>
            </a:r>
          </a:p>
          <a:p>
            <a:r>
              <a:rPr lang="en-US" dirty="0"/>
              <a:t>To reduce potential of losing the entire message it is broken up into packets</a:t>
            </a:r>
          </a:p>
          <a:p>
            <a:pPr lvl="2"/>
            <a:r>
              <a:rPr lang="en-US" dirty="0"/>
              <a:t>After packet transmission missing packets are tested for</a:t>
            </a:r>
          </a:p>
          <a:p>
            <a:pPr lvl="2"/>
            <a:r>
              <a:rPr lang="en-US" dirty="0"/>
              <a:t>Server will query client to resend missing packets</a:t>
            </a:r>
          </a:p>
        </p:txBody>
      </p:sp>
    </p:spTree>
    <p:extLst>
      <p:ext uri="{BB962C8B-B14F-4D97-AF65-F5344CB8AC3E}">
        <p14:creationId xmlns:p14="http://schemas.microsoft.com/office/powerpoint/2010/main" val="262598958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02F15E2-398C-4A6F-B5B2-2AF8DD53E3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7998" y="3540221"/>
            <a:ext cx="5776004" cy="25945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C8AF54-E321-4667-AB89-A12B175B3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180000"/>
            <a:ext cx="11232000" cy="720000"/>
          </a:xfrm>
        </p:spPr>
        <p:txBody>
          <a:bodyPr/>
          <a:lstStyle/>
          <a:p>
            <a:r>
              <a:rPr lang="en-US" dirty="0"/>
              <a:t>Transmission Control Protocol (TCP) – 3 way handshake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1E2BD3-D8CF-4210-983B-3E8BEE957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handshake is used to establish a reliable communication port between client and server</a:t>
            </a:r>
          </a:p>
          <a:p>
            <a:pPr lvl="2"/>
            <a:r>
              <a:rPr lang="en-US" dirty="0"/>
              <a:t>The open channel will remain open for the entirety of the transmission</a:t>
            </a:r>
          </a:p>
          <a:p>
            <a:pPr lvl="2"/>
            <a:r>
              <a:rPr lang="en-US" dirty="0"/>
              <a:t>SYN: query server and provide sequence number (so server knows what packets to send where)</a:t>
            </a:r>
          </a:p>
          <a:p>
            <a:pPr lvl="2"/>
            <a:r>
              <a:rPr lang="en-US" dirty="0"/>
              <a:t>SYN/ACK: Server acknowledges receipt of message and relays its sequence number (so client know what packets to listen to)</a:t>
            </a:r>
          </a:p>
          <a:p>
            <a:pPr lvl="2"/>
            <a:r>
              <a:rPr lang="en-US" dirty="0"/>
              <a:t>ACK: Client acknowledges receipt of message</a:t>
            </a:r>
          </a:p>
        </p:txBody>
      </p:sp>
    </p:spTree>
    <p:extLst>
      <p:ext uri="{BB962C8B-B14F-4D97-AF65-F5344CB8AC3E}">
        <p14:creationId xmlns:p14="http://schemas.microsoft.com/office/powerpoint/2010/main" val="14550070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8AF54-E321-4667-AB89-A12B175B3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180000"/>
            <a:ext cx="11232000" cy="720000"/>
          </a:xfrm>
        </p:spPr>
        <p:txBody>
          <a:bodyPr/>
          <a:lstStyle/>
          <a:p>
            <a:r>
              <a:rPr lang="en-US" dirty="0"/>
              <a:t>Transmission Control Protocol (TCP) – Data Packet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1E2BD3-D8CF-4210-983B-3E8BEE957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channel is open all data packets are transmitted along it</a:t>
            </a:r>
          </a:p>
          <a:p>
            <a:r>
              <a:rPr lang="en-US" dirty="0"/>
              <a:t>Checksum allows us to verify all data is present in packet</a:t>
            </a:r>
          </a:p>
          <a:p>
            <a:r>
              <a:rPr lang="en-US" dirty="0"/>
              <a:t>Acknowledgement messages passed back to client</a:t>
            </a:r>
          </a:p>
          <a:p>
            <a:pPr lvl="2"/>
            <a:r>
              <a:rPr lang="en-US" dirty="0"/>
              <a:t>Client should track packets without acknowledgements</a:t>
            </a:r>
          </a:p>
          <a:p>
            <a:pPr lvl="2"/>
            <a:r>
              <a:rPr lang="en-US" dirty="0"/>
              <a:t>Those without acknowledgement get resent</a:t>
            </a:r>
          </a:p>
          <a:p>
            <a:r>
              <a:rPr lang="en-US" dirty="0"/>
              <a:t>Timeouts and loss packets can result in an </a:t>
            </a:r>
          </a:p>
          <a:p>
            <a:pPr marL="0" indent="0">
              <a:buNone/>
            </a:pPr>
            <a:r>
              <a:rPr lang="en-US" dirty="0"/>
              <a:t>     inability to receive messages on low quality </a:t>
            </a:r>
          </a:p>
          <a:p>
            <a:pPr marL="0" indent="0">
              <a:buNone/>
            </a:pPr>
            <a:r>
              <a:rPr lang="en-US" dirty="0"/>
              <a:t>     networks</a:t>
            </a:r>
          </a:p>
          <a:p>
            <a:r>
              <a:rPr lang="en-US" dirty="0"/>
              <a:t>Increases lag time as entire message must</a:t>
            </a:r>
          </a:p>
          <a:p>
            <a:pPr marL="0" indent="0">
              <a:buNone/>
            </a:pPr>
            <a:r>
              <a:rPr lang="en-US" dirty="0"/>
              <a:t>     be transmitter prior to server processing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A1E6C5-B07C-4F98-8349-FDD374F6E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3688" y="2657298"/>
            <a:ext cx="4572000" cy="2140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FDC8D1-0B43-4618-9B35-F446B37DA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3688" y="2967662"/>
            <a:ext cx="4572000" cy="5285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2692EE-56F0-493D-A1D6-CC7CCFA405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3688" y="3493309"/>
            <a:ext cx="4572000" cy="5423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B93817-98B3-4E49-8027-8EFAA39ED1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3688" y="4072243"/>
            <a:ext cx="4572000" cy="5423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F641234-D6F2-479C-AAAB-1385DD5012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3688" y="4600279"/>
            <a:ext cx="4572000" cy="10846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01E5B5-0674-49B4-9F98-A8DC5E8086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3688" y="5717301"/>
            <a:ext cx="4572000" cy="5217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5AFBC2-209F-4A57-9F10-F6CEF945C0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3688" y="6296183"/>
            <a:ext cx="4572000" cy="521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2714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C64AE-C92C-4951-B1E5-97BC19ED8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ROS2 TCP/IP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71FCE-FB93-4AEF-ABAF-DBD80AA94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Implicitly when we start ROS2 we have an IP address</a:t>
            </a:r>
          </a:p>
          <a:p>
            <a:pPr lvl="2"/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ROS_DOMAIN_ID 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defines this (read </a:t>
            </a:r>
            <a:r>
              <a:rPr lang="en-US" dirty="0">
                <a:latin typeface="+mn-lt"/>
                <a:cs typeface="Courier New" panose="020703090202050204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for advice on setting this)</a:t>
            </a:r>
          </a:p>
          <a:p>
            <a:pPr lvl="2"/>
            <a:r>
              <a:rPr lang="en-US" dirty="0">
                <a:latin typeface="+mn-lt"/>
                <a:cs typeface="Courier New" panose="02070309020205020404" pitchFamily="49" charset="0"/>
              </a:rPr>
              <a:t>This parameter can allow you to pass messages between computers and/or robots. Nodes with different will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ROS_DOMAIN_ID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not send and receive messages</a:t>
            </a:r>
          </a:p>
          <a:p>
            <a:pPr lvl="2"/>
            <a:endParaRPr lang="en-US" dirty="0">
              <a:latin typeface="+mn-lt"/>
              <a:cs typeface="Courier New" panose="02070309020205020404" pitchFamily="49" charset="0"/>
            </a:endParaRPr>
          </a:p>
          <a:p>
            <a:pPr lvl="2"/>
            <a:endParaRPr lang="en-US" dirty="0">
              <a:latin typeface="+mn-lt"/>
              <a:cs typeface="Courier New" panose="02070309020205020404" pitchFamily="49" charset="0"/>
            </a:endParaRPr>
          </a:p>
          <a:p>
            <a:r>
              <a:rPr lang="en-US" dirty="0">
                <a:latin typeface="+mn-lt"/>
                <a:cs typeface="Courier New" panose="02070309020205020404" pitchFamily="49" charset="0"/>
              </a:rPr>
              <a:t>Can also send and receive information over a TCP with the right software.</a:t>
            </a:r>
          </a:p>
          <a:p>
            <a:pPr lvl="2"/>
            <a:r>
              <a:rPr lang="en-US" dirty="0">
                <a:latin typeface="+mn-lt"/>
                <a:cs typeface="Courier New" panose="02070309020205020404" pitchFamily="49" charset="0"/>
              </a:rPr>
              <a:t>In imaging/medicine </a:t>
            </a:r>
            <a:r>
              <a:rPr lang="en-US" dirty="0" err="1">
                <a:latin typeface="+mn-lt"/>
                <a:cs typeface="Courier New" panose="02070309020205020404" pitchFamily="49" charset="0"/>
                <a:hlinkClick r:id="rId4"/>
              </a:rPr>
              <a:t>OpenIGTLink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is this system</a:t>
            </a:r>
          </a:p>
          <a:p>
            <a:pPr lvl="2"/>
            <a:r>
              <a:rPr lang="en-US" dirty="0">
                <a:latin typeface="+mn-lt"/>
                <a:cs typeface="Courier New" panose="02070309020205020404" pitchFamily="49" charset="0"/>
              </a:rPr>
              <a:t>ROS2 has an external package </a:t>
            </a:r>
            <a:r>
              <a:rPr lang="en-US" dirty="0">
                <a:latin typeface="+mn-lt"/>
                <a:cs typeface="Courier New" panose="02070309020205020404" pitchFamily="49" charset="0"/>
                <a:hlinkClick r:id="rId5"/>
              </a:rPr>
              <a:t>ROS2_IGTLink_Bridge 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supporting this</a:t>
            </a:r>
          </a:p>
          <a:p>
            <a:pPr lvl="2"/>
            <a:r>
              <a:rPr lang="en-US" dirty="0">
                <a:latin typeface="+mn-lt"/>
                <a:cs typeface="Courier New" panose="02070309020205020404" pitchFamily="49" charset="0"/>
              </a:rPr>
              <a:t>Network parameters (port, IP address) are treated as package parameters assigned to a node when created.</a:t>
            </a:r>
          </a:p>
        </p:txBody>
      </p:sp>
    </p:spTree>
    <p:extLst>
      <p:ext uri="{BB962C8B-B14F-4D97-AF65-F5344CB8AC3E}">
        <p14:creationId xmlns:p14="http://schemas.microsoft.com/office/powerpoint/2010/main" val="296317428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ABD33-C8B1-3EDC-78AE-4329A51A3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F1C55-E8A9-072A-F373-D16EB6ADE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lecture we talked about lossy data transfer methods including:</a:t>
            </a:r>
          </a:p>
          <a:p>
            <a:pPr lvl="2"/>
            <a:r>
              <a:rPr lang="en-US" dirty="0"/>
              <a:t>REST API</a:t>
            </a:r>
          </a:p>
          <a:p>
            <a:pPr lvl="2"/>
            <a:r>
              <a:rPr lang="en-US" dirty="0"/>
              <a:t>Publisher/Subscriber</a:t>
            </a:r>
          </a:p>
          <a:p>
            <a:pPr lvl="2"/>
            <a:endParaRPr lang="en-US" dirty="0"/>
          </a:p>
          <a:p>
            <a:r>
              <a:rPr lang="en-US" dirty="0"/>
              <a:t>ROs2 uses these data transfer methods and:</a:t>
            </a:r>
          </a:p>
          <a:p>
            <a:pPr lvl="2"/>
            <a:r>
              <a:rPr lang="en-US" dirty="0"/>
              <a:t>We discussed the inbuilt tools for these in ROS2</a:t>
            </a:r>
          </a:p>
          <a:p>
            <a:pPr lvl="2"/>
            <a:r>
              <a:rPr lang="en-US" dirty="0"/>
              <a:t>Where in ROS2 to find message and TCP specific parameters and nodes</a:t>
            </a:r>
          </a:p>
          <a:p>
            <a:pPr lvl="2"/>
            <a:r>
              <a:rPr lang="en-US" dirty="0"/>
              <a:t>Highlighted some useful packages for transfer information</a:t>
            </a:r>
          </a:p>
        </p:txBody>
      </p:sp>
    </p:spTree>
    <p:extLst>
      <p:ext uri="{BB962C8B-B14F-4D97-AF65-F5344CB8AC3E}">
        <p14:creationId xmlns:p14="http://schemas.microsoft.com/office/powerpoint/2010/main" val="34080756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KCL UPDATE v4 4x3">
  <a:themeElements>
    <a:clrScheme name="KCL">
      <a:dk1>
        <a:sysClr val="windowText" lastClr="000000"/>
      </a:dk1>
      <a:lt1>
        <a:sysClr val="window" lastClr="FFFFFF"/>
      </a:lt1>
      <a:dk2>
        <a:srgbClr val="0A2D50"/>
      </a:dk2>
      <a:lt2>
        <a:srgbClr val="CDD7DC"/>
      </a:lt2>
      <a:accent1>
        <a:srgbClr val="E2231A"/>
      </a:accent1>
      <a:accent2>
        <a:srgbClr val="FF5F05"/>
      </a:accent2>
      <a:accent3>
        <a:srgbClr val="F5B90F"/>
      </a:accent3>
      <a:accent4>
        <a:srgbClr val="C8E128"/>
      </a:accent4>
      <a:accent5>
        <a:srgbClr val="009EA0"/>
      </a:accent5>
      <a:accent6>
        <a:srgbClr val="005AD2"/>
      </a:accent6>
      <a:hlink>
        <a:srgbClr val="E2231A"/>
      </a:hlink>
      <a:folHlink>
        <a:srgbClr val="E2231A"/>
      </a:folHlink>
    </a:clrScheme>
    <a:fontScheme name="KCL-fonts">
      <a:majorFont>
        <a:latin typeface="Impact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D80815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07MRI007_SoftConstraints</Template>
  <TotalTime>2374</TotalTime>
  <Words>1563</Words>
  <Application>Microsoft Office PowerPoint</Application>
  <PresentationFormat>Widescreen</PresentationFormat>
  <Paragraphs>342</Paragraphs>
  <Slides>24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Courier New</vt:lpstr>
      <vt:lpstr>Georgia</vt:lpstr>
      <vt:lpstr>Impact</vt:lpstr>
      <vt:lpstr>KCL UPDATE v4 4x3</vt:lpstr>
      <vt:lpstr>PowerPoint Presentation</vt:lpstr>
      <vt:lpstr>Communication Protocols Part 1 Recap: API</vt:lpstr>
      <vt:lpstr>Communication Protocols Part 1 Recap: API</vt:lpstr>
      <vt:lpstr>Communication Protocols Part 1 Recap: Rest API</vt:lpstr>
      <vt:lpstr>Publish-Subscribe Pattern</vt:lpstr>
      <vt:lpstr>Publish-Subscribe Pattern</vt:lpstr>
      <vt:lpstr>API Summary</vt:lpstr>
      <vt:lpstr>API Summary</vt:lpstr>
      <vt:lpstr>Communication Protocols</vt:lpstr>
      <vt:lpstr>Communication Protocols</vt:lpstr>
      <vt:lpstr>Communication Protocols</vt:lpstr>
      <vt:lpstr>ROS API</vt:lpstr>
      <vt:lpstr>ROS2 API</vt:lpstr>
      <vt:lpstr>ROS2 API</vt:lpstr>
      <vt:lpstr>ROS2 Build Tools</vt:lpstr>
      <vt:lpstr>ROS2 Build Tools</vt:lpstr>
      <vt:lpstr>ROS2 Message Handling</vt:lpstr>
      <vt:lpstr>ROS2 Messages</vt:lpstr>
      <vt:lpstr>Communication Protocols</vt:lpstr>
      <vt:lpstr>Transmission Control Protocol (TCP)</vt:lpstr>
      <vt:lpstr>Transmission Control Protocol (TCP) – 3 way handshake</vt:lpstr>
      <vt:lpstr>Transmission Control Protocol (TCP) – Data Packet</vt:lpstr>
      <vt:lpstr>ROS2 TCP/IP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Rachel Sparks</dc:creator>
  <cp:lastModifiedBy>Rachel Sparks</cp:lastModifiedBy>
  <cp:revision>129</cp:revision>
  <dcterms:created xsi:type="dcterms:W3CDTF">2020-02-02T13:28:13Z</dcterms:created>
  <dcterms:modified xsi:type="dcterms:W3CDTF">2026-02-15T18:51:05Z</dcterms:modified>
</cp:coreProperties>
</file>