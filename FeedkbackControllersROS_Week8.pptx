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363" r:id="rId2"/>
    <p:sldId id="257" r:id="rId3"/>
    <p:sldId id="263" r:id="rId4"/>
    <p:sldId id="262" r:id="rId5"/>
    <p:sldId id="258" r:id="rId6"/>
    <p:sldId id="364" r:id="rId7"/>
    <p:sldId id="366" r:id="rId8"/>
    <p:sldId id="367" r:id="rId9"/>
    <p:sldId id="368" r:id="rId10"/>
    <p:sldId id="365" r:id="rId11"/>
    <p:sldId id="261" r:id="rId12"/>
    <p:sldId id="372" r:id="rId13"/>
    <p:sldId id="373" r:id="rId14"/>
    <p:sldId id="374" r:id="rId15"/>
    <p:sldId id="259" r:id="rId16"/>
    <p:sldId id="378" r:id="rId17"/>
    <p:sldId id="260" r:id="rId18"/>
    <p:sldId id="375" r:id="rId19"/>
    <p:sldId id="376" r:id="rId20"/>
    <p:sldId id="377" r:id="rId2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94860860-60A5-4AF6-A9CA-93A624D63228}">
          <p14:sldIdLst>
            <p14:sldId id="363"/>
            <p14:sldId id="257"/>
            <p14:sldId id="263"/>
            <p14:sldId id="262"/>
            <p14:sldId id="258"/>
            <p14:sldId id="364"/>
            <p14:sldId id="366"/>
            <p14:sldId id="367"/>
            <p14:sldId id="368"/>
            <p14:sldId id="365"/>
          </p14:sldIdLst>
        </p14:section>
        <p14:section name="TurtleSimPID" id="{7B92118E-CB88-4BD1-A249-E9676C9FDD35}">
          <p14:sldIdLst>
            <p14:sldId id="261"/>
            <p14:sldId id="372"/>
            <p14:sldId id="373"/>
            <p14:sldId id="374"/>
            <p14:sldId id="259"/>
            <p14:sldId id="378"/>
            <p14:sldId id="260"/>
          </p14:sldIdLst>
        </p14:section>
        <p14:section name="MoveIt!" id="{37E52BE3-91E5-4561-AC19-74221202E07A}">
          <p14:sldIdLst>
            <p14:sldId id="375"/>
            <p14:sldId id="376"/>
            <p14:sldId id="3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69956" autoAdjust="0"/>
  </p:normalViewPr>
  <p:slideViewPr>
    <p:cSldViewPr snapToGrid="0">
      <p:cViewPr varScale="1">
        <p:scale>
          <a:sx n="85" d="100"/>
          <a:sy n="85" d="100"/>
        </p:scale>
        <p:origin x="189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3537E-A09B-4487-8FBB-D76875950D1A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F6F28-45AB-48B6-95AC-50AB38FC55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985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5CDF32-C324-4F7D-82A3-3DF158B3C1E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766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Kinematics: https://ros-planning.github.io/moveit_tutorials/doc/kinematics_configuration/kinematics_configuration_tutorial.html?highlight=kdl</a:t>
            </a:r>
          </a:p>
          <a:p>
            <a:r>
              <a:rPr lang="en-GB" dirty="0" err="1"/>
              <a:t>IKFast</a:t>
            </a:r>
            <a:r>
              <a:rPr lang="en-GB" dirty="0"/>
              <a:t>: https://ros-planning.github.io/moveit_tutorials/doc/ikfast/ikfast_tutorial.html</a:t>
            </a:r>
          </a:p>
          <a:p>
            <a:r>
              <a:rPr lang="en-GB" dirty="0"/>
              <a:t>OMPL: https://ros-planning.github.io/moveit_tutorials/doc/ompl_interface/ompl_interface_tutorial.html#ompl-settings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F6F28-45AB-48B6-95AC-50AB38FC55C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495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mac1/Desktop/KCL%20LOGO%20WOB.png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Volumes/Day1_Data/WORK%20ARCHIVE/%20K/KING'S/11143%20KCL%20POWERPOINT%20UPDATE/BUILD/IMAGES/_DSC8361-rs.jpg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file://localhost/Users/mac1/Desktop/KCL_box_red_485_rgb.png" TargetMode="Externa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file://localhost/Users/mac1/Desktop/KCL_box_red_485_rgb.png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K 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CL-LOGO-INTERNATIONAL.png"/>
          <p:cNvPicPr>
            <a:picLocks noChangeAspect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8959" y="1397958"/>
            <a:ext cx="7814084" cy="4062084"/>
          </a:xfrm>
          <a:prstGeom prst="rect">
            <a:avLst/>
          </a:prstGeom>
        </p:spPr>
      </p:pic>
      <p:pic>
        <p:nvPicPr>
          <p:cNvPr id="3" name="KCL-LOGO-INTERNATIONAL.png">
            <a:extLst>
              <a:ext uri="{FF2B5EF4-FFF2-40B4-BE49-F238E27FC236}">
                <a16:creationId xmlns:a16="http://schemas.microsoft.com/office/drawing/2014/main" id="{A61FE7CD-4546-435A-A96D-97C618522529}"/>
              </a:ext>
            </a:extLst>
          </p:cNvPr>
          <p:cNvPicPr>
            <a:picLocks noChangeAspect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799" y="1397958"/>
            <a:ext cx="5832403" cy="4059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664181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joint - a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_DSC1517.jpg"/>
          <p:cNvPicPr>
            <a:picLocks noChangeAspect="1"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45" r="4990" b="23836"/>
          <a:stretch>
            <a:fillRect/>
          </a:stretch>
        </p:blipFill>
        <p:spPr>
          <a:xfrm>
            <a:off x="0" y="4"/>
            <a:ext cx="12192000" cy="555497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0"/>
            <a:ext cx="12192000" cy="339725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0000"/>
                </a:schemeClr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180001"/>
            <a:ext cx="11232000" cy="1080000"/>
          </a:xfrm>
        </p:spPr>
        <p:txBody>
          <a:bodyPr anchor="b" anchorCtr="0"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1440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480484" y="5733722"/>
            <a:ext cx="8995856" cy="94428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0" name="KCL-LOGO-UK-1.png"/>
          <p:cNvPicPr>
            <a:picLocks noChangeAspect="1"/>
          </p:cNvPicPr>
          <p:nvPr/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2000" y="5555734"/>
            <a:ext cx="2280000" cy="1302285"/>
          </a:xfrm>
          <a:prstGeom prst="rect">
            <a:avLst/>
          </a:prstGeom>
        </p:spPr>
      </p:pic>
      <p:pic>
        <p:nvPicPr>
          <p:cNvPr id="8" name="_DSC1517.jpg">
            <a:extLst>
              <a:ext uri="{FF2B5EF4-FFF2-40B4-BE49-F238E27FC236}">
                <a16:creationId xmlns:a16="http://schemas.microsoft.com/office/drawing/2014/main" id="{19BF7EEB-C570-46DE-881E-FA9C14D65473}"/>
              </a:ext>
            </a:extLst>
          </p:cNvPr>
          <p:cNvPicPr>
            <a:picLocks/>
          </p:cNvPicPr>
          <p:nvPr/>
        </p:nvPicPr>
        <p:blipFill rotWithShape="1"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7" t="9156" r="1840" b="25188"/>
          <a:stretch>
            <a:fillRect/>
          </a:stretch>
        </p:blipFill>
        <p:spPr>
          <a:xfrm>
            <a:off x="0" y="-1"/>
            <a:ext cx="12205554" cy="555497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79655CA-2B88-4BF3-BC81-659401D756A5}"/>
              </a:ext>
            </a:extLst>
          </p:cNvPr>
          <p:cNvSpPr/>
          <p:nvPr/>
        </p:nvSpPr>
        <p:spPr>
          <a:xfrm>
            <a:off x="0" y="0"/>
            <a:ext cx="12192000" cy="339725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50000"/>
                </a:schemeClr>
              </a:gs>
              <a:gs pos="100000">
                <a:srgbClr val="FFFFFF">
                  <a:alpha val="0"/>
                </a:srgbClr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049" tIns="45524" rIns="91049" bIns="4552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792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498FD76-9E78-477B-8302-08E6A0526714}"/>
              </a:ext>
            </a:extLst>
          </p:cNvPr>
          <p:cNvGrpSpPr>
            <a:grpSpLocks noChangeAspect="1"/>
          </p:cNvGrpSpPr>
          <p:nvPr/>
        </p:nvGrpSpPr>
        <p:grpSpPr>
          <a:xfrm>
            <a:off x="10489316" y="5554980"/>
            <a:ext cx="1702684" cy="1303021"/>
            <a:chOff x="7949775" y="1"/>
            <a:chExt cx="1194225" cy="91000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F36ADC7-6D02-48EE-AB32-077D6B630975}"/>
                </a:ext>
              </a:extLst>
            </p:cNvPr>
            <p:cNvSpPr/>
            <p:nvPr userDrawn="1"/>
          </p:nvSpPr>
          <p:spPr>
            <a:xfrm>
              <a:off x="7949775" y="1"/>
              <a:ext cx="1194225" cy="91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2"/>
            </a:p>
          </p:txBody>
        </p:sp>
        <p:pic>
          <p:nvPicPr>
            <p:cNvPr id="15" name="KCL-LOGO-UK-1.png">
              <a:extLst>
                <a:ext uri="{FF2B5EF4-FFF2-40B4-BE49-F238E27FC236}">
                  <a16:creationId xmlns:a16="http://schemas.microsoft.com/office/drawing/2014/main" id="{E30E8B65-6DDB-4461-AA4D-7B99D0C528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r:link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9775" y="258"/>
              <a:ext cx="1194225" cy="90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7572599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10800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363271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lim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45325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7506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- sea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0000" y="4689299"/>
            <a:ext cx="11232000" cy="728721"/>
          </a:xfrm>
        </p:spPr>
        <p:txBody>
          <a:bodyPr>
            <a:normAutofit/>
          </a:bodyPr>
          <a:lstStyle>
            <a:lvl1pPr>
              <a:defRPr sz="4500">
                <a:solidFill>
                  <a:srgbClr val="FFFFFF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0000" y="5598000"/>
            <a:ext cx="11232000" cy="891700"/>
          </a:xfrm>
        </p:spPr>
        <p:txBody>
          <a:bodyPr/>
          <a:lstStyle>
            <a:lvl1pPr marL="0" indent="0" algn="l">
              <a:buNone/>
              <a:defRPr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571364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- text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buNone/>
              <a:defRPr sz="2000">
                <a:latin typeface="Georgia"/>
                <a:cs typeface="Georgia"/>
              </a:defRPr>
            </a:lvl2pPr>
            <a:lvl3pPr marL="26987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3pPr>
            <a:lvl4pPr marL="539750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4pPr>
            <a:lvl5pPr marL="80962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59EA69C6-310D-42AF-B1F6-C2A5C222C06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2000" y="6498000"/>
            <a:ext cx="960000" cy="360000"/>
          </a:xfrm>
        </p:spPr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F4B40CAB-CA33-4556-B908-894B6F47385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rgbClr val="C2B6A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832E3D0-4E21-4229-BDC0-8D902BA1AA9E}"/>
              </a:ext>
            </a:extLst>
          </p:cNvPr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9053027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-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6987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1pPr>
            <a:lvl2pPr marL="539750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2pPr>
            <a:lvl3pPr marL="809625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3pPr>
            <a:lvl4pPr marL="1079500" indent="-269875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4pPr>
            <a:lvl5pPr marL="1341438" indent="-261938">
              <a:lnSpc>
                <a:spcPct val="120000"/>
              </a:lnSpc>
              <a:spcBef>
                <a:spcPts val="0"/>
              </a:spcBef>
              <a:defRPr sz="2000">
                <a:latin typeface="Georgia"/>
                <a:cs typeface="Georgi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59EA69C6-310D-42AF-B1F6-C2A5C222C06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2000" y="6498000"/>
            <a:ext cx="960000" cy="360000"/>
          </a:xfrm>
        </p:spPr>
        <p:txBody>
          <a:bodyPr/>
          <a:lstStyle>
            <a:lvl1pPr>
              <a:defRPr sz="1000">
                <a:latin typeface="Georgia"/>
                <a:cs typeface="Georgia"/>
              </a:defRPr>
            </a:lvl1pPr>
          </a:lstStyle>
          <a:p>
            <a:fld id="{F4B40CAB-CA33-4556-B908-894B6F473859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D1639FF-247C-48E3-AB2C-E21FBF239F0D}"/>
              </a:ext>
            </a:extLst>
          </p:cNvPr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508732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- text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69C6-310D-42AF-B1F6-C2A5C222C06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40CAB-CA33-4556-B908-894B6F473859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2E6559-B504-438B-BD79-4178C54796D6}"/>
              </a:ext>
            </a:extLst>
          </p:cNvPr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19580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- bullet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69C6-310D-42AF-B1F6-C2A5C222C06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40CAB-CA33-4556-B908-894B6F473859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068C09D-57F4-48A8-8AF4-2C0F799A0DF1}"/>
              </a:ext>
            </a:extLst>
          </p:cNvPr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229412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1 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0" y="1088723"/>
            <a:ext cx="11232000" cy="46805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0" y="5949280"/>
            <a:ext cx="11232000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69C6-310D-42AF-B1F6-C2A5C222C06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40CAB-CA33-4556-B908-894B6F47385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A6A9053-5249-41F9-8719-0487C8352EBB}"/>
              </a:ext>
            </a:extLst>
          </p:cNvPr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282662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 6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3" y="1088720"/>
            <a:ext cx="3600028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0" y="5949280"/>
            <a:ext cx="11232000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69C6-310D-42AF-B1F6-C2A5C222C06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40CAB-CA33-4556-B908-894B6F473859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480003" y="3519000"/>
            <a:ext cx="3600028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8111971" y="1088720"/>
            <a:ext cx="3603072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5"/>
          </p:nvPr>
        </p:nvSpPr>
        <p:spPr>
          <a:xfrm>
            <a:off x="8111971" y="3519000"/>
            <a:ext cx="3603072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Picture Placeholder 2"/>
          <p:cNvSpPr>
            <a:spLocks noGrp="1"/>
          </p:cNvSpPr>
          <p:nvPr>
            <p:ph type="pic" idx="16"/>
          </p:nvPr>
        </p:nvSpPr>
        <p:spPr>
          <a:xfrm>
            <a:off x="4295985" y="1088720"/>
            <a:ext cx="3603072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"/>
          <p:cNvSpPr>
            <a:spLocks noGrp="1"/>
          </p:cNvSpPr>
          <p:nvPr>
            <p:ph type="pic" idx="17"/>
          </p:nvPr>
        </p:nvSpPr>
        <p:spPr>
          <a:xfrm>
            <a:off x="4295985" y="3519000"/>
            <a:ext cx="3603072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20" name="Straight Connector 19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9735384-096B-4F85-B6F5-600DFCA3AF47}"/>
              </a:ext>
            </a:extLst>
          </p:cNvPr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441159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x 4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80000" y="1088720"/>
            <a:ext cx="5496000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00" y="5949280"/>
            <a:ext cx="11232000" cy="5487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69C6-310D-42AF-B1F6-C2A5C222C06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40CAB-CA33-4556-B908-894B6F473859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480000" y="3519000"/>
            <a:ext cx="5496000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6216001" y="1088720"/>
            <a:ext cx="5499043" cy="225028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5"/>
          </p:nvPr>
        </p:nvSpPr>
        <p:spPr>
          <a:xfrm>
            <a:off x="6216001" y="3519000"/>
            <a:ext cx="5499043" cy="22546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2862E50-2AA2-41B9-B8EB-9FB13CA7A5D3}"/>
              </a:ext>
            </a:extLst>
          </p:cNvPr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279832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bullets and image - a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69C6-310D-42AF-B1F6-C2A5C222C06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40CAB-CA33-4556-B908-894B6F47385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6339903" y="1089025"/>
            <a:ext cx="5372100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199C02-0484-4DBC-9F4B-B9A51760630C}"/>
              </a:ext>
            </a:extLst>
          </p:cNvPr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485111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bullets and image - a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69C6-310D-42AF-B1F6-C2A5C222C06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40CAB-CA33-4556-B908-894B6F47385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80003" y="1089025"/>
            <a:ext cx="5372100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7B1449A-736D-4EDA-88BA-CA32854C8892}"/>
              </a:ext>
            </a:extLst>
          </p:cNvPr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770714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- text/bullets and image - a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69C6-310D-42AF-B1F6-C2A5C222C06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40CAB-CA33-4556-B908-894B6F47385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6335668" y="1089025"/>
            <a:ext cx="5376333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3FB0771-44B3-4139-A745-7D9FA88CC539}"/>
              </a:ext>
            </a:extLst>
          </p:cNvPr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28793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- text/bullets and image - a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6000" y="1088721"/>
            <a:ext cx="5376000" cy="486056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A2D50"/>
                </a:solidFill>
                <a:latin typeface="Impact"/>
                <a:cs typeface="Impact"/>
              </a:defRPr>
            </a:lvl1pPr>
            <a:lvl2pPr marL="0" indent="0">
              <a:buNone/>
              <a:defRPr sz="2000"/>
            </a:lvl2pPr>
            <a:lvl3pPr marL="269875" indent="-269875">
              <a:defRPr sz="2000"/>
            </a:lvl3pPr>
            <a:lvl4pPr marL="539750" indent="-269875">
              <a:defRPr sz="2000"/>
            </a:lvl4pPr>
            <a:lvl5pPr marL="809625" indent="-269875"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69C6-310D-42AF-B1F6-C2A5C222C06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40CAB-CA33-4556-B908-894B6F47385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80000" y="1088356"/>
            <a:ext cx="5376333" cy="4860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80000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E34FD6-CCBB-4D22-91F7-4CE715206C42}"/>
              </a:ext>
            </a:extLst>
          </p:cNvPr>
          <p:cNvCxnSpPr/>
          <p:nvPr/>
        </p:nvCxnSpPr>
        <p:spPr>
          <a:xfrm>
            <a:off x="480001" y="909220"/>
            <a:ext cx="11232000" cy="0"/>
          </a:xfrm>
          <a:prstGeom prst="line">
            <a:avLst/>
          </a:prstGeom>
          <a:ln w="12700">
            <a:solidFill>
              <a:schemeClr val="bg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057404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00" y="3420000"/>
            <a:ext cx="11232000" cy="2520000"/>
          </a:xfrm>
        </p:spPr>
        <p:txBody>
          <a:bodyPr anchor="b" anchorCtr="0">
            <a:normAutofit/>
          </a:bodyPr>
          <a:lstStyle>
            <a:lvl1pPr>
              <a:defRPr sz="1600" b="0" baseline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00" y="6120019"/>
            <a:ext cx="11232000" cy="358407"/>
          </a:xfrm>
        </p:spPr>
        <p:txBody>
          <a:bodyPr anchor="b" anchorCtr="0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  <a:latin typeface="Georgia"/>
                <a:cs typeface="Georgi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2757563-1F2A-4F9B-A5BB-ACC50ED6178F}"/>
              </a:ext>
            </a:extLst>
          </p:cNvPr>
          <p:cNvGrpSpPr>
            <a:grpSpLocks noChangeAspect="1"/>
          </p:cNvGrpSpPr>
          <p:nvPr/>
        </p:nvGrpSpPr>
        <p:grpSpPr>
          <a:xfrm>
            <a:off x="10489316" y="1"/>
            <a:ext cx="1702684" cy="1303021"/>
            <a:chOff x="7949775" y="1"/>
            <a:chExt cx="1194225" cy="910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37FBACC-4A3A-40EE-BABC-CC0A09DC0FAD}"/>
                </a:ext>
              </a:extLst>
            </p:cNvPr>
            <p:cNvSpPr/>
            <p:nvPr userDrawn="1"/>
          </p:nvSpPr>
          <p:spPr>
            <a:xfrm>
              <a:off x="7949775" y="1"/>
              <a:ext cx="1194225" cy="910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2"/>
            </a:p>
          </p:txBody>
        </p:sp>
        <p:pic>
          <p:nvPicPr>
            <p:cNvPr id="9" name="KCL-LOGO-UK-1.png">
              <a:extLst>
                <a:ext uri="{FF2B5EF4-FFF2-40B4-BE49-F238E27FC236}">
                  <a16:creationId xmlns:a16="http://schemas.microsoft.com/office/drawing/2014/main" id="{4B79824D-B628-4B33-B3A0-849D6032813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r:link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49775" y="258"/>
              <a:ext cx="1194225" cy="9094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3579040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56793"/>
            <a:ext cx="5384800" cy="42694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400"/>
            </a:lvl1pPr>
            <a:lvl2pPr>
              <a:defRPr sz="2130"/>
            </a:lvl2pPr>
            <a:lvl3pPr>
              <a:defRPr sz="1870"/>
            </a:lvl3pPr>
            <a:lvl4pPr>
              <a:defRPr sz="2133"/>
            </a:lvl4pPr>
            <a:lvl5pPr>
              <a:defRPr sz="2133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7276534-D227-482D-AC62-73FA3EB83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EA69C6-310D-42AF-B1F6-C2A5C222C06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9FEEBE0-EE3E-44CA-9D29-BE798CB79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1" y="6356351"/>
            <a:ext cx="3860800" cy="36618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646E212-76A5-422F-A842-EDE34BF20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B40CAB-CA33-4556-B908-894B6F47385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5"/>
          <p:cNvSpPr>
            <a:spLocks noGrp="1"/>
          </p:cNvSpPr>
          <p:nvPr>
            <p:ph type="title"/>
          </p:nvPr>
        </p:nvSpPr>
        <p:spPr>
          <a:xfrm>
            <a:off x="609600" y="793378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417804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5"/>
          <p:cNvSpPr>
            <a:spLocks noGrp="1"/>
          </p:cNvSpPr>
          <p:nvPr>
            <p:ph sz="quarter" idx="13"/>
          </p:nvPr>
        </p:nvSpPr>
        <p:spPr>
          <a:xfrm>
            <a:off x="609601" y="1628799"/>
            <a:ext cx="10972800" cy="453650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r">
              <a:defRPr/>
            </a:lvl1pPr>
          </a:lstStyle>
          <a:p>
            <a:fld id="{59EA69C6-310D-42AF-B1F6-C2A5C222C06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4B40CAB-CA33-4556-B908-894B6F473859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itle 5"/>
          <p:cNvSpPr>
            <a:spLocks noGrp="1"/>
          </p:cNvSpPr>
          <p:nvPr>
            <p:ph type="title"/>
          </p:nvPr>
        </p:nvSpPr>
        <p:spPr>
          <a:xfrm>
            <a:off x="609600" y="793378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47078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rategy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15"/>
          <p:cNvSpPr>
            <a:spLocks noGrp="1"/>
          </p:cNvSpPr>
          <p:nvPr>
            <p:ph sz="quarter" idx="13"/>
          </p:nvPr>
        </p:nvSpPr>
        <p:spPr>
          <a:xfrm>
            <a:off x="609601" y="1628799"/>
            <a:ext cx="10972800" cy="4536505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r">
              <a:defRPr/>
            </a:lvl1pPr>
          </a:lstStyle>
          <a:p>
            <a:fld id="{59EA69C6-310D-42AF-B1F6-C2A5C222C06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4B40CAB-CA33-4556-B908-894B6F473859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itle 5"/>
          <p:cNvSpPr>
            <a:spLocks noGrp="1"/>
          </p:cNvSpPr>
          <p:nvPr>
            <p:ph type="title"/>
          </p:nvPr>
        </p:nvSpPr>
        <p:spPr>
          <a:xfrm>
            <a:off x="609600" y="793378"/>
            <a:ext cx="10972800" cy="647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85113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91C3AB7-B446-4F72-ABF4-5CD8EB43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9EA69C6-310D-42AF-B1F6-C2A5C222C06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A30E2C6-999F-4EDE-95E6-51D642113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B40CAB-CA33-4556-B908-894B6F473859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2A6D1-940A-4FE1-91A1-99304940D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14751" y="6356351"/>
            <a:ext cx="3860800" cy="36618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84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15"/>
          <p:cNvSpPr>
            <a:spLocks noGrp="1"/>
          </p:cNvSpPr>
          <p:nvPr>
            <p:ph sz="quarter" idx="13"/>
          </p:nvPr>
        </p:nvSpPr>
        <p:spPr>
          <a:xfrm>
            <a:off x="440267" y="1402385"/>
            <a:ext cx="11319933" cy="50349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A69C6-310D-42AF-B1F6-C2A5C222C06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B40CAB-CA33-4556-B908-894B6F473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2734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7" descr="Imanova_Brandmark_RGB_150dpi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8556" y="66316"/>
            <a:ext cx="916825" cy="68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8"/>
          <p:cNvSpPr>
            <a:spLocks noChangeArrowheads="1"/>
          </p:cNvSpPr>
          <p:nvPr/>
        </p:nvSpPr>
        <p:spPr bwMode="auto">
          <a:xfrm>
            <a:off x="291929" y="817124"/>
            <a:ext cx="11584713" cy="48945"/>
          </a:xfrm>
          <a:prstGeom prst="rect">
            <a:avLst/>
          </a:prstGeom>
          <a:solidFill>
            <a:srgbClr val="191851"/>
          </a:solidFill>
          <a:ln w="9525">
            <a:noFill/>
            <a:round/>
            <a:headEnd/>
            <a:tailEnd/>
          </a:ln>
        </p:spPr>
        <p:txBody>
          <a:bodyPr lIns="83119" tIns="41559" rIns="83119" bIns="41559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200">
              <a:solidFill>
                <a:prstClr val="black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8" name="Text Box 16"/>
          <p:cNvSpPr txBox="1">
            <a:spLocks noChangeArrowheads="1"/>
          </p:cNvSpPr>
          <p:nvPr/>
        </p:nvSpPr>
        <p:spPr bwMode="auto">
          <a:xfrm>
            <a:off x="306537" y="6400226"/>
            <a:ext cx="11584713" cy="244723"/>
          </a:xfrm>
          <a:prstGeom prst="rect">
            <a:avLst/>
          </a:prstGeom>
          <a:solidFill>
            <a:srgbClr val="1E1D54"/>
          </a:solidFill>
          <a:ln>
            <a:noFill/>
          </a:ln>
        </p:spPr>
        <p:txBody>
          <a:bodyPr lIns="98172" tIns="49086" rIns="91423" bIns="45712"/>
          <a:lstStyle>
            <a:lvl1pPr defTabSz="10064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defTabSz="10064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>
                <a:srgbClr val="800080"/>
              </a:buClr>
              <a:buFont typeface="Times" charset="0"/>
              <a:buNone/>
              <a:defRPr/>
            </a:pPr>
            <a:endParaRPr lang="en-GB" sz="900" dirty="0">
              <a:solidFill>
                <a:prstClr val="white"/>
              </a:solidFill>
            </a:endParaRP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306537" y="1025858"/>
            <a:ext cx="11584713" cy="5308148"/>
          </a:xfrm>
          <a:prstGeom prst="rect">
            <a:avLst/>
          </a:prstGeom>
          <a:gradFill rotWithShape="1">
            <a:gsLst>
              <a:gs pos="0">
                <a:srgbClr val="0092D2"/>
              </a:gs>
              <a:gs pos="100000">
                <a:srgbClr val="191851"/>
              </a:gs>
            </a:gsLst>
            <a:lin ang="5400000"/>
          </a:gradFill>
          <a:ln w="9525">
            <a:noFill/>
            <a:round/>
            <a:headEnd/>
            <a:tailEnd/>
          </a:ln>
        </p:spPr>
        <p:txBody>
          <a:bodyPr lIns="83119" tIns="41559" rIns="83119" bIns="41559"/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sz="2200">
              <a:solidFill>
                <a:prstClr val="white"/>
              </a:solidFill>
              <a:latin typeface="Arial" charset="0"/>
              <a:ea typeface="ＭＳ Ｐゴシック" charset="-128"/>
              <a:cs typeface="ＭＳ Ｐゴシック" charset="-128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99005" y="122277"/>
            <a:ext cx="3847715" cy="600831"/>
          </a:xfrm>
          <a:prstGeom prst="rect">
            <a:avLst/>
          </a:prstGeom>
        </p:spPr>
        <p:txBody>
          <a:bodyPr vert="horz" lIns="83119" tIns="41559" rIns="83119" bIns="41559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499326" y="1141024"/>
            <a:ext cx="11193351" cy="5030314"/>
          </a:xfrm>
          <a:prstGeom prst="rect">
            <a:avLst/>
          </a:prstGeom>
        </p:spPr>
        <p:txBody>
          <a:bodyPr vert="horz" lIns="0" tIns="0" rIns="0" bIns="41559"/>
          <a:lstStyle>
            <a:lvl1pPr>
              <a:defRPr sz="29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777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00" y="180000"/>
            <a:ext cx="11232000" cy="72000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00" y="1089220"/>
            <a:ext cx="11232000" cy="48564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0000" y="6498000"/>
            <a:ext cx="960000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>
                <a:solidFill>
                  <a:schemeClr val="tx2"/>
                </a:solidFill>
                <a:latin typeface="Georgia"/>
                <a:cs typeface="Georgia"/>
              </a:defRPr>
            </a:lvl1pPr>
          </a:lstStyle>
          <a:p>
            <a:fld id="{59EA69C6-310D-42AF-B1F6-C2A5C222C06F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0000" y="6498000"/>
            <a:ext cx="9312000" cy="36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000">
                <a:solidFill>
                  <a:schemeClr val="tx2"/>
                </a:solidFill>
                <a:latin typeface="Georgia"/>
                <a:cs typeface="Georgia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2000" y="6498000"/>
            <a:ext cx="960000" cy="360000"/>
          </a:xfrm>
          <a:prstGeom prst="rect">
            <a:avLst/>
          </a:prstGeom>
        </p:spPr>
        <p:txBody>
          <a:bodyPr vert="horz" lIns="91440" tIns="0" rIns="0" bIns="0" rtlCol="0" anchor="t" anchorCtr="0"/>
          <a:lstStyle>
            <a:lvl1pPr algn="r">
              <a:defRPr sz="1000">
                <a:solidFill>
                  <a:schemeClr val="tx2"/>
                </a:solidFill>
                <a:latin typeface="Georgia"/>
                <a:cs typeface="Georgia"/>
              </a:defRPr>
            </a:lvl1pPr>
          </a:lstStyle>
          <a:p>
            <a:fld id="{F4B40CAB-CA33-4556-B908-894B6F4738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486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p:transition>
    <p:fade/>
  </p:transition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rgbClr val="0A2D50"/>
          </a:solidFill>
          <a:latin typeface="Impact"/>
          <a:ea typeface="+mj-ea"/>
          <a:cs typeface="Impact"/>
        </a:defRPr>
      </a:lvl1pPr>
    </p:titleStyle>
    <p:bodyStyle>
      <a:lvl1pPr marL="269875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1pPr>
      <a:lvl2pPr marL="539750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2pPr>
      <a:lvl3pPr marL="809625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3pPr>
      <a:lvl4pPr marL="1079500" indent="-269875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4pPr>
      <a:lvl5pPr marL="1341438" indent="-261938" algn="l" defTabSz="457200" rtl="0" eaLnBrk="1" latinLnBrk="0" hangingPunct="1">
        <a:lnSpc>
          <a:spcPct val="120000"/>
        </a:lnSpc>
        <a:spcBef>
          <a:spcPts val="0"/>
        </a:spcBef>
        <a:buClr>
          <a:srgbClr val="0A2D50"/>
        </a:buClr>
        <a:buFont typeface="Arial"/>
        <a:buChar char="•"/>
        <a:defRPr sz="2000" kern="1200">
          <a:solidFill>
            <a:schemeClr val="tx1"/>
          </a:solidFill>
          <a:latin typeface="Georgia"/>
          <a:ea typeface="+mn-ea"/>
          <a:cs typeface="Georgia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ntrol.ros.org/jazzy/doc/ros2_controllers/velocity_controllers/doc/userdoc.html" TargetMode="External"/><Relationship Id="rId2" Type="http://schemas.openxmlformats.org/officeDocument/2006/relationships/hyperlink" Target="https://control.ros.org/jazzy/doc/ros2_controllers/effort_controllers/doc/userdoc.html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control.ros.org/jazzy/index.html" TargetMode="Externa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control.ros.org/rolling/doc/ros2_controllers/pid_controller/doc/userdoc.html" TargetMode="Externa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control.ros.org/rolling/doc/ros2_controllers/pid_controller/doc/userdoc.html" TargetMode="Externa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ros.org/rqt_plot" TargetMode="External"/><Relationship Id="rId2" Type="http://schemas.openxmlformats.org/officeDocument/2006/relationships/hyperlink" Target="https://control.ros.org/jazzy/doc/ros2_control/doc/introspection.html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moveit.picknik.ai/humble/doc/examples/controller_configuration/controller_configuration_tutorial.html" TargetMode="Externa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C0BA1EB-1949-4708-884C-5B234C9A0A39}"/>
              </a:ext>
            </a:extLst>
          </p:cNvPr>
          <p:cNvSpPr txBox="1"/>
          <p:nvPr/>
        </p:nvSpPr>
        <p:spPr>
          <a:xfrm>
            <a:off x="0" y="150982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atin typeface="+mj-lt"/>
              </a:rPr>
              <a:t>Image-Guided Navigation for Robotics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984BE8-D9D7-4702-AC20-1B3D92B8229D}"/>
              </a:ext>
            </a:extLst>
          </p:cNvPr>
          <p:cNvSpPr txBox="1"/>
          <p:nvPr/>
        </p:nvSpPr>
        <p:spPr>
          <a:xfrm>
            <a:off x="1488557" y="2340821"/>
            <a:ext cx="85804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+mj-lt"/>
              </a:rPr>
              <a:t>Feedback Control in ROS2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AD3EFD-E841-4D68-AF80-6B97B49976C1}"/>
              </a:ext>
            </a:extLst>
          </p:cNvPr>
          <p:cNvSpPr txBox="1"/>
          <p:nvPr/>
        </p:nvSpPr>
        <p:spPr>
          <a:xfrm>
            <a:off x="154709" y="4882490"/>
            <a:ext cx="70493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n-lt"/>
              </a:rPr>
              <a:t>Rachel Sparks, Ph.D.</a:t>
            </a:r>
          </a:p>
          <a:p>
            <a:r>
              <a:rPr lang="en-US" sz="2400" dirty="0">
                <a:latin typeface="+mn-lt"/>
              </a:rPr>
              <a:t>Rachel.sparks@kcl.ac.uk</a:t>
            </a:r>
          </a:p>
          <a:p>
            <a:r>
              <a:rPr lang="en-US" sz="2400" dirty="0">
                <a:latin typeface="+mj-lt"/>
              </a:rPr>
              <a:t>Lecturer in Surgical &amp; Interventional Engineering</a:t>
            </a:r>
          </a:p>
          <a:p>
            <a:r>
              <a:rPr lang="en-US" sz="2400" dirty="0">
                <a:latin typeface="+mj-lt"/>
              </a:rPr>
              <a:t>School of Biomedical Engineering &amp; Imaging Sciences</a:t>
            </a:r>
          </a:p>
        </p:txBody>
      </p:sp>
    </p:spTree>
    <p:extLst>
      <p:ext uri="{BB962C8B-B14F-4D97-AF65-F5344CB8AC3E}">
        <p14:creationId xmlns:p14="http://schemas.microsoft.com/office/powerpoint/2010/main" val="2954418887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042ECF-E841-4343-BC6E-DC2210F42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ROS Robot Controllers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CB9C61-526D-4CD9-B12E-C52E92656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Currently in ROS we are assuming</a:t>
            </a:r>
          </a:p>
          <a:p>
            <a:pPr lvl="2"/>
            <a:r>
              <a:rPr lang="en-US" dirty="0"/>
              <a:t>Perfect control over individual joints – we can specify an angle of a joint precisely</a:t>
            </a:r>
          </a:p>
          <a:p>
            <a:pPr lvl="2"/>
            <a:r>
              <a:rPr lang="en-US" dirty="0"/>
              <a:t>Perfect knowledge on the state of the robot – we know the precise configuration of all joints</a:t>
            </a:r>
          </a:p>
          <a:p>
            <a:pPr lvl="2"/>
            <a:endParaRPr lang="en-US" dirty="0"/>
          </a:p>
          <a:p>
            <a:r>
              <a:rPr lang="en-US" dirty="0"/>
              <a:t>This allows us to focus on the path planning and trajectory implementation without considering</a:t>
            </a:r>
          </a:p>
          <a:p>
            <a:pPr lvl="2"/>
            <a:r>
              <a:rPr lang="en-US" dirty="0"/>
              <a:t>How to translate desired state to robot position</a:t>
            </a:r>
          </a:p>
          <a:p>
            <a:pPr lvl="2"/>
            <a:r>
              <a:rPr lang="en-US" dirty="0"/>
              <a:t>Noisy measurements</a:t>
            </a:r>
          </a:p>
          <a:p>
            <a:pPr lvl="2"/>
            <a:r>
              <a:rPr lang="en-US" dirty="0"/>
              <a:t>Incomplete measurements</a:t>
            </a:r>
          </a:p>
          <a:p>
            <a:pPr lvl="2"/>
            <a:r>
              <a:rPr lang="en-US" dirty="0"/>
              <a:t>Feedback control </a:t>
            </a:r>
          </a:p>
          <a:p>
            <a:pPr lvl="2"/>
            <a:endParaRPr lang="en-US" dirty="0"/>
          </a:p>
          <a:p>
            <a:r>
              <a:rPr lang="en-US" dirty="0"/>
              <a:t>In this lecture we are going to focus on how to alter elements of our simulation to take these factors into account </a:t>
            </a:r>
          </a:p>
        </p:txBody>
      </p:sp>
    </p:spTree>
    <p:extLst>
      <p:ext uri="{BB962C8B-B14F-4D97-AF65-F5344CB8AC3E}">
        <p14:creationId xmlns:p14="http://schemas.microsoft.com/office/powerpoint/2010/main" val="12856704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73B25-BE65-4B53-B5C9-055462DC3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Joint State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EBE4A-2F6F-49E9-B602-56058C0EF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Publishes the specific configuration of all joints in a robot</a:t>
            </a:r>
          </a:p>
          <a:p>
            <a:pPr lvl="2"/>
            <a:r>
              <a:rPr lang="en-US" dirty="0"/>
              <a:t>The joint may have some hard limits in terms of the range of positions it is allowed to take</a:t>
            </a:r>
          </a:p>
          <a:p>
            <a:pPr lvl="2"/>
            <a:r>
              <a:rPr lang="en-US" dirty="0"/>
              <a:t>Hard collisions between other objects can be taken into account (as in </a:t>
            </a:r>
            <a:r>
              <a:rPr lang="en-US" dirty="0" err="1"/>
              <a:t>MoveIt</a:t>
            </a:r>
            <a:r>
              <a:rPr lang="en-US" dirty="0"/>
              <a:t>!)</a:t>
            </a:r>
          </a:p>
          <a:p>
            <a:pPr lvl="2"/>
            <a:r>
              <a:rPr lang="en-US" dirty="0"/>
              <a:t>Can also link joints by creating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dependent_joints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using the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mimic</a:t>
            </a:r>
            <a:r>
              <a:rPr lang="en-US" dirty="0"/>
              <a:t> tag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7B50D4-4404-4F96-B0C0-2A035C614ECC}"/>
              </a:ext>
            </a:extLst>
          </p:cNvPr>
          <p:cNvSpPr txBox="1"/>
          <p:nvPr/>
        </p:nvSpPr>
        <p:spPr>
          <a:xfrm>
            <a:off x="98474" y="3429000"/>
            <a:ext cx="542838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&lt;joint name="arm1_to_arm2"          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type="continuous"&gt;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&lt;origin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rpy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="0 0 0"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xyz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="0 0 10"/&gt;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&lt;axis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xyz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="0 1 0" 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&lt;parent link ="arm1"/&gt;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&lt;child link="arm2"/&gt;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&lt;limit effort="30" velocity="1.0" 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lower="-0.75" upper = "0.75"/&gt;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&lt;/joint&gt;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DFCF03-D500-4E6A-A940-E9A2EA37B115}"/>
              </a:ext>
            </a:extLst>
          </p:cNvPr>
          <p:cNvSpPr txBox="1"/>
          <p:nvPr/>
        </p:nvSpPr>
        <p:spPr>
          <a:xfrm>
            <a:off x="5908386" y="2875001"/>
            <a:ext cx="689316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&lt;link name="arm2"&gt;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&lt;visual&gt;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&lt;geometry&gt;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&lt;cylinder length="5" radius="0.75"/&gt;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&lt;/geometry&gt;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&lt;origin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rpy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="0 0 0"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xyz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="0 0 2.5"/&gt;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&lt;/visual&gt;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&lt;collision&gt;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&lt;geometry&gt;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&lt;cylinder length="5" radius="1"/&gt;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&lt;/geometry&gt;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&lt;/collision&gt;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&lt;/link&gt;</a:t>
            </a:r>
          </a:p>
        </p:txBody>
      </p:sp>
    </p:spTree>
    <p:extLst>
      <p:ext uri="{BB962C8B-B14F-4D97-AF65-F5344CB8AC3E}">
        <p14:creationId xmlns:p14="http://schemas.microsoft.com/office/powerpoint/2010/main" val="41088775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042ECF-E841-4343-BC6E-DC2210F42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 Joint Controllers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7CB9C61-526D-4CD9-B12E-C52E92656E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Rather than setting  fixed position as in</a:t>
                </a:r>
                <a:r>
                  <a:rPr lang="en-US" dirty="0">
                    <a:solidFill>
                      <a:srgbClr val="00B050"/>
                    </a:solidFill>
                    <a:latin typeface="+mn-lt"/>
                  </a:rPr>
                  <a:t> </a:t>
                </a:r>
                <a:r>
                  <a:rPr lang="en-US" dirty="0" err="1">
                    <a:solidFill>
                      <a:srgbClr val="00B05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joint_state_controllers</a:t>
                </a:r>
                <a:r>
                  <a:rPr lang="en-US" dirty="0">
                    <a:solidFill>
                      <a:srgbClr val="00B05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</a:t>
                </a:r>
                <a:r>
                  <a:rPr lang="en-US" dirty="0">
                    <a:latin typeface="+mn-lt"/>
                  </a:rPr>
                  <a:t>the more realistic option are:</a:t>
                </a:r>
              </a:p>
              <a:p>
                <a:pPr lvl="2"/>
                <a:r>
                  <a:rPr lang="en-US" b="1" i="0" u="none" strike="noStrike" dirty="0" err="1">
                    <a:solidFill>
                      <a:srgbClr val="2B7FCF"/>
                    </a:solidFill>
                    <a:effectLst/>
                    <a:latin typeface="+mn-lt"/>
                    <a:hlinkClick r:id="rId2" tooltip="Click to do a full-text search for this title"/>
                  </a:rPr>
                  <a:t>JointEffortController</a:t>
                </a:r>
                <a:r>
                  <a:rPr lang="en-US" dirty="0">
                    <a:latin typeface="+mn-lt"/>
                  </a:rPr>
                  <a:t>: control the effort on a specific joint to update position</a:t>
                </a:r>
              </a:p>
              <a:p>
                <a:pPr marL="53975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brk m:alnAt="23"/>
                                        </m:r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lvl="2"/>
                <a:r>
                  <a:rPr lang="en-US" b="1" i="0" u="none" strike="noStrike" dirty="0" err="1">
                    <a:solidFill>
                      <a:srgbClr val="2B7FCF"/>
                    </a:solidFill>
                    <a:effectLst/>
                    <a:latin typeface="+mn-lt"/>
                    <a:hlinkClick r:id="rId3" tooltip="Click to do a full-text search for this title"/>
                  </a:rPr>
                  <a:t>JointVelocityController</a:t>
                </a:r>
                <a:r>
                  <a:rPr lang="en-US" b="1" dirty="0">
                    <a:solidFill>
                      <a:srgbClr val="2B7FCF"/>
                    </a:solidFill>
                    <a:latin typeface="+mn-lt"/>
                  </a:rPr>
                  <a:t> </a:t>
                </a:r>
                <a:r>
                  <a:rPr lang="en-US" dirty="0">
                    <a:latin typeface="+mn-lt"/>
                  </a:rPr>
                  <a:t>: </a:t>
                </a:r>
                <a:r>
                  <a:rPr lang="en-US" dirty="0"/>
                  <a:t>control the effort on a specific joint to update position</a:t>
                </a:r>
                <a:endParaRPr lang="en-US" dirty="0">
                  <a:latin typeface="+mn-lt"/>
                </a:endParaRPr>
              </a:p>
              <a:p>
                <a:pPr marL="53975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+mn-lt"/>
                </a:endParaRPr>
              </a:p>
              <a:p>
                <a:pPr marL="539750" lvl="2" indent="0">
                  <a:buNone/>
                </a:pPr>
                <a:endParaRPr lang="en-US" dirty="0">
                  <a:latin typeface="+mn-lt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+mn-lt"/>
                  </a:rPr>
                  <a:t>Other physical properties of your robot such as mass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+mn-lt"/>
                  </a:rPr>
                  <a:t>), inertia, damping, friction, and stiffness will affect the behavior of joints for these controllers. </a:t>
                </a:r>
              </a:p>
            </p:txBody>
          </p:sp>
        </mc:Choice>
        <mc:Fallback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7CB9C61-526D-4CD9-B12E-C52E92656E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1412" t="-11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47794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042ECF-E841-4343-BC6E-DC2210F42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Adding Physical Constraints – Link information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CB9C61-526D-4CD9-B12E-C52E92656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20"/>
            <a:ext cx="5346265" cy="4856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Update the physical properties of a link to account for</a:t>
            </a:r>
          </a:p>
          <a:p>
            <a:pPr lvl="2"/>
            <a:r>
              <a:rPr lang="en-US" dirty="0"/>
              <a:t>Mass (kg) </a:t>
            </a:r>
          </a:p>
          <a:p>
            <a:pPr lvl="2"/>
            <a:r>
              <a:rPr lang="en-US" dirty="0"/>
              <a:t>Moment of Inertia (must be symmetric)</a:t>
            </a:r>
          </a:p>
          <a:p>
            <a:pPr lvl="2"/>
            <a:r>
              <a:rPr lang="en-US" dirty="0"/>
              <a:t>Note these cannot apply to your base link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0" indent="0">
              <a:buNone/>
            </a:pPr>
            <a:r>
              <a:rPr lang="en-US" dirty="0"/>
              <a:t>These are only taken into account for effort controllers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70ACC3-A32B-4AB2-B017-324F757A92FE}"/>
              </a:ext>
            </a:extLst>
          </p:cNvPr>
          <p:cNvSpPr txBox="1"/>
          <p:nvPr/>
        </p:nvSpPr>
        <p:spPr>
          <a:xfrm>
            <a:off x="5510676" y="1154730"/>
            <a:ext cx="636236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&lt;link name="arm2"&gt;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&lt;visual&gt;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&lt;geometry&gt;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&lt;cylinder length="5" 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radius="0.75"/&gt;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&lt;/geometry&gt;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&lt;origin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rpy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="0 0 0"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xyz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="0 0 2.5"/&gt;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&lt;/visual&gt;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&lt;collision&gt;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&lt;geometry&gt;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&lt;cylinder length="5" radius="1"/&gt;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&lt;/geometry&gt;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&lt;/collision&gt;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&lt;inertial&gt;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&lt;mass value="10"/&gt;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&lt;inertia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ixx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="0.4"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ixy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="0.0"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ixz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="0.0" 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iyy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="0.4"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iyz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="0.0"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izz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="0.2"/&gt;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&lt;/inertial&gt;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&lt;/link&gt;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19C07F-72DF-488B-8494-F0797EC834DB}"/>
              </a:ext>
            </a:extLst>
          </p:cNvPr>
          <p:cNvSpPr/>
          <p:nvPr/>
        </p:nvSpPr>
        <p:spPr>
          <a:xfrm>
            <a:off x="5882909" y="4750025"/>
            <a:ext cx="5769621" cy="138373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66460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966E2-7808-4B99-AC9A-3E494AB77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Physical Constraints – Joint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CF2B5-6ACC-4212-9667-4FBDB2F6B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999" y="1089220"/>
            <a:ext cx="5192518" cy="4856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Update the physical properties of a joint to account for</a:t>
            </a:r>
          </a:p>
          <a:p>
            <a:pPr lvl="2"/>
            <a:r>
              <a:rPr lang="en-US" dirty="0"/>
              <a:t>Damping (Newton*meter)</a:t>
            </a:r>
          </a:p>
          <a:p>
            <a:pPr lvl="2"/>
            <a:r>
              <a:rPr lang="en-US" dirty="0"/>
              <a:t>Friction (Newton*meter/second)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marL="0" indent="0">
              <a:buNone/>
            </a:pPr>
            <a:r>
              <a:rPr lang="en-US" dirty="0"/>
              <a:t>These are taken into account for velocity and effort controllers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5969A1-D424-4534-AE05-A71E4A690A62}"/>
              </a:ext>
            </a:extLst>
          </p:cNvPr>
          <p:cNvSpPr txBox="1"/>
          <p:nvPr/>
        </p:nvSpPr>
        <p:spPr>
          <a:xfrm>
            <a:off x="5737253" y="1889378"/>
            <a:ext cx="63299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&lt;joint name="arm1_to_arm2" type="continuous"&gt;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&lt;origin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rpy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="1.57 1.57 0"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xyz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="0 0 10"/&gt;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&lt;axis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xyz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="0 1 0" 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&lt;parent link ="arm1"/&gt;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&lt;child link="arm2"/&gt;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&lt;dynamics damping="1" friction="2"/&gt; 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&lt;/joint&gt;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D75076-F14C-4B94-B51F-9088C1D70976}"/>
              </a:ext>
            </a:extLst>
          </p:cNvPr>
          <p:cNvSpPr/>
          <p:nvPr/>
        </p:nvSpPr>
        <p:spPr>
          <a:xfrm>
            <a:off x="6096001" y="3522897"/>
            <a:ext cx="5394690" cy="36128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53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966E2-7808-4B99-AC9A-3E494AB77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Physical Constraints – Limits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CF2B5-6ACC-4212-9667-4FBDB2F6B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999" y="1089220"/>
            <a:ext cx="5192518" cy="4856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Set hard limits that enforce maxima (and minimum for position)</a:t>
            </a:r>
          </a:p>
          <a:p>
            <a:pPr lvl="1"/>
            <a:r>
              <a:rPr lang="en-US" dirty="0"/>
              <a:t>Velocity ( &lt;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velocity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Effort (&lt;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effort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Position ( &gt;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lower</a:t>
            </a:r>
            <a:r>
              <a:rPr lang="en-US" dirty="0"/>
              <a:t>, &lt;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upper</a:t>
            </a:r>
            <a:r>
              <a:rPr lang="en-US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5969A1-D424-4534-AE05-A71E4A690A62}"/>
              </a:ext>
            </a:extLst>
          </p:cNvPr>
          <p:cNvSpPr txBox="1"/>
          <p:nvPr/>
        </p:nvSpPr>
        <p:spPr>
          <a:xfrm>
            <a:off x="5737253" y="1889378"/>
            <a:ext cx="632999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&lt;joint name="arm1_to_arm2" type="continuous"&gt;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&lt;origin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rpy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="1.57 1.57 0"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xyz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="0 0 10"/&gt;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&lt;axis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xyz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="0 1 0" 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&lt;parent link ="arm1"/&gt;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&lt;child link="arm2"/&gt;    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&lt;dynamics damping="1" friction="2"/&gt; 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&lt;limit effort="30" velocity="1.0" 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lower="-0.75" upper = "0.75"/&gt;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&lt;/joint&gt;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C81306-108D-49CD-B2DE-FC176A420A60}"/>
              </a:ext>
            </a:extLst>
          </p:cNvPr>
          <p:cNvSpPr/>
          <p:nvPr/>
        </p:nvSpPr>
        <p:spPr>
          <a:xfrm>
            <a:off x="6297626" y="3819441"/>
            <a:ext cx="4796556" cy="590718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86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966E2-7808-4B99-AC9A-3E494AB77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Physical Constraints – Soft Limits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CF2B5-6ACC-4212-9667-4FBDB2F6B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999" y="1089220"/>
            <a:ext cx="5192518" cy="4856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Set hard limits that enforce maxima (and minimum for position)</a:t>
            </a:r>
          </a:p>
          <a:p>
            <a:pPr lvl="1"/>
            <a:r>
              <a:rPr lang="en-US" dirty="0"/>
              <a:t>Velocity ( &lt;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velocity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Effort (&lt;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effort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Position ( &gt;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lower</a:t>
            </a:r>
            <a:r>
              <a:rPr lang="en-US" dirty="0"/>
              <a:t>, &lt;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upper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Soft limits: limits that can be overcome by “more force”</a:t>
            </a:r>
          </a:p>
          <a:p>
            <a:pPr lvl="1"/>
            <a:r>
              <a:rPr lang="en-US" dirty="0"/>
              <a:t>&lt;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sort_upper_limit</a:t>
            </a:r>
            <a:r>
              <a:rPr lang="en-US" dirty="0"/>
              <a:t>+</a:t>
            </a:r>
          </a:p>
          <a:p>
            <a:pPr marL="269875" lvl="1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k_position</a:t>
            </a:r>
            <a:r>
              <a:rPr lang="en-US" dirty="0"/>
              <a:t>*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velocity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57439AC-BE9F-42B4-A527-B910202D6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517" y="1907529"/>
            <a:ext cx="5867400" cy="43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82141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966E2-7808-4B99-AC9A-3E494AB77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Physical Constraints – Soft Limits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CF2B5-6ACC-4212-9667-4FBDB2F6B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999" y="1089220"/>
            <a:ext cx="5192518" cy="48564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Set hard limits that enforce maxima (and minimum for position)</a:t>
            </a:r>
          </a:p>
          <a:p>
            <a:pPr lvl="1"/>
            <a:r>
              <a:rPr lang="en-US" dirty="0"/>
              <a:t>Velocity ( &lt;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velocity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Effort (&lt;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effort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Position ( &gt;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lower</a:t>
            </a:r>
            <a:r>
              <a:rPr lang="en-US" dirty="0"/>
              <a:t>, &lt;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upper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Soft limits: limits that can be overcome by “more force”</a:t>
            </a:r>
          </a:p>
          <a:p>
            <a:pPr lvl="1"/>
            <a:r>
              <a:rPr lang="en-US" dirty="0"/>
              <a:t>&lt;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sort_upper_limit</a:t>
            </a:r>
            <a:r>
              <a:rPr lang="en-US" dirty="0"/>
              <a:t>+</a:t>
            </a:r>
          </a:p>
          <a:p>
            <a:pPr marL="269875" lvl="1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k_position</a:t>
            </a:r>
            <a:r>
              <a:rPr lang="en-US" dirty="0"/>
              <a:t>*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velocity</a:t>
            </a:r>
          </a:p>
          <a:p>
            <a:pPr lvl="1"/>
            <a:r>
              <a:rPr lang="en-US" dirty="0">
                <a:latin typeface="+mn-lt"/>
                <a:cs typeface="Courier New" panose="02070309020205020404" pitchFamily="49" charset="0"/>
              </a:rPr>
              <a:t>Soft limits must be less than hard limits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47DC34-9DD1-41BA-9695-D99367D9EC03}"/>
              </a:ext>
            </a:extLst>
          </p:cNvPr>
          <p:cNvSpPr txBox="1"/>
          <p:nvPr/>
        </p:nvSpPr>
        <p:spPr>
          <a:xfrm>
            <a:off x="5408137" y="1525728"/>
            <a:ext cx="5860085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&lt;joint name="arm1_to_arm2" type="continuous"&gt;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&lt;origin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rpy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="1.57 1.57 0"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xyz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="0 0 10"/&gt;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&lt;axis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xyz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="0 1 0" 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&lt;parent link ="arm1"/&gt;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&lt;child link="arm2"/&gt;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&lt;dynamics damping="1" friction="2"/&gt;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&lt;limit effort="30" velocity="1.0" 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lower="-0.75" upper = "0.75"/&gt;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&lt;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safety_controller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soft_lower_limit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="-0.5"    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soft_upper_limit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="0.5" 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k_position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="1"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k_velocity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="1"/&gt;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&lt;/joint&gt;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F940D-FC92-486A-A984-81428C4030DB}"/>
              </a:ext>
            </a:extLst>
          </p:cNvPr>
          <p:cNvSpPr/>
          <p:nvPr/>
        </p:nvSpPr>
        <p:spPr>
          <a:xfrm>
            <a:off x="5939901" y="4255539"/>
            <a:ext cx="4554597" cy="1181624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7948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F203A-6B55-47D3-8A6A-51086CB5E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between controllers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16C16-9EF1-47BD-9A67-664DAEA6B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ros2_control</a:t>
            </a:r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collection of general controllers </a:t>
            </a:r>
          </a:p>
          <a:p>
            <a:pPr lvl="1"/>
            <a:r>
              <a:rPr lang="en-US" dirty="0"/>
              <a:t>can be used to instantiate position, velocity, and effort controllers.</a:t>
            </a:r>
          </a:p>
          <a:p>
            <a:pPr lvl="1"/>
            <a:r>
              <a:rPr lang="en-US" dirty="0"/>
              <a:t>contains forward and differential drive controllers</a:t>
            </a:r>
          </a:p>
          <a:p>
            <a:pPr lvl="1"/>
            <a:r>
              <a:rPr lang="en-US" dirty="0"/>
              <a:t>Implements PID and other feedback controllers</a:t>
            </a:r>
          </a:p>
          <a:p>
            <a:r>
              <a:rPr lang="en-US" dirty="0"/>
              <a:t>Use a publisher to monitor position, velocity, and effort concurrently for a given joint or robot</a:t>
            </a:r>
          </a:p>
          <a:p>
            <a:pPr lvl="2"/>
            <a:r>
              <a:rPr lang="en-US" dirty="0"/>
              <a:t>For that specific joint it should be easy to monitor how these three parameters interact</a:t>
            </a:r>
          </a:p>
          <a:p>
            <a:pPr lvl="2"/>
            <a:r>
              <a:rPr lang="en-US" dirty="0"/>
              <a:t>You can only go “up” the tree :</a:t>
            </a:r>
            <a:r>
              <a:rPr lang="en-US" dirty="0" err="1"/>
              <a:t>i.e</a:t>
            </a:r>
            <a:r>
              <a:rPr lang="en-US" dirty="0"/>
              <a:t> effort-&gt;velocity-&gt;position not position -&gt;velocity-&gt;effort</a:t>
            </a:r>
          </a:p>
          <a:p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effort_controllers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joint_position_controller</a:t>
            </a:r>
            <a:r>
              <a:rPr lang="en-US" dirty="0"/>
              <a:t>: is given a </a:t>
            </a:r>
            <a:r>
              <a:rPr lang="en-US" dirty="0" err="1"/>
              <a:t>joint_position</a:t>
            </a:r>
            <a:r>
              <a:rPr lang="en-US" dirty="0"/>
              <a:t> computes the effort necessary to achieve that position. </a:t>
            </a:r>
          </a:p>
          <a:p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effort_controllers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joint_velocity_controller</a:t>
            </a:r>
            <a:r>
              <a:rPr lang="en-US" dirty="0"/>
              <a:t>: is given a </a:t>
            </a:r>
            <a:r>
              <a:rPr lang="en-US" dirty="0" err="1"/>
              <a:t>joint_velocity</a:t>
            </a:r>
            <a:r>
              <a:rPr lang="en-US" dirty="0"/>
              <a:t> computes the effort necessary to achieve that position.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12622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87FE0-037C-4D34-A5D1-92EDDF954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TurtleSim</a:t>
            </a:r>
            <a:r>
              <a:rPr lang="en-US" dirty="0"/>
              <a:t> Example – Proportional Control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F52696-1B38-4383-B50C-24D1D4FFFE7A}"/>
              </a:ext>
            </a:extLst>
          </p:cNvPr>
          <p:cNvSpPr txBox="1"/>
          <p:nvPr/>
        </p:nvSpPr>
        <p:spPr>
          <a:xfrm>
            <a:off x="267037" y="1217134"/>
            <a:ext cx="10576289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while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self.euclidean_distance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goal_pose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&gt;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distance_tolerance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# Linear velocity in the x-axis.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vel_msg.linear.x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K_d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self.linear_diff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goal_pose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# Angular velocity in the z-axis.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vel_msg.angular.z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K_d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self.angular_diff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goal_pose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# Publishing our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vel_msg</a:t>
            </a: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self.velocity_publisher.publish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vel_msg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# Publish at the desired rate.</a:t>
            </a: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self.rate.sleep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Stopping our robot after the movement is over.</a:t>
            </a:r>
          </a:p>
          <a:p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vel_msg.linear.x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vel_msg.angular.z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  <a:p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self.velocity_publisher.publish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vel_msg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B719E9-BB13-4654-BCF8-D946C75AB76D}"/>
              </a:ext>
            </a:extLst>
          </p:cNvPr>
          <p:cNvSpPr txBox="1"/>
          <p:nvPr/>
        </p:nvSpPr>
        <p:spPr>
          <a:xfrm>
            <a:off x="562708" y="6105378"/>
            <a:ext cx="90595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Git example</a:t>
            </a:r>
            <a:r>
              <a:rPr lang="en-US"/>
              <a:t>: https://gitlab.com/rsparks/7mri0070/-/tree/master/ROSWeek8Lecture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2298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87FE0-037C-4D34-A5D1-92EDDF954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TurtleSim</a:t>
            </a:r>
            <a:r>
              <a:rPr lang="en-US" dirty="0"/>
              <a:t> Example – Proportional Control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86020B-13A3-4E65-A45D-21ADEDC40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1323426"/>
            <a:ext cx="10763250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68278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5FCD-C398-4929-B577-0B1AB30BC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TurtleSim</a:t>
            </a:r>
            <a:r>
              <a:rPr lang="en-US" dirty="0"/>
              <a:t> Example – Proportional Control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47EE2B-E775-4C42-B28B-67C3E90462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/>
                  <a:t>= 5  goal pose = (6, 7)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47EE2B-E775-4C42-B28B-67C3E90462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3" t="-1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F1733A6E-C0E4-48EA-9F2F-2F3A8DDFD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396" y="1612335"/>
            <a:ext cx="6124604" cy="43332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9B7EBC-513D-4255-B95E-6968BA3712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712" y="1659923"/>
            <a:ext cx="5072178" cy="410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77449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55FCD-C398-4929-B577-0B1AB30BC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TurtleSim</a:t>
            </a:r>
            <a:r>
              <a:rPr lang="en-US" dirty="0"/>
              <a:t> Example – Proportional Control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47EE2B-E775-4C42-B28B-67C3E90462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/>
                  <a:t>= 5  goal pose = (9, 1)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47EE2B-E775-4C42-B28B-67C3E90462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3" t="-11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276D2EBB-C276-45C2-8182-94F150AFD8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577" y="2119468"/>
            <a:ext cx="4984610" cy="442243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F3B70C-A4A3-49A2-82F7-BD654201F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1244" y="1893031"/>
            <a:ext cx="6400201" cy="464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43234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EC1DD-6416-4EE8-8165-95AB77AD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9B726-D4E7-4ACD-BE8B-4533A7BE8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PID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controller package: p</a:t>
            </a:r>
            <a:r>
              <a:rPr lang="en-US" dirty="0">
                <a:latin typeface="+mn-lt"/>
              </a:rPr>
              <a:t>rovides general purpose and generalized PID controller </a:t>
            </a:r>
          </a:p>
          <a:p>
            <a:pPr lvl="1"/>
            <a:r>
              <a:rPr lang="en-US" dirty="0">
                <a:latin typeface="+mn-lt"/>
              </a:rPr>
              <a:t>Define which joints are involved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dof_names</a:t>
            </a: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+mn-lt"/>
              </a:rPr>
              <a:t>Define the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reference_and_state_interfaces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+mn-lt"/>
              </a:rPr>
              <a:t>(“position” and/or “velocity”)</a:t>
            </a:r>
          </a:p>
          <a:p>
            <a:pPr lvl="1"/>
            <a:r>
              <a:rPr lang="en-US" dirty="0">
                <a:latin typeface="+mn-lt"/>
              </a:rPr>
              <a:t>Define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command_interface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(“position” or “velocity”)</a:t>
            </a:r>
            <a:endParaRPr lang="en-US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F7ADC7-BA6F-CDCB-CAF9-926810286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180" y="2949388"/>
            <a:ext cx="6254820" cy="239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61794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08F37-B038-EC90-B7E8-8240EA8C0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E5F66-3C9A-1C33-00DB-41A7CAF13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8C7B5-42F1-A917-E38A-99939521A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PID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controller package: p</a:t>
            </a:r>
            <a:r>
              <a:rPr lang="en-US" dirty="0">
                <a:latin typeface="+mn-lt"/>
              </a:rPr>
              <a:t>rovides general purpose and generalized PID controller </a:t>
            </a:r>
          </a:p>
          <a:p>
            <a:pPr lvl="1"/>
            <a:r>
              <a:rPr lang="en-US" dirty="0">
                <a:latin typeface="+mn-lt"/>
              </a:rPr>
              <a:t>Define which joints are involved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dof_names</a:t>
            </a: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+mn-lt"/>
              </a:rPr>
              <a:t>Define the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reference_and_state_interfaces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+mn-lt"/>
              </a:rPr>
              <a:t>(“position” and/or “velocity”)</a:t>
            </a:r>
          </a:p>
          <a:p>
            <a:pPr lvl="1"/>
            <a:r>
              <a:rPr lang="en-US" dirty="0">
                <a:latin typeface="+mn-lt"/>
              </a:rPr>
              <a:t>Define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command_interface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(“position” or “velocity”)</a:t>
            </a:r>
            <a:endParaRPr lang="en-US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5DFCD1-3494-264D-2DEA-8FC7128F8A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54"/>
          <a:stretch/>
        </p:blipFill>
        <p:spPr>
          <a:xfrm>
            <a:off x="3566419" y="2769485"/>
            <a:ext cx="8145581" cy="278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412749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8A6BE-729C-422F-836F-E5D4E7AD1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Plotting Feedback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E3DE9-1154-45E8-9C01-28A13279A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Controller </a:t>
            </a:r>
            <a:r>
              <a:rPr lang="en-US" dirty="0">
                <a:hlinkClick r:id="rId2"/>
              </a:rPr>
              <a:t>introspection</a:t>
            </a:r>
            <a:r>
              <a:rPr lang="en-US" dirty="0"/>
              <a:t> publishes controller values to the topic</a:t>
            </a:r>
            <a:r>
              <a:rPr lang="en-GB" b="0" i="0" dirty="0"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~/</a:t>
            </a:r>
            <a:r>
              <a:rPr lang="en-GB" b="0" i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introspection_data</a:t>
            </a:r>
            <a:r>
              <a:rPr lang="en-GB" b="0" i="0" dirty="0"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/full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Rqt_plot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+mn-lt"/>
                <a:cs typeface="Courier New" panose="02070309020205020404" pitchFamily="49" charset="0"/>
              </a:rPr>
              <a:t>can be used to plot data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rqt_plot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b="0" i="0" dirty="0"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~/</a:t>
            </a:r>
            <a:r>
              <a:rPr lang="en-GB" b="0" i="0" dirty="0" err="1"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introspection_data</a:t>
            </a:r>
            <a:r>
              <a:rPr lang="en-GB" b="0" i="0" dirty="0">
                <a:solidFill>
                  <a:srgbClr val="00B05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/full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122" name="Picture 2" descr="alt text">
            <a:extLst>
              <a:ext uri="{FF2B5EF4-FFF2-40B4-BE49-F238E27FC236}">
                <a16:creationId xmlns:a16="http://schemas.microsoft.com/office/drawing/2014/main" id="{1E612258-3FDC-460F-9E3C-91E5373C66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3835" y="2234148"/>
            <a:ext cx="5038165" cy="4272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891567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5E644-9A7F-4CAB-C6C2-5168AAA6A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ROS – General Feedback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04C0D-F632-CBFF-024C-B72ABD05A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00" y="1089220"/>
            <a:ext cx="4217506" cy="4856400"/>
          </a:xfrm>
        </p:spPr>
        <p:txBody>
          <a:bodyPr/>
          <a:lstStyle/>
          <a:p>
            <a:r>
              <a:rPr lang="en-GB" dirty="0" err="1"/>
              <a:t>Ros_control</a:t>
            </a:r>
            <a:r>
              <a:rPr lang="en-GB" dirty="0"/>
              <a:t> is the general purpose controller framework</a:t>
            </a:r>
          </a:p>
          <a:p>
            <a:r>
              <a:rPr lang="en-GB" dirty="0"/>
              <a:t>Integrates controllers, joint states and joint commands (limits &amp; effort transmissions)</a:t>
            </a:r>
          </a:p>
        </p:txBody>
      </p:sp>
      <p:pic>
        <p:nvPicPr>
          <p:cNvPr id="1026" name="Picture 2" descr="ros control">
            <a:extLst>
              <a:ext uri="{FF2B5EF4-FFF2-40B4-BE49-F238E27FC236}">
                <a16:creationId xmlns:a16="http://schemas.microsoft.com/office/drawing/2014/main" id="{178406CB-84F9-68CF-F3EE-E9627A4E7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5888" y="1089220"/>
            <a:ext cx="6974700" cy="5387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6487048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9A0D1-227A-54F8-8F4F-5E1CC1DC3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29AE0-513A-F45D-BBB2-C1B5FFBC2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ROS – General Feedback Control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572595-83A3-883C-6DD7-F7BFDDB13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MoveIt</a:t>
            </a:r>
            <a:r>
              <a:rPr lang="en-GB" dirty="0"/>
              <a:t> 2 and specifically </a:t>
            </a:r>
            <a:r>
              <a:rPr lang="en-GB" dirty="0" err="1">
                <a:hlinkClick r:id="rId2"/>
              </a:rPr>
              <a:t>MoveItControllerManager</a:t>
            </a:r>
            <a:endParaRPr lang="en-GB" dirty="0"/>
          </a:p>
          <a:p>
            <a:pPr lvl="2"/>
            <a:r>
              <a:rPr lang="en-GB" i="0" dirty="0">
                <a:solidFill>
                  <a:srgbClr val="1F2328"/>
                </a:solidFill>
                <a:effectLst/>
                <a:latin typeface="+mn-lt"/>
              </a:rPr>
              <a:t>Takes as input a list of controllers for a robot</a:t>
            </a:r>
          </a:p>
          <a:p>
            <a:pPr lvl="2"/>
            <a:r>
              <a:rPr lang="en-GB" dirty="0">
                <a:solidFill>
                  <a:srgbClr val="1F2328"/>
                </a:solidFill>
                <a:latin typeface="+mn-lt"/>
              </a:rPr>
              <a:t>Passes controller properties to </a:t>
            </a:r>
            <a:r>
              <a:rPr lang="en-GB" dirty="0" err="1">
                <a:solidFill>
                  <a:srgbClr val="1F2328"/>
                </a:solidFill>
                <a:latin typeface="+mn-lt"/>
              </a:rPr>
              <a:t>MoveIt</a:t>
            </a:r>
            <a:r>
              <a:rPr lang="en-GB" dirty="0">
                <a:solidFill>
                  <a:srgbClr val="1F2328"/>
                </a:solidFill>
                <a:latin typeface="+mn-lt"/>
              </a:rPr>
              <a:t> 2</a:t>
            </a:r>
          </a:p>
          <a:p>
            <a:pPr lvl="2"/>
            <a:r>
              <a:rPr lang="en-GB" i="0" dirty="0">
                <a:solidFill>
                  <a:srgbClr val="1F2328"/>
                </a:solidFill>
                <a:effectLst/>
                <a:latin typeface="+mn-lt"/>
              </a:rPr>
              <a:t>Turns controllers on/off as the kinematics solution solve indicates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081732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E4B93-FE60-C0FE-04AD-D5EBE3207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MoveIt2 Planning Package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13DA5-9232-F1D9-864C-16DE690FC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 this and next week tutorial we will be using MoveIt2 for motion planning of our robots</a:t>
            </a:r>
          </a:p>
          <a:p>
            <a:r>
              <a:rPr lang="en-GB" dirty="0"/>
              <a:t>This is a powerful tool that</a:t>
            </a:r>
          </a:p>
          <a:p>
            <a:pPr lvl="2"/>
            <a:r>
              <a:rPr lang="en-GB" dirty="0"/>
              <a:t>Using </a:t>
            </a:r>
            <a:r>
              <a:rPr lang="en-GB" dirty="0" err="1"/>
              <a:t>KDLKinematicsPlugin</a:t>
            </a:r>
            <a:r>
              <a:rPr lang="en-GB" dirty="0"/>
              <a:t> to perform robotic kinematics (only for serial robots!) or </a:t>
            </a:r>
            <a:r>
              <a:rPr lang="en-GB" dirty="0" err="1"/>
              <a:t>IKFast</a:t>
            </a:r>
            <a:r>
              <a:rPr lang="en-GB" dirty="0"/>
              <a:t> for inverse kinematics</a:t>
            </a:r>
          </a:p>
          <a:p>
            <a:pPr lvl="2"/>
            <a:r>
              <a:rPr lang="en-GB" dirty="0"/>
              <a:t>Open Motion Planning Library which are a collection of sampling-based motion planning algorithms</a:t>
            </a:r>
          </a:p>
          <a:p>
            <a:pPr lvl="2"/>
            <a:r>
              <a:rPr lang="en-GB" dirty="0"/>
              <a:t>All wrapped into a Robot Commander so at a high level you can move the robot to a specific pose, along a given path (given as way points), or perform a specific action.</a:t>
            </a:r>
          </a:p>
          <a:p>
            <a:r>
              <a:rPr lang="en-GB" dirty="0"/>
              <a:t>Note this makes use of several other libraries and packages </a:t>
            </a:r>
            <a:r>
              <a:rPr lang="en-GB"/>
              <a:t>in ROS2 </a:t>
            </a:r>
            <a:r>
              <a:rPr lang="en-GB" dirty="0"/>
              <a:t>– as with most open-source code use what is already available to save your time.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34271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KCL UPDATE v4 4x3">
  <a:themeElements>
    <a:clrScheme name="KCL">
      <a:dk1>
        <a:sysClr val="windowText" lastClr="000000"/>
      </a:dk1>
      <a:lt1>
        <a:sysClr val="window" lastClr="FFFFFF"/>
      </a:lt1>
      <a:dk2>
        <a:srgbClr val="0A2D50"/>
      </a:dk2>
      <a:lt2>
        <a:srgbClr val="CDD7DC"/>
      </a:lt2>
      <a:accent1>
        <a:srgbClr val="E2231A"/>
      </a:accent1>
      <a:accent2>
        <a:srgbClr val="FF5F05"/>
      </a:accent2>
      <a:accent3>
        <a:srgbClr val="F5B90F"/>
      </a:accent3>
      <a:accent4>
        <a:srgbClr val="C8E128"/>
      </a:accent4>
      <a:accent5>
        <a:srgbClr val="009EA0"/>
      </a:accent5>
      <a:accent6>
        <a:srgbClr val="005AD2"/>
      </a:accent6>
      <a:hlink>
        <a:srgbClr val="E2231A"/>
      </a:hlink>
      <a:folHlink>
        <a:srgbClr val="E2231A"/>
      </a:folHlink>
    </a:clrScheme>
    <a:fontScheme name="KCL-fonts">
      <a:majorFont>
        <a:latin typeface="Impact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80815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FeedbackControl_Week8</Template>
  <TotalTime>534</TotalTime>
  <Words>1858</Words>
  <Application>Microsoft Office PowerPoint</Application>
  <PresentationFormat>Widescreen</PresentationFormat>
  <Paragraphs>208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Cambria Math</vt:lpstr>
      <vt:lpstr>Courier New</vt:lpstr>
      <vt:lpstr>Georgia</vt:lpstr>
      <vt:lpstr>Impact</vt:lpstr>
      <vt:lpstr>Times</vt:lpstr>
      <vt:lpstr>KCL UPDATE v4 4x3</vt:lpstr>
      <vt:lpstr>PowerPoint Presentation</vt:lpstr>
      <vt:lpstr>ROS Robot Controllers</vt:lpstr>
      <vt:lpstr>Joint State Controller</vt:lpstr>
      <vt:lpstr>Proper Joint Controllers</vt:lpstr>
      <vt:lpstr>Adding Physical Constraints – Link information</vt:lpstr>
      <vt:lpstr>Adding Physical Constraints – Joint information</vt:lpstr>
      <vt:lpstr>Adding Physical Constraints – Limits</vt:lpstr>
      <vt:lpstr>Adding Physical Constraints – Soft Limits</vt:lpstr>
      <vt:lpstr>Adding Physical Constraints – Soft Limits</vt:lpstr>
      <vt:lpstr>Conversion between controllers</vt:lpstr>
      <vt:lpstr>TurtleSim Example – Proportional Control</vt:lpstr>
      <vt:lpstr>TurtleSim Example – Proportional Control</vt:lpstr>
      <vt:lpstr>TurtleSim Example – Proportional Control</vt:lpstr>
      <vt:lpstr>TurtleSim Example – Proportional Control 2</vt:lpstr>
      <vt:lpstr>Feedback Control</vt:lpstr>
      <vt:lpstr>Feedback Control</vt:lpstr>
      <vt:lpstr>Plotting Feedback Control</vt:lpstr>
      <vt:lpstr>ROS – General Feedback Control</vt:lpstr>
      <vt:lpstr>ROS – General Feedback Control</vt:lpstr>
      <vt:lpstr>MoveIt2 Planning Package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Sparks, Rachel</dc:creator>
  <cp:lastModifiedBy>Rachel Sparks</cp:lastModifiedBy>
  <cp:revision>34</cp:revision>
  <dcterms:created xsi:type="dcterms:W3CDTF">2021-03-15T09:59:46Z</dcterms:created>
  <dcterms:modified xsi:type="dcterms:W3CDTF">2025-03-03T09:21:24Z</dcterms:modified>
</cp:coreProperties>
</file>