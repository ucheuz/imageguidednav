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345" r:id="rId2"/>
    <p:sldId id="290" r:id="rId3"/>
    <p:sldId id="293" r:id="rId4"/>
    <p:sldId id="348" r:id="rId5"/>
    <p:sldId id="337" r:id="rId6"/>
    <p:sldId id="308" r:id="rId7"/>
    <p:sldId id="309" r:id="rId8"/>
    <p:sldId id="339" r:id="rId9"/>
    <p:sldId id="340" r:id="rId10"/>
    <p:sldId id="341" r:id="rId11"/>
    <p:sldId id="342" r:id="rId12"/>
    <p:sldId id="343" r:id="rId13"/>
    <p:sldId id="344" r:id="rId14"/>
    <p:sldId id="347" r:id="rId15"/>
    <p:sldId id="292" r:id="rId16"/>
    <p:sldId id="295" r:id="rId17"/>
    <p:sldId id="296" r:id="rId18"/>
    <p:sldId id="298" r:id="rId19"/>
    <p:sldId id="299" r:id="rId20"/>
    <p:sldId id="349" r:id="rId21"/>
    <p:sldId id="350" r:id="rId22"/>
    <p:sldId id="300" r:id="rId23"/>
    <p:sldId id="301" r:id="rId24"/>
    <p:sldId id="302" r:id="rId25"/>
    <p:sldId id="338" r:id="rId26"/>
    <p:sldId id="346" r:id="rId27"/>
    <p:sldId id="303" r:id="rId28"/>
    <p:sldId id="336" r:id="rId2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0849" autoAdjust="0"/>
  </p:normalViewPr>
  <p:slideViewPr>
    <p:cSldViewPr snapToGrid="0">
      <p:cViewPr varScale="1">
        <p:scale>
          <a:sx n="95" d="100"/>
          <a:sy n="95" d="100"/>
        </p:scale>
        <p:origin x="15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7F662-8FE0-4345-809B-76CE7633C330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73AF3-91C7-4D63-AD19-B62692D2D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9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in Slicer the concept is relatively easy. Everything is mapped to the World space – and then you apply different transformations to the object to move it in the space of the world. These are always global systems.</a:t>
            </a:r>
          </a:p>
          <a:p>
            <a:endParaRPr lang="en-US" dirty="0"/>
          </a:p>
          <a:p>
            <a:r>
              <a:rPr lang="en-US" dirty="0"/>
              <a:t>ROS is a local system that enables chain computations.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3AF3-91C7-4D63-AD19-B62692D2D1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20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the image and the mesh are not aligned why? Remember our transformation is stored at the node not data level so we have better transfer that over too!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5BA10-12A5-4F6D-85BC-FDB32BF091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4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RASToIJK</a:t>
            </a:r>
            <a:r>
              <a:rPr lang="en-US" dirty="0"/>
              <a:t> does from the world to the image space– we want to do the opposite here so we invert.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5BA10-12A5-4F6D-85BC-FDB32BF091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97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https://en.wikipedia.org/wiki/Euler_angles for a more detailed 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3AF3-91C7-4D63-AD19-B62692D2D1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05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found in </a:t>
            </a:r>
            <a:r>
              <a:rPr lang="en-US" dirty="0" err="1"/>
              <a:t>MyJointedRobot.urdf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3AF3-91C7-4D63-AD19-B62692D2D1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76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1CB5E-0E54-EA6D-9EF1-45F21896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4202C-05E5-92AF-7192-B93006316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E9FF4-A02A-48B4-387D-C789DC95C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found in </a:t>
            </a:r>
            <a:r>
              <a:rPr lang="en-US" dirty="0" err="1"/>
              <a:t>MyJointedRobot.urdf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origin between base_to_arm1 is 0.5: half the size of the </a:t>
            </a:r>
            <a:r>
              <a:rPr lang="en-US" dirty="0" err="1"/>
              <a:t>base_link</a:t>
            </a:r>
            <a:endParaRPr lang="en-US" dirty="0"/>
          </a:p>
          <a:p>
            <a:r>
              <a:rPr lang="en-US" dirty="0"/>
              <a:t>The origin between arm1_to_arm2 is 6: the size of the arm1 link.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DB1DA-716C-1251-E1AB-343CAC08D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3AF3-91C7-4D63-AD19-B62692D2D1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0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Day1_Data/WORK%20ARCHIVE/%20K/KING'S/11143%20KCL%20POWERPOINT%20UPDATE/BUILD/IMAGES/_DSC8361-rs.jp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file://localhost/Users/mac1/Desktop/KCL_box_red_485_rgb.png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K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CL-LOGO-INTERNATIONAL.png"/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59" y="1397958"/>
            <a:ext cx="7814084" cy="406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2799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_DSC1517.jpg"/>
          <p:cNvPicPr>
            <a:picLocks noChangeAspect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r="4990" b="23836"/>
          <a:stretch>
            <a:fillRect/>
          </a:stretch>
        </p:blipFill>
        <p:spPr>
          <a:xfrm>
            <a:off x="0" y="4"/>
            <a:ext cx="12192000" cy="555497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180001"/>
            <a:ext cx="11232000" cy="1080000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1440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0484" y="5733722"/>
            <a:ext cx="8995856" cy="9442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KCL-LOGO-UK-1.png"/>
          <p:cNvPicPr>
            <a:picLocks noChangeAspect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5555734"/>
            <a:ext cx="228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7952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1130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51575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68579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67088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latin typeface="Georgia"/>
                <a:cs typeface="Georgia"/>
              </a:defRPr>
            </a:lvl2pPr>
            <a:lvl3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70735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1pPr>
            <a:lvl2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2pPr>
            <a:lvl3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107950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1341438" indent="-261938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7877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78091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69740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1 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3"/>
            <a:ext cx="11232000" cy="468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67058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1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1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5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5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91662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0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6001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6001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62169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399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65305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00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06823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8" y="1089025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83487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0" y="1088356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47693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00" y="3420000"/>
            <a:ext cx="11232000" cy="2520000"/>
          </a:xfrm>
        </p:spPr>
        <p:txBody>
          <a:bodyPr anchor="b" anchorCtr="0">
            <a:normAutofit/>
          </a:bodyPr>
          <a:lstStyle>
            <a:lvl1pPr>
              <a:defRPr sz="1600" b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00" y="6120019"/>
            <a:ext cx="11232000" cy="35840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9912000" y="3"/>
            <a:ext cx="2280000" cy="1303021"/>
            <a:chOff x="7949775" y="1"/>
            <a:chExt cx="1194225" cy="91000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4" name="KCL-LOGO-UK-1.png"/>
            <p:cNvPicPr>
              <a:picLocks noChangeAspect="1"/>
            </p:cNvPicPr>
            <p:nvPr userDrawn="1"/>
          </p:nvPicPr>
          <p:blipFill>
            <a:blip r:embed="rId2" r:link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886648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3"/>
            <a:ext cx="5384800" cy="42694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0"/>
            </a:lvl2pPr>
            <a:lvl3pPr>
              <a:defRPr sz="187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76534-D227-482D-AC62-73FA3EB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FEEBE0-EE3E-44CA-9D29-BE798CB7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46E212-76A5-422F-A842-EDE34BF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21879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76540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rategy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4990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1C3AB7-B446-4F72-ABF4-5CD8EB43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30E2C6-999F-4EDE-95E6-51D64211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D1-940A-4FE1-91A1-99304940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10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440267" y="1402385"/>
            <a:ext cx="11319933" cy="5034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42819-EA6F-419A-8EEC-E12853457B39}" type="datetime1">
              <a:rPr lang="en-US" smtClean="0"/>
              <a:t>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B0399-EA9A-4FE8-8F22-4745BD754A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5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98000"/>
            <a:ext cx="96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B5DB1FA2-30F8-4CA2-9DDE-23F256A1134C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498000"/>
            <a:ext cx="9312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498000"/>
            <a:ext cx="960000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5FD49373-C9C1-4E07-AA71-878F24717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7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A2D50"/>
          </a:solidFill>
          <a:latin typeface="Impac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0BA1EB-1949-4708-884C-5B234C9A0A39}"/>
              </a:ext>
            </a:extLst>
          </p:cNvPr>
          <p:cNvSpPr txBox="1"/>
          <p:nvPr/>
        </p:nvSpPr>
        <p:spPr>
          <a:xfrm>
            <a:off x="0" y="150982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+mj-lt"/>
              </a:rPr>
              <a:t>Image-guided Navigation for Robotics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84BE8-D9D7-4702-AC20-1B3D92B8229D}"/>
              </a:ext>
            </a:extLst>
          </p:cNvPr>
          <p:cNvSpPr txBox="1"/>
          <p:nvPr/>
        </p:nvSpPr>
        <p:spPr>
          <a:xfrm>
            <a:off x="1488557" y="2340821"/>
            <a:ext cx="858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Coordinate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D3EFD-E841-4D68-AF80-6B97B49976C1}"/>
              </a:ext>
            </a:extLst>
          </p:cNvPr>
          <p:cNvSpPr txBox="1"/>
          <p:nvPr/>
        </p:nvSpPr>
        <p:spPr>
          <a:xfrm>
            <a:off x="154709" y="4882490"/>
            <a:ext cx="7049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Rachel Sparks, Ph.D.</a:t>
            </a:r>
          </a:p>
          <a:p>
            <a:r>
              <a:rPr lang="en-US" sz="2400" dirty="0">
                <a:latin typeface="+mn-lt"/>
              </a:rPr>
              <a:t>Rachel.sparks@kcl.ac.uk</a:t>
            </a:r>
          </a:p>
          <a:p>
            <a:r>
              <a:rPr lang="en-US" sz="2400" dirty="0">
                <a:latin typeface="+mj-lt"/>
              </a:rPr>
              <a:t>Lecturer in Surgical &amp; Interventional Engineering</a:t>
            </a:r>
          </a:p>
          <a:p>
            <a:r>
              <a:rPr lang="en-US" sz="2400" dirty="0">
                <a:latin typeface="+mj-lt"/>
              </a:rPr>
              <a:t>School of Biomedical Engineering &amp; Imaging Sciences</a:t>
            </a:r>
          </a:p>
        </p:txBody>
      </p:sp>
    </p:spTree>
    <p:extLst>
      <p:ext uri="{BB962C8B-B14F-4D97-AF65-F5344CB8AC3E}">
        <p14:creationId xmlns:p14="http://schemas.microsoft.com/office/powerpoint/2010/main" val="295441888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Set of orthogonal axes attached to an object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Origin is where the axes meet (i.e. the 0,0,0 point of the coordinate frame)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Frames in ROS are always right-handed (x-axis forward, y-axis left, z-axis up)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CE13BA-17E5-4BDB-A08D-EC37D17D0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91" y="2700151"/>
            <a:ext cx="6845133" cy="367842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8C5CC0-E309-4E15-B38F-607C9A4140AC}"/>
              </a:ext>
            </a:extLst>
          </p:cNvPr>
          <p:cNvCxnSpPr/>
          <p:nvPr/>
        </p:nvCxnSpPr>
        <p:spPr>
          <a:xfrm flipV="1">
            <a:off x="9362485" y="3188282"/>
            <a:ext cx="0" cy="1650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35224-F23A-49B1-B16E-DF19EAAA70F9}"/>
              </a:ext>
            </a:extLst>
          </p:cNvPr>
          <p:cNvCxnSpPr>
            <a:cxnSpLocks/>
          </p:cNvCxnSpPr>
          <p:nvPr/>
        </p:nvCxnSpPr>
        <p:spPr>
          <a:xfrm flipV="1">
            <a:off x="9362485" y="4839057"/>
            <a:ext cx="1724952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5BBC2-00DF-48F1-B2F9-305B5059FDCC}"/>
              </a:ext>
            </a:extLst>
          </p:cNvPr>
          <p:cNvCxnSpPr>
            <a:cxnSpLocks/>
          </p:cNvCxnSpPr>
          <p:nvPr/>
        </p:nvCxnSpPr>
        <p:spPr>
          <a:xfrm flipH="1">
            <a:off x="8773115" y="4837724"/>
            <a:ext cx="589370" cy="891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C14A2C-A318-40E4-9DAD-55091AF23749}"/>
              </a:ext>
            </a:extLst>
          </p:cNvPr>
          <p:cNvSpPr txBox="1"/>
          <p:nvPr/>
        </p:nvSpPr>
        <p:spPr>
          <a:xfrm>
            <a:off x="9079263" y="5576288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E19A1-24E1-4BBB-9F88-616B07CBBB0D}"/>
              </a:ext>
            </a:extLst>
          </p:cNvPr>
          <p:cNvSpPr txBox="1"/>
          <p:nvPr/>
        </p:nvSpPr>
        <p:spPr>
          <a:xfrm>
            <a:off x="10690963" y="4430140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95299-4E6D-4939-8AC8-3729299CA40C}"/>
              </a:ext>
            </a:extLst>
          </p:cNvPr>
          <p:cNvSpPr txBox="1"/>
          <p:nvPr/>
        </p:nvSpPr>
        <p:spPr>
          <a:xfrm>
            <a:off x="9464802" y="3204749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396986928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Set of orthogonal axes attached to an object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Used to describe the positions of points relative to the object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Used to relate the relative orientation of different objects with respect to each other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Image result for mario kart screenshot">
            <a:extLst>
              <a:ext uri="{FF2B5EF4-FFF2-40B4-BE49-F238E27FC236}">
                <a16:creationId xmlns:a16="http://schemas.microsoft.com/office/drawing/2014/main" id="{6309BE4E-2CEE-4C15-830C-918D4851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03" y="2805740"/>
            <a:ext cx="5606929" cy="313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4AEF12-966C-4488-8AA3-31302EA14972}"/>
              </a:ext>
            </a:extLst>
          </p:cNvPr>
          <p:cNvCxnSpPr>
            <a:cxnSpLocks/>
          </p:cNvCxnSpPr>
          <p:nvPr/>
        </p:nvCxnSpPr>
        <p:spPr>
          <a:xfrm flipV="1">
            <a:off x="3609047" y="4418251"/>
            <a:ext cx="0" cy="7606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944252-3AB6-4BD6-AA5F-03D230DCA5B7}"/>
              </a:ext>
            </a:extLst>
          </p:cNvPr>
          <p:cNvCxnSpPr>
            <a:cxnSpLocks/>
          </p:cNvCxnSpPr>
          <p:nvPr/>
        </p:nvCxnSpPr>
        <p:spPr>
          <a:xfrm>
            <a:off x="3609047" y="5178925"/>
            <a:ext cx="93867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8CFE4F-6F9A-408D-81D7-EAEF2C286DC8}"/>
              </a:ext>
            </a:extLst>
          </p:cNvPr>
          <p:cNvCxnSpPr>
            <a:cxnSpLocks/>
          </p:cNvCxnSpPr>
          <p:nvPr/>
        </p:nvCxnSpPr>
        <p:spPr>
          <a:xfrm flipH="1">
            <a:off x="3261090" y="5177590"/>
            <a:ext cx="347958" cy="5192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C179E09-C20B-4623-9AC0-8C8CC634CCE7}"/>
              </a:ext>
            </a:extLst>
          </p:cNvPr>
          <p:cNvSpPr/>
          <p:nvPr/>
        </p:nvSpPr>
        <p:spPr>
          <a:xfrm>
            <a:off x="4842661" y="3900384"/>
            <a:ext cx="1428665" cy="146462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786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C0BA1-C9F1-F2BA-9EBF-EED5E89E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B94C1F-78BF-DB4B-2AA3-7F909431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887F1D-4054-FCBA-9437-BBCDF8AC9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Coordinates systems are used everywhere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3D Slicer: Transform used to map an image to the “World” space (aka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IJKToRASTransformationMatrix</a:t>
            </a:r>
            <a:r>
              <a:rPr lang="en-US" dirty="0"/>
              <a:t>).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Each object is mapped to the World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The World is the global space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Applying different transformation moves your object in the World (and Display).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ROS: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en-US" dirty="0"/>
              <a:t> of a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joint</a:t>
            </a:r>
            <a:r>
              <a:rPr lang="en-US" dirty="0"/>
              <a:t> is used to represent a link location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joint</a:t>
            </a:r>
            <a:r>
              <a:rPr lang="en-US" dirty="0"/>
              <a:t> is mapped with respect to its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base_link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defines your location of the robot in the world and can be updated by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odom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cs typeface="Courier New" panose="02070309020205020404" pitchFamily="49" charset="0"/>
              </a:rPr>
              <a:t>The position of all other links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can be computed by chaining the transformations from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base_link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through to its children links of your robot.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26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581F-D0FA-400D-9FA7-7C070CF4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Coordinate System – Images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52758-CE23-478D-9D6F-79B4DAB80E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998" y="1089220"/>
                <a:ext cx="6371652" cy="485640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Image coordinates are also represented by</a:t>
                </a:r>
              </a:p>
              <a:p>
                <a:pPr marL="1152525" lvl="4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Origin: o = (x</a:t>
                </a:r>
                <a:r>
                  <a:rPr lang="en-US" baseline="-25000" dirty="0"/>
                  <a:t>0</a:t>
                </a:r>
                <a:r>
                  <a:rPr lang="en-US" dirty="0"/>
                  <a:t>, y</a:t>
                </a:r>
                <a:r>
                  <a:rPr lang="en-US" baseline="-25000" dirty="0"/>
                  <a:t>0</a:t>
                </a:r>
                <a:r>
                  <a:rPr lang="en-US" dirty="0"/>
                  <a:t>, z</a:t>
                </a:r>
                <a:r>
                  <a:rPr lang="en-US" baseline="-25000" dirty="0"/>
                  <a:t>0</a:t>
                </a:r>
                <a:r>
                  <a:rPr lang="en-US" dirty="0"/>
                  <a:t>)</a:t>
                </a:r>
              </a:p>
              <a:p>
                <a:pPr marL="1152525" lvl="4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n-lt"/>
                  </a:rPr>
                  <a:t>Orientation  r=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xx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xz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yx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yy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yz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zx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zy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zz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1152525" lvl="4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Spacing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1152525" lvl="4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lvl="1"/>
                <a:r>
                  <a:rPr lang="en-US" dirty="0">
                    <a:latin typeface="+mn-lt"/>
                  </a:rPr>
                  <a:t>Can convert pixels between indices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𝑖𝑛𝑑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and point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𝑝𝑛𝑡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52758-CE23-478D-9D6F-79B4DAB80E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998" y="1089220"/>
                <a:ext cx="6371652" cy="4856400"/>
              </a:xfrm>
              <a:blipFill>
                <a:blip r:embed="rId2"/>
                <a:stretch>
                  <a:fillRect l="-2488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7B5FA92-F5F2-4301-A705-A82D0C370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832" y="758064"/>
            <a:ext cx="5443287" cy="571545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446B46-DB31-4895-8E9B-7C55A4877B3D}"/>
              </a:ext>
            </a:extLst>
          </p:cNvPr>
          <p:cNvCxnSpPr>
            <a:cxnSpLocks/>
          </p:cNvCxnSpPr>
          <p:nvPr/>
        </p:nvCxnSpPr>
        <p:spPr>
          <a:xfrm flipH="1" flipV="1">
            <a:off x="7913077" y="2398542"/>
            <a:ext cx="1223889" cy="5556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CE09F-F435-48F4-B1EE-FEEDA62C0036}"/>
              </a:ext>
            </a:extLst>
          </p:cNvPr>
          <p:cNvCxnSpPr>
            <a:cxnSpLocks/>
          </p:cNvCxnSpPr>
          <p:nvPr/>
        </p:nvCxnSpPr>
        <p:spPr>
          <a:xfrm flipV="1">
            <a:off x="9134475" y="2398542"/>
            <a:ext cx="1226380" cy="55567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B1B367-35E3-4D27-AB29-1D7D866E0F34}"/>
              </a:ext>
            </a:extLst>
          </p:cNvPr>
          <p:cNvCxnSpPr>
            <a:cxnSpLocks/>
          </p:cNvCxnSpPr>
          <p:nvPr/>
        </p:nvCxnSpPr>
        <p:spPr>
          <a:xfrm>
            <a:off x="9134475" y="2954216"/>
            <a:ext cx="0" cy="1254369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F980EC-2418-47C2-9EAE-2396786A26C5}"/>
                  </a:ext>
                </a:extLst>
              </p:cNvPr>
              <p:cNvSpPr txBox="1"/>
              <p:nvPr/>
            </p:nvSpPr>
            <p:spPr>
              <a:xfrm>
                <a:off x="1343042" y="4576179"/>
                <a:ext cx="5150000" cy="7679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𝑝𝑛𝑡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sub>
                                    </m:s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∗ </m:t>
                                    </m:r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xx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xy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z</m:t>
                                        </m:r>
                                      </m:sub>
                                    </m:s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xz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yx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yy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z</m:t>
                                        </m:r>
                                      </m:sub>
                                    </m:s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yz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zx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zy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zz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F980EC-2418-47C2-9EAE-2396786A2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42" y="4576179"/>
                <a:ext cx="5150000" cy="767903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1938E65-95BD-89C8-3630-9476286469A5}"/>
              </a:ext>
            </a:extLst>
          </p:cNvPr>
          <p:cNvSpPr txBox="1"/>
          <p:nvPr/>
        </p:nvSpPr>
        <p:spPr>
          <a:xfrm>
            <a:off x="279400" y="5791200"/>
            <a:ext cx="742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However this is just one way to represent coordinate spaces….</a:t>
            </a:r>
          </a:p>
        </p:txBody>
      </p:sp>
    </p:spTree>
    <p:extLst>
      <p:ext uri="{BB962C8B-B14F-4D97-AF65-F5344CB8AC3E}">
        <p14:creationId xmlns:p14="http://schemas.microsoft.com/office/powerpoint/2010/main" val="226336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8515-CC50-E3D5-0144-E4AFD527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 – </a:t>
            </a:r>
            <a:r>
              <a:rPr lang="en-US" dirty="0" err="1"/>
              <a:t>vtkMarching</a:t>
            </a:r>
            <a:r>
              <a:rPr lang="en-US" dirty="0"/>
              <a:t> Cubes Example from Week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25FD9-7FDB-E70F-3CA3-A5CF8FFA6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" y="1811368"/>
            <a:ext cx="5900931" cy="3319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00041F-4EB8-7FE9-EFFA-803F260E0B10}"/>
              </a:ext>
            </a:extLst>
          </p:cNvPr>
          <p:cNvSpPr txBox="1"/>
          <p:nvPr/>
        </p:nvSpPr>
        <p:spPr>
          <a:xfrm>
            <a:off x="45718" y="5214693"/>
            <a:ext cx="605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Run the filter to get the poly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BDD5E-8DA3-8420-DAE4-14BA284E24A7}"/>
              </a:ext>
            </a:extLst>
          </p:cNvPr>
          <p:cNvSpPr txBox="1"/>
          <p:nvPr/>
        </p:nvSpPr>
        <p:spPr>
          <a:xfrm>
            <a:off x="6245352" y="5214693"/>
            <a:ext cx="594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Place data into node and adjust display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EE3304-F534-C44A-342E-CD9A6339B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3" y="1837944"/>
            <a:ext cx="5853685" cy="329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5812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8515-CC50-E3D5-0144-E4AFD527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 – </a:t>
            </a:r>
            <a:r>
              <a:rPr lang="en-US" dirty="0" err="1"/>
              <a:t>vtkMarching</a:t>
            </a:r>
            <a:r>
              <a:rPr lang="en-US" dirty="0"/>
              <a:t> Cubes Example from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0041F-4EB8-7FE9-EFFA-803F260E0B10}"/>
              </a:ext>
            </a:extLst>
          </p:cNvPr>
          <p:cNvSpPr txBox="1"/>
          <p:nvPr/>
        </p:nvSpPr>
        <p:spPr>
          <a:xfrm>
            <a:off x="45718" y="5214693"/>
            <a:ext cx="605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Get Matrix – what space is this in?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BDD5E-8DA3-8420-DAE4-14BA284E24A7}"/>
              </a:ext>
            </a:extLst>
          </p:cNvPr>
          <p:cNvSpPr txBox="1"/>
          <p:nvPr/>
        </p:nvSpPr>
        <p:spPr>
          <a:xfrm>
            <a:off x="6245352" y="5214693"/>
            <a:ext cx="594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Invert </a:t>
            </a:r>
            <a:r>
              <a:rPr lang="en-US" dirty="0" err="1"/>
              <a:t>RASToIJKMatrix</a:t>
            </a:r>
            <a:r>
              <a:rPr lang="en-US" dirty="0"/>
              <a:t> and Apply to Mesh node.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BC8F9-CE17-C8F5-FDC3-DAB9535B7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7" y="2224605"/>
            <a:ext cx="5315712" cy="2990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C4804B-6466-D270-49A4-75ACC3FC8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3" y="2224605"/>
            <a:ext cx="5315712" cy="299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4622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 - RPY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11232000" cy="4182764"/>
          </a:xfrm>
        </p:spPr>
        <p:txBody>
          <a:bodyPr/>
          <a:lstStyle/>
          <a:p>
            <a:pPr lvl="1"/>
            <a:r>
              <a:rPr lang="en-US" dirty="0"/>
              <a:t>Set of orthogonal axes attached to an object – origin is set at the center of mass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Rotations about each axis can be considered separately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“Roll”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8C5CC0-E309-4E15-B38F-607C9A4140AC}"/>
              </a:ext>
            </a:extLst>
          </p:cNvPr>
          <p:cNvCxnSpPr/>
          <p:nvPr/>
        </p:nvCxnSpPr>
        <p:spPr>
          <a:xfrm flipV="1">
            <a:off x="9362485" y="3188282"/>
            <a:ext cx="0" cy="1650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35224-F23A-49B1-B16E-DF19EAAA70F9}"/>
              </a:ext>
            </a:extLst>
          </p:cNvPr>
          <p:cNvCxnSpPr>
            <a:cxnSpLocks/>
          </p:cNvCxnSpPr>
          <p:nvPr/>
        </p:nvCxnSpPr>
        <p:spPr>
          <a:xfrm flipV="1">
            <a:off x="9362485" y="4839057"/>
            <a:ext cx="1724952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5BBC2-00DF-48F1-B2F9-305B5059FDCC}"/>
              </a:ext>
            </a:extLst>
          </p:cNvPr>
          <p:cNvCxnSpPr>
            <a:cxnSpLocks/>
          </p:cNvCxnSpPr>
          <p:nvPr/>
        </p:nvCxnSpPr>
        <p:spPr>
          <a:xfrm flipH="1">
            <a:off x="8773115" y="4837724"/>
            <a:ext cx="589370" cy="891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C14A2C-A318-40E4-9DAD-55091AF23749}"/>
              </a:ext>
            </a:extLst>
          </p:cNvPr>
          <p:cNvSpPr txBox="1"/>
          <p:nvPr/>
        </p:nvSpPr>
        <p:spPr>
          <a:xfrm>
            <a:off x="9079263" y="5576288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E19A1-24E1-4BBB-9F88-616B07CBBB0D}"/>
              </a:ext>
            </a:extLst>
          </p:cNvPr>
          <p:cNvSpPr txBox="1"/>
          <p:nvPr/>
        </p:nvSpPr>
        <p:spPr>
          <a:xfrm>
            <a:off x="10690963" y="4430140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95299-4E6D-4939-8AC8-3729299CA40C}"/>
              </a:ext>
            </a:extLst>
          </p:cNvPr>
          <p:cNvSpPr txBox="1"/>
          <p:nvPr/>
        </p:nvSpPr>
        <p:spPr>
          <a:xfrm>
            <a:off x="9464802" y="3204749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0C70D5-40F9-4E7B-8E0F-2899882FC485}"/>
                  </a:ext>
                </a:extLst>
              </p:cNvPr>
              <p:cNvSpPr txBox="1"/>
              <p:nvPr/>
            </p:nvSpPr>
            <p:spPr>
              <a:xfrm>
                <a:off x="2365725" y="1965326"/>
                <a:ext cx="4059137" cy="88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0C70D5-40F9-4E7B-8E0F-2899882FC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25" y="1965326"/>
                <a:ext cx="4059137" cy="8803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 9">
            <a:extLst>
              <a:ext uri="{FF2B5EF4-FFF2-40B4-BE49-F238E27FC236}">
                <a16:creationId xmlns:a16="http://schemas.microsoft.com/office/drawing/2014/main" id="{5EA62E02-E72C-487C-A7A0-B28F63F08DFE}"/>
              </a:ext>
            </a:extLst>
          </p:cNvPr>
          <p:cNvSpPr/>
          <p:nvPr/>
        </p:nvSpPr>
        <p:spPr>
          <a:xfrm>
            <a:off x="8680362" y="4559327"/>
            <a:ext cx="897575" cy="1081989"/>
          </a:xfrm>
          <a:prstGeom prst="arc">
            <a:avLst>
              <a:gd name="adj1" fmla="val 16200000"/>
              <a:gd name="adj2" fmla="val 12289469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29F6F8-C9C8-41B8-BDA0-954D1001ED70}"/>
                  </a:ext>
                </a:extLst>
              </p:cNvPr>
              <p:cNvSpPr txBox="1"/>
              <p:nvPr/>
            </p:nvSpPr>
            <p:spPr>
              <a:xfrm>
                <a:off x="8786265" y="4621299"/>
                <a:ext cx="4612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29F6F8-C9C8-41B8-BDA0-954D1001E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265" y="4621299"/>
                <a:ext cx="46124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7728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 - RPY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19"/>
            <a:ext cx="11232000" cy="3301331"/>
          </a:xfrm>
        </p:spPr>
        <p:txBody>
          <a:bodyPr/>
          <a:lstStyle/>
          <a:p>
            <a:pPr lvl="1"/>
            <a:r>
              <a:rPr lang="en-US" dirty="0"/>
              <a:t>Set of orthogonal axes attached to an object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Rotations about each axis can be considered separately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“Pitch”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8C5CC0-E309-4E15-B38F-607C9A4140AC}"/>
              </a:ext>
            </a:extLst>
          </p:cNvPr>
          <p:cNvCxnSpPr/>
          <p:nvPr/>
        </p:nvCxnSpPr>
        <p:spPr>
          <a:xfrm flipV="1">
            <a:off x="9362485" y="3188282"/>
            <a:ext cx="0" cy="1650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35224-F23A-49B1-B16E-DF19EAAA70F9}"/>
              </a:ext>
            </a:extLst>
          </p:cNvPr>
          <p:cNvCxnSpPr>
            <a:cxnSpLocks/>
          </p:cNvCxnSpPr>
          <p:nvPr/>
        </p:nvCxnSpPr>
        <p:spPr>
          <a:xfrm flipV="1">
            <a:off x="9362485" y="4839057"/>
            <a:ext cx="1724952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5BBC2-00DF-48F1-B2F9-305B5059FDCC}"/>
              </a:ext>
            </a:extLst>
          </p:cNvPr>
          <p:cNvCxnSpPr>
            <a:cxnSpLocks/>
          </p:cNvCxnSpPr>
          <p:nvPr/>
        </p:nvCxnSpPr>
        <p:spPr>
          <a:xfrm flipH="1">
            <a:off x="8773115" y="4837724"/>
            <a:ext cx="589370" cy="891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C14A2C-A318-40E4-9DAD-55091AF23749}"/>
              </a:ext>
            </a:extLst>
          </p:cNvPr>
          <p:cNvSpPr txBox="1"/>
          <p:nvPr/>
        </p:nvSpPr>
        <p:spPr>
          <a:xfrm>
            <a:off x="9079263" y="5576288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E19A1-24E1-4BBB-9F88-616B07CBBB0D}"/>
              </a:ext>
            </a:extLst>
          </p:cNvPr>
          <p:cNvSpPr txBox="1"/>
          <p:nvPr/>
        </p:nvSpPr>
        <p:spPr>
          <a:xfrm>
            <a:off x="10690963" y="4430140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95299-4E6D-4939-8AC8-3729299CA40C}"/>
              </a:ext>
            </a:extLst>
          </p:cNvPr>
          <p:cNvSpPr txBox="1"/>
          <p:nvPr/>
        </p:nvSpPr>
        <p:spPr>
          <a:xfrm>
            <a:off x="9464802" y="3204749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9A859-103B-4283-8C79-CC5FA8E9F3B8}"/>
                  </a:ext>
                </a:extLst>
              </p:cNvPr>
              <p:cNvSpPr txBox="1"/>
              <p:nvPr/>
            </p:nvSpPr>
            <p:spPr>
              <a:xfrm>
                <a:off x="2754142" y="2239310"/>
                <a:ext cx="4059137" cy="88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9A859-103B-4283-8C79-CC5FA8E9F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142" y="2239310"/>
                <a:ext cx="4059137" cy="8803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 9">
            <a:extLst>
              <a:ext uri="{FF2B5EF4-FFF2-40B4-BE49-F238E27FC236}">
                <a16:creationId xmlns:a16="http://schemas.microsoft.com/office/drawing/2014/main" id="{5EA62E02-E72C-487C-A7A0-B28F63F08DFE}"/>
              </a:ext>
            </a:extLst>
          </p:cNvPr>
          <p:cNvSpPr/>
          <p:nvPr/>
        </p:nvSpPr>
        <p:spPr>
          <a:xfrm>
            <a:off x="10127166" y="4296729"/>
            <a:ext cx="461246" cy="1081989"/>
          </a:xfrm>
          <a:prstGeom prst="arc">
            <a:avLst>
              <a:gd name="adj1" fmla="val 16200000"/>
              <a:gd name="adj2" fmla="val 12289469"/>
            </a:avLst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29F6F8-C9C8-41B8-BDA0-954D1001ED70}"/>
                  </a:ext>
                </a:extLst>
              </p:cNvPr>
              <p:cNvSpPr txBox="1"/>
              <p:nvPr/>
            </p:nvSpPr>
            <p:spPr>
              <a:xfrm>
                <a:off x="10178442" y="4383227"/>
                <a:ext cx="4612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29F6F8-C9C8-41B8-BDA0-954D1001E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8442" y="4383227"/>
                <a:ext cx="4612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8952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 - RPY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19"/>
            <a:ext cx="11232000" cy="3447605"/>
          </a:xfrm>
        </p:spPr>
        <p:txBody>
          <a:bodyPr/>
          <a:lstStyle/>
          <a:p>
            <a:pPr lvl="1"/>
            <a:r>
              <a:rPr lang="en-US" dirty="0"/>
              <a:t>Set of orthogonal axes attached to an object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Rotations about each axis can be considered separately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“Yaw”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8C5CC0-E309-4E15-B38F-607C9A4140AC}"/>
              </a:ext>
            </a:extLst>
          </p:cNvPr>
          <p:cNvCxnSpPr/>
          <p:nvPr/>
        </p:nvCxnSpPr>
        <p:spPr>
          <a:xfrm flipV="1">
            <a:off x="9362485" y="3188282"/>
            <a:ext cx="0" cy="1650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35224-F23A-49B1-B16E-DF19EAAA70F9}"/>
              </a:ext>
            </a:extLst>
          </p:cNvPr>
          <p:cNvCxnSpPr>
            <a:cxnSpLocks/>
          </p:cNvCxnSpPr>
          <p:nvPr/>
        </p:nvCxnSpPr>
        <p:spPr>
          <a:xfrm flipV="1">
            <a:off x="9362485" y="4839057"/>
            <a:ext cx="1724952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5BBC2-00DF-48F1-B2F9-305B5059FDCC}"/>
              </a:ext>
            </a:extLst>
          </p:cNvPr>
          <p:cNvCxnSpPr>
            <a:cxnSpLocks/>
          </p:cNvCxnSpPr>
          <p:nvPr/>
        </p:nvCxnSpPr>
        <p:spPr>
          <a:xfrm flipH="1">
            <a:off x="8773115" y="4837724"/>
            <a:ext cx="589370" cy="891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C14A2C-A318-40E4-9DAD-55091AF23749}"/>
              </a:ext>
            </a:extLst>
          </p:cNvPr>
          <p:cNvSpPr txBox="1"/>
          <p:nvPr/>
        </p:nvSpPr>
        <p:spPr>
          <a:xfrm>
            <a:off x="9079263" y="5576288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E19A1-24E1-4BBB-9F88-616B07CBBB0D}"/>
              </a:ext>
            </a:extLst>
          </p:cNvPr>
          <p:cNvSpPr txBox="1"/>
          <p:nvPr/>
        </p:nvSpPr>
        <p:spPr>
          <a:xfrm>
            <a:off x="10690963" y="4430140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95299-4E6D-4939-8AC8-3729299CA40C}"/>
              </a:ext>
            </a:extLst>
          </p:cNvPr>
          <p:cNvSpPr txBox="1"/>
          <p:nvPr/>
        </p:nvSpPr>
        <p:spPr>
          <a:xfrm>
            <a:off x="9464802" y="3204749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9A859-103B-4283-8C79-CC5FA8E9F3B8}"/>
                  </a:ext>
                </a:extLst>
              </p:cNvPr>
              <p:cNvSpPr txBox="1"/>
              <p:nvPr/>
            </p:nvSpPr>
            <p:spPr>
              <a:xfrm>
                <a:off x="2754142" y="2239310"/>
                <a:ext cx="4059137" cy="766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9A859-103B-4283-8C79-CC5FA8E9F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142" y="2239310"/>
                <a:ext cx="4059137" cy="7661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 9">
            <a:extLst>
              <a:ext uri="{FF2B5EF4-FFF2-40B4-BE49-F238E27FC236}">
                <a16:creationId xmlns:a16="http://schemas.microsoft.com/office/drawing/2014/main" id="{5EA62E02-E72C-487C-A7A0-B28F63F08DFE}"/>
              </a:ext>
            </a:extLst>
          </p:cNvPr>
          <p:cNvSpPr/>
          <p:nvPr/>
        </p:nvSpPr>
        <p:spPr>
          <a:xfrm>
            <a:off x="9095363" y="3680563"/>
            <a:ext cx="650651" cy="247936"/>
          </a:xfrm>
          <a:prstGeom prst="arc">
            <a:avLst>
              <a:gd name="adj1" fmla="val 16200000"/>
              <a:gd name="adj2" fmla="val 12289469"/>
            </a:avLst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29F6F8-C9C8-41B8-BDA0-954D1001ED70}"/>
                  </a:ext>
                </a:extLst>
              </p:cNvPr>
              <p:cNvSpPr txBox="1"/>
              <p:nvPr/>
            </p:nvSpPr>
            <p:spPr>
              <a:xfrm>
                <a:off x="8901239" y="3332850"/>
                <a:ext cx="4612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29F6F8-C9C8-41B8-BDA0-954D1001E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239" y="3332850"/>
                <a:ext cx="461246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1720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19"/>
            <a:ext cx="11232000" cy="1333069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Set of orthogonal axes attached to an object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Rotations about each axis can be considered separately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Or combined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8C5CC0-E309-4E15-B38F-607C9A4140AC}"/>
              </a:ext>
            </a:extLst>
          </p:cNvPr>
          <p:cNvCxnSpPr/>
          <p:nvPr/>
        </p:nvCxnSpPr>
        <p:spPr>
          <a:xfrm flipV="1">
            <a:off x="9362485" y="3188282"/>
            <a:ext cx="0" cy="1650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35224-F23A-49B1-B16E-DF19EAAA70F9}"/>
              </a:ext>
            </a:extLst>
          </p:cNvPr>
          <p:cNvCxnSpPr>
            <a:cxnSpLocks/>
          </p:cNvCxnSpPr>
          <p:nvPr/>
        </p:nvCxnSpPr>
        <p:spPr>
          <a:xfrm flipV="1">
            <a:off x="9362485" y="4839057"/>
            <a:ext cx="1724952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5BBC2-00DF-48F1-B2F9-305B5059FDCC}"/>
              </a:ext>
            </a:extLst>
          </p:cNvPr>
          <p:cNvCxnSpPr>
            <a:cxnSpLocks/>
          </p:cNvCxnSpPr>
          <p:nvPr/>
        </p:nvCxnSpPr>
        <p:spPr>
          <a:xfrm flipH="1">
            <a:off x="8773115" y="4837724"/>
            <a:ext cx="589370" cy="891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C14A2C-A318-40E4-9DAD-55091AF23749}"/>
              </a:ext>
            </a:extLst>
          </p:cNvPr>
          <p:cNvSpPr txBox="1"/>
          <p:nvPr/>
        </p:nvSpPr>
        <p:spPr>
          <a:xfrm>
            <a:off x="9079263" y="5576288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E19A1-24E1-4BBB-9F88-616B07CBBB0D}"/>
              </a:ext>
            </a:extLst>
          </p:cNvPr>
          <p:cNvSpPr txBox="1"/>
          <p:nvPr/>
        </p:nvSpPr>
        <p:spPr>
          <a:xfrm>
            <a:off x="10690963" y="4430140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95299-4E6D-4939-8AC8-3729299CA40C}"/>
              </a:ext>
            </a:extLst>
          </p:cNvPr>
          <p:cNvSpPr txBox="1"/>
          <p:nvPr/>
        </p:nvSpPr>
        <p:spPr>
          <a:xfrm>
            <a:off x="9464802" y="3204749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9A859-103B-4283-8C79-CC5FA8E9F3B8}"/>
                  </a:ext>
                </a:extLst>
              </p:cNvPr>
              <p:cNvSpPr txBox="1"/>
              <p:nvPr/>
            </p:nvSpPr>
            <p:spPr>
              <a:xfrm>
                <a:off x="3007896" y="2998570"/>
                <a:ext cx="3453062" cy="2989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9A859-103B-4283-8C79-CC5FA8E9F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96" y="2998570"/>
                <a:ext cx="3453062" cy="298928"/>
              </a:xfrm>
              <a:prstGeom prst="rect">
                <a:avLst/>
              </a:prstGeom>
              <a:blipFill>
                <a:blip r:embed="rId2"/>
                <a:stretch>
                  <a:fillRect l="-2293" t="-26531" b="-38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94856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 - RPY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19"/>
            <a:ext cx="11232000" cy="1333069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Set of orthogonal axes attached to an object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Rotations about each axis can be considered separately 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Or combined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8C5CC0-E309-4E15-B38F-607C9A4140AC}"/>
              </a:ext>
            </a:extLst>
          </p:cNvPr>
          <p:cNvCxnSpPr/>
          <p:nvPr/>
        </p:nvCxnSpPr>
        <p:spPr>
          <a:xfrm flipV="1">
            <a:off x="9362485" y="3188282"/>
            <a:ext cx="0" cy="1650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35224-F23A-49B1-B16E-DF19EAAA70F9}"/>
              </a:ext>
            </a:extLst>
          </p:cNvPr>
          <p:cNvCxnSpPr>
            <a:cxnSpLocks/>
          </p:cNvCxnSpPr>
          <p:nvPr/>
        </p:nvCxnSpPr>
        <p:spPr>
          <a:xfrm flipV="1">
            <a:off x="9362485" y="4839057"/>
            <a:ext cx="1724952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5BBC2-00DF-48F1-B2F9-305B5059FDCC}"/>
              </a:ext>
            </a:extLst>
          </p:cNvPr>
          <p:cNvCxnSpPr>
            <a:cxnSpLocks/>
          </p:cNvCxnSpPr>
          <p:nvPr/>
        </p:nvCxnSpPr>
        <p:spPr>
          <a:xfrm flipH="1">
            <a:off x="8773115" y="4837724"/>
            <a:ext cx="589370" cy="891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C14A2C-A318-40E4-9DAD-55091AF23749}"/>
              </a:ext>
            </a:extLst>
          </p:cNvPr>
          <p:cNvSpPr txBox="1"/>
          <p:nvPr/>
        </p:nvSpPr>
        <p:spPr>
          <a:xfrm>
            <a:off x="9079263" y="5576288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E19A1-24E1-4BBB-9F88-616B07CBBB0D}"/>
              </a:ext>
            </a:extLst>
          </p:cNvPr>
          <p:cNvSpPr txBox="1"/>
          <p:nvPr/>
        </p:nvSpPr>
        <p:spPr>
          <a:xfrm>
            <a:off x="10690963" y="4430140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95299-4E6D-4939-8AC8-3729299CA40C}"/>
              </a:ext>
            </a:extLst>
          </p:cNvPr>
          <p:cNvSpPr txBox="1"/>
          <p:nvPr/>
        </p:nvSpPr>
        <p:spPr>
          <a:xfrm>
            <a:off x="9464802" y="3204749"/>
            <a:ext cx="46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9A859-103B-4283-8C79-CC5FA8E9F3B8}"/>
                  </a:ext>
                </a:extLst>
              </p:cNvPr>
              <p:cNvSpPr txBox="1"/>
              <p:nvPr/>
            </p:nvSpPr>
            <p:spPr>
              <a:xfrm>
                <a:off x="493010" y="2741911"/>
                <a:ext cx="8157695" cy="1947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/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eqArr>
                                      <m:eqArr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func>
                                          <m:func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𝜓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d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𝜓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⁡(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eqArr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/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eqArr>
                                      <m:eqArr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func>
                                          <m:func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𝜓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unc>
                                          <m:func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𝜓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⁡(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eqArr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9A859-103B-4283-8C79-CC5FA8E9F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10" y="2741911"/>
                <a:ext cx="8157695" cy="1947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62303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FD2C-9520-4B07-9BF3-5D0CF353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 - RPY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1AF2B-A1D0-4175-BEA1-70239DB08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To incorporate translation we use homogenous coordinates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468C65-4D81-4B93-8F68-A72145268648}"/>
              </a:ext>
            </a:extLst>
          </p:cNvPr>
          <p:cNvCxnSpPr/>
          <p:nvPr/>
        </p:nvCxnSpPr>
        <p:spPr>
          <a:xfrm flipV="1">
            <a:off x="9362485" y="3188282"/>
            <a:ext cx="0" cy="1650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F93E4D-371D-47A5-9BAB-3AD6A9A3B214}"/>
              </a:ext>
            </a:extLst>
          </p:cNvPr>
          <p:cNvCxnSpPr>
            <a:cxnSpLocks/>
          </p:cNvCxnSpPr>
          <p:nvPr/>
        </p:nvCxnSpPr>
        <p:spPr>
          <a:xfrm flipV="1">
            <a:off x="9362485" y="4839057"/>
            <a:ext cx="1724952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9ADEEA-14DE-4B91-89F4-FE1F33E66659}"/>
              </a:ext>
            </a:extLst>
          </p:cNvPr>
          <p:cNvCxnSpPr>
            <a:cxnSpLocks/>
          </p:cNvCxnSpPr>
          <p:nvPr/>
        </p:nvCxnSpPr>
        <p:spPr>
          <a:xfrm flipH="1">
            <a:off x="8773115" y="4837724"/>
            <a:ext cx="589370" cy="891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37FA9E-0521-4323-8C90-D120C877A683}"/>
              </a:ext>
            </a:extLst>
          </p:cNvPr>
          <p:cNvSpPr txBox="1"/>
          <p:nvPr/>
        </p:nvSpPr>
        <p:spPr>
          <a:xfrm>
            <a:off x="8879536" y="5549083"/>
            <a:ext cx="585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w</a:t>
            </a:r>
            <a:endParaRPr lang="en-US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0095A-C0B8-4E06-9F1C-ABB69FA77D89}"/>
              </a:ext>
            </a:extLst>
          </p:cNvPr>
          <p:cNvSpPr txBox="1"/>
          <p:nvPr/>
        </p:nvSpPr>
        <p:spPr>
          <a:xfrm>
            <a:off x="10690962" y="4430140"/>
            <a:ext cx="58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w</a:t>
            </a:r>
            <a:endParaRPr lang="en-US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98510-0A76-45F6-92FE-1AB4D0DFFB15}"/>
              </a:ext>
            </a:extLst>
          </p:cNvPr>
          <p:cNvSpPr txBox="1"/>
          <p:nvPr/>
        </p:nvSpPr>
        <p:spPr>
          <a:xfrm>
            <a:off x="9406495" y="3205748"/>
            <a:ext cx="589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z</a:t>
            </a:r>
            <a:r>
              <a:rPr lang="en-US" baseline="-25000" dirty="0" err="1"/>
              <a:t>w</a:t>
            </a:r>
            <a:endParaRPr lang="en-US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CD5172-BB9F-44C6-A468-135B54B50297}"/>
              </a:ext>
            </a:extLst>
          </p:cNvPr>
          <p:cNvCxnSpPr/>
          <p:nvPr/>
        </p:nvCxnSpPr>
        <p:spPr>
          <a:xfrm flipV="1">
            <a:off x="10404890" y="583542"/>
            <a:ext cx="0" cy="1650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908CFB-792D-4847-A24A-538A1C07E7F4}"/>
              </a:ext>
            </a:extLst>
          </p:cNvPr>
          <p:cNvCxnSpPr>
            <a:cxnSpLocks/>
          </p:cNvCxnSpPr>
          <p:nvPr/>
        </p:nvCxnSpPr>
        <p:spPr>
          <a:xfrm flipV="1">
            <a:off x="10404890" y="2234317"/>
            <a:ext cx="1724952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0B5D58-785A-405F-8F92-465B9EB0F2B6}"/>
              </a:ext>
            </a:extLst>
          </p:cNvPr>
          <p:cNvCxnSpPr>
            <a:cxnSpLocks/>
          </p:cNvCxnSpPr>
          <p:nvPr/>
        </p:nvCxnSpPr>
        <p:spPr>
          <a:xfrm flipH="1">
            <a:off x="9815520" y="2232984"/>
            <a:ext cx="589370" cy="891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415FBC-BDBB-4772-A8F0-7DE5B9CB130A}"/>
              </a:ext>
            </a:extLst>
          </p:cNvPr>
          <p:cNvCxnSpPr/>
          <p:nvPr/>
        </p:nvCxnSpPr>
        <p:spPr>
          <a:xfrm flipV="1">
            <a:off x="9362485" y="2223438"/>
            <a:ext cx="1082777" cy="2576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47C53E0-A76F-48C1-BF18-2D02A5D34557}"/>
              </a:ext>
            </a:extLst>
          </p:cNvPr>
          <p:cNvSpPr txBox="1"/>
          <p:nvPr/>
        </p:nvSpPr>
        <p:spPr>
          <a:xfrm>
            <a:off x="9819634" y="2164164"/>
            <a:ext cx="585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6F10AD-31D6-4DD6-972C-4A696672DC93}"/>
              </a:ext>
            </a:extLst>
          </p:cNvPr>
          <p:cNvSpPr txBox="1"/>
          <p:nvPr/>
        </p:nvSpPr>
        <p:spPr>
          <a:xfrm>
            <a:off x="11417321" y="1813245"/>
            <a:ext cx="58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r>
              <a:rPr lang="en-US" baseline="-250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489214-D848-4B1F-A1EB-EF627D21AC5B}"/>
              </a:ext>
            </a:extLst>
          </p:cNvPr>
          <p:cNvSpPr txBox="1"/>
          <p:nvPr/>
        </p:nvSpPr>
        <p:spPr>
          <a:xfrm>
            <a:off x="10469086" y="574164"/>
            <a:ext cx="589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r>
              <a:rPr lang="en-US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14E709-8F63-40BB-8B05-20F53965CBA7}"/>
                  </a:ext>
                </a:extLst>
              </p:cNvPr>
              <p:cNvSpPr txBox="1"/>
              <p:nvPr/>
            </p:nvSpPr>
            <p:spPr>
              <a:xfrm>
                <a:off x="493010" y="2741911"/>
                <a:ext cx="8157695" cy="21795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cos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𝜙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⁡(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e/>
                                      </m:eqArr>
                                    </m:e>
                                  </m:m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𝜓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𝜙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cos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⁡(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e/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𝜓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func>
                                              <m:func>
                                                <m:func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⁡(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𝜙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e>
                                              </m:func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𝜓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func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⁡(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eqArr>
                                        </m:e>
                                        <m:e/>
                                      </m:eqAr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eqArr>
                                            <m:eqArr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𝜓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func>
                                              <m:func>
                                                <m:func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func>
                                              <m:func>
                                                <m:func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𝜙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func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𝜓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func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sin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⁡(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eqArr>
                                        </m:e>
                                        <m:e/>
                                      </m:eqAr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               </m:t>
                                      </m:r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0                         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        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         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14E709-8F63-40BB-8B05-20F53965C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10" y="2741911"/>
                <a:ext cx="8157695" cy="21795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718D670-37CA-4FD9-B0B2-FB8AF0740494}"/>
              </a:ext>
            </a:extLst>
          </p:cNvPr>
          <p:cNvSpPr txBox="1"/>
          <p:nvPr/>
        </p:nvSpPr>
        <p:spPr>
          <a:xfrm>
            <a:off x="10153020" y="2778230"/>
            <a:ext cx="122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t</a:t>
            </a:r>
            <a:r>
              <a:rPr lang="en-US" baseline="-25000" dirty="0" err="1"/>
              <a:t>x</a:t>
            </a:r>
            <a:r>
              <a:rPr lang="en-US" dirty="0" err="1"/>
              <a:t>,t</a:t>
            </a:r>
            <a:r>
              <a:rPr lang="en-US" baseline="-25000" dirty="0" err="1"/>
              <a:t>y</a:t>
            </a:r>
            <a:r>
              <a:rPr lang="en-US" dirty="0" err="1"/>
              <a:t>,t</a:t>
            </a:r>
            <a:r>
              <a:rPr lang="en-US" baseline="-25000" dirty="0" err="1"/>
              <a:t>z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680641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9240-F36D-EA98-79F5-A5899C85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Between RPY and XYZ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C5EB1-9B57-51FF-F58F-D9AFD7601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Any orientation of a rigid body (i.e. RPY) can be found with respect to a fixed coordinate frame (</a:t>
                </a:r>
                <a:r>
                  <a:rPr lang="en-US" dirty="0" err="1"/>
                  <a:t>xyz</a:t>
                </a:r>
                <a:r>
                  <a:rPr lang="en-US" dirty="0"/>
                  <a:t>)*</a:t>
                </a:r>
              </a:p>
              <a:p>
                <a:pPr marL="882650" lvl="3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These are known as Euler angles, after Leonhard Euler</a:t>
                </a:r>
              </a:p>
              <a:p>
                <a:pPr marL="882650" lvl="3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You define the fix axis x, y, z and angles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b="0" dirty="0"/>
              </a:p>
              <a:p>
                <a:pPr marL="882650" lvl="3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*Assuming axis are the same </a:t>
                </a:r>
                <a:r>
                  <a:rPr lang="en-US" b="1" dirty="0"/>
                  <a:t>handedness</a:t>
                </a:r>
              </a:p>
              <a:p>
                <a:pPr marL="882650" lvl="3" indent="-34290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𝑎𝑟𝑐𝑐𝑜𝑠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C5EB1-9B57-51FF-F58F-D9AFD7601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12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CAC09A72-567A-F978-6887-868DD49A8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626" y="1914697"/>
            <a:ext cx="2768448" cy="31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6C5A284-CBEB-2D60-9AE4-18890A8B2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346" y="3770069"/>
            <a:ext cx="2041628" cy="229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3D1BD5-E829-F1D3-59F7-E56079AFB0D0}"/>
              </a:ext>
            </a:extLst>
          </p:cNvPr>
          <p:cNvSpPr txBox="1"/>
          <p:nvPr/>
        </p:nvSpPr>
        <p:spPr>
          <a:xfrm>
            <a:off x="203200" y="6324057"/>
            <a:ext cx="11607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*Note Slicer and ROS are not the same handedness so you need to mirror an axis</a:t>
            </a:r>
          </a:p>
        </p:txBody>
      </p:sp>
    </p:spTree>
    <p:extLst>
      <p:ext uri="{BB962C8B-B14F-4D97-AF65-F5344CB8AC3E}">
        <p14:creationId xmlns:p14="http://schemas.microsoft.com/office/powerpoint/2010/main" val="18573362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systems in ROS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Fixed frame is the object that does not move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Most commonly referred to as the reference frame – all other coordinate systems can be calculated from this object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So far we have defined the base link – i.e. the portion of the robot that does not move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6192F-8C66-4385-8C36-4039BA5C0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172" y="2616865"/>
            <a:ext cx="6845133" cy="367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450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systems in ROS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Fixed frame is the object that does not move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Most commonly referred to as the reference frame – all other coordinate systems can be calculated from this object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So far we have defined the base link – i.e. the portion of the robot that does not move</a:t>
            </a:r>
          </a:p>
          <a:p>
            <a:pPr lvl="1"/>
            <a:r>
              <a:rPr lang="en-US" dirty="0"/>
              <a:t>Each link in </a:t>
            </a:r>
            <a:r>
              <a:rPr lang="en-US" dirty="0" err="1"/>
              <a:t>urdf</a:t>
            </a:r>
            <a:r>
              <a:rPr lang="en-US" dirty="0"/>
              <a:t> has its own unique coordinate frame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Joints enable us to define the relative position of the</a:t>
            </a:r>
          </a:p>
          <a:p>
            <a:pPr lvl="2" indent="0">
              <a:buNone/>
            </a:pPr>
            <a:r>
              <a:rPr lang="en-US" dirty="0"/>
              <a:t>      child link with respect to the parent link.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C43B3B-E90A-4BCF-9B31-569204EE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715" y="3002145"/>
            <a:ext cx="4519285" cy="357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389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B076-FC5D-47E8-85FA-BA3E2964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systems in ROS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5F5794-4FF1-4690-A59A-A05FAB15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6357770" cy="4856400"/>
          </a:xfrm>
        </p:spPr>
        <p:txBody>
          <a:bodyPr/>
          <a:lstStyle/>
          <a:p>
            <a:pPr lvl="1"/>
            <a:r>
              <a:rPr lang="en-US" b="1" dirty="0"/>
              <a:t>A practical note</a:t>
            </a:r>
            <a:r>
              <a:rPr lang="en-US" dirty="0"/>
              <a:t>: when setting up </a:t>
            </a:r>
            <a:r>
              <a:rPr lang="en-US" dirty="0" err="1"/>
              <a:t>urdf</a:t>
            </a:r>
            <a:r>
              <a:rPr lang="en-US" dirty="0"/>
              <a:t> file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Be default the object origin is the center of mass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Both joints and objects are assumed to be centered at (0,0,0) and orientated (0,0,0)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Joints will rotate around their origins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You need to calculate both object offset and joint offset to ensure proper robotic manipulation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C43B3B-E90A-4BCF-9B31-569204EE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993" y="1998732"/>
            <a:ext cx="4769008" cy="377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130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5D93-2AE2-4FC6-99B8-1FFB67DA9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systems in 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13A57-263B-43D0-871B-08D332A8C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89BC0-A3E2-418E-A942-E4C523FC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034" y="1577945"/>
            <a:ext cx="5189737" cy="426187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5E3D96-666A-4EA9-AEF4-BE5BFBFE7054}"/>
              </a:ext>
            </a:extLst>
          </p:cNvPr>
          <p:cNvSpPr txBox="1">
            <a:spLocks/>
          </p:cNvSpPr>
          <p:nvPr/>
        </p:nvSpPr>
        <p:spPr>
          <a:xfrm>
            <a:off x="632400" y="1241620"/>
            <a:ext cx="5986885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rgbClr val="0A2D50"/>
                </a:solidFill>
                <a:latin typeface="Impact"/>
                <a:ea typeface="+mn-ea"/>
                <a:cs typeface="Impact"/>
              </a:defRPr>
            </a:lvl1pPr>
            <a:lvl2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r>
              <a:rPr lang="en-US" dirty="0"/>
              <a:t>The relative position of each arm is calculated in a recursive fashion</a:t>
            </a:r>
          </a:p>
          <a:p>
            <a:pPr marL="882650" lvl="3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Arm1 is calculated based on its position to </a:t>
            </a:r>
            <a:r>
              <a:rPr lang="en-US" dirty="0" err="1"/>
              <a:t>base_link</a:t>
            </a:r>
            <a:endParaRPr lang="en-US" dirty="0"/>
          </a:p>
          <a:p>
            <a:pPr marL="882650" lvl="3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Arm2 is calculated based on its position to Arm1</a:t>
            </a:r>
          </a:p>
          <a:p>
            <a:pPr marL="882650" lvl="3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916995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5D93-2AE2-4FC6-99B8-1FFB67DA9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systems in 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13A57-263B-43D0-871B-08D332A8C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5E3D96-666A-4EA9-AEF4-BE5BFBFE7054}"/>
              </a:ext>
            </a:extLst>
          </p:cNvPr>
          <p:cNvSpPr txBox="1">
            <a:spLocks/>
          </p:cNvSpPr>
          <p:nvPr/>
        </p:nvSpPr>
        <p:spPr>
          <a:xfrm>
            <a:off x="632400" y="1241620"/>
            <a:ext cx="10146191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rgbClr val="0A2D50"/>
                </a:solidFill>
                <a:latin typeface="Impact"/>
                <a:ea typeface="+mn-ea"/>
                <a:cs typeface="Impact"/>
              </a:defRPr>
            </a:lvl1pPr>
            <a:lvl2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r>
              <a:rPr lang="en-US" dirty="0"/>
              <a:t>This is defined by a Tree object where  relationships between joints are stored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7376A7-D261-4C44-A55C-A7690859B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549" y="1950181"/>
            <a:ext cx="8731613" cy="461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0142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92E4-674E-BC05-0F9E-4AF7C25F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 Building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8EC7-789D-65E6-956A-94DB45BD8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7366298" cy="4856400"/>
          </a:xfrm>
        </p:spPr>
        <p:txBody>
          <a:bodyPr/>
          <a:lstStyle/>
          <a:p>
            <a:pPr lvl="1"/>
            <a:r>
              <a:rPr lang="en-US" dirty="0"/>
              <a:t>Lets assume we have three links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By default center of rotation aka position of joint is considered to be in the center of mass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First identify where you want each joint to be relative to its link.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This offset is the link origin!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Note here a negative movement in the joint corresponds to a positive movement in the link – we are actually moving the link not the joint.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CA9DC9-07E9-A800-83B6-F7DADC02AFBE}"/>
              </a:ext>
            </a:extLst>
          </p:cNvPr>
          <p:cNvSpPr/>
          <p:nvPr/>
        </p:nvSpPr>
        <p:spPr>
          <a:xfrm>
            <a:off x="8892370" y="5043042"/>
            <a:ext cx="2261287" cy="605481"/>
          </a:xfrm>
          <a:prstGeom prst="rect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C4B6B-D4D5-E73B-5595-CD2803298C86}"/>
              </a:ext>
            </a:extLst>
          </p:cNvPr>
          <p:cNvSpPr txBox="1"/>
          <p:nvPr/>
        </p:nvSpPr>
        <p:spPr>
          <a:xfrm>
            <a:off x="8880014" y="5837743"/>
            <a:ext cx="2100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20BAD0-5DAB-56DE-7AAF-6D216321E572}"/>
              </a:ext>
            </a:extLst>
          </p:cNvPr>
          <p:cNvSpPr txBox="1"/>
          <p:nvPr/>
        </p:nvSpPr>
        <p:spPr>
          <a:xfrm>
            <a:off x="7689645" y="5199979"/>
            <a:ext cx="2100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C969C5-A826-B455-7C18-A902BA7DB0C5}"/>
              </a:ext>
            </a:extLst>
          </p:cNvPr>
          <p:cNvSpPr/>
          <p:nvPr/>
        </p:nvSpPr>
        <p:spPr>
          <a:xfrm>
            <a:off x="9509685" y="2238285"/>
            <a:ext cx="1022465" cy="280475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7A449-3BB5-319A-829E-57B0D4DF819A}"/>
              </a:ext>
            </a:extLst>
          </p:cNvPr>
          <p:cNvSpPr txBox="1"/>
          <p:nvPr/>
        </p:nvSpPr>
        <p:spPr>
          <a:xfrm>
            <a:off x="8926034" y="3407660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F873AF-08A8-259D-53CC-E2FF1C22140A}"/>
              </a:ext>
            </a:extLst>
          </p:cNvPr>
          <p:cNvCxnSpPr/>
          <p:nvPr/>
        </p:nvCxnSpPr>
        <p:spPr>
          <a:xfrm>
            <a:off x="8892370" y="5766597"/>
            <a:ext cx="2261287" cy="96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27F3A0-5207-A066-0EBA-6FA9B5E6130B}"/>
              </a:ext>
            </a:extLst>
          </p:cNvPr>
          <p:cNvCxnSpPr>
            <a:cxnSpLocks/>
          </p:cNvCxnSpPr>
          <p:nvPr/>
        </p:nvCxnSpPr>
        <p:spPr>
          <a:xfrm>
            <a:off x="11306057" y="5043042"/>
            <a:ext cx="0" cy="6054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167A67-5494-3960-6EAB-F0236C12B152}"/>
              </a:ext>
            </a:extLst>
          </p:cNvPr>
          <p:cNvCxnSpPr>
            <a:cxnSpLocks/>
            <a:stCxn id="7" idx="2"/>
            <a:endCxn id="7" idx="6"/>
          </p:cNvCxnSpPr>
          <p:nvPr/>
        </p:nvCxnSpPr>
        <p:spPr>
          <a:xfrm>
            <a:off x="9509685" y="3640664"/>
            <a:ext cx="10224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6CD8C6-2A88-70F8-7CE2-C78920B1954B}"/>
              </a:ext>
            </a:extLst>
          </p:cNvPr>
          <p:cNvCxnSpPr>
            <a:cxnSpLocks/>
          </p:cNvCxnSpPr>
          <p:nvPr/>
        </p:nvCxnSpPr>
        <p:spPr>
          <a:xfrm>
            <a:off x="10684550" y="2238285"/>
            <a:ext cx="0" cy="28047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A7E8F54-5F0B-F73E-EA7E-C785601227C5}"/>
              </a:ext>
            </a:extLst>
          </p:cNvPr>
          <p:cNvSpPr txBox="1"/>
          <p:nvPr/>
        </p:nvSpPr>
        <p:spPr>
          <a:xfrm>
            <a:off x="10722406" y="3429879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A36DC40-A385-F862-0F2F-BB3167A6867C}"/>
              </a:ext>
            </a:extLst>
          </p:cNvPr>
          <p:cNvSpPr/>
          <p:nvPr/>
        </p:nvSpPr>
        <p:spPr>
          <a:xfrm>
            <a:off x="9770226" y="1390388"/>
            <a:ext cx="445218" cy="847897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2C1DF3-2EB2-94A1-7FA1-C45F96754D0A}"/>
              </a:ext>
            </a:extLst>
          </p:cNvPr>
          <p:cNvCxnSpPr>
            <a:cxnSpLocks/>
          </p:cNvCxnSpPr>
          <p:nvPr/>
        </p:nvCxnSpPr>
        <p:spPr>
          <a:xfrm>
            <a:off x="9509686" y="1390387"/>
            <a:ext cx="0" cy="8478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6CE8C70-FDD8-6AA4-90F5-8FEADEE26530}"/>
              </a:ext>
            </a:extLst>
          </p:cNvPr>
          <p:cNvSpPr txBox="1"/>
          <p:nvPr/>
        </p:nvSpPr>
        <p:spPr>
          <a:xfrm>
            <a:off x="8868764" y="1635948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BA7967-5166-8DE7-FB81-D1B1BB2C7D25}"/>
              </a:ext>
            </a:extLst>
          </p:cNvPr>
          <p:cNvSpPr txBox="1"/>
          <p:nvPr/>
        </p:nvSpPr>
        <p:spPr>
          <a:xfrm>
            <a:off x="10059511" y="1089220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B7EA7E-B26D-2104-BA3B-279FCD969F67}"/>
              </a:ext>
            </a:extLst>
          </p:cNvPr>
          <p:cNvCxnSpPr>
            <a:cxnSpLocks/>
          </p:cNvCxnSpPr>
          <p:nvPr/>
        </p:nvCxnSpPr>
        <p:spPr>
          <a:xfrm>
            <a:off x="9818019" y="1273886"/>
            <a:ext cx="3974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EB496926-4234-9E23-FBD9-FC83A7C21C72}"/>
              </a:ext>
            </a:extLst>
          </p:cNvPr>
          <p:cNvSpPr/>
          <p:nvPr/>
        </p:nvSpPr>
        <p:spPr>
          <a:xfrm>
            <a:off x="9877057" y="5232262"/>
            <a:ext cx="279347" cy="241992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2CCF56E-EAA5-BEFC-B879-FE7856C715A6}"/>
              </a:ext>
            </a:extLst>
          </p:cNvPr>
          <p:cNvSpPr/>
          <p:nvPr/>
        </p:nvSpPr>
        <p:spPr>
          <a:xfrm>
            <a:off x="9877057" y="3514541"/>
            <a:ext cx="279347" cy="241992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7C4EC1F-CF7C-524B-E572-4B84FAFE4AC2}"/>
              </a:ext>
            </a:extLst>
          </p:cNvPr>
          <p:cNvSpPr/>
          <p:nvPr/>
        </p:nvSpPr>
        <p:spPr>
          <a:xfrm>
            <a:off x="9853161" y="1679733"/>
            <a:ext cx="279347" cy="241992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DD4BC8A-077E-1956-BFBE-4BD04E86D043}"/>
              </a:ext>
            </a:extLst>
          </p:cNvPr>
          <p:cNvCxnSpPr>
            <a:cxnSpLocks/>
          </p:cNvCxnSpPr>
          <p:nvPr/>
        </p:nvCxnSpPr>
        <p:spPr>
          <a:xfrm>
            <a:off x="9376756" y="3640664"/>
            <a:ext cx="0" cy="14023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CE177AB-FA5A-F057-8680-63680355729A}"/>
              </a:ext>
            </a:extLst>
          </p:cNvPr>
          <p:cNvSpPr txBox="1"/>
          <p:nvPr/>
        </p:nvSpPr>
        <p:spPr>
          <a:xfrm>
            <a:off x="8861199" y="4215122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F28075-D917-6FB2-0F55-34F925B88425}"/>
              </a:ext>
            </a:extLst>
          </p:cNvPr>
          <p:cNvCxnSpPr>
            <a:cxnSpLocks/>
          </p:cNvCxnSpPr>
          <p:nvPr/>
        </p:nvCxnSpPr>
        <p:spPr>
          <a:xfrm>
            <a:off x="10360429" y="1679733"/>
            <a:ext cx="0" cy="5585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65E57D5-6F68-20A2-CEFA-3946E742855B}"/>
              </a:ext>
            </a:extLst>
          </p:cNvPr>
          <p:cNvSpPr txBox="1"/>
          <p:nvPr/>
        </p:nvSpPr>
        <p:spPr>
          <a:xfrm>
            <a:off x="10240324" y="1753781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110771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2 -0.00115 L 0.0004 0.1868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-2.08333E-7 4.16334E-1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20" grpId="0"/>
      <p:bldP spid="21" grpId="0" animBg="1"/>
      <p:bldP spid="25" grpId="0"/>
      <p:bldP spid="26" grpId="0"/>
      <p:bldP spid="29" grpId="0" animBg="1"/>
      <p:bldP spid="30" grpId="0" animBg="1"/>
      <p:bldP spid="30" grpId="1" animBg="1"/>
      <p:bldP spid="31" grpId="0" animBg="1"/>
      <p:bldP spid="31" grpId="1" animBg="1"/>
      <p:bldP spid="41" grpId="0"/>
      <p:bldP spid="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97D61-7B4A-0740-9764-98E43AC3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D8E7-F6F2-10D7-6325-49CE7D54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 Building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A67AD-D8C6-E9DC-02EC-3E2850F9F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7366298" cy="4856400"/>
          </a:xfrm>
        </p:spPr>
        <p:txBody>
          <a:bodyPr/>
          <a:lstStyle/>
          <a:p>
            <a:pPr lvl="1"/>
            <a:r>
              <a:rPr lang="en-US" dirty="0"/>
              <a:t>Lets assume we have three links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By default center of rotation aka position of joint is considered to be in the center of mass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First identify where you want each joint to be relative to its link.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Next consider the distance between the joints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These are the joint origins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You can also start your robot in a non-straight position by  specifying </a:t>
            </a:r>
            <a:r>
              <a:rPr lang="en-US" dirty="0" err="1"/>
              <a:t>rpy</a:t>
            </a:r>
            <a:r>
              <a:rPr lang="en-US" dirty="0"/>
              <a:t> this will robot your link about the joint.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For rotational joints you can specify the axis it rotates about (1,0,0) is the default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1EBC87-37BA-24D4-43BB-950ADCCEFA87}"/>
              </a:ext>
            </a:extLst>
          </p:cNvPr>
          <p:cNvSpPr/>
          <p:nvPr/>
        </p:nvSpPr>
        <p:spPr>
          <a:xfrm>
            <a:off x="8892370" y="5043042"/>
            <a:ext cx="2261287" cy="605481"/>
          </a:xfrm>
          <a:prstGeom prst="rect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C4789-D902-F0A0-84E0-84B038AC6126}"/>
              </a:ext>
            </a:extLst>
          </p:cNvPr>
          <p:cNvSpPr txBox="1"/>
          <p:nvPr/>
        </p:nvSpPr>
        <p:spPr>
          <a:xfrm>
            <a:off x="8880014" y="5837743"/>
            <a:ext cx="2100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6F823-0F90-0547-D2F7-54C502BDAA82}"/>
              </a:ext>
            </a:extLst>
          </p:cNvPr>
          <p:cNvSpPr txBox="1"/>
          <p:nvPr/>
        </p:nvSpPr>
        <p:spPr>
          <a:xfrm>
            <a:off x="7689645" y="5199979"/>
            <a:ext cx="2100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A79C6-DFBC-97B8-A47D-C017E217CEDA}"/>
              </a:ext>
            </a:extLst>
          </p:cNvPr>
          <p:cNvSpPr/>
          <p:nvPr/>
        </p:nvSpPr>
        <p:spPr>
          <a:xfrm>
            <a:off x="9509685" y="2238285"/>
            <a:ext cx="1022465" cy="2804757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4B84B-E786-FBF6-1F30-8AC05B81BDDD}"/>
              </a:ext>
            </a:extLst>
          </p:cNvPr>
          <p:cNvSpPr txBox="1"/>
          <p:nvPr/>
        </p:nvSpPr>
        <p:spPr>
          <a:xfrm>
            <a:off x="8926034" y="3407660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94D524-7F2D-E8BD-7915-61557C856013}"/>
              </a:ext>
            </a:extLst>
          </p:cNvPr>
          <p:cNvCxnSpPr/>
          <p:nvPr/>
        </p:nvCxnSpPr>
        <p:spPr>
          <a:xfrm>
            <a:off x="8892370" y="5766597"/>
            <a:ext cx="2261287" cy="96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D4C4A3-55E2-26DF-78F2-30DCE962DB17}"/>
              </a:ext>
            </a:extLst>
          </p:cNvPr>
          <p:cNvCxnSpPr>
            <a:cxnSpLocks/>
          </p:cNvCxnSpPr>
          <p:nvPr/>
        </p:nvCxnSpPr>
        <p:spPr>
          <a:xfrm>
            <a:off x="11306057" y="5043042"/>
            <a:ext cx="0" cy="6054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FE4F1C-BF51-D373-7E3B-CE817C2096A8}"/>
              </a:ext>
            </a:extLst>
          </p:cNvPr>
          <p:cNvCxnSpPr>
            <a:cxnSpLocks/>
            <a:stCxn id="7" idx="2"/>
            <a:endCxn id="7" idx="6"/>
          </p:cNvCxnSpPr>
          <p:nvPr/>
        </p:nvCxnSpPr>
        <p:spPr>
          <a:xfrm>
            <a:off x="9509685" y="3640664"/>
            <a:ext cx="10224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98B39F-C443-E7DB-E5EC-4B78410CE10C}"/>
              </a:ext>
            </a:extLst>
          </p:cNvPr>
          <p:cNvCxnSpPr>
            <a:cxnSpLocks/>
          </p:cNvCxnSpPr>
          <p:nvPr/>
        </p:nvCxnSpPr>
        <p:spPr>
          <a:xfrm>
            <a:off x="10684550" y="2238285"/>
            <a:ext cx="0" cy="28047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AED02F-2994-E7CB-A3FF-3B24262DC8DC}"/>
              </a:ext>
            </a:extLst>
          </p:cNvPr>
          <p:cNvSpPr txBox="1"/>
          <p:nvPr/>
        </p:nvSpPr>
        <p:spPr>
          <a:xfrm>
            <a:off x="10722406" y="3429879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9F67B28-C318-4DBD-C7EC-019CC5DEB8D8}"/>
              </a:ext>
            </a:extLst>
          </p:cNvPr>
          <p:cNvSpPr/>
          <p:nvPr/>
        </p:nvSpPr>
        <p:spPr>
          <a:xfrm>
            <a:off x="9770226" y="1390388"/>
            <a:ext cx="445218" cy="847897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9190B0-AAAE-A013-6678-99A047C3EB9B}"/>
              </a:ext>
            </a:extLst>
          </p:cNvPr>
          <p:cNvCxnSpPr>
            <a:cxnSpLocks/>
          </p:cNvCxnSpPr>
          <p:nvPr/>
        </p:nvCxnSpPr>
        <p:spPr>
          <a:xfrm>
            <a:off x="9509686" y="1390387"/>
            <a:ext cx="0" cy="8478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9F25B47-2F19-AB56-D790-CE7CA3BB5D34}"/>
              </a:ext>
            </a:extLst>
          </p:cNvPr>
          <p:cNvSpPr txBox="1"/>
          <p:nvPr/>
        </p:nvSpPr>
        <p:spPr>
          <a:xfrm>
            <a:off x="8868764" y="1635948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F28C36-7F09-E5EE-C629-6243E0D35A27}"/>
              </a:ext>
            </a:extLst>
          </p:cNvPr>
          <p:cNvSpPr txBox="1"/>
          <p:nvPr/>
        </p:nvSpPr>
        <p:spPr>
          <a:xfrm>
            <a:off x="10059511" y="1089220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F1EAD2-BB2A-B2E9-AEE1-DCCFF3E60C60}"/>
              </a:ext>
            </a:extLst>
          </p:cNvPr>
          <p:cNvCxnSpPr>
            <a:cxnSpLocks/>
          </p:cNvCxnSpPr>
          <p:nvPr/>
        </p:nvCxnSpPr>
        <p:spPr>
          <a:xfrm>
            <a:off x="9818019" y="1273886"/>
            <a:ext cx="3974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0F7C875-4280-612F-7F66-ECE2C80B9132}"/>
              </a:ext>
            </a:extLst>
          </p:cNvPr>
          <p:cNvSpPr/>
          <p:nvPr/>
        </p:nvSpPr>
        <p:spPr>
          <a:xfrm>
            <a:off x="9877057" y="5232262"/>
            <a:ext cx="279347" cy="241992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6E24B3A-355B-211E-8016-E155A07714EC}"/>
              </a:ext>
            </a:extLst>
          </p:cNvPr>
          <p:cNvSpPr/>
          <p:nvPr/>
        </p:nvSpPr>
        <p:spPr>
          <a:xfrm>
            <a:off x="9886480" y="4862587"/>
            <a:ext cx="279347" cy="241992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E62C70E-9B89-2A16-A34C-2FAFB8474B4E}"/>
              </a:ext>
            </a:extLst>
          </p:cNvPr>
          <p:cNvSpPr/>
          <p:nvPr/>
        </p:nvSpPr>
        <p:spPr>
          <a:xfrm>
            <a:off x="9877056" y="2083428"/>
            <a:ext cx="279347" cy="241992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D08A52-22EE-B705-5C64-5523C0C13DA0}"/>
              </a:ext>
            </a:extLst>
          </p:cNvPr>
          <p:cNvCxnSpPr>
            <a:cxnSpLocks/>
          </p:cNvCxnSpPr>
          <p:nvPr/>
        </p:nvCxnSpPr>
        <p:spPr>
          <a:xfrm>
            <a:off x="9376756" y="3640664"/>
            <a:ext cx="0" cy="14023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8D8B6FB-62C4-A72B-F74E-6F593C6262F7}"/>
              </a:ext>
            </a:extLst>
          </p:cNvPr>
          <p:cNvSpPr txBox="1"/>
          <p:nvPr/>
        </p:nvSpPr>
        <p:spPr>
          <a:xfrm>
            <a:off x="8861199" y="4215122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2CDF221-B6B1-7A18-A3E1-FF8667B26D3B}"/>
              </a:ext>
            </a:extLst>
          </p:cNvPr>
          <p:cNvCxnSpPr>
            <a:cxnSpLocks/>
          </p:cNvCxnSpPr>
          <p:nvPr/>
        </p:nvCxnSpPr>
        <p:spPr>
          <a:xfrm>
            <a:off x="10360429" y="1679733"/>
            <a:ext cx="0" cy="5585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6F98838-D89C-71DC-1D2D-4D5122EC1BD9}"/>
              </a:ext>
            </a:extLst>
          </p:cNvPr>
          <p:cNvSpPr txBox="1"/>
          <p:nvPr/>
        </p:nvSpPr>
        <p:spPr>
          <a:xfrm>
            <a:off x="10240324" y="1753781"/>
            <a:ext cx="58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165820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6DE2-E0E1-4622-B367-9C716439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7E671-6401-4B5E-8BED-BF4618BE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The description of a rigid robot as a hierarchy of parts enables quick and easy calculation of the location of the end effector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From the base can build up chain of transformations to describe the relative position of each arm until the end effector position is calculated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When updating the overall robot position only new movements need to be taken into account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D5415C-F8C0-4849-ADA7-26E3BC2016D3}"/>
                  </a:ext>
                </a:extLst>
              </p:cNvPr>
              <p:cNvSpPr txBox="1"/>
              <p:nvPr/>
            </p:nvSpPr>
            <p:spPr>
              <a:xfrm>
                <a:off x="1998732" y="3661646"/>
                <a:ext cx="8423809" cy="3989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𝐸𝑓𝑓𝑒𝑐𝑡𝑜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𝑇𝐹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𝑒𝑓𝑓𝑒𝑐𝑡𝑜𝑟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𝑎𝑟𝑚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𝑎𝑟𝑚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D5415C-F8C0-4849-ADA7-26E3BC201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732" y="3661646"/>
                <a:ext cx="8423809" cy="398955"/>
              </a:xfrm>
              <a:prstGeom prst="rect">
                <a:avLst/>
              </a:prstGeom>
              <a:blipFill>
                <a:blip r:embed="rId2"/>
                <a:stretch>
                  <a:fillRect l="-1737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252C8A5-B6B4-49BB-B737-70962034D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999" y="3196354"/>
            <a:ext cx="3056538" cy="319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47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6DE2-E0E1-4622-B367-9C716439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7E671-6401-4B5E-8BED-BF4618BE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The description of a rigid robot as a hierarchy of parts enables quick and easy calculation of the location of the end effector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From the base can build up chain of transformations to describe the relative position of each arm until the end effector position is calculated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When updating the overall robot position only new movements need to be taken into account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D5415C-F8C0-4849-ADA7-26E3BC2016D3}"/>
                  </a:ext>
                </a:extLst>
              </p:cNvPr>
              <p:cNvSpPr txBox="1"/>
              <p:nvPr/>
            </p:nvSpPr>
            <p:spPr>
              <a:xfrm>
                <a:off x="2256118" y="3063970"/>
                <a:ext cx="8423809" cy="3989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𝐸𝑓𝑓𝑒𝑐𝑡𝑜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𝑇𝐹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=|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𝑒𝑓𝑓𝑒𝑐𝑡𝑜𝑟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𝑎𝑟𝑚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𝑎𝑟𝑚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D5415C-F8C0-4849-ADA7-26E3BC201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118" y="3063970"/>
                <a:ext cx="8423809" cy="398955"/>
              </a:xfrm>
              <a:prstGeom prst="rect">
                <a:avLst/>
              </a:prstGeom>
              <a:blipFill>
                <a:blip r:embed="rId2"/>
                <a:stretch>
                  <a:fillRect l="-1664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8C6AF8-07A6-4C8D-8F41-22E4CE0937D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844775" y="3517420"/>
            <a:ext cx="111244" cy="134322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4C65CE-FDF4-41D4-92DB-A333A2BF0EE8}"/>
                  </a:ext>
                </a:extLst>
              </p:cNvPr>
              <p:cNvSpPr txBox="1"/>
              <p:nvPr/>
            </p:nvSpPr>
            <p:spPr>
              <a:xfrm>
                <a:off x="7223959" y="4860647"/>
                <a:ext cx="146411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4C65CE-FDF4-41D4-92DB-A333A2BF0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959" y="4860647"/>
                <a:ext cx="1464119" cy="1020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B56788-7541-4E7A-910B-99D1B3147D43}"/>
                  </a:ext>
                </a:extLst>
              </p:cNvPr>
              <p:cNvSpPr txBox="1"/>
              <p:nvPr/>
            </p:nvSpPr>
            <p:spPr>
              <a:xfrm>
                <a:off x="5451158" y="4829543"/>
                <a:ext cx="164044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B56788-7541-4E7A-910B-99D1B3147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158" y="4829543"/>
                <a:ext cx="1640449" cy="1020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28A160-08A0-4324-A8A5-60AB3DE39471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271383" y="3661646"/>
            <a:ext cx="574116" cy="116789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FC4D36-DE66-44F3-98B6-066D0780C106}"/>
                  </a:ext>
                </a:extLst>
              </p:cNvPr>
              <p:cNvSpPr txBox="1"/>
              <p:nvPr/>
            </p:nvSpPr>
            <p:spPr>
              <a:xfrm>
                <a:off x="2600498" y="4874117"/>
                <a:ext cx="2652585" cy="10296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os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FC4D36-DE66-44F3-98B6-066D0780C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498" y="4874117"/>
                <a:ext cx="2652585" cy="10296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D2F2D8-FEDD-4C59-B66A-472583472E6E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926791" y="3778981"/>
            <a:ext cx="2169209" cy="10951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C6BDFC-6EA5-4045-8201-553E2349BABD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736087" y="3661646"/>
            <a:ext cx="3362622" cy="117354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4A920D-958A-490C-95DA-12BC9D8CAEC1}"/>
                  </a:ext>
                </a:extLst>
              </p:cNvPr>
              <p:cNvSpPr txBox="1"/>
              <p:nvPr/>
            </p:nvSpPr>
            <p:spPr>
              <a:xfrm>
                <a:off x="1004027" y="4835188"/>
                <a:ext cx="146411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4A920D-958A-490C-95DA-12BC9D8CA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027" y="4835188"/>
                <a:ext cx="1464119" cy="1020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299B1B33-BEF6-432B-AE54-B6E80989A8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4999" y="3196354"/>
            <a:ext cx="3056538" cy="319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158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6DE2-E0E1-4622-B367-9C716439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7E671-6401-4B5E-8BED-BF4618BE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The description of a rigid robot as a hierarchy of parts enables quick and easy calculation of the location of the end effector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From the base can build up chain of transformations to describe the relative position of each arm until the end effector position is calculated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/>
              <a:t>When updating the overall robot position only new movements need to be taken into account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E610C8-B577-4630-8F2B-EC51AD2183F0}"/>
                  </a:ext>
                </a:extLst>
              </p:cNvPr>
              <p:cNvSpPr txBox="1"/>
              <p:nvPr/>
            </p:nvSpPr>
            <p:spPr>
              <a:xfrm>
                <a:off x="5954684" y="5310830"/>
                <a:ext cx="2580745" cy="1020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.88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−.46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0.46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2.77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.88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5.82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E610C8-B577-4630-8F2B-EC51AD21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684" y="5310830"/>
                <a:ext cx="2580745" cy="1020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A41B243-68EA-4D90-9082-DEE9D86A3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073" y="3196354"/>
            <a:ext cx="2790927" cy="33235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95B8E-1376-9530-B6E1-4686639889AA}"/>
                  </a:ext>
                </a:extLst>
              </p:cNvPr>
              <p:cNvSpPr txBox="1"/>
              <p:nvPr/>
            </p:nvSpPr>
            <p:spPr>
              <a:xfrm>
                <a:off x="1145019" y="3011674"/>
                <a:ext cx="6220058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𝐸𝑓𝑓𝑒𝑐𝑡𝑜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𝑇𝐹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𝑗𝑜𝑖𝑛𝑡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395B8E-1376-9530-B6E1-468663988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019" y="3011674"/>
                <a:ext cx="6220058" cy="399084"/>
              </a:xfrm>
              <a:prstGeom prst="rect">
                <a:avLst/>
              </a:prstGeom>
              <a:blipFill>
                <a:blip r:embed="rId4"/>
                <a:stretch>
                  <a:fillRect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CF4744-00CE-F4BC-D583-77EF35CE78DA}"/>
                  </a:ext>
                </a:extLst>
              </p:cNvPr>
              <p:cNvSpPr txBox="1"/>
              <p:nvPr/>
            </p:nvSpPr>
            <p:spPr>
              <a:xfrm>
                <a:off x="7017902" y="3825228"/>
                <a:ext cx="146411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CF4744-00CE-F4BC-D583-77EF35CE7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902" y="3825228"/>
                <a:ext cx="1464119" cy="1020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A27221-D8C7-9140-AD7F-9A2830F6F23F}"/>
                  </a:ext>
                </a:extLst>
              </p:cNvPr>
              <p:cNvSpPr txBox="1"/>
              <p:nvPr/>
            </p:nvSpPr>
            <p:spPr>
              <a:xfrm>
                <a:off x="5234851" y="3837636"/>
                <a:ext cx="164044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A27221-D8C7-9140-AD7F-9A2830F6F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851" y="3837636"/>
                <a:ext cx="1640449" cy="1020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4EA389-9849-B857-0252-099D348580AE}"/>
                  </a:ext>
                </a:extLst>
              </p:cNvPr>
              <p:cNvSpPr txBox="1"/>
              <p:nvPr/>
            </p:nvSpPr>
            <p:spPr>
              <a:xfrm>
                <a:off x="919053" y="3837636"/>
                <a:ext cx="146411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4EA389-9849-B857-0252-099D34858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53" y="3837636"/>
                <a:ext cx="1464119" cy="10204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92279C-7210-75B2-8DD4-BA26A0657CAB}"/>
                  </a:ext>
                </a:extLst>
              </p:cNvPr>
              <p:cNvSpPr txBox="1"/>
              <p:nvPr/>
            </p:nvSpPr>
            <p:spPr>
              <a:xfrm>
                <a:off x="2510965" y="3816059"/>
                <a:ext cx="2652585" cy="10296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os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92279C-7210-75B2-8DD4-BA26A0657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965" y="3816059"/>
                <a:ext cx="2652585" cy="10296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1273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5" grpId="0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6DE2-E0E1-4622-B367-9C716439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Kinematic Chains  -- Remote center of motion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07E671-6401-4B5E-8BED-BF4618BE97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lvl="1"/>
                <a:r>
                  <a:rPr lang="en-US" dirty="0"/>
                  <a:t>The description of a rigid robot as a hierarchy of parts enables quick and easy calculation of the location of the end effector</a:t>
                </a:r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You can model remote center of motion or more complex motions by adding virtual joints with appropriate offsets.</a:t>
                </a:r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𝐸𝑓𝑓𝑒𝑐𝑡𝑜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𝑇𝐹</m:t>
                        </m:r>
                      </m:sub>
                    </m:sSub>
                  </m:oMath>
                </a14:m>
                <a:r>
                  <a:rPr lang="en-US" dirty="0"/>
                  <a:t> will be updated with the additional elements</a:t>
                </a:r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Example shows a way to add a 3DOF joint through virtual links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07E671-6401-4B5E-8BED-BF4618BE97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57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E66954-FA1F-3663-9C57-968E0783221A}"/>
                  </a:ext>
                </a:extLst>
              </p:cNvPr>
              <p:cNvSpPr txBox="1"/>
              <p:nvPr/>
            </p:nvSpPr>
            <p:spPr>
              <a:xfrm>
                <a:off x="1485839" y="3229458"/>
                <a:ext cx="9503586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𝐸𝑓𝑓𝑒𝑐𝑡𝑜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𝑇𝐹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1_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𝑣𝑖𝑟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1_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𝑣𝑖𝑟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𝑗𝑜𝑖𝑛𝑡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E66954-FA1F-3663-9C57-968E07832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39" y="3229458"/>
                <a:ext cx="9503586" cy="399084"/>
              </a:xfrm>
              <a:prstGeom prst="rect">
                <a:avLst/>
              </a:prstGeom>
              <a:blipFill>
                <a:blip r:embed="rId3"/>
                <a:stretch>
                  <a:fillRect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5607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6DE2-E0E1-4622-B367-9C716439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Kinematic Chains – Remote center of motion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7E671-6401-4B5E-8BED-BF4618BE9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3936228" cy="4856400"/>
          </a:xfrm>
        </p:spPr>
        <p:txBody>
          <a:bodyPr/>
          <a:lstStyle/>
          <a:p>
            <a:pPr lvl="1"/>
            <a:r>
              <a:rPr lang="en-US" dirty="0"/>
              <a:t>In ROS this is as simple of offsetting the joint from the link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CADED-29B9-47B2-821A-B56EF762F64C}"/>
              </a:ext>
            </a:extLst>
          </p:cNvPr>
          <p:cNvSpPr txBox="1"/>
          <p:nvPr/>
        </p:nvSpPr>
        <p:spPr>
          <a:xfrm>
            <a:off x="6094652" y="1089220"/>
            <a:ext cx="609734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&lt;?xml version="1.0"?&gt;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&lt;robot name="origins"&gt;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&lt;link name="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base_link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&lt;visual&gt;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&lt;geometry&gt;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&lt;cylinder length="0.6" radius="0.2"/&gt;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&lt;/geometry&gt;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&lt;/visual&gt;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&lt;/link&gt;</a:t>
            </a:r>
          </a:p>
          <a:p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&lt;link name="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right_leg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&lt;visual&gt;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&lt;geometry&gt;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&lt;box size="0.6 0.1 0.2"/&gt;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&lt;/geometry&gt;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&lt;origin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rpy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1.57075 0"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0 -0.3"/&gt;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&lt;/visual&gt;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&lt;/link&gt;</a:t>
            </a:r>
          </a:p>
          <a:p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&lt;joint name="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base_to_right_leg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type="fixed"&gt;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&lt;parent link="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base_link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&lt;child link="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right_leg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&lt;origin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="0 -0.22 0.25"/&gt;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&lt;/joint&gt;</a:t>
            </a:r>
          </a:p>
          <a:p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&lt;/robot&gt;</a:t>
            </a:r>
          </a:p>
        </p:txBody>
      </p:sp>
    </p:spTree>
    <p:extLst>
      <p:ext uri="{BB962C8B-B14F-4D97-AF65-F5344CB8AC3E}">
        <p14:creationId xmlns:p14="http://schemas.microsoft.com/office/powerpoint/2010/main" val="41132269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6DE2-E0E1-4622-B367-9C716439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Chains in 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7E671-6401-4B5E-8BED-BF4618BE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From a practical standpoint Kinematic Chains in ROS requires two packages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kdl_parser</a:t>
            </a:r>
            <a:r>
              <a:rPr lang="en-US" dirty="0"/>
              <a:t>: Kinematics and Dynamic Library (KDL) Parser 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From </a:t>
            </a:r>
            <a:r>
              <a:rPr lang="en-US" dirty="0" err="1"/>
              <a:t>urdf</a:t>
            </a:r>
            <a:r>
              <a:rPr lang="en-US" dirty="0"/>
              <a:t> or </a:t>
            </a:r>
            <a:r>
              <a:rPr lang="en-US" dirty="0" err="1"/>
              <a:t>collada</a:t>
            </a:r>
            <a:r>
              <a:rPr lang="en-US" dirty="0"/>
              <a:t> description construct the tree representation of robot joints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This builds up the relationship between links, joints, and positions/orientations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tree_kinematics</a:t>
            </a:r>
            <a:r>
              <a:rPr lang="en-US" dirty="0"/>
              <a:t>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Forward and inverse kinematic solver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Uses joint position, velocity, and limits to calculate kinematics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Applies exponential smoothing to when all joints are at rest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/>
              <a:t>Limited to serial robots</a:t>
            </a:r>
          </a:p>
        </p:txBody>
      </p:sp>
    </p:spTree>
    <p:extLst>
      <p:ext uri="{BB962C8B-B14F-4D97-AF65-F5344CB8AC3E}">
        <p14:creationId xmlns:p14="http://schemas.microsoft.com/office/powerpoint/2010/main" val="2707747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F3BF7D-A13A-4B12-A344-57DA83BD27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Coordinate frames are used to represent scenes and objects</a:t>
            </a:r>
          </a:p>
          <a:p>
            <a:pPr lvl="2"/>
            <a:r>
              <a:rPr lang="en-US" dirty="0"/>
              <a:t>Used to describe relationship between joints in ROS</a:t>
            </a:r>
          </a:p>
          <a:p>
            <a:pPr lvl="2"/>
            <a:r>
              <a:rPr lang="en-US" dirty="0"/>
              <a:t>Used to describe relationship in medical images</a:t>
            </a:r>
          </a:p>
          <a:p>
            <a:r>
              <a:rPr lang="en-US" dirty="0"/>
              <a:t>Coordinate frames can be transformed between by simple matrix multiplication and trigonometry</a:t>
            </a:r>
          </a:p>
          <a:p>
            <a:pPr marL="996950" lvl="2" indent="-457200">
              <a:buFont typeface="+mj-lt"/>
              <a:buAutoNum type="arabicPeriod"/>
            </a:pPr>
            <a:r>
              <a:rPr lang="en-US" dirty="0"/>
              <a:t>Homogenous coordinates</a:t>
            </a:r>
          </a:p>
          <a:p>
            <a:pPr marL="996950" lvl="2" indent="-457200">
              <a:buFont typeface="+mj-lt"/>
              <a:buAutoNum type="arabicPeriod"/>
            </a:pPr>
            <a:r>
              <a:rPr lang="en-US" dirty="0"/>
              <a:t>Each transformation is correctly computed</a:t>
            </a:r>
          </a:p>
          <a:p>
            <a:pPr marL="996950" lvl="2" indent="-457200">
              <a:buFont typeface="+mj-lt"/>
              <a:buAutoNum type="arabicPeriod"/>
            </a:pPr>
            <a:r>
              <a:rPr lang="en-US" dirty="0"/>
              <a:t>The order of transformations is applied correctly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4B55C5-7098-4DBC-957C-29BEB123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 Conclusions</a:t>
            </a:r>
          </a:p>
        </p:txBody>
      </p:sp>
    </p:spTree>
    <p:extLst>
      <p:ext uri="{BB962C8B-B14F-4D97-AF65-F5344CB8AC3E}">
        <p14:creationId xmlns:p14="http://schemas.microsoft.com/office/powerpoint/2010/main" val="234456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CL UPDATE v4 4x3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KCL-fonts">
      <a:majorFont>
        <a:latin typeface="Impact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081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07MRI007_CodeDesign</Template>
  <TotalTime>1109</TotalTime>
  <Words>1898</Words>
  <Application>Microsoft Office PowerPoint</Application>
  <PresentationFormat>Widescreen</PresentationFormat>
  <Paragraphs>269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Courier New</vt:lpstr>
      <vt:lpstr>Georgia</vt:lpstr>
      <vt:lpstr>Impact</vt:lpstr>
      <vt:lpstr>KCL UPDATE v4 4x3</vt:lpstr>
      <vt:lpstr>PowerPoint Presentation</vt:lpstr>
      <vt:lpstr>Coordinate System</vt:lpstr>
      <vt:lpstr>Coordinate System</vt:lpstr>
      <vt:lpstr>Coordinate System</vt:lpstr>
      <vt:lpstr>Coordinate System – Images</vt:lpstr>
      <vt:lpstr>Coordinate System – vtkMarching Cubes Example from Week 2</vt:lpstr>
      <vt:lpstr>Coordinate System – vtkMarching Cubes Example from Week 2</vt:lpstr>
      <vt:lpstr>Coordinate System - RPY</vt:lpstr>
      <vt:lpstr>Coordinate System - RPY</vt:lpstr>
      <vt:lpstr>Coordinate System - RPY</vt:lpstr>
      <vt:lpstr>Coordinate System</vt:lpstr>
      <vt:lpstr>Coordinate System - RPY</vt:lpstr>
      <vt:lpstr>Coordinate System - RPY</vt:lpstr>
      <vt:lpstr>Conversion Between RPY and XYZ</vt:lpstr>
      <vt:lpstr>Coordinate systems in ROS</vt:lpstr>
      <vt:lpstr>Coordinate systems in ROS</vt:lpstr>
      <vt:lpstr>Coordinate systems in ROS</vt:lpstr>
      <vt:lpstr>Coordinate systems in ROS</vt:lpstr>
      <vt:lpstr>Coordinate systems in ROS</vt:lpstr>
      <vt:lpstr>Robot Building Example</vt:lpstr>
      <vt:lpstr>Robot Building Example</vt:lpstr>
      <vt:lpstr>Kinematic Chains</vt:lpstr>
      <vt:lpstr>Kinematic Chains</vt:lpstr>
      <vt:lpstr>Kinematic Chains</vt:lpstr>
      <vt:lpstr>Kinematic Chains  -- Remote center of motion</vt:lpstr>
      <vt:lpstr>Kinematic Chains – Remote center of motion </vt:lpstr>
      <vt:lpstr>Kinematic Chains in ROS</vt:lpstr>
      <vt:lpstr>Coordinate System 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Sparks</dc:creator>
  <cp:lastModifiedBy>Rachel Sparks</cp:lastModifiedBy>
  <cp:revision>48</cp:revision>
  <dcterms:created xsi:type="dcterms:W3CDTF">2020-02-23T19:08:49Z</dcterms:created>
  <dcterms:modified xsi:type="dcterms:W3CDTF">2025-02-23T11:17:17Z</dcterms:modified>
</cp:coreProperties>
</file>