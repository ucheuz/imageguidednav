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0"/>
  </p:notesMasterIdLst>
  <p:sldIdLst>
    <p:sldId id="289" r:id="rId2"/>
    <p:sldId id="290" r:id="rId3"/>
    <p:sldId id="292" r:id="rId4"/>
    <p:sldId id="291" r:id="rId5"/>
    <p:sldId id="293" r:id="rId6"/>
    <p:sldId id="307" r:id="rId7"/>
    <p:sldId id="308" r:id="rId8"/>
    <p:sldId id="309" r:id="rId9"/>
    <p:sldId id="310" r:id="rId10"/>
    <p:sldId id="296" r:id="rId11"/>
    <p:sldId id="311" r:id="rId12"/>
    <p:sldId id="294" r:id="rId13"/>
    <p:sldId id="300" r:id="rId14"/>
    <p:sldId id="297" r:id="rId15"/>
    <p:sldId id="324" r:id="rId16"/>
    <p:sldId id="302" r:id="rId17"/>
    <p:sldId id="298" r:id="rId18"/>
    <p:sldId id="303" r:id="rId19"/>
    <p:sldId id="305" r:id="rId20"/>
    <p:sldId id="304" r:id="rId21"/>
    <p:sldId id="306" r:id="rId22"/>
    <p:sldId id="312" r:id="rId23"/>
    <p:sldId id="313" r:id="rId24"/>
    <p:sldId id="314" r:id="rId25"/>
    <p:sldId id="315" r:id="rId26"/>
    <p:sldId id="320" r:id="rId27"/>
    <p:sldId id="321" r:id="rId28"/>
    <p:sldId id="322" r:id="rId29"/>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p:defaultTextStyle>
  <p:extLst>
    <p:ext uri="{521415D9-36F7-43E2-AB2F-B90AF26B5E84}">
      <p14:sectionLst xmlns:p14="http://schemas.microsoft.com/office/powerpoint/2010/main">
        <p14:section name="Default Section" id="{F62A4563-7E0F-4CBC-939C-14F986E77C00}">
          <p14:sldIdLst>
            <p14:sldId id="289"/>
          </p14:sldIdLst>
        </p14:section>
        <p14:section name="What is it?" id="{F608F208-2465-4CC9-AC58-A4F121B95A0F}">
          <p14:sldIdLst>
            <p14:sldId id="290"/>
            <p14:sldId id="292"/>
            <p14:sldId id="291"/>
            <p14:sldId id="293"/>
            <p14:sldId id="307"/>
            <p14:sldId id="308"/>
            <p14:sldId id="309"/>
            <p14:sldId id="310"/>
          </p14:sldIdLst>
        </p14:section>
        <p14:section name="ExampleFromPractical" id="{56D18D14-3E27-4F78-AD6E-70B842FDA172}">
          <p14:sldIdLst>
            <p14:sldId id="296"/>
            <p14:sldId id="311"/>
            <p14:sldId id="294"/>
            <p14:sldId id="300"/>
            <p14:sldId id="297"/>
            <p14:sldId id="324"/>
            <p14:sldId id="302"/>
            <p14:sldId id="298"/>
            <p14:sldId id="303"/>
            <p14:sldId id="305"/>
            <p14:sldId id="304"/>
            <p14:sldId id="306"/>
            <p14:sldId id="312"/>
            <p14:sldId id="313"/>
            <p14:sldId id="314"/>
            <p14:sldId id="315"/>
            <p14:sldId id="320"/>
            <p14:sldId id="321"/>
            <p14:sldId id="32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1EB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7D03354-A41A-ED49-A5EE-C86C4C422A1B}" v="23" dt="2024-01-20T12:11:29.2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116" autoAdjust="0"/>
    <p:restoredTop sz="80522" autoAdjust="0"/>
  </p:normalViewPr>
  <p:slideViewPr>
    <p:cSldViewPr snapToGrid="0">
      <p:cViewPr varScale="1">
        <p:scale>
          <a:sx n="53" d="100"/>
          <a:sy n="53" d="100"/>
        </p:scale>
        <p:origin x="39"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chel Sparks" userId="S::k1780973@kcl.ac.uk::97c8494a-d7ca-4ad2-875e-2d5b5432d1e7" providerId="AD" clId="Web-{B7D03354-A41A-ED49-A5EE-C86C4C422A1B}"/>
    <pc:docChg chg="modSld">
      <pc:chgData name="Rachel Sparks" userId="S::k1780973@kcl.ac.uk::97c8494a-d7ca-4ad2-875e-2d5b5432d1e7" providerId="AD" clId="Web-{B7D03354-A41A-ED49-A5EE-C86C4C422A1B}" dt="2024-01-20T12:11:29.216" v="12"/>
      <pc:docMkLst>
        <pc:docMk/>
      </pc:docMkLst>
      <pc:sldChg chg="modSp">
        <pc:chgData name="Rachel Sparks" userId="S::k1780973@kcl.ac.uk::97c8494a-d7ca-4ad2-875e-2d5b5432d1e7" providerId="AD" clId="Web-{B7D03354-A41A-ED49-A5EE-C86C4C422A1B}" dt="2024-01-20T12:11:29.216" v="12"/>
        <pc:sldMkLst>
          <pc:docMk/>
          <pc:sldMk cId="902491239" sldId="289"/>
        </pc:sldMkLst>
        <pc:spChg chg="mod">
          <ac:chgData name="Rachel Sparks" userId="S::k1780973@kcl.ac.uk::97c8494a-d7ca-4ad2-875e-2d5b5432d1e7" providerId="AD" clId="Web-{B7D03354-A41A-ED49-A5EE-C86C4C422A1B}" dt="2024-01-20T12:11:29.216" v="12"/>
          <ac:spMkLst>
            <pc:docMk/>
            <pc:sldMk cId="902491239" sldId="289"/>
            <ac:spMk id="17" creationId="{AC0BA1EB-1949-4708-884C-5B234C9A0A3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541462-9243-4A41-82C9-A4E681F2C9D9}" type="datetimeFigureOut">
              <a:rPr lang="en-GB" smtClean="0"/>
              <a:t>20/01/2024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076DC6-364D-4413-A04A-9EF1D45A7101}" type="slidenum">
              <a:rPr lang="en-GB" smtClean="0"/>
              <a:t>‹#›</a:t>
            </a:fld>
            <a:endParaRPr lang="en-GB"/>
          </a:p>
        </p:txBody>
      </p:sp>
    </p:spTree>
    <p:extLst>
      <p:ext uri="{BB962C8B-B14F-4D97-AF65-F5344CB8AC3E}">
        <p14:creationId xmlns:p14="http://schemas.microsoft.com/office/powerpoint/2010/main" val="26347367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them define the problem theoretically</a:t>
            </a:r>
          </a:p>
        </p:txBody>
      </p:sp>
      <p:sp>
        <p:nvSpPr>
          <p:cNvPr id="4" name="Slide Number Placeholder 3"/>
          <p:cNvSpPr>
            <a:spLocks noGrp="1"/>
          </p:cNvSpPr>
          <p:nvPr>
            <p:ph type="sldNum" sz="quarter" idx="5"/>
          </p:nvPr>
        </p:nvSpPr>
        <p:spPr/>
        <p:txBody>
          <a:bodyPr/>
          <a:lstStyle/>
          <a:p>
            <a:fld id="{5B076DC6-364D-4413-A04A-9EF1D45A7101}" type="slidenum">
              <a:rPr lang="en-GB" smtClean="0"/>
              <a:t>3</a:t>
            </a:fld>
            <a:endParaRPr lang="en-GB"/>
          </a:p>
        </p:txBody>
      </p:sp>
    </p:spTree>
    <p:extLst>
      <p:ext uri="{BB962C8B-B14F-4D97-AF65-F5344CB8AC3E}">
        <p14:creationId xmlns:p14="http://schemas.microsoft.com/office/powerpoint/2010/main" val="24555624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“why” we are coding -&gt; “why” is this code going to solve a real world problem/automate an important task etc.</a:t>
            </a:r>
          </a:p>
        </p:txBody>
      </p:sp>
      <p:sp>
        <p:nvSpPr>
          <p:cNvPr id="4" name="Slide Number Placeholder 3"/>
          <p:cNvSpPr>
            <a:spLocks noGrp="1"/>
          </p:cNvSpPr>
          <p:nvPr>
            <p:ph type="sldNum" sz="quarter" idx="5"/>
          </p:nvPr>
        </p:nvSpPr>
        <p:spPr/>
        <p:txBody>
          <a:bodyPr/>
          <a:lstStyle/>
          <a:p>
            <a:fld id="{5B076DC6-364D-4413-A04A-9EF1D45A7101}" type="slidenum">
              <a:rPr lang="en-GB" smtClean="0"/>
              <a:t>4</a:t>
            </a:fld>
            <a:endParaRPr lang="en-GB"/>
          </a:p>
        </p:txBody>
      </p:sp>
    </p:spTree>
    <p:extLst>
      <p:ext uri="{BB962C8B-B14F-4D97-AF65-F5344CB8AC3E}">
        <p14:creationId xmlns:p14="http://schemas.microsoft.com/office/powerpoint/2010/main" val="2202212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“how” -&gt; how are we going to solve the problem, does not need to be line by line but with enough granular detail we know which individual components we need and how they should be interacting</a:t>
            </a:r>
          </a:p>
        </p:txBody>
      </p:sp>
      <p:sp>
        <p:nvSpPr>
          <p:cNvPr id="4" name="Slide Number Placeholder 3"/>
          <p:cNvSpPr>
            <a:spLocks noGrp="1"/>
          </p:cNvSpPr>
          <p:nvPr>
            <p:ph type="sldNum" sz="quarter" idx="5"/>
          </p:nvPr>
        </p:nvSpPr>
        <p:spPr/>
        <p:txBody>
          <a:bodyPr/>
          <a:lstStyle/>
          <a:p>
            <a:fld id="{5B076DC6-364D-4413-A04A-9EF1D45A7101}" type="slidenum">
              <a:rPr lang="en-GB" smtClean="0"/>
              <a:t>5</a:t>
            </a:fld>
            <a:endParaRPr lang="en-GB"/>
          </a:p>
        </p:txBody>
      </p:sp>
    </p:spTree>
    <p:extLst>
      <p:ext uri="{BB962C8B-B14F-4D97-AF65-F5344CB8AC3E}">
        <p14:creationId xmlns:p14="http://schemas.microsoft.com/office/powerpoint/2010/main" val="2747638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-&gt; once we know how we want to solve our problem we need to define exactly what the code will do to achieve our design.</a:t>
            </a:r>
          </a:p>
        </p:txBody>
      </p:sp>
      <p:sp>
        <p:nvSpPr>
          <p:cNvPr id="4" name="Slide Number Placeholder 3"/>
          <p:cNvSpPr>
            <a:spLocks noGrp="1"/>
          </p:cNvSpPr>
          <p:nvPr>
            <p:ph type="sldNum" sz="quarter" idx="5"/>
          </p:nvPr>
        </p:nvSpPr>
        <p:spPr/>
        <p:txBody>
          <a:bodyPr/>
          <a:lstStyle/>
          <a:p>
            <a:fld id="{5B076DC6-364D-4413-A04A-9EF1D45A7101}" type="slidenum">
              <a:rPr lang="en-GB" smtClean="0"/>
              <a:t>6</a:t>
            </a:fld>
            <a:endParaRPr lang="en-GB"/>
          </a:p>
        </p:txBody>
      </p:sp>
    </p:spTree>
    <p:extLst>
      <p:ext uri="{BB962C8B-B14F-4D97-AF65-F5344CB8AC3E}">
        <p14:creationId xmlns:p14="http://schemas.microsoft.com/office/powerpoint/2010/main" val="34558015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 it working -&gt; always try to define a very simple test that you can easily check. For instance give the program one positive example (code should work as expected and give a known output), one negative example (code should fail or this is an edge case where the result should be a known, but invalid output), and a few nonsense examples (for instance an empty input, a datatype you are not expecting, etc.)</a:t>
            </a:r>
          </a:p>
        </p:txBody>
      </p:sp>
      <p:sp>
        <p:nvSpPr>
          <p:cNvPr id="4" name="Slide Number Placeholder 3"/>
          <p:cNvSpPr>
            <a:spLocks noGrp="1"/>
          </p:cNvSpPr>
          <p:nvPr>
            <p:ph type="sldNum" sz="quarter" idx="5"/>
          </p:nvPr>
        </p:nvSpPr>
        <p:spPr/>
        <p:txBody>
          <a:bodyPr/>
          <a:lstStyle/>
          <a:p>
            <a:fld id="{5B076DC6-364D-4413-A04A-9EF1D45A7101}" type="slidenum">
              <a:rPr lang="en-GB" smtClean="0"/>
              <a:t>7</a:t>
            </a:fld>
            <a:endParaRPr lang="en-GB"/>
          </a:p>
        </p:txBody>
      </p:sp>
    </p:spTree>
    <p:extLst>
      <p:ext uri="{BB962C8B-B14F-4D97-AF65-F5344CB8AC3E}">
        <p14:creationId xmlns:p14="http://schemas.microsoft.com/office/powerpoint/2010/main" val="36852132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can be where we bring in edge cases – where the output is not known ahead of time but we want to see if the algorithm would work under a special scenario or on real world data (that might have noise or other “problems” not introduced during testing)</a:t>
            </a:r>
          </a:p>
        </p:txBody>
      </p:sp>
      <p:sp>
        <p:nvSpPr>
          <p:cNvPr id="4" name="Slide Number Placeholder 3"/>
          <p:cNvSpPr>
            <a:spLocks noGrp="1"/>
          </p:cNvSpPr>
          <p:nvPr>
            <p:ph type="sldNum" sz="quarter" idx="5"/>
          </p:nvPr>
        </p:nvSpPr>
        <p:spPr/>
        <p:txBody>
          <a:bodyPr/>
          <a:lstStyle/>
          <a:p>
            <a:fld id="{5B076DC6-364D-4413-A04A-9EF1D45A7101}" type="slidenum">
              <a:rPr lang="en-GB" smtClean="0"/>
              <a:t>8</a:t>
            </a:fld>
            <a:endParaRPr lang="en-GB"/>
          </a:p>
        </p:txBody>
      </p:sp>
    </p:spTree>
    <p:extLst>
      <p:ext uri="{BB962C8B-B14F-4D97-AF65-F5344CB8AC3E}">
        <p14:creationId xmlns:p14="http://schemas.microsoft.com/office/powerpoint/2010/main" val="2709367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B076DC6-364D-4413-A04A-9EF1D45A7101}" type="slidenum">
              <a:rPr lang="en-GB" smtClean="0"/>
              <a:t>9</a:t>
            </a:fld>
            <a:endParaRPr lang="en-GB"/>
          </a:p>
        </p:txBody>
      </p:sp>
    </p:spTree>
    <p:extLst>
      <p:ext uri="{BB962C8B-B14F-4D97-AF65-F5344CB8AC3E}">
        <p14:creationId xmlns:p14="http://schemas.microsoft.com/office/powerpoint/2010/main" val="2470373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them define the problem theoretically</a:t>
            </a:r>
          </a:p>
        </p:txBody>
      </p:sp>
      <p:sp>
        <p:nvSpPr>
          <p:cNvPr id="4" name="Slide Number Placeholder 3"/>
          <p:cNvSpPr>
            <a:spLocks noGrp="1"/>
          </p:cNvSpPr>
          <p:nvPr>
            <p:ph type="sldNum" sz="quarter" idx="5"/>
          </p:nvPr>
        </p:nvSpPr>
        <p:spPr/>
        <p:txBody>
          <a:bodyPr/>
          <a:lstStyle/>
          <a:p>
            <a:fld id="{5B076DC6-364D-4413-A04A-9EF1D45A7101}" type="slidenum">
              <a:rPr lang="en-GB" smtClean="0"/>
              <a:t>10</a:t>
            </a:fld>
            <a:endParaRPr lang="en-GB"/>
          </a:p>
        </p:txBody>
      </p:sp>
    </p:spTree>
    <p:extLst>
      <p:ext uri="{BB962C8B-B14F-4D97-AF65-F5344CB8AC3E}">
        <p14:creationId xmlns:p14="http://schemas.microsoft.com/office/powerpoint/2010/main" val="14185966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them define the problem theoretically</a:t>
            </a:r>
          </a:p>
        </p:txBody>
      </p:sp>
      <p:sp>
        <p:nvSpPr>
          <p:cNvPr id="4" name="Slide Number Placeholder 3"/>
          <p:cNvSpPr>
            <a:spLocks noGrp="1"/>
          </p:cNvSpPr>
          <p:nvPr>
            <p:ph type="sldNum" sz="quarter" idx="5"/>
          </p:nvPr>
        </p:nvSpPr>
        <p:spPr/>
        <p:txBody>
          <a:bodyPr/>
          <a:lstStyle/>
          <a:p>
            <a:fld id="{5B076DC6-364D-4413-A04A-9EF1D45A7101}" type="slidenum">
              <a:rPr lang="en-GB" smtClean="0"/>
              <a:t>11</a:t>
            </a:fld>
            <a:endParaRPr lang="en-GB"/>
          </a:p>
        </p:txBody>
      </p:sp>
    </p:spTree>
    <p:extLst>
      <p:ext uri="{BB962C8B-B14F-4D97-AF65-F5344CB8AC3E}">
        <p14:creationId xmlns:p14="http://schemas.microsoft.com/office/powerpoint/2010/main" val="7294737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can we further define in the inputs</a:t>
            </a:r>
          </a:p>
          <a:p>
            <a:endParaRPr lang="en-US" dirty="0"/>
          </a:p>
          <a:p>
            <a:r>
              <a:rPr lang="en-US" dirty="0"/>
              <a:t>Think about the elements and how they need to be connected</a:t>
            </a:r>
            <a:br>
              <a:rPr lang="en-US" dirty="0"/>
            </a:br>
            <a:br>
              <a:rPr lang="en-US" dirty="0"/>
            </a:br>
            <a:r>
              <a:rPr lang="en-US" dirty="0"/>
              <a:t>Does not have to be linear just think about the minimum step you can take for a specific input or desired output</a:t>
            </a:r>
          </a:p>
          <a:p>
            <a:endParaRPr lang="en-US" dirty="0"/>
          </a:p>
          <a:p>
            <a:r>
              <a:rPr lang="en-US" dirty="0"/>
              <a:t>Then think about how to line up the boxes– don’t worry about having to “add” boxes if you need to make a link!</a:t>
            </a:r>
          </a:p>
        </p:txBody>
      </p:sp>
      <p:sp>
        <p:nvSpPr>
          <p:cNvPr id="4" name="Slide Number Placeholder 3"/>
          <p:cNvSpPr>
            <a:spLocks noGrp="1"/>
          </p:cNvSpPr>
          <p:nvPr>
            <p:ph type="sldNum" sz="quarter" idx="5"/>
          </p:nvPr>
        </p:nvSpPr>
        <p:spPr/>
        <p:txBody>
          <a:bodyPr/>
          <a:lstStyle/>
          <a:p>
            <a:fld id="{5B076DC6-364D-4413-A04A-9EF1D45A7101}" type="slidenum">
              <a:rPr lang="en-GB" smtClean="0"/>
              <a:t>12</a:t>
            </a:fld>
            <a:endParaRPr lang="en-GB"/>
          </a:p>
        </p:txBody>
      </p:sp>
    </p:spTree>
    <p:extLst>
      <p:ext uri="{BB962C8B-B14F-4D97-AF65-F5344CB8AC3E}">
        <p14:creationId xmlns:p14="http://schemas.microsoft.com/office/powerpoint/2010/main" val="21728159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can we further define in the inputs</a:t>
            </a:r>
          </a:p>
        </p:txBody>
      </p:sp>
      <p:sp>
        <p:nvSpPr>
          <p:cNvPr id="4" name="Slide Number Placeholder 3"/>
          <p:cNvSpPr>
            <a:spLocks noGrp="1"/>
          </p:cNvSpPr>
          <p:nvPr>
            <p:ph type="sldNum" sz="quarter" idx="5"/>
          </p:nvPr>
        </p:nvSpPr>
        <p:spPr/>
        <p:txBody>
          <a:bodyPr/>
          <a:lstStyle/>
          <a:p>
            <a:fld id="{5B076DC6-364D-4413-A04A-9EF1D45A7101}" type="slidenum">
              <a:rPr lang="en-GB" smtClean="0"/>
              <a:t>13</a:t>
            </a:fld>
            <a:endParaRPr lang="en-GB"/>
          </a:p>
        </p:txBody>
      </p:sp>
    </p:spTree>
    <p:extLst>
      <p:ext uri="{BB962C8B-B14F-4D97-AF65-F5344CB8AC3E}">
        <p14:creationId xmlns:p14="http://schemas.microsoft.com/office/powerpoint/2010/main" val="5339732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them define the problem theoretically</a:t>
            </a:r>
          </a:p>
        </p:txBody>
      </p:sp>
      <p:sp>
        <p:nvSpPr>
          <p:cNvPr id="4" name="Slide Number Placeholder 3"/>
          <p:cNvSpPr>
            <a:spLocks noGrp="1"/>
          </p:cNvSpPr>
          <p:nvPr>
            <p:ph type="sldNum" sz="quarter" idx="5"/>
          </p:nvPr>
        </p:nvSpPr>
        <p:spPr/>
        <p:txBody>
          <a:bodyPr/>
          <a:lstStyle/>
          <a:p>
            <a:fld id="{5B076DC6-364D-4413-A04A-9EF1D45A7101}" type="slidenum">
              <a:rPr lang="en-GB" smtClean="0"/>
              <a:t>14</a:t>
            </a:fld>
            <a:endParaRPr lang="en-GB"/>
          </a:p>
        </p:txBody>
      </p:sp>
    </p:spTree>
    <p:extLst>
      <p:ext uri="{BB962C8B-B14F-4D97-AF65-F5344CB8AC3E}">
        <p14:creationId xmlns:p14="http://schemas.microsoft.com/office/powerpoint/2010/main" val="7304068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can we further define in the inputs</a:t>
            </a:r>
          </a:p>
        </p:txBody>
      </p:sp>
      <p:sp>
        <p:nvSpPr>
          <p:cNvPr id="4" name="Slide Number Placeholder 3"/>
          <p:cNvSpPr>
            <a:spLocks noGrp="1"/>
          </p:cNvSpPr>
          <p:nvPr>
            <p:ph type="sldNum" sz="quarter" idx="5"/>
          </p:nvPr>
        </p:nvSpPr>
        <p:spPr/>
        <p:txBody>
          <a:bodyPr/>
          <a:lstStyle/>
          <a:p>
            <a:fld id="{5B076DC6-364D-4413-A04A-9EF1D45A7101}" type="slidenum">
              <a:rPr lang="en-GB" smtClean="0"/>
              <a:t>15</a:t>
            </a:fld>
            <a:endParaRPr lang="en-GB"/>
          </a:p>
        </p:txBody>
      </p:sp>
    </p:spTree>
    <p:extLst>
      <p:ext uri="{BB962C8B-B14F-4D97-AF65-F5344CB8AC3E}">
        <p14:creationId xmlns:p14="http://schemas.microsoft.com/office/powerpoint/2010/main" val="32604466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adding in simple things we know how to do ignoring those things we don’t know how to do</a:t>
            </a:r>
          </a:p>
        </p:txBody>
      </p:sp>
      <p:sp>
        <p:nvSpPr>
          <p:cNvPr id="4" name="Slide Number Placeholder 3"/>
          <p:cNvSpPr>
            <a:spLocks noGrp="1"/>
          </p:cNvSpPr>
          <p:nvPr>
            <p:ph type="sldNum" sz="quarter" idx="5"/>
          </p:nvPr>
        </p:nvSpPr>
        <p:spPr/>
        <p:txBody>
          <a:bodyPr/>
          <a:lstStyle/>
          <a:p>
            <a:fld id="{5B076DC6-364D-4413-A04A-9EF1D45A7101}" type="slidenum">
              <a:rPr lang="en-GB" smtClean="0"/>
              <a:t>16</a:t>
            </a:fld>
            <a:endParaRPr lang="en-GB"/>
          </a:p>
        </p:txBody>
      </p:sp>
    </p:spTree>
    <p:extLst>
      <p:ext uri="{BB962C8B-B14F-4D97-AF65-F5344CB8AC3E}">
        <p14:creationId xmlns:p14="http://schemas.microsoft.com/office/powerpoint/2010/main" val="24376140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can we test and how?</a:t>
            </a:r>
          </a:p>
        </p:txBody>
      </p:sp>
      <p:sp>
        <p:nvSpPr>
          <p:cNvPr id="4" name="Slide Number Placeholder 3"/>
          <p:cNvSpPr>
            <a:spLocks noGrp="1"/>
          </p:cNvSpPr>
          <p:nvPr>
            <p:ph type="sldNum" sz="quarter" idx="5"/>
          </p:nvPr>
        </p:nvSpPr>
        <p:spPr/>
        <p:txBody>
          <a:bodyPr/>
          <a:lstStyle/>
          <a:p>
            <a:fld id="{5B076DC6-364D-4413-A04A-9EF1D45A7101}" type="slidenum">
              <a:rPr lang="en-GB" smtClean="0"/>
              <a:t>17</a:t>
            </a:fld>
            <a:endParaRPr lang="en-GB"/>
          </a:p>
        </p:txBody>
      </p:sp>
    </p:spTree>
    <p:extLst>
      <p:ext uri="{BB962C8B-B14F-4D97-AF65-F5344CB8AC3E}">
        <p14:creationId xmlns:p14="http://schemas.microsoft.com/office/powerpoint/2010/main" val="12854685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a:t>
            </a:r>
            <a:r>
              <a:rPr lang="en-US" dirty="0" err="1"/>
              <a:t>misc</a:t>
            </a:r>
            <a:r>
              <a:rPr lang="en-US" dirty="0"/>
              <a:t> values/variables that we don’t know how to properly complete yet for the purpose of testing</a:t>
            </a:r>
          </a:p>
        </p:txBody>
      </p:sp>
      <p:sp>
        <p:nvSpPr>
          <p:cNvPr id="4" name="Slide Number Placeholder 3"/>
          <p:cNvSpPr>
            <a:spLocks noGrp="1"/>
          </p:cNvSpPr>
          <p:nvPr>
            <p:ph type="sldNum" sz="quarter" idx="5"/>
          </p:nvPr>
        </p:nvSpPr>
        <p:spPr/>
        <p:txBody>
          <a:bodyPr/>
          <a:lstStyle/>
          <a:p>
            <a:fld id="{5B076DC6-364D-4413-A04A-9EF1D45A7101}" type="slidenum">
              <a:rPr lang="en-GB" smtClean="0"/>
              <a:t>18</a:t>
            </a:fld>
            <a:endParaRPr lang="en-GB"/>
          </a:p>
        </p:txBody>
      </p:sp>
    </p:spTree>
    <p:extLst>
      <p:ext uri="{BB962C8B-B14F-4D97-AF65-F5344CB8AC3E}">
        <p14:creationId xmlns:p14="http://schemas.microsoft.com/office/powerpoint/2010/main" val="27396602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 any mistakes so that we return what we would expect</a:t>
            </a:r>
          </a:p>
        </p:txBody>
      </p:sp>
      <p:sp>
        <p:nvSpPr>
          <p:cNvPr id="4" name="Slide Number Placeholder 3"/>
          <p:cNvSpPr>
            <a:spLocks noGrp="1"/>
          </p:cNvSpPr>
          <p:nvPr>
            <p:ph type="sldNum" sz="quarter" idx="5"/>
          </p:nvPr>
        </p:nvSpPr>
        <p:spPr/>
        <p:txBody>
          <a:bodyPr/>
          <a:lstStyle/>
          <a:p>
            <a:fld id="{5B076DC6-364D-4413-A04A-9EF1D45A7101}" type="slidenum">
              <a:rPr lang="en-GB" smtClean="0"/>
              <a:t>19</a:t>
            </a:fld>
            <a:endParaRPr lang="en-GB"/>
          </a:p>
        </p:txBody>
      </p:sp>
    </p:spTree>
    <p:extLst>
      <p:ext uri="{BB962C8B-B14F-4D97-AF65-F5344CB8AC3E}">
        <p14:creationId xmlns:p14="http://schemas.microsoft.com/office/powerpoint/2010/main" val="23041759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Maybe try creating a slightly better check – just to see that our if statement is working correctly.</a:t>
            </a:r>
          </a:p>
        </p:txBody>
      </p:sp>
      <p:sp>
        <p:nvSpPr>
          <p:cNvPr id="4" name="Slide Number Placeholder 3"/>
          <p:cNvSpPr>
            <a:spLocks noGrp="1"/>
          </p:cNvSpPr>
          <p:nvPr>
            <p:ph type="sldNum" sz="quarter" idx="5"/>
          </p:nvPr>
        </p:nvSpPr>
        <p:spPr/>
        <p:txBody>
          <a:bodyPr/>
          <a:lstStyle/>
          <a:p>
            <a:fld id="{5B076DC6-364D-4413-A04A-9EF1D45A7101}" type="slidenum">
              <a:rPr lang="en-GB" smtClean="0"/>
              <a:t>20</a:t>
            </a:fld>
            <a:endParaRPr lang="en-GB"/>
          </a:p>
        </p:txBody>
      </p:sp>
    </p:spTree>
    <p:extLst>
      <p:ext uri="{BB962C8B-B14F-4D97-AF65-F5344CB8AC3E}">
        <p14:creationId xmlns:p14="http://schemas.microsoft.com/office/powerpoint/2010/main" val="1768396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them define the problem theoretically</a:t>
            </a:r>
          </a:p>
        </p:txBody>
      </p:sp>
      <p:sp>
        <p:nvSpPr>
          <p:cNvPr id="4" name="Slide Number Placeholder 3"/>
          <p:cNvSpPr>
            <a:spLocks noGrp="1"/>
          </p:cNvSpPr>
          <p:nvPr>
            <p:ph type="sldNum" sz="quarter" idx="5"/>
          </p:nvPr>
        </p:nvSpPr>
        <p:spPr/>
        <p:txBody>
          <a:bodyPr/>
          <a:lstStyle/>
          <a:p>
            <a:fld id="{5B076DC6-364D-4413-A04A-9EF1D45A7101}" type="slidenum">
              <a:rPr lang="en-GB" smtClean="0"/>
              <a:t>21</a:t>
            </a:fld>
            <a:endParaRPr lang="en-GB"/>
          </a:p>
        </p:txBody>
      </p:sp>
    </p:spTree>
    <p:extLst>
      <p:ext uri="{BB962C8B-B14F-4D97-AF65-F5344CB8AC3E}">
        <p14:creationId xmlns:p14="http://schemas.microsoft.com/office/powerpoint/2010/main" val="31604338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we can focus on filling in the line of code we have chosen to ignore.</a:t>
            </a:r>
          </a:p>
        </p:txBody>
      </p:sp>
      <p:sp>
        <p:nvSpPr>
          <p:cNvPr id="4" name="Slide Number Placeholder 3"/>
          <p:cNvSpPr>
            <a:spLocks noGrp="1"/>
          </p:cNvSpPr>
          <p:nvPr>
            <p:ph type="sldNum" sz="quarter" idx="5"/>
          </p:nvPr>
        </p:nvSpPr>
        <p:spPr/>
        <p:txBody>
          <a:bodyPr/>
          <a:lstStyle/>
          <a:p>
            <a:fld id="{5B076DC6-364D-4413-A04A-9EF1D45A7101}" type="slidenum">
              <a:rPr lang="en-GB" smtClean="0"/>
              <a:t>22</a:t>
            </a:fld>
            <a:endParaRPr lang="en-GB"/>
          </a:p>
        </p:txBody>
      </p:sp>
    </p:spTree>
    <p:extLst>
      <p:ext uri="{BB962C8B-B14F-4D97-AF65-F5344CB8AC3E}">
        <p14:creationId xmlns:p14="http://schemas.microsoft.com/office/powerpoint/2010/main" val="18715798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determine where you should look to find the functions/calls</a:t>
            </a:r>
          </a:p>
        </p:txBody>
      </p:sp>
      <p:sp>
        <p:nvSpPr>
          <p:cNvPr id="4" name="Slide Number Placeholder 3"/>
          <p:cNvSpPr>
            <a:spLocks noGrp="1"/>
          </p:cNvSpPr>
          <p:nvPr>
            <p:ph type="sldNum" sz="quarter" idx="5"/>
          </p:nvPr>
        </p:nvSpPr>
        <p:spPr/>
        <p:txBody>
          <a:bodyPr/>
          <a:lstStyle/>
          <a:p>
            <a:fld id="{5B076DC6-364D-4413-A04A-9EF1D45A7101}" type="slidenum">
              <a:rPr lang="en-GB" smtClean="0"/>
              <a:t>23</a:t>
            </a:fld>
            <a:endParaRPr lang="en-GB"/>
          </a:p>
        </p:txBody>
      </p:sp>
    </p:spTree>
    <p:extLst>
      <p:ext uri="{BB962C8B-B14F-4D97-AF65-F5344CB8AC3E}">
        <p14:creationId xmlns:p14="http://schemas.microsoft.com/office/powerpoint/2010/main" val="22290201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some knowledge/logic to help figure out where to start your investigation</a:t>
            </a:r>
          </a:p>
        </p:txBody>
      </p:sp>
      <p:sp>
        <p:nvSpPr>
          <p:cNvPr id="4" name="Slide Number Placeholder 3"/>
          <p:cNvSpPr>
            <a:spLocks noGrp="1"/>
          </p:cNvSpPr>
          <p:nvPr>
            <p:ph type="sldNum" sz="quarter" idx="5"/>
          </p:nvPr>
        </p:nvSpPr>
        <p:spPr/>
        <p:txBody>
          <a:bodyPr/>
          <a:lstStyle/>
          <a:p>
            <a:fld id="{5B076DC6-364D-4413-A04A-9EF1D45A7101}" type="slidenum">
              <a:rPr lang="en-GB" smtClean="0"/>
              <a:t>24</a:t>
            </a:fld>
            <a:endParaRPr lang="en-GB"/>
          </a:p>
        </p:txBody>
      </p:sp>
    </p:spTree>
    <p:extLst>
      <p:ext uri="{BB962C8B-B14F-4D97-AF65-F5344CB8AC3E}">
        <p14:creationId xmlns:p14="http://schemas.microsoft.com/office/powerpoint/2010/main" val="11759138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Help paired with your knowledge of how the code is named can help identify possible functions to use</a:t>
            </a:r>
          </a:p>
        </p:txBody>
      </p:sp>
      <p:sp>
        <p:nvSpPr>
          <p:cNvPr id="4" name="Slide Number Placeholder 3"/>
          <p:cNvSpPr>
            <a:spLocks noGrp="1"/>
          </p:cNvSpPr>
          <p:nvPr>
            <p:ph type="sldNum" sz="quarter" idx="5"/>
          </p:nvPr>
        </p:nvSpPr>
        <p:spPr/>
        <p:txBody>
          <a:bodyPr/>
          <a:lstStyle/>
          <a:p>
            <a:fld id="{5B076DC6-364D-4413-A04A-9EF1D45A7101}" type="slidenum">
              <a:rPr lang="en-GB" smtClean="0"/>
              <a:t>25</a:t>
            </a:fld>
            <a:endParaRPr lang="en-GB"/>
          </a:p>
        </p:txBody>
      </p:sp>
    </p:spTree>
    <p:extLst>
      <p:ext uri="{BB962C8B-B14F-4D97-AF65-F5344CB8AC3E}">
        <p14:creationId xmlns:p14="http://schemas.microsoft.com/office/powerpoint/2010/main" val="32459708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some trial and error we can figure out how to translate our point into a pixel</a:t>
            </a:r>
          </a:p>
        </p:txBody>
      </p:sp>
      <p:sp>
        <p:nvSpPr>
          <p:cNvPr id="4" name="Slide Number Placeholder 3"/>
          <p:cNvSpPr>
            <a:spLocks noGrp="1"/>
          </p:cNvSpPr>
          <p:nvPr>
            <p:ph type="sldNum" sz="quarter" idx="5"/>
          </p:nvPr>
        </p:nvSpPr>
        <p:spPr/>
        <p:txBody>
          <a:bodyPr/>
          <a:lstStyle/>
          <a:p>
            <a:fld id="{5B076DC6-364D-4413-A04A-9EF1D45A7101}" type="slidenum">
              <a:rPr lang="en-GB" smtClean="0"/>
              <a:t>26</a:t>
            </a:fld>
            <a:endParaRPr lang="en-GB"/>
          </a:p>
        </p:txBody>
      </p:sp>
    </p:spTree>
    <p:extLst>
      <p:ext uri="{BB962C8B-B14F-4D97-AF65-F5344CB8AC3E}">
        <p14:creationId xmlns:p14="http://schemas.microsoft.com/office/powerpoint/2010/main" val="220034165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file://localhost/Users/mac1/Desktop/KCL%20LOGO%20WOB.png"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file://localhost/Volumes/Day1_Data/WORK%20ARCHIVE/%20K/KING'S/11143%20KCL%20POWERPOINT%20UPDATE/BUILD/IMAGES/_DSC8361-rs.jpg" TargetMode="External"/><Relationship Id="rId2" Type="http://schemas.openxmlformats.org/officeDocument/2006/relationships/image" Target="../media/image2.jpeg"/><Relationship Id="rId1" Type="http://schemas.openxmlformats.org/officeDocument/2006/relationships/slideMaster" Target="../slideMasters/slideMaster1.xml"/><Relationship Id="rId5" Type="http://schemas.openxmlformats.org/officeDocument/2006/relationships/image" Target="file://localhost/Users/mac1/Desktop/KCL_box_red_485_rgb.png" TargetMode="Externa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file://localhost/Users/mac1/Desktop/KCL_box_red_485_rgb.png" TargetMode="External"/><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UK Cover slide">
    <p:spTree>
      <p:nvGrpSpPr>
        <p:cNvPr id="1" name=""/>
        <p:cNvGrpSpPr/>
        <p:nvPr/>
      </p:nvGrpSpPr>
      <p:grpSpPr>
        <a:xfrm>
          <a:off x="0" y="0"/>
          <a:ext cx="0" cy="0"/>
          <a:chOff x="0" y="0"/>
          <a:chExt cx="0" cy="0"/>
        </a:xfrm>
      </p:grpSpPr>
      <p:pic>
        <p:nvPicPr>
          <p:cNvPr id="7" name="KCL-LOGO-INTERNATIONAL.png"/>
          <p:cNvPicPr>
            <a:picLocks noChangeAspect="1"/>
          </p:cNvPicPr>
          <p:nvPr/>
        </p:nvPicPr>
        <p:blipFill>
          <a:blip r:embed="rId2" r:link="rId3">
            <a:extLst>
              <a:ext uri="{28A0092B-C50C-407E-A947-70E740481C1C}">
                <a14:useLocalDpi xmlns:a14="http://schemas.microsoft.com/office/drawing/2010/main" val="0"/>
              </a:ext>
            </a:extLst>
          </a:blip>
          <a:stretch>
            <a:fillRect/>
          </a:stretch>
        </p:blipFill>
        <p:spPr>
          <a:xfrm>
            <a:off x="2188959" y="1397958"/>
            <a:ext cx="7814084" cy="4062084"/>
          </a:xfrm>
          <a:prstGeom prst="rect">
            <a:avLst/>
          </a:prstGeom>
        </p:spPr>
      </p:pic>
    </p:spTree>
    <p:extLst>
      <p:ext uri="{BB962C8B-B14F-4D97-AF65-F5344CB8AC3E}">
        <p14:creationId xmlns:p14="http://schemas.microsoft.com/office/powerpoint/2010/main" val="44322651"/>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 joint - alt 3">
    <p:spTree>
      <p:nvGrpSpPr>
        <p:cNvPr id="1" name=""/>
        <p:cNvGrpSpPr/>
        <p:nvPr/>
      </p:nvGrpSpPr>
      <p:grpSpPr>
        <a:xfrm>
          <a:off x="0" y="0"/>
          <a:ext cx="0" cy="0"/>
          <a:chOff x="0" y="0"/>
          <a:chExt cx="0" cy="0"/>
        </a:xfrm>
      </p:grpSpPr>
      <p:pic>
        <p:nvPicPr>
          <p:cNvPr id="13" name="_DSC1517.jpg"/>
          <p:cNvPicPr>
            <a:picLocks noChangeAspect="1"/>
          </p:cNvPicPr>
          <p:nvPr/>
        </p:nvPicPr>
        <p:blipFill rotWithShape="1">
          <a:blip r:embed="rId2" r:link="rId3">
            <a:extLst>
              <a:ext uri="{28A0092B-C50C-407E-A947-70E740481C1C}">
                <a14:useLocalDpi xmlns:a14="http://schemas.microsoft.com/office/drawing/2010/main" val="0"/>
              </a:ext>
            </a:extLst>
          </a:blip>
          <a:srcRect l="11345" r="4990" b="23836"/>
          <a:stretch>
            <a:fillRect/>
          </a:stretch>
        </p:blipFill>
        <p:spPr>
          <a:xfrm>
            <a:off x="0" y="4"/>
            <a:ext cx="12192000" cy="5554979"/>
          </a:xfrm>
          <a:prstGeom prst="rect">
            <a:avLst/>
          </a:prstGeom>
        </p:spPr>
      </p:pic>
      <p:sp>
        <p:nvSpPr>
          <p:cNvPr id="16" name="Rectangle 15"/>
          <p:cNvSpPr/>
          <p:nvPr/>
        </p:nvSpPr>
        <p:spPr>
          <a:xfrm>
            <a:off x="0" y="0"/>
            <a:ext cx="12192000" cy="3397250"/>
          </a:xfrm>
          <a:prstGeom prst="rect">
            <a:avLst/>
          </a:prstGeom>
          <a:gradFill flip="none" rotWithShape="1">
            <a:gsLst>
              <a:gs pos="0">
                <a:schemeClr val="tx1">
                  <a:alpha val="50000"/>
                </a:schemeClr>
              </a:gs>
              <a:gs pos="100000">
                <a:srgbClr val="FFFFFF">
                  <a:alpha val="0"/>
                </a:srgbClr>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p>
        </p:txBody>
      </p:sp>
      <p:sp>
        <p:nvSpPr>
          <p:cNvPr id="2" name="Title 1"/>
          <p:cNvSpPr>
            <a:spLocks noGrp="1"/>
          </p:cNvSpPr>
          <p:nvPr>
            <p:ph type="ctrTitle" hasCustomPrompt="1"/>
          </p:nvPr>
        </p:nvSpPr>
        <p:spPr>
          <a:xfrm>
            <a:off x="480000" y="180001"/>
            <a:ext cx="11232000" cy="1080000"/>
          </a:xfrm>
        </p:spPr>
        <p:txBody>
          <a:bodyPr anchor="b" anchorCtr="0">
            <a:normAutofit/>
          </a:bodyPr>
          <a:lstStyle>
            <a:lvl1pPr>
              <a:defRPr sz="4500">
                <a:solidFill>
                  <a:srgbClr val="FFFFFF"/>
                </a:solidFill>
              </a:defRPr>
            </a:lvl1pPr>
          </a:lstStyle>
          <a:p>
            <a:r>
              <a:rPr lang="en-GB" dirty="0"/>
              <a:t>Click to edit master title style</a:t>
            </a:r>
            <a:endParaRPr lang="en-US" dirty="0"/>
          </a:p>
        </p:txBody>
      </p:sp>
      <p:sp>
        <p:nvSpPr>
          <p:cNvPr id="3" name="Subtitle 2"/>
          <p:cNvSpPr>
            <a:spLocks noGrp="1"/>
          </p:cNvSpPr>
          <p:nvPr>
            <p:ph type="subTitle" idx="1" hasCustomPrompt="1"/>
          </p:nvPr>
        </p:nvSpPr>
        <p:spPr>
          <a:xfrm>
            <a:off x="480000" y="1440000"/>
            <a:ext cx="11232000" cy="891700"/>
          </a:xfrm>
        </p:spPr>
        <p:txBody>
          <a:bodyPr/>
          <a:lstStyle>
            <a:lvl1pPr marL="0" indent="0" algn="l">
              <a:buNone/>
              <a:defRPr>
                <a:solidFill>
                  <a:srgbClr val="FFFFFF"/>
                </a:solidFill>
                <a:latin typeface="Georgia"/>
                <a:cs typeface="Georgi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dirty="0"/>
              <a:t>Click to edit master subtitle style</a:t>
            </a:r>
            <a:endParaRPr lang="en-US" dirty="0"/>
          </a:p>
        </p:txBody>
      </p:sp>
      <p:sp>
        <p:nvSpPr>
          <p:cNvPr id="11" name="Picture Placeholder 10"/>
          <p:cNvSpPr>
            <a:spLocks noGrp="1"/>
          </p:cNvSpPr>
          <p:nvPr>
            <p:ph type="pic" sz="quarter" idx="10"/>
          </p:nvPr>
        </p:nvSpPr>
        <p:spPr>
          <a:xfrm>
            <a:off x="480484" y="5733722"/>
            <a:ext cx="8995856" cy="944280"/>
          </a:xfrm>
        </p:spPr>
        <p:txBody>
          <a:bodyPr/>
          <a:lstStyle/>
          <a:p>
            <a:r>
              <a:rPr lang="en-US"/>
              <a:t>Click icon to add picture</a:t>
            </a:r>
            <a:endParaRPr lang="en-US" dirty="0"/>
          </a:p>
        </p:txBody>
      </p:sp>
      <p:pic>
        <p:nvPicPr>
          <p:cNvPr id="10" name="KCL-LOGO-UK-1.png"/>
          <p:cNvPicPr>
            <a:picLocks noChangeAspect="1"/>
          </p:cNvPicPr>
          <p:nvPr/>
        </p:nvPicPr>
        <p:blipFill>
          <a:blip r:embed="rId4" r:link="rId5" cstate="print">
            <a:extLst>
              <a:ext uri="{28A0092B-C50C-407E-A947-70E740481C1C}">
                <a14:useLocalDpi xmlns:a14="http://schemas.microsoft.com/office/drawing/2010/main" val="0"/>
              </a:ext>
            </a:extLst>
          </a:blip>
          <a:stretch>
            <a:fillRect/>
          </a:stretch>
        </p:blipFill>
        <p:spPr>
          <a:xfrm>
            <a:off x="9912000" y="5555734"/>
            <a:ext cx="2280000" cy="1302285"/>
          </a:xfrm>
          <a:prstGeom prst="rect">
            <a:avLst/>
          </a:prstGeom>
        </p:spPr>
      </p:pic>
    </p:spTree>
    <p:extLst>
      <p:ext uri="{BB962C8B-B14F-4D97-AF65-F5344CB8AC3E}">
        <p14:creationId xmlns:p14="http://schemas.microsoft.com/office/powerpoint/2010/main" val="735042708"/>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Divider - orang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80000" y="4689299"/>
            <a:ext cx="11232000" cy="728721"/>
          </a:xfrm>
        </p:spPr>
        <p:txBody>
          <a:bodyPr>
            <a:normAutofit/>
          </a:bodyPr>
          <a:lstStyle>
            <a:lvl1pPr>
              <a:defRPr sz="4500">
                <a:solidFill>
                  <a:srgbClr val="FFFFFF"/>
                </a:solidFill>
              </a:defRPr>
            </a:lvl1pPr>
          </a:lstStyle>
          <a:p>
            <a:r>
              <a:rPr lang="en-GB" dirty="0"/>
              <a:t>Click to edit master title style</a:t>
            </a:r>
            <a:endParaRPr lang="en-US" dirty="0"/>
          </a:p>
        </p:txBody>
      </p:sp>
      <p:sp>
        <p:nvSpPr>
          <p:cNvPr id="3" name="Subtitle 2"/>
          <p:cNvSpPr>
            <a:spLocks noGrp="1"/>
          </p:cNvSpPr>
          <p:nvPr>
            <p:ph type="subTitle" idx="1" hasCustomPrompt="1"/>
          </p:nvPr>
        </p:nvSpPr>
        <p:spPr>
          <a:xfrm>
            <a:off x="480000" y="5598000"/>
            <a:ext cx="11232000" cy="1080000"/>
          </a:xfrm>
        </p:spPr>
        <p:txBody>
          <a:bodyPr/>
          <a:lstStyle>
            <a:lvl1pPr marL="0" indent="0" algn="l">
              <a:buNone/>
              <a:defRPr>
                <a:solidFill>
                  <a:srgbClr val="FFFFFF"/>
                </a:solidFill>
                <a:latin typeface="Georgia"/>
                <a:cs typeface="Georgi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dirty="0"/>
              <a:t>Click to edit master subtitle style</a:t>
            </a:r>
            <a:endParaRPr lang="en-US" dirty="0"/>
          </a:p>
        </p:txBody>
      </p:sp>
    </p:spTree>
    <p:extLst>
      <p:ext uri="{BB962C8B-B14F-4D97-AF65-F5344CB8AC3E}">
        <p14:creationId xmlns:p14="http://schemas.microsoft.com/office/powerpoint/2010/main" val="535720"/>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Divider - lime green">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80000" y="4689299"/>
            <a:ext cx="11232000" cy="728721"/>
          </a:xfrm>
        </p:spPr>
        <p:txBody>
          <a:bodyPr>
            <a:normAutofit/>
          </a:bodyPr>
          <a:lstStyle>
            <a:lvl1pPr>
              <a:defRPr sz="4500">
                <a:solidFill>
                  <a:srgbClr val="FFFFFF"/>
                </a:solidFill>
              </a:defRPr>
            </a:lvl1pPr>
          </a:lstStyle>
          <a:p>
            <a:r>
              <a:rPr lang="en-GB" dirty="0"/>
              <a:t>Click to edit master title style</a:t>
            </a:r>
            <a:endParaRPr lang="en-US" dirty="0"/>
          </a:p>
        </p:txBody>
      </p:sp>
      <p:sp>
        <p:nvSpPr>
          <p:cNvPr id="3" name="Subtitle 2"/>
          <p:cNvSpPr>
            <a:spLocks noGrp="1"/>
          </p:cNvSpPr>
          <p:nvPr>
            <p:ph type="subTitle" idx="1" hasCustomPrompt="1"/>
          </p:nvPr>
        </p:nvSpPr>
        <p:spPr>
          <a:xfrm>
            <a:off x="480000" y="5598000"/>
            <a:ext cx="11232000" cy="891700"/>
          </a:xfrm>
        </p:spPr>
        <p:txBody>
          <a:bodyPr/>
          <a:lstStyle>
            <a:lvl1pPr marL="0" indent="0" algn="l">
              <a:buNone/>
              <a:defRPr>
                <a:solidFill>
                  <a:srgbClr val="FFFFFF"/>
                </a:solidFill>
                <a:latin typeface="Georgia"/>
                <a:cs typeface="Georgi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dirty="0"/>
              <a:t>Click to edit master subtitle style</a:t>
            </a:r>
            <a:endParaRPr lang="en-US" dirty="0"/>
          </a:p>
        </p:txBody>
      </p:sp>
    </p:spTree>
    <p:extLst>
      <p:ext uri="{BB962C8B-B14F-4D97-AF65-F5344CB8AC3E}">
        <p14:creationId xmlns:p14="http://schemas.microsoft.com/office/powerpoint/2010/main" val="1872420481"/>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Divider - teal">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80000" y="4689299"/>
            <a:ext cx="11232000" cy="728721"/>
          </a:xfrm>
        </p:spPr>
        <p:txBody>
          <a:bodyPr>
            <a:normAutofit/>
          </a:bodyPr>
          <a:lstStyle>
            <a:lvl1pPr>
              <a:defRPr sz="4500">
                <a:solidFill>
                  <a:srgbClr val="FFFFFF"/>
                </a:solidFill>
              </a:defRPr>
            </a:lvl1pPr>
          </a:lstStyle>
          <a:p>
            <a:r>
              <a:rPr lang="en-GB" dirty="0"/>
              <a:t>Click to edit master title style</a:t>
            </a:r>
            <a:endParaRPr lang="en-US" dirty="0"/>
          </a:p>
        </p:txBody>
      </p:sp>
      <p:sp>
        <p:nvSpPr>
          <p:cNvPr id="3" name="Subtitle 2"/>
          <p:cNvSpPr>
            <a:spLocks noGrp="1"/>
          </p:cNvSpPr>
          <p:nvPr>
            <p:ph type="subTitle" idx="1" hasCustomPrompt="1"/>
          </p:nvPr>
        </p:nvSpPr>
        <p:spPr>
          <a:xfrm>
            <a:off x="480000" y="5598000"/>
            <a:ext cx="11232000" cy="891700"/>
          </a:xfrm>
        </p:spPr>
        <p:txBody>
          <a:bodyPr/>
          <a:lstStyle>
            <a:lvl1pPr marL="0" indent="0" algn="l">
              <a:buNone/>
              <a:defRPr>
                <a:solidFill>
                  <a:srgbClr val="FFFFFF"/>
                </a:solidFill>
                <a:latin typeface="Georgia"/>
                <a:cs typeface="Georgi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dirty="0"/>
              <a:t>Click to edit master subtitle style</a:t>
            </a:r>
            <a:endParaRPr lang="en-US" dirty="0"/>
          </a:p>
        </p:txBody>
      </p:sp>
    </p:spTree>
    <p:extLst>
      <p:ext uri="{BB962C8B-B14F-4D97-AF65-F5344CB8AC3E}">
        <p14:creationId xmlns:p14="http://schemas.microsoft.com/office/powerpoint/2010/main" val="4091529707"/>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Divider - sea blu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80000" y="4689299"/>
            <a:ext cx="11232000" cy="728721"/>
          </a:xfrm>
        </p:spPr>
        <p:txBody>
          <a:bodyPr>
            <a:normAutofit/>
          </a:bodyPr>
          <a:lstStyle>
            <a:lvl1pPr>
              <a:defRPr sz="4500">
                <a:solidFill>
                  <a:srgbClr val="FFFFFF"/>
                </a:solidFill>
              </a:defRPr>
            </a:lvl1pPr>
          </a:lstStyle>
          <a:p>
            <a:r>
              <a:rPr lang="en-GB" dirty="0"/>
              <a:t>Click to edit master title style</a:t>
            </a:r>
            <a:endParaRPr lang="en-US" dirty="0"/>
          </a:p>
        </p:txBody>
      </p:sp>
      <p:sp>
        <p:nvSpPr>
          <p:cNvPr id="3" name="Subtitle 2"/>
          <p:cNvSpPr>
            <a:spLocks noGrp="1"/>
          </p:cNvSpPr>
          <p:nvPr>
            <p:ph type="subTitle" idx="1" hasCustomPrompt="1"/>
          </p:nvPr>
        </p:nvSpPr>
        <p:spPr>
          <a:xfrm>
            <a:off x="480000" y="5598000"/>
            <a:ext cx="11232000" cy="891700"/>
          </a:xfrm>
        </p:spPr>
        <p:txBody>
          <a:bodyPr/>
          <a:lstStyle>
            <a:lvl1pPr marL="0" indent="0" algn="l">
              <a:buNone/>
              <a:defRPr>
                <a:solidFill>
                  <a:srgbClr val="FFFFFF"/>
                </a:solidFill>
                <a:latin typeface="Georgia"/>
                <a:cs typeface="Georgi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dirty="0"/>
              <a:t>Click to edit master subtitle style</a:t>
            </a:r>
            <a:endParaRPr lang="en-US" dirty="0"/>
          </a:p>
        </p:txBody>
      </p:sp>
    </p:spTree>
    <p:extLst>
      <p:ext uri="{BB962C8B-B14F-4D97-AF65-F5344CB8AC3E}">
        <p14:creationId xmlns:p14="http://schemas.microsoft.com/office/powerpoint/2010/main" val="3502526104"/>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 text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normAutofit/>
          </a:bodyPr>
          <a:lstStyle>
            <a:lvl1pPr marL="0" indent="0">
              <a:lnSpc>
                <a:spcPct val="120000"/>
              </a:lnSpc>
              <a:spcBef>
                <a:spcPts val="0"/>
              </a:spcBef>
              <a:buNone/>
              <a:defRPr sz="2000">
                <a:solidFill>
                  <a:srgbClr val="0A2D50"/>
                </a:solidFill>
                <a:latin typeface="Impact"/>
                <a:cs typeface="Impact"/>
              </a:defRPr>
            </a:lvl1pPr>
            <a:lvl2pPr marL="0" indent="0">
              <a:lnSpc>
                <a:spcPct val="120000"/>
              </a:lnSpc>
              <a:spcBef>
                <a:spcPts val="0"/>
              </a:spcBef>
              <a:buNone/>
              <a:defRPr sz="2000">
                <a:latin typeface="Georgia"/>
                <a:cs typeface="Georgia"/>
              </a:defRPr>
            </a:lvl2pPr>
            <a:lvl3pPr marL="269875" indent="-269875">
              <a:lnSpc>
                <a:spcPct val="120000"/>
              </a:lnSpc>
              <a:spcBef>
                <a:spcPts val="0"/>
              </a:spcBef>
              <a:defRPr sz="2000">
                <a:latin typeface="Georgia"/>
                <a:cs typeface="Georgia"/>
              </a:defRPr>
            </a:lvl3pPr>
            <a:lvl4pPr marL="539750" indent="-269875">
              <a:lnSpc>
                <a:spcPct val="120000"/>
              </a:lnSpc>
              <a:spcBef>
                <a:spcPts val="0"/>
              </a:spcBef>
              <a:defRPr sz="2000">
                <a:latin typeface="Georgia"/>
                <a:cs typeface="Georgia"/>
              </a:defRPr>
            </a:lvl4pPr>
            <a:lvl5pPr marL="809625" indent="-269875">
              <a:lnSpc>
                <a:spcPct val="120000"/>
              </a:lnSpc>
              <a:spcBef>
                <a:spcPts val="0"/>
              </a:spcBef>
              <a:defRPr sz="2000">
                <a:latin typeface="Georgia"/>
                <a:cs typeface="Georgia"/>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z="1000">
                <a:latin typeface="Georgia"/>
                <a:cs typeface="Georgia"/>
              </a:defRPr>
            </a:lvl1pPr>
          </a:lstStyle>
          <a:p>
            <a:fld id="{56764FFD-37C9-48A3-8A00-15576C012ED5}" type="datetimeFigureOut">
              <a:rPr lang="en-GB" smtClean="0"/>
              <a:t>20/01/2024</a:t>
            </a:fld>
            <a:endParaRPr lang="en-GB"/>
          </a:p>
        </p:txBody>
      </p:sp>
      <p:sp>
        <p:nvSpPr>
          <p:cNvPr id="5" name="Footer Placeholder 4"/>
          <p:cNvSpPr>
            <a:spLocks noGrp="1"/>
          </p:cNvSpPr>
          <p:nvPr>
            <p:ph type="ftr" sz="quarter" idx="11"/>
          </p:nvPr>
        </p:nvSpPr>
        <p:spPr/>
        <p:txBody>
          <a:bodyPr/>
          <a:lstStyle>
            <a:lvl1pPr>
              <a:defRPr sz="1000">
                <a:latin typeface="Georgia"/>
                <a:cs typeface="Georgia"/>
              </a:defRPr>
            </a:lvl1pPr>
          </a:lstStyle>
          <a:p>
            <a:endParaRPr lang="en-GB"/>
          </a:p>
        </p:txBody>
      </p:sp>
      <p:sp>
        <p:nvSpPr>
          <p:cNvPr id="6" name="Slide Number Placeholder 5"/>
          <p:cNvSpPr>
            <a:spLocks noGrp="1"/>
          </p:cNvSpPr>
          <p:nvPr>
            <p:ph type="sldNum" sz="quarter" idx="12"/>
          </p:nvPr>
        </p:nvSpPr>
        <p:spPr>
          <a:xfrm>
            <a:off x="10752000" y="6498000"/>
            <a:ext cx="960000" cy="360000"/>
          </a:xfrm>
        </p:spPr>
        <p:txBody>
          <a:bodyPr/>
          <a:lstStyle>
            <a:lvl1pPr>
              <a:defRPr sz="1000">
                <a:latin typeface="Georgia"/>
                <a:cs typeface="Georgia"/>
              </a:defRPr>
            </a:lvl1pPr>
          </a:lstStyle>
          <a:p>
            <a:fld id="{4A8CB23C-D128-4402-B6F7-F16056FE359A}" type="slidenum">
              <a:rPr lang="en-GB" smtClean="0"/>
              <a:t>‹#›</a:t>
            </a:fld>
            <a:endParaRPr lang="en-GB"/>
          </a:p>
        </p:txBody>
      </p:sp>
      <p:cxnSp>
        <p:nvCxnSpPr>
          <p:cNvPr id="7" name="Straight Connector 6"/>
          <p:cNvCxnSpPr/>
          <p:nvPr/>
        </p:nvCxnSpPr>
        <p:spPr>
          <a:xfrm>
            <a:off x="480000" y="909220"/>
            <a:ext cx="11232000" cy="0"/>
          </a:xfrm>
          <a:prstGeom prst="line">
            <a:avLst/>
          </a:prstGeom>
          <a:ln w="12700">
            <a:solidFill>
              <a:srgbClr val="C2B6AB"/>
            </a:solidFill>
          </a:ln>
          <a:effectLst/>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a:off x="480000" y="909220"/>
            <a:ext cx="11232000" cy="0"/>
          </a:xfrm>
          <a:prstGeom prst="line">
            <a:avLst/>
          </a:prstGeom>
          <a:ln w="12700">
            <a:solidFill>
              <a:schemeClr val="bg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60734885"/>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1_Title and Content -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normAutofit/>
          </a:bodyPr>
          <a:lstStyle>
            <a:lvl1pPr marL="269875" indent="-269875">
              <a:lnSpc>
                <a:spcPct val="120000"/>
              </a:lnSpc>
              <a:spcBef>
                <a:spcPts val="0"/>
              </a:spcBef>
              <a:defRPr sz="2000">
                <a:latin typeface="Georgia"/>
                <a:cs typeface="Georgia"/>
              </a:defRPr>
            </a:lvl1pPr>
            <a:lvl2pPr marL="539750" indent="-269875">
              <a:lnSpc>
                <a:spcPct val="120000"/>
              </a:lnSpc>
              <a:spcBef>
                <a:spcPts val="0"/>
              </a:spcBef>
              <a:defRPr sz="2000">
                <a:latin typeface="Georgia"/>
                <a:cs typeface="Georgia"/>
              </a:defRPr>
            </a:lvl2pPr>
            <a:lvl3pPr marL="809625" indent="-269875">
              <a:lnSpc>
                <a:spcPct val="120000"/>
              </a:lnSpc>
              <a:spcBef>
                <a:spcPts val="0"/>
              </a:spcBef>
              <a:defRPr sz="2000">
                <a:latin typeface="Georgia"/>
                <a:cs typeface="Georgia"/>
              </a:defRPr>
            </a:lvl3pPr>
            <a:lvl4pPr marL="1079500" indent="-269875">
              <a:lnSpc>
                <a:spcPct val="120000"/>
              </a:lnSpc>
              <a:spcBef>
                <a:spcPts val="0"/>
              </a:spcBef>
              <a:defRPr sz="2000">
                <a:latin typeface="Georgia"/>
                <a:cs typeface="Georgia"/>
              </a:defRPr>
            </a:lvl4pPr>
            <a:lvl5pPr marL="1341438" indent="-261938">
              <a:lnSpc>
                <a:spcPct val="120000"/>
              </a:lnSpc>
              <a:spcBef>
                <a:spcPts val="0"/>
              </a:spcBef>
              <a:defRPr sz="2000">
                <a:latin typeface="Georgia"/>
                <a:cs typeface="Georgia"/>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z="1000">
                <a:latin typeface="Georgia"/>
                <a:cs typeface="Georgia"/>
              </a:defRPr>
            </a:lvl1pPr>
          </a:lstStyle>
          <a:p>
            <a:fld id="{56764FFD-37C9-48A3-8A00-15576C012ED5}" type="datetimeFigureOut">
              <a:rPr lang="en-GB" smtClean="0"/>
              <a:t>20/01/2024</a:t>
            </a:fld>
            <a:endParaRPr lang="en-GB"/>
          </a:p>
        </p:txBody>
      </p:sp>
      <p:sp>
        <p:nvSpPr>
          <p:cNvPr id="5" name="Footer Placeholder 4"/>
          <p:cNvSpPr>
            <a:spLocks noGrp="1"/>
          </p:cNvSpPr>
          <p:nvPr>
            <p:ph type="ftr" sz="quarter" idx="11"/>
          </p:nvPr>
        </p:nvSpPr>
        <p:spPr/>
        <p:txBody>
          <a:bodyPr/>
          <a:lstStyle>
            <a:lvl1pPr>
              <a:defRPr sz="1000">
                <a:latin typeface="Georgia"/>
                <a:cs typeface="Georgia"/>
              </a:defRPr>
            </a:lvl1pPr>
          </a:lstStyle>
          <a:p>
            <a:endParaRPr lang="en-GB"/>
          </a:p>
        </p:txBody>
      </p:sp>
      <p:sp>
        <p:nvSpPr>
          <p:cNvPr id="6" name="Slide Number Placeholder 5"/>
          <p:cNvSpPr>
            <a:spLocks noGrp="1"/>
          </p:cNvSpPr>
          <p:nvPr>
            <p:ph type="sldNum" sz="quarter" idx="12"/>
          </p:nvPr>
        </p:nvSpPr>
        <p:spPr>
          <a:xfrm>
            <a:off x="10752000" y="6498000"/>
            <a:ext cx="960000" cy="360000"/>
          </a:xfrm>
        </p:spPr>
        <p:txBody>
          <a:bodyPr/>
          <a:lstStyle>
            <a:lvl1pPr>
              <a:defRPr sz="1000">
                <a:latin typeface="Georgia"/>
                <a:cs typeface="Georgia"/>
              </a:defRPr>
            </a:lvl1pPr>
          </a:lstStyle>
          <a:p>
            <a:fld id="{4A8CB23C-D128-4402-B6F7-F16056FE359A}" type="slidenum">
              <a:rPr lang="en-GB" smtClean="0"/>
              <a:t>‹#›</a:t>
            </a:fld>
            <a:endParaRPr lang="en-GB"/>
          </a:p>
        </p:txBody>
      </p:sp>
      <p:cxnSp>
        <p:nvCxnSpPr>
          <p:cNvPr id="11" name="Straight Connector 10"/>
          <p:cNvCxnSpPr/>
          <p:nvPr/>
        </p:nvCxnSpPr>
        <p:spPr>
          <a:xfrm>
            <a:off x="480000" y="909220"/>
            <a:ext cx="11232000" cy="0"/>
          </a:xfrm>
          <a:prstGeom prst="line">
            <a:avLst/>
          </a:prstGeom>
          <a:ln w="12700">
            <a:solidFill>
              <a:schemeClr val="bg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68065800"/>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lumns - text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80000" y="1088721"/>
            <a:ext cx="5376000" cy="4860560"/>
          </a:xfrm>
        </p:spPr>
        <p:txBody>
          <a:bodyPr>
            <a:normAutofit/>
          </a:bodyPr>
          <a:lstStyle>
            <a:lvl1pPr marL="0" indent="0">
              <a:buNone/>
              <a:defRPr sz="2000">
                <a:solidFill>
                  <a:srgbClr val="0A2D50"/>
                </a:solidFill>
                <a:latin typeface="Impact"/>
                <a:cs typeface="Impact"/>
              </a:defRPr>
            </a:lvl1pPr>
            <a:lvl2pPr marL="0" indent="0">
              <a:buNone/>
              <a:defRPr sz="2000"/>
            </a:lvl2pPr>
            <a:lvl3pPr marL="269875" indent="-269875">
              <a:defRPr sz="2000"/>
            </a:lvl3pPr>
            <a:lvl4pPr marL="539750" indent="-269875">
              <a:defRPr sz="2000"/>
            </a:lvl4pPr>
            <a:lvl5pPr marL="809625" indent="-269875">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6000" y="1088721"/>
            <a:ext cx="5376000" cy="4860560"/>
          </a:xfrm>
        </p:spPr>
        <p:txBody>
          <a:bodyPr>
            <a:normAutofit/>
          </a:bodyPr>
          <a:lstStyle>
            <a:lvl1pPr marL="0" indent="0">
              <a:buNone/>
              <a:defRPr sz="2000">
                <a:solidFill>
                  <a:srgbClr val="0A2D50"/>
                </a:solidFill>
                <a:latin typeface="Impact"/>
                <a:cs typeface="Impact"/>
              </a:defRPr>
            </a:lvl1pPr>
            <a:lvl2pPr marL="0" indent="0">
              <a:buNone/>
              <a:defRPr sz="2000"/>
            </a:lvl2pPr>
            <a:lvl3pPr marL="269875" indent="-269875">
              <a:defRPr sz="2000"/>
            </a:lvl3pPr>
            <a:lvl4pPr marL="539750" indent="-269875">
              <a:defRPr sz="2000"/>
            </a:lvl4pPr>
            <a:lvl5pPr marL="809625" indent="-269875">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6764FFD-37C9-48A3-8A00-15576C012ED5}" type="datetimeFigureOut">
              <a:rPr lang="en-GB" smtClean="0"/>
              <a:t>20/01/2024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A8CB23C-D128-4402-B6F7-F16056FE359A}" type="slidenum">
              <a:rPr lang="en-GB" smtClean="0"/>
              <a:t>‹#›</a:t>
            </a:fld>
            <a:endParaRPr lang="en-GB"/>
          </a:p>
        </p:txBody>
      </p:sp>
      <p:cxnSp>
        <p:nvCxnSpPr>
          <p:cNvPr id="12" name="Straight Connector 11"/>
          <p:cNvCxnSpPr/>
          <p:nvPr/>
        </p:nvCxnSpPr>
        <p:spPr>
          <a:xfrm>
            <a:off x="480000" y="909220"/>
            <a:ext cx="11232000" cy="0"/>
          </a:xfrm>
          <a:prstGeom prst="line">
            <a:avLst/>
          </a:prstGeom>
          <a:ln w="12700">
            <a:solidFill>
              <a:schemeClr val="bg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27745447"/>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lumns - bullets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80000" y="1088721"/>
            <a:ext cx="5376000" cy="4860560"/>
          </a:xfr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6000" y="1088721"/>
            <a:ext cx="5376000" cy="4860560"/>
          </a:xfr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6764FFD-37C9-48A3-8A00-15576C012ED5}" type="datetimeFigureOut">
              <a:rPr lang="en-GB" smtClean="0"/>
              <a:t>20/01/2024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A8CB23C-D128-4402-B6F7-F16056FE359A}" type="slidenum">
              <a:rPr lang="en-GB" smtClean="0"/>
              <a:t>‹#›</a:t>
            </a:fld>
            <a:endParaRPr lang="en-GB"/>
          </a:p>
        </p:txBody>
      </p:sp>
      <p:cxnSp>
        <p:nvCxnSpPr>
          <p:cNvPr id="11" name="Straight Connector 10"/>
          <p:cNvCxnSpPr/>
          <p:nvPr/>
        </p:nvCxnSpPr>
        <p:spPr>
          <a:xfrm>
            <a:off x="480000" y="909220"/>
            <a:ext cx="11232000" cy="0"/>
          </a:xfrm>
          <a:prstGeom prst="line">
            <a:avLst/>
          </a:prstGeom>
          <a:ln w="12700">
            <a:solidFill>
              <a:schemeClr val="bg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71942294"/>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Picture x1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480000" y="1088723"/>
            <a:ext cx="11232000" cy="468055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80000" y="5949280"/>
            <a:ext cx="11232000" cy="54872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6764FFD-37C9-48A3-8A00-15576C012ED5}" type="datetimeFigureOut">
              <a:rPr lang="en-GB" smtClean="0"/>
              <a:t>20/01/2024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A8CB23C-D128-4402-B6F7-F16056FE359A}" type="slidenum">
              <a:rPr lang="en-GB" smtClean="0"/>
              <a:t>‹#›</a:t>
            </a:fld>
            <a:endParaRPr lang="en-GB"/>
          </a:p>
        </p:txBody>
      </p:sp>
      <p:sp>
        <p:nvSpPr>
          <p:cNvPr id="9" name="Title 8"/>
          <p:cNvSpPr>
            <a:spLocks noGrp="1"/>
          </p:cNvSpPr>
          <p:nvPr>
            <p:ph type="title"/>
          </p:nvPr>
        </p:nvSpPr>
        <p:spPr/>
        <p:txBody>
          <a:bodyPr/>
          <a:lstStyle/>
          <a:p>
            <a:r>
              <a:rPr lang="en-US"/>
              <a:t>Click to edit Master title style</a:t>
            </a:r>
          </a:p>
        </p:txBody>
      </p:sp>
      <p:cxnSp>
        <p:nvCxnSpPr>
          <p:cNvPr id="12" name="Straight Connector 11"/>
          <p:cNvCxnSpPr/>
          <p:nvPr/>
        </p:nvCxnSpPr>
        <p:spPr>
          <a:xfrm>
            <a:off x="480000" y="909220"/>
            <a:ext cx="11232000" cy="0"/>
          </a:xfrm>
          <a:prstGeom prst="line">
            <a:avLst/>
          </a:prstGeom>
          <a:ln w="12700">
            <a:solidFill>
              <a:schemeClr val="bg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89376442"/>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Picture x 6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480003" y="1088720"/>
            <a:ext cx="3600028" cy="2250280"/>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80000" y="5949280"/>
            <a:ext cx="11232000" cy="54872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6764FFD-37C9-48A3-8A00-15576C012ED5}" type="datetimeFigureOut">
              <a:rPr lang="en-GB" smtClean="0"/>
              <a:t>20/01/2024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A8CB23C-D128-4402-B6F7-F16056FE359A}" type="slidenum">
              <a:rPr lang="en-GB" smtClean="0"/>
              <a:t>‹#›</a:t>
            </a:fld>
            <a:endParaRPr lang="en-GB"/>
          </a:p>
        </p:txBody>
      </p:sp>
      <p:sp>
        <p:nvSpPr>
          <p:cNvPr id="17" name="Picture Placeholder 2"/>
          <p:cNvSpPr>
            <a:spLocks noGrp="1"/>
          </p:cNvSpPr>
          <p:nvPr>
            <p:ph type="pic" idx="13"/>
          </p:nvPr>
        </p:nvSpPr>
        <p:spPr>
          <a:xfrm>
            <a:off x="480003" y="3519000"/>
            <a:ext cx="3600028" cy="2254600"/>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8" name="Picture Placeholder 2"/>
          <p:cNvSpPr>
            <a:spLocks noGrp="1"/>
          </p:cNvSpPr>
          <p:nvPr>
            <p:ph type="pic" idx="14"/>
          </p:nvPr>
        </p:nvSpPr>
        <p:spPr>
          <a:xfrm>
            <a:off x="8111971" y="1088720"/>
            <a:ext cx="3603072" cy="2250280"/>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9" name="Picture Placeholder 2"/>
          <p:cNvSpPr>
            <a:spLocks noGrp="1"/>
          </p:cNvSpPr>
          <p:nvPr>
            <p:ph type="pic" idx="15"/>
          </p:nvPr>
        </p:nvSpPr>
        <p:spPr>
          <a:xfrm>
            <a:off x="8111971" y="3519000"/>
            <a:ext cx="3603072" cy="2254600"/>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p:txBody>
          <a:bodyPr/>
          <a:lstStyle/>
          <a:p>
            <a:r>
              <a:rPr lang="en-US"/>
              <a:t>Click to edit Master title style</a:t>
            </a:r>
            <a:endParaRPr lang="en-US" dirty="0"/>
          </a:p>
        </p:txBody>
      </p:sp>
      <p:sp>
        <p:nvSpPr>
          <p:cNvPr id="24" name="Picture Placeholder 2"/>
          <p:cNvSpPr>
            <a:spLocks noGrp="1"/>
          </p:cNvSpPr>
          <p:nvPr>
            <p:ph type="pic" idx="16"/>
          </p:nvPr>
        </p:nvSpPr>
        <p:spPr>
          <a:xfrm>
            <a:off x="4295985" y="1088720"/>
            <a:ext cx="3603072" cy="2250280"/>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5" name="Picture Placeholder 2"/>
          <p:cNvSpPr>
            <a:spLocks noGrp="1"/>
          </p:cNvSpPr>
          <p:nvPr>
            <p:ph type="pic" idx="17"/>
          </p:nvPr>
        </p:nvSpPr>
        <p:spPr>
          <a:xfrm>
            <a:off x="4295985" y="3519000"/>
            <a:ext cx="3603072" cy="2254600"/>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cxnSp>
        <p:nvCxnSpPr>
          <p:cNvPr id="20" name="Straight Connector 19"/>
          <p:cNvCxnSpPr/>
          <p:nvPr/>
        </p:nvCxnSpPr>
        <p:spPr>
          <a:xfrm>
            <a:off x="480000" y="909220"/>
            <a:ext cx="11232000" cy="0"/>
          </a:xfrm>
          <a:prstGeom prst="line">
            <a:avLst/>
          </a:prstGeom>
          <a:ln w="12700">
            <a:solidFill>
              <a:schemeClr val="bg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58113711"/>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Picture x 4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480000" y="1088720"/>
            <a:ext cx="5496000" cy="2250280"/>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80000" y="5949280"/>
            <a:ext cx="11232000" cy="54872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6764FFD-37C9-48A3-8A00-15576C012ED5}" type="datetimeFigureOut">
              <a:rPr lang="en-GB" smtClean="0"/>
              <a:t>20/01/2024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A8CB23C-D128-4402-B6F7-F16056FE359A}" type="slidenum">
              <a:rPr lang="en-GB" smtClean="0"/>
              <a:t>‹#›</a:t>
            </a:fld>
            <a:endParaRPr lang="en-GB"/>
          </a:p>
        </p:txBody>
      </p:sp>
      <p:sp>
        <p:nvSpPr>
          <p:cNvPr id="17" name="Picture Placeholder 2"/>
          <p:cNvSpPr>
            <a:spLocks noGrp="1"/>
          </p:cNvSpPr>
          <p:nvPr>
            <p:ph type="pic" idx="13"/>
          </p:nvPr>
        </p:nvSpPr>
        <p:spPr>
          <a:xfrm>
            <a:off x="480000" y="3519000"/>
            <a:ext cx="5496000" cy="2254600"/>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8" name="Picture Placeholder 2"/>
          <p:cNvSpPr>
            <a:spLocks noGrp="1"/>
          </p:cNvSpPr>
          <p:nvPr>
            <p:ph type="pic" idx="14"/>
          </p:nvPr>
        </p:nvSpPr>
        <p:spPr>
          <a:xfrm>
            <a:off x="6216001" y="1088720"/>
            <a:ext cx="5499043" cy="2250280"/>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9" name="Picture Placeholder 2"/>
          <p:cNvSpPr>
            <a:spLocks noGrp="1"/>
          </p:cNvSpPr>
          <p:nvPr>
            <p:ph type="pic" idx="15"/>
          </p:nvPr>
        </p:nvSpPr>
        <p:spPr>
          <a:xfrm>
            <a:off x="6216001" y="3519000"/>
            <a:ext cx="5499043" cy="2254600"/>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p:txBody>
          <a:bodyPr/>
          <a:lstStyle/>
          <a:p>
            <a:r>
              <a:rPr lang="en-US"/>
              <a:t>Click to edit Master title style</a:t>
            </a:r>
          </a:p>
        </p:txBody>
      </p:sp>
      <p:cxnSp>
        <p:nvCxnSpPr>
          <p:cNvPr id="14" name="Straight Connector 13"/>
          <p:cNvCxnSpPr/>
          <p:nvPr/>
        </p:nvCxnSpPr>
        <p:spPr>
          <a:xfrm>
            <a:off x="480000" y="909220"/>
            <a:ext cx="11232000" cy="0"/>
          </a:xfrm>
          <a:prstGeom prst="line">
            <a:avLst/>
          </a:prstGeom>
          <a:ln w="12700">
            <a:solidFill>
              <a:schemeClr val="bg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53050091"/>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wo columns bullets and image - alt 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80000" y="1088721"/>
            <a:ext cx="5376000" cy="4860560"/>
          </a:xfr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6764FFD-37C9-48A3-8A00-15576C012ED5}" type="datetimeFigureOut">
              <a:rPr lang="en-GB" smtClean="0"/>
              <a:t>20/01/2024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A8CB23C-D128-4402-B6F7-F16056FE359A}" type="slidenum">
              <a:rPr lang="en-GB" smtClean="0"/>
              <a:t>‹#›</a:t>
            </a:fld>
            <a:endParaRPr lang="en-GB"/>
          </a:p>
        </p:txBody>
      </p:sp>
      <p:sp>
        <p:nvSpPr>
          <p:cNvPr id="9" name="Picture Placeholder 8"/>
          <p:cNvSpPr>
            <a:spLocks noGrp="1"/>
          </p:cNvSpPr>
          <p:nvPr>
            <p:ph type="pic" sz="quarter" idx="13"/>
          </p:nvPr>
        </p:nvSpPr>
        <p:spPr>
          <a:xfrm>
            <a:off x="6339903" y="1089025"/>
            <a:ext cx="5372100" cy="4860925"/>
          </a:xfrm>
        </p:spPr>
        <p:txBody>
          <a:bodyPr/>
          <a:lstStyle/>
          <a:p>
            <a:r>
              <a:rPr lang="en-US"/>
              <a:t>Click icon to add picture</a:t>
            </a:r>
            <a:endParaRPr lang="en-US" dirty="0"/>
          </a:p>
        </p:txBody>
      </p:sp>
      <p:cxnSp>
        <p:nvCxnSpPr>
          <p:cNvPr id="12" name="Straight Connector 11"/>
          <p:cNvCxnSpPr/>
          <p:nvPr/>
        </p:nvCxnSpPr>
        <p:spPr>
          <a:xfrm>
            <a:off x="480000" y="909220"/>
            <a:ext cx="11232000" cy="0"/>
          </a:xfrm>
          <a:prstGeom prst="line">
            <a:avLst/>
          </a:prstGeom>
          <a:ln w="12700">
            <a:solidFill>
              <a:schemeClr val="bg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85421677"/>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lumns bullets and image - alt 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336000" y="1088721"/>
            <a:ext cx="5376000" cy="4860560"/>
          </a:xfr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6764FFD-37C9-48A3-8A00-15576C012ED5}" type="datetimeFigureOut">
              <a:rPr lang="en-GB" smtClean="0"/>
              <a:t>20/01/2024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A8CB23C-D128-4402-B6F7-F16056FE359A}" type="slidenum">
              <a:rPr lang="en-GB" smtClean="0"/>
              <a:t>‹#›</a:t>
            </a:fld>
            <a:endParaRPr lang="en-GB"/>
          </a:p>
        </p:txBody>
      </p:sp>
      <p:sp>
        <p:nvSpPr>
          <p:cNvPr id="9" name="Picture Placeholder 8"/>
          <p:cNvSpPr>
            <a:spLocks noGrp="1"/>
          </p:cNvSpPr>
          <p:nvPr>
            <p:ph type="pic" sz="quarter" idx="13"/>
          </p:nvPr>
        </p:nvSpPr>
        <p:spPr>
          <a:xfrm>
            <a:off x="480003" y="1089025"/>
            <a:ext cx="5372100" cy="4860925"/>
          </a:xfrm>
        </p:spPr>
        <p:txBody>
          <a:bodyPr/>
          <a:lstStyle/>
          <a:p>
            <a:r>
              <a:rPr lang="en-US"/>
              <a:t>Click icon to add picture</a:t>
            </a:r>
            <a:endParaRPr lang="en-US" dirty="0"/>
          </a:p>
        </p:txBody>
      </p:sp>
      <p:cxnSp>
        <p:nvCxnSpPr>
          <p:cNvPr id="12" name="Straight Connector 11"/>
          <p:cNvCxnSpPr/>
          <p:nvPr/>
        </p:nvCxnSpPr>
        <p:spPr>
          <a:xfrm>
            <a:off x="480000" y="909220"/>
            <a:ext cx="11232000" cy="0"/>
          </a:xfrm>
          <a:prstGeom prst="line">
            <a:avLst/>
          </a:prstGeom>
          <a:ln w="12700">
            <a:solidFill>
              <a:schemeClr val="bg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03689329"/>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wo columns - text/bullets and image - alt 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80000" y="1088721"/>
            <a:ext cx="5376000" cy="4860560"/>
          </a:xfrm>
        </p:spPr>
        <p:txBody>
          <a:bodyPr>
            <a:normAutofit/>
          </a:bodyPr>
          <a:lstStyle>
            <a:lvl1pPr marL="0" indent="0">
              <a:buNone/>
              <a:defRPr sz="2000">
                <a:solidFill>
                  <a:srgbClr val="0A2D50"/>
                </a:solidFill>
                <a:latin typeface="Impact"/>
                <a:cs typeface="Impact"/>
              </a:defRPr>
            </a:lvl1pPr>
            <a:lvl2pPr marL="0" indent="0">
              <a:buNone/>
              <a:defRPr sz="2000"/>
            </a:lvl2pPr>
            <a:lvl3pPr marL="269875" indent="-269875">
              <a:defRPr sz="2000"/>
            </a:lvl3pPr>
            <a:lvl4pPr marL="539750" indent="-269875">
              <a:defRPr sz="2000"/>
            </a:lvl4pPr>
            <a:lvl5pPr marL="809625" indent="-269875">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6764FFD-37C9-48A3-8A00-15576C012ED5}" type="datetimeFigureOut">
              <a:rPr lang="en-GB" smtClean="0"/>
              <a:t>20/01/2024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A8CB23C-D128-4402-B6F7-F16056FE359A}" type="slidenum">
              <a:rPr lang="en-GB" smtClean="0"/>
              <a:t>‹#›</a:t>
            </a:fld>
            <a:endParaRPr lang="en-GB"/>
          </a:p>
        </p:txBody>
      </p:sp>
      <p:sp>
        <p:nvSpPr>
          <p:cNvPr id="11" name="Picture Placeholder 10"/>
          <p:cNvSpPr>
            <a:spLocks noGrp="1"/>
          </p:cNvSpPr>
          <p:nvPr>
            <p:ph type="pic" sz="quarter" idx="13"/>
          </p:nvPr>
        </p:nvSpPr>
        <p:spPr>
          <a:xfrm>
            <a:off x="6335668" y="1089025"/>
            <a:ext cx="5376333" cy="4860925"/>
          </a:xfrm>
        </p:spPr>
        <p:txBody>
          <a:bodyPr/>
          <a:lstStyle/>
          <a:p>
            <a:r>
              <a:rPr lang="en-US"/>
              <a:t>Click icon to add picture</a:t>
            </a:r>
            <a:endParaRPr lang="en-US" dirty="0"/>
          </a:p>
        </p:txBody>
      </p:sp>
      <p:cxnSp>
        <p:nvCxnSpPr>
          <p:cNvPr id="12" name="Straight Connector 11"/>
          <p:cNvCxnSpPr/>
          <p:nvPr/>
        </p:nvCxnSpPr>
        <p:spPr>
          <a:xfrm>
            <a:off x="480000" y="909220"/>
            <a:ext cx="11232000" cy="0"/>
          </a:xfrm>
          <a:prstGeom prst="line">
            <a:avLst/>
          </a:prstGeom>
          <a:ln w="12700">
            <a:solidFill>
              <a:schemeClr val="bg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63182959"/>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wo columns - text/bullets and image - alt 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336000" y="1088721"/>
            <a:ext cx="5376000" cy="4860560"/>
          </a:xfrm>
        </p:spPr>
        <p:txBody>
          <a:bodyPr>
            <a:normAutofit/>
          </a:bodyPr>
          <a:lstStyle>
            <a:lvl1pPr marL="0" indent="0">
              <a:buNone/>
              <a:defRPr sz="2000">
                <a:solidFill>
                  <a:srgbClr val="0A2D50"/>
                </a:solidFill>
                <a:latin typeface="Impact"/>
                <a:cs typeface="Impact"/>
              </a:defRPr>
            </a:lvl1pPr>
            <a:lvl2pPr marL="0" indent="0">
              <a:buNone/>
              <a:defRPr sz="2000"/>
            </a:lvl2pPr>
            <a:lvl3pPr marL="269875" indent="-269875">
              <a:defRPr sz="2000"/>
            </a:lvl3pPr>
            <a:lvl4pPr marL="539750" indent="-269875">
              <a:defRPr sz="2000"/>
            </a:lvl4pPr>
            <a:lvl5pPr marL="809625" indent="-269875">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6764FFD-37C9-48A3-8A00-15576C012ED5}" type="datetimeFigureOut">
              <a:rPr lang="en-GB" smtClean="0"/>
              <a:t>20/01/2024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A8CB23C-D128-4402-B6F7-F16056FE359A}" type="slidenum">
              <a:rPr lang="en-GB" smtClean="0"/>
              <a:t>‹#›</a:t>
            </a:fld>
            <a:endParaRPr lang="en-GB"/>
          </a:p>
        </p:txBody>
      </p:sp>
      <p:sp>
        <p:nvSpPr>
          <p:cNvPr id="11" name="Picture Placeholder 10"/>
          <p:cNvSpPr>
            <a:spLocks noGrp="1"/>
          </p:cNvSpPr>
          <p:nvPr>
            <p:ph type="pic" sz="quarter" idx="13"/>
          </p:nvPr>
        </p:nvSpPr>
        <p:spPr>
          <a:xfrm>
            <a:off x="480000" y="1088356"/>
            <a:ext cx="5376333" cy="4860925"/>
          </a:xfrm>
        </p:spPr>
        <p:txBody>
          <a:bodyPr/>
          <a:lstStyle/>
          <a:p>
            <a:r>
              <a:rPr lang="en-US"/>
              <a:t>Click icon to add picture</a:t>
            </a:r>
            <a:endParaRPr lang="en-US" dirty="0"/>
          </a:p>
        </p:txBody>
      </p:sp>
      <p:cxnSp>
        <p:nvCxnSpPr>
          <p:cNvPr id="12" name="Straight Connector 11"/>
          <p:cNvCxnSpPr/>
          <p:nvPr/>
        </p:nvCxnSpPr>
        <p:spPr>
          <a:xfrm>
            <a:off x="480000" y="909220"/>
            <a:ext cx="11232000" cy="0"/>
          </a:xfrm>
          <a:prstGeom prst="line">
            <a:avLst/>
          </a:prstGeom>
          <a:ln w="12700">
            <a:solidFill>
              <a:schemeClr val="bg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64935402"/>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End page">
    <p:spTree>
      <p:nvGrpSpPr>
        <p:cNvPr id="1" name=""/>
        <p:cNvGrpSpPr/>
        <p:nvPr/>
      </p:nvGrpSpPr>
      <p:grpSpPr>
        <a:xfrm>
          <a:off x="0" y="0"/>
          <a:ext cx="0" cy="0"/>
          <a:chOff x="0" y="0"/>
          <a:chExt cx="0" cy="0"/>
        </a:xfrm>
      </p:grpSpPr>
      <p:sp>
        <p:nvSpPr>
          <p:cNvPr id="2" name="Title 1"/>
          <p:cNvSpPr>
            <a:spLocks noGrp="1"/>
          </p:cNvSpPr>
          <p:nvPr>
            <p:ph type="ctrTitle"/>
          </p:nvPr>
        </p:nvSpPr>
        <p:spPr>
          <a:xfrm>
            <a:off x="480000" y="3420000"/>
            <a:ext cx="11232000" cy="2520000"/>
          </a:xfrm>
        </p:spPr>
        <p:txBody>
          <a:bodyPr anchor="b" anchorCtr="0">
            <a:normAutofit/>
          </a:bodyPr>
          <a:lstStyle>
            <a:lvl1pPr>
              <a:defRPr sz="1600" b="0" baseline="0">
                <a:solidFill>
                  <a:srgbClr val="FFFFFF"/>
                </a:solidFill>
                <a:latin typeface="+mn-lt"/>
              </a:defRPr>
            </a:lvl1pPr>
          </a:lstStyle>
          <a:p>
            <a:r>
              <a:rPr lang="en-US"/>
              <a:t>Click to edit Master title style</a:t>
            </a:r>
            <a:endParaRPr lang="en-US" dirty="0"/>
          </a:p>
        </p:txBody>
      </p:sp>
      <p:sp>
        <p:nvSpPr>
          <p:cNvPr id="3" name="Subtitle 2"/>
          <p:cNvSpPr>
            <a:spLocks noGrp="1"/>
          </p:cNvSpPr>
          <p:nvPr>
            <p:ph type="subTitle" idx="1"/>
          </p:nvPr>
        </p:nvSpPr>
        <p:spPr>
          <a:xfrm>
            <a:off x="480000" y="6120019"/>
            <a:ext cx="11232000" cy="358407"/>
          </a:xfrm>
        </p:spPr>
        <p:txBody>
          <a:bodyPr anchor="b" anchorCtr="0">
            <a:normAutofit/>
          </a:bodyPr>
          <a:lstStyle>
            <a:lvl1pPr marL="0" indent="0" algn="l">
              <a:buNone/>
              <a:defRPr sz="1200">
                <a:solidFill>
                  <a:srgbClr val="FFFFFF"/>
                </a:solidFill>
                <a:latin typeface="Georgia"/>
                <a:cs typeface="Georgi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grpSp>
        <p:nvGrpSpPr>
          <p:cNvPr id="12" name="Group 11"/>
          <p:cNvGrpSpPr>
            <a:grpSpLocks noChangeAspect="1"/>
          </p:cNvGrpSpPr>
          <p:nvPr/>
        </p:nvGrpSpPr>
        <p:grpSpPr>
          <a:xfrm>
            <a:off x="9912000" y="3"/>
            <a:ext cx="2280000" cy="1303021"/>
            <a:chOff x="7949775" y="1"/>
            <a:chExt cx="1194225" cy="910000"/>
          </a:xfrm>
        </p:grpSpPr>
        <p:sp>
          <p:nvSpPr>
            <p:cNvPr id="13" name="Rectangle 12"/>
            <p:cNvSpPr/>
            <p:nvPr userDrawn="1"/>
          </p:nvSpPr>
          <p:spPr>
            <a:xfrm>
              <a:off x="7949775" y="1"/>
              <a:ext cx="1194225" cy="910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pic>
          <p:nvPicPr>
            <p:cNvPr id="14" name="KCL-LOGO-UK-1.png"/>
            <p:cNvPicPr>
              <a:picLocks noChangeAspect="1"/>
            </p:cNvPicPr>
            <p:nvPr userDrawn="1"/>
          </p:nvPicPr>
          <p:blipFill>
            <a:blip r:embed="rId2" r:link="rId3" cstate="print">
              <a:extLst>
                <a:ext uri="{28A0092B-C50C-407E-A947-70E740481C1C}">
                  <a14:useLocalDpi xmlns:a14="http://schemas.microsoft.com/office/drawing/2010/main" val="0"/>
                </a:ext>
              </a:extLst>
            </a:blip>
            <a:stretch>
              <a:fillRect/>
            </a:stretch>
          </p:blipFill>
          <p:spPr>
            <a:xfrm>
              <a:off x="7949775" y="258"/>
              <a:ext cx="1194225" cy="909486"/>
            </a:xfrm>
            <a:prstGeom prst="rect">
              <a:avLst/>
            </a:prstGeom>
          </p:spPr>
        </p:pic>
      </p:grpSp>
    </p:spTree>
    <p:extLst>
      <p:ext uri="{BB962C8B-B14F-4D97-AF65-F5344CB8AC3E}">
        <p14:creationId xmlns:p14="http://schemas.microsoft.com/office/powerpoint/2010/main" val="2030741902"/>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556793"/>
            <a:ext cx="5384800" cy="4269468"/>
          </a:xfrm>
          <a:prstGeom prst="rect">
            <a:avLst/>
          </a:prstGeom>
        </p:spPr>
        <p:txBody>
          <a:bodyPr>
            <a:normAutofit/>
          </a:bodyPr>
          <a:lstStyle>
            <a:lvl1pPr>
              <a:defRPr sz="2400"/>
            </a:lvl1pPr>
            <a:lvl2pPr>
              <a:defRPr sz="2130"/>
            </a:lvl2pPr>
            <a:lvl3pPr>
              <a:defRPr sz="1870"/>
            </a:lvl3pPr>
            <a:lvl4pPr>
              <a:defRPr sz="2133"/>
            </a:lvl4pPr>
            <a:lvl5pPr>
              <a:defRPr sz="2133"/>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p:txBody>
      </p:sp>
      <p:sp>
        <p:nvSpPr>
          <p:cNvPr id="5" name="Date Placeholder 3">
            <a:extLst>
              <a:ext uri="{FF2B5EF4-FFF2-40B4-BE49-F238E27FC236}">
                <a16:creationId xmlns:a16="http://schemas.microsoft.com/office/drawing/2014/main" id="{67276534-D227-482D-AC62-73FA3EB83E06}"/>
              </a:ext>
            </a:extLst>
          </p:cNvPr>
          <p:cNvSpPr>
            <a:spLocks noGrp="1"/>
          </p:cNvSpPr>
          <p:nvPr>
            <p:ph type="dt" sz="half" idx="10"/>
          </p:nvPr>
        </p:nvSpPr>
        <p:spPr/>
        <p:txBody>
          <a:bodyPr/>
          <a:lstStyle>
            <a:lvl1pPr>
              <a:defRPr/>
            </a:lvl1pPr>
          </a:lstStyle>
          <a:p>
            <a:fld id="{56764FFD-37C9-48A3-8A00-15576C012ED5}" type="datetimeFigureOut">
              <a:rPr lang="en-GB" smtClean="0"/>
              <a:t>20/01/2024</a:t>
            </a:fld>
            <a:endParaRPr lang="en-GB"/>
          </a:p>
        </p:txBody>
      </p:sp>
      <p:sp>
        <p:nvSpPr>
          <p:cNvPr id="6" name="Footer Placeholder 4">
            <a:extLst>
              <a:ext uri="{FF2B5EF4-FFF2-40B4-BE49-F238E27FC236}">
                <a16:creationId xmlns:a16="http://schemas.microsoft.com/office/drawing/2014/main" id="{09FEEBE0-EE3E-44CA-9D29-BE798CB79337}"/>
              </a:ext>
            </a:extLst>
          </p:cNvPr>
          <p:cNvSpPr>
            <a:spLocks noGrp="1"/>
          </p:cNvSpPr>
          <p:nvPr>
            <p:ph type="ftr" sz="quarter" idx="11"/>
          </p:nvPr>
        </p:nvSpPr>
        <p:spPr>
          <a:xfrm>
            <a:off x="3714751" y="6356351"/>
            <a:ext cx="3860800" cy="366183"/>
          </a:xfrm>
          <a:prstGeom prst="rect">
            <a:avLst/>
          </a:prstGeom>
        </p:spPr>
        <p:txBody>
          <a:bodyPr/>
          <a:lstStyle>
            <a:lvl1pPr>
              <a:defRPr/>
            </a:lvl1pPr>
          </a:lstStyle>
          <a:p>
            <a:endParaRPr lang="en-GB"/>
          </a:p>
        </p:txBody>
      </p:sp>
      <p:sp>
        <p:nvSpPr>
          <p:cNvPr id="7" name="Slide Number Placeholder 5">
            <a:extLst>
              <a:ext uri="{FF2B5EF4-FFF2-40B4-BE49-F238E27FC236}">
                <a16:creationId xmlns:a16="http://schemas.microsoft.com/office/drawing/2014/main" id="{8646E212-76A5-422F-A842-EDE34BF20AA1}"/>
              </a:ext>
            </a:extLst>
          </p:cNvPr>
          <p:cNvSpPr>
            <a:spLocks noGrp="1"/>
          </p:cNvSpPr>
          <p:nvPr>
            <p:ph type="sldNum" sz="quarter" idx="12"/>
          </p:nvPr>
        </p:nvSpPr>
        <p:spPr/>
        <p:txBody>
          <a:bodyPr/>
          <a:lstStyle>
            <a:lvl1pPr>
              <a:defRPr/>
            </a:lvl1pPr>
          </a:lstStyle>
          <a:p>
            <a:fld id="{4A8CB23C-D128-4402-B6F7-F16056FE359A}" type="slidenum">
              <a:rPr lang="en-GB" smtClean="0"/>
              <a:t>‹#›</a:t>
            </a:fld>
            <a:endParaRPr lang="en-GB"/>
          </a:p>
        </p:txBody>
      </p:sp>
      <p:sp>
        <p:nvSpPr>
          <p:cNvPr id="9" name="Title 5"/>
          <p:cNvSpPr>
            <a:spLocks noGrp="1"/>
          </p:cNvSpPr>
          <p:nvPr>
            <p:ph type="title"/>
          </p:nvPr>
        </p:nvSpPr>
        <p:spPr>
          <a:xfrm>
            <a:off x="609600" y="793378"/>
            <a:ext cx="10972800" cy="647700"/>
          </a:xfrm>
          <a:prstGeom prst="rect">
            <a:avLst/>
          </a:prstGeom>
        </p:spPr>
        <p:txBody>
          <a:bodyPr/>
          <a:lstStyle/>
          <a:p>
            <a:r>
              <a:rPr lang="en-US"/>
              <a:t>Click to edit Master title style</a:t>
            </a:r>
            <a:endParaRPr lang="en-GB" dirty="0"/>
          </a:p>
        </p:txBody>
      </p:sp>
    </p:spTree>
    <p:extLst>
      <p:ext uri="{BB962C8B-B14F-4D97-AF65-F5344CB8AC3E}">
        <p14:creationId xmlns:p14="http://schemas.microsoft.com/office/powerpoint/2010/main" val="14686032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9" name="Content Placeholder 15"/>
          <p:cNvSpPr>
            <a:spLocks noGrp="1"/>
          </p:cNvSpPr>
          <p:nvPr>
            <p:ph sz="quarter" idx="13"/>
          </p:nvPr>
        </p:nvSpPr>
        <p:spPr>
          <a:xfrm>
            <a:off x="609601" y="1628799"/>
            <a:ext cx="10972800" cy="4536505"/>
          </a:xfrm>
          <a:prstGeom prst="rect">
            <a:avLst/>
          </a:prstGeo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3" name="Date Placeholder 12"/>
          <p:cNvSpPr>
            <a:spLocks noGrp="1"/>
          </p:cNvSpPr>
          <p:nvPr>
            <p:ph type="dt" sz="half" idx="14"/>
          </p:nvPr>
        </p:nvSpPr>
        <p:spPr/>
        <p:txBody>
          <a:bodyPr/>
          <a:lstStyle>
            <a:lvl1pPr algn="r">
              <a:defRPr/>
            </a:lvl1pPr>
          </a:lstStyle>
          <a:p>
            <a:fld id="{56764FFD-37C9-48A3-8A00-15576C012ED5}" type="datetimeFigureOut">
              <a:rPr lang="en-GB" smtClean="0"/>
              <a:t>20/01/2024</a:t>
            </a:fld>
            <a:endParaRPr lang="en-GB"/>
          </a:p>
        </p:txBody>
      </p:sp>
      <p:sp>
        <p:nvSpPr>
          <p:cNvPr id="14" name="Slide Number Placeholder 13"/>
          <p:cNvSpPr>
            <a:spLocks noGrp="1"/>
          </p:cNvSpPr>
          <p:nvPr>
            <p:ph type="sldNum" sz="quarter" idx="15"/>
          </p:nvPr>
        </p:nvSpPr>
        <p:spPr/>
        <p:txBody>
          <a:bodyPr/>
          <a:lstStyle/>
          <a:p>
            <a:fld id="{4A8CB23C-D128-4402-B6F7-F16056FE359A}" type="slidenum">
              <a:rPr lang="en-GB" smtClean="0"/>
              <a:t>‹#›</a:t>
            </a:fld>
            <a:endParaRPr lang="en-GB"/>
          </a:p>
        </p:txBody>
      </p:sp>
      <p:sp>
        <p:nvSpPr>
          <p:cNvPr id="15" name="Title 5"/>
          <p:cNvSpPr>
            <a:spLocks noGrp="1"/>
          </p:cNvSpPr>
          <p:nvPr>
            <p:ph type="title"/>
          </p:nvPr>
        </p:nvSpPr>
        <p:spPr>
          <a:xfrm>
            <a:off x="609600" y="793378"/>
            <a:ext cx="10972800" cy="647700"/>
          </a:xfrm>
          <a:prstGeom prst="rect">
            <a:avLst/>
          </a:prstGeom>
        </p:spPr>
        <p:txBody>
          <a:bodyPr/>
          <a:lstStyle/>
          <a:p>
            <a:r>
              <a:rPr lang="en-US"/>
              <a:t>Click to edit Master title style</a:t>
            </a:r>
            <a:endParaRPr lang="en-GB" dirty="0"/>
          </a:p>
        </p:txBody>
      </p:sp>
    </p:spTree>
    <p:extLst>
      <p:ext uri="{BB962C8B-B14F-4D97-AF65-F5344CB8AC3E}">
        <p14:creationId xmlns:p14="http://schemas.microsoft.com/office/powerpoint/2010/main" val="347303846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trategy_Title and Content">
    <p:spTree>
      <p:nvGrpSpPr>
        <p:cNvPr id="1" name=""/>
        <p:cNvGrpSpPr/>
        <p:nvPr/>
      </p:nvGrpSpPr>
      <p:grpSpPr>
        <a:xfrm>
          <a:off x="0" y="0"/>
          <a:ext cx="0" cy="0"/>
          <a:chOff x="0" y="0"/>
          <a:chExt cx="0" cy="0"/>
        </a:xfrm>
      </p:grpSpPr>
      <p:sp>
        <p:nvSpPr>
          <p:cNvPr id="9" name="Content Placeholder 15"/>
          <p:cNvSpPr>
            <a:spLocks noGrp="1"/>
          </p:cNvSpPr>
          <p:nvPr>
            <p:ph sz="quarter" idx="13"/>
          </p:nvPr>
        </p:nvSpPr>
        <p:spPr>
          <a:xfrm>
            <a:off x="609601" y="1628799"/>
            <a:ext cx="10972800" cy="4536505"/>
          </a:xfrm>
          <a:prstGeom prst="rect">
            <a:avLst/>
          </a:prstGeo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3" name="Date Placeholder 12"/>
          <p:cNvSpPr>
            <a:spLocks noGrp="1"/>
          </p:cNvSpPr>
          <p:nvPr>
            <p:ph type="dt" sz="half" idx="14"/>
          </p:nvPr>
        </p:nvSpPr>
        <p:spPr/>
        <p:txBody>
          <a:bodyPr/>
          <a:lstStyle>
            <a:lvl1pPr algn="r">
              <a:defRPr/>
            </a:lvl1pPr>
          </a:lstStyle>
          <a:p>
            <a:fld id="{56764FFD-37C9-48A3-8A00-15576C012ED5}" type="datetimeFigureOut">
              <a:rPr lang="en-GB" smtClean="0"/>
              <a:t>20/01/2024</a:t>
            </a:fld>
            <a:endParaRPr lang="en-GB"/>
          </a:p>
        </p:txBody>
      </p:sp>
      <p:sp>
        <p:nvSpPr>
          <p:cNvPr id="14" name="Slide Number Placeholder 13"/>
          <p:cNvSpPr>
            <a:spLocks noGrp="1"/>
          </p:cNvSpPr>
          <p:nvPr>
            <p:ph type="sldNum" sz="quarter" idx="15"/>
          </p:nvPr>
        </p:nvSpPr>
        <p:spPr/>
        <p:txBody>
          <a:bodyPr/>
          <a:lstStyle/>
          <a:p>
            <a:fld id="{4A8CB23C-D128-4402-B6F7-F16056FE359A}" type="slidenum">
              <a:rPr lang="en-GB" smtClean="0"/>
              <a:t>‹#›</a:t>
            </a:fld>
            <a:endParaRPr lang="en-GB"/>
          </a:p>
        </p:txBody>
      </p:sp>
      <p:sp>
        <p:nvSpPr>
          <p:cNvPr id="15" name="Title 5"/>
          <p:cNvSpPr>
            <a:spLocks noGrp="1"/>
          </p:cNvSpPr>
          <p:nvPr>
            <p:ph type="title"/>
          </p:nvPr>
        </p:nvSpPr>
        <p:spPr>
          <a:xfrm>
            <a:off x="609600" y="793378"/>
            <a:ext cx="10972800" cy="647700"/>
          </a:xfrm>
          <a:prstGeom prst="rect">
            <a:avLst/>
          </a:prstGeom>
        </p:spPr>
        <p:txBody>
          <a:bodyPr/>
          <a:lstStyle/>
          <a:p>
            <a:r>
              <a:rPr lang="en-US"/>
              <a:t>Click to edit Master title style</a:t>
            </a:r>
            <a:endParaRPr lang="en-GB" dirty="0"/>
          </a:p>
        </p:txBody>
      </p:sp>
    </p:spTree>
    <p:extLst>
      <p:ext uri="{BB962C8B-B14F-4D97-AF65-F5344CB8AC3E}">
        <p14:creationId xmlns:p14="http://schemas.microsoft.com/office/powerpoint/2010/main" val="167492923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F91C3AB7-B446-4F72-ABF4-5CD8EB4362BE}"/>
              </a:ext>
            </a:extLst>
          </p:cNvPr>
          <p:cNvSpPr>
            <a:spLocks noGrp="1"/>
          </p:cNvSpPr>
          <p:nvPr>
            <p:ph type="dt" sz="half" idx="10"/>
          </p:nvPr>
        </p:nvSpPr>
        <p:spPr/>
        <p:txBody>
          <a:bodyPr/>
          <a:lstStyle>
            <a:lvl1pPr>
              <a:defRPr/>
            </a:lvl1pPr>
          </a:lstStyle>
          <a:p>
            <a:fld id="{56764FFD-37C9-48A3-8A00-15576C012ED5}" type="datetimeFigureOut">
              <a:rPr lang="en-GB" smtClean="0"/>
              <a:t>20/01/2024</a:t>
            </a:fld>
            <a:endParaRPr lang="en-GB"/>
          </a:p>
        </p:txBody>
      </p:sp>
      <p:sp>
        <p:nvSpPr>
          <p:cNvPr id="4" name="Slide Number Placeholder 5">
            <a:extLst>
              <a:ext uri="{FF2B5EF4-FFF2-40B4-BE49-F238E27FC236}">
                <a16:creationId xmlns:a16="http://schemas.microsoft.com/office/drawing/2014/main" id="{6A30E2C6-999F-4EDE-95E6-51D642113A04}"/>
              </a:ext>
            </a:extLst>
          </p:cNvPr>
          <p:cNvSpPr>
            <a:spLocks noGrp="1"/>
          </p:cNvSpPr>
          <p:nvPr>
            <p:ph type="sldNum" sz="quarter" idx="12"/>
          </p:nvPr>
        </p:nvSpPr>
        <p:spPr/>
        <p:txBody>
          <a:bodyPr/>
          <a:lstStyle>
            <a:lvl1pPr>
              <a:defRPr/>
            </a:lvl1pPr>
          </a:lstStyle>
          <a:p>
            <a:fld id="{4A8CB23C-D128-4402-B6F7-F16056FE359A}" type="slidenum">
              <a:rPr lang="en-GB" smtClean="0"/>
              <a:t>‹#›</a:t>
            </a:fld>
            <a:endParaRPr lang="en-GB"/>
          </a:p>
        </p:txBody>
      </p:sp>
      <p:sp>
        <p:nvSpPr>
          <p:cNvPr id="5" name="Footer Placeholder 4">
            <a:extLst>
              <a:ext uri="{FF2B5EF4-FFF2-40B4-BE49-F238E27FC236}">
                <a16:creationId xmlns:a16="http://schemas.microsoft.com/office/drawing/2014/main" id="{D142A6D1-940A-4FE1-91A1-99304940D6E9}"/>
              </a:ext>
            </a:extLst>
          </p:cNvPr>
          <p:cNvSpPr>
            <a:spLocks noGrp="1"/>
          </p:cNvSpPr>
          <p:nvPr>
            <p:ph type="ftr" sz="quarter" idx="11"/>
          </p:nvPr>
        </p:nvSpPr>
        <p:spPr>
          <a:xfrm>
            <a:off x="3714751" y="6356351"/>
            <a:ext cx="3860800" cy="366183"/>
          </a:xfrm>
          <a:prstGeom prst="rect">
            <a:avLst/>
          </a:prstGeom>
        </p:spPr>
        <p:txBody>
          <a:bodyPr/>
          <a:lstStyle>
            <a:lvl1pPr>
              <a:defRPr/>
            </a:lvl1pPr>
          </a:lstStyle>
          <a:p>
            <a:endParaRPr lang="en-GB"/>
          </a:p>
        </p:txBody>
      </p:sp>
    </p:spTree>
    <p:extLst>
      <p:ext uri="{BB962C8B-B14F-4D97-AF65-F5344CB8AC3E}">
        <p14:creationId xmlns:p14="http://schemas.microsoft.com/office/powerpoint/2010/main" val="15002684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80000" y="180000"/>
            <a:ext cx="11232000" cy="720000"/>
          </a:xfrm>
          <a:prstGeom prst="rect">
            <a:avLst/>
          </a:prstGeom>
        </p:spPr>
        <p:txBody>
          <a:bodyPr vert="horz" lIns="0" tIns="0" rIns="0" bIns="0" rtlCol="0" anchor="t"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480000" y="1089220"/>
            <a:ext cx="11232000" cy="4856400"/>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80000" y="6498000"/>
            <a:ext cx="960000" cy="360000"/>
          </a:xfrm>
          <a:prstGeom prst="rect">
            <a:avLst/>
          </a:prstGeom>
        </p:spPr>
        <p:txBody>
          <a:bodyPr vert="horz" lIns="0" tIns="0" rIns="0" bIns="0" rtlCol="0" anchor="t" anchorCtr="0"/>
          <a:lstStyle>
            <a:lvl1pPr algn="l">
              <a:defRPr sz="1000">
                <a:solidFill>
                  <a:schemeClr val="tx2"/>
                </a:solidFill>
                <a:latin typeface="Georgia"/>
                <a:cs typeface="Georgia"/>
              </a:defRPr>
            </a:lvl1pPr>
          </a:lstStyle>
          <a:p>
            <a:fld id="{56764FFD-37C9-48A3-8A00-15576C012ED5}" type="datetimeFigureOut">
              <a:rPr lang="en-GB" smtClean="0"/>
              <a:t>20/01/2024</a:t>
            </a:fld>
            <a:endParaRPr lang="en-GB"/>
          </a:p>
        </p:txBody>
      </p:sp>
      <p:sp>
        <p:nvSpPr>
          <p:cNvPr id="5" name="Footer Placeholder 4"/>
          <p:cNvSpPr>
            <a:spLocks noGrp="1"/>
          </p:cNvSpPr>
          <p:nvPr>
            <p:ph type="ftr" sz="quarter" idx="3"/>
          </p:nvPr>
        </p:nvSpPr>
        <p:spPr>
          <a:xfrm>
            <a:off x="1440000" y="6498000"/>
            <a:ext cx="9312000" cy="360000"/>
          </a:xfrm>
          <a:prstGeom prst="rect">
            <a:avLst/>
          </a:prstGeom>
        </p:spPr>
        <p:txBody>
          <a:bodyPr vert="horz" lIns="0" tIns="0" rIns="0" bIns="0" rtlCol="0" anchor="t" anchorCtr="0"/>
          <a:lstStyle>
            <a:lvl1pPr algn="l">
              <a:defRPr sz="1000">
                <a:solidFill>
                  <a:schemeClr val="tx2"/>
                </a:solidFill>
                <a:latin typeface="Georgia"/>
                <a:cs typeface="Georgia"/>
              </a:defRPr>
            </a:lvl1pPr>
          </a:lstStyle>
          <a:p>
            <a:endParaRPr lang="en-GB"/>
          </a:p>
        </p:txBody>
      </p:sp>
      <p:sp>
        <p:nvSpPr>
          <p:cNvPr id="6" name="Slide Number Placeholder 5"/>
          <p:cNvSpPr>
            <a:spLocks noGrp="1"/>
          </p:cNvSpPr>
          <p:nvPr>
            <p:ph type="sldNum" sz="quarter" idx="4"/>
          </p:nvPr>
        </p:nvSpPr>
        <p:spPr>
          <a:xfrm>
            <a:off x="10752000" y="6498000"/>
            <a:ext cx="960000" cy="360000"/>
          </a:xfrm>
          <a:prstGeom prst="rect">
            <a:avLst/>
          </a:prstGeom>
        </p:spPr>
        <p:txBody>
          <a:bodyPr vert="horz" lIns="91440" tIns="0" rIns="0" bIns="0" rtlCol="0" anchor="t" anchorCtr="0"/>
          <a:lstStyle>
            <a:lvl1pPr algn="r">
              <a:defRPr sz="1000">
                <a:solidFill>
                  <a:schemeClr val="tx2"/>
                </a:solidFill>
                <a:latin typeface="Georgia"/>
                <a:cs typeface="Georgia"/>
              </a:defRPr>
            </a:lvl1pPr>
          </a:lstStyle>
          <a:p>
            <a:fld id="{4A8CB23C-D128-4402-B6F7-F16056FE359A}" type="slidenum">
              <a:rPr lang="en-GB" smtClean="0"/>
              <a:t>‹#›</a:t>
            </a:fld>
            <a:endParaRPr lang="en-GB"/>
          </a:p>
        </p:txBody>
      </p:sp>
    </p:spTree>
    <p:extLst>
      <p:ext uri="{BB962C8B-B14F-4D97-AF65-F5344CB8AC3E}">
        <p14:creationId xmlns:p14="http://schemas.microsoft.com/office/powerpoint/2010/main" val="135735329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Lst>
  <p:transition>
    <p:fade/>
  </p:transition>
  <p:txStyles>
    <p:titleStyle>
      <a:lvl1pPr algn="l" defTabSz="457200" rtl="0" eaLnBrk="1" latinLnBrk="0" hangingPunct="1">
        <a:spcBef>
          <a:spcPct val="0"/>
        </a:spcBef>
        <a:buNone/>
        <a:defRPr sz="3200" kern="1200">
          <a:solidFill>
            <a:srgbClr val="0A2D50"/>
          </a:solidFill>
          <a:latin typeface="Impact"/>
          <a:ea typeface="+mj-ea"/>
          <a:cs typeface="Impact"/>
        </a:defRPr>
      </a:lvl1pPr>
    </p:titleStyle>
    <p:bodyStyle>
      <a:lvl1pPr marL="269875"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1pPr>
      <a:lvl2pPr marL="539750"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2pPr>
      <a:lvl3pPr marL="809625"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3pPr>
      <a:lvl4pPr marL="1079500"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4pPr>
      <a:lvl5pPr marL="1341438" indent="-261938"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0.xml"/><Relationship Id="rId5" Type="http://schemas.openxmlformats.org/officeDocument/2006/relationships/image" Target="../media/image7.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0.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3" Type="http://schemas.openxmlformats.org/officeDocument/2006/relationships/hyperlink" Target="https://vtk.org/doc/nightly/html/classvtkImageData.html" TargetMode="External"/><Relationship Id="rId2" Type="http://schemas.openxmlformats.org/officeDocument/2006/relationships/notesSlide" Target="../notesSlides/notesSlide21.xml"/><Relationship Id="rId1" Type="http://schemas.openxmlformats.org/officeDocument/2006/relationships/slideLayout" Target="../slideLayouts/slideLayout20.xml"/><Relationship Id="rId5" Type="http://schemas.openxmlformats.org/officeDocument/2006/relationships/image" Target="../media/image11.png"/><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hyperlink" Target="https://vtk.org/doc/nightly/html/classvtkImageData.html" TargetMode="External"/><Relationship Id="rId2" Type="http://schemas.openxmlformats.org/officeDocument/2006/relationships/notesSlide" Target="../notesSlides/notesSlide22.xml"/><Relationship Id="rId1" Type="http://schemas.openxmlformats.org/officeDocument/2006/relationships/slideLayout" Target="../slideLayouts/slideLayout20.xml"/><Relationship Id="rId5" Type="http://schemas.openxmlformats.org/officeDocument/2006/relationships/hyperlink" Target="https://stackoverflow.com/questions/tagged/vtk" TargetMode="External"/><Relationship Id="rId4" Type="http://schemas.openxmlformats.org/officeDocument/2006/relationships/hyperlink" Target="https://programtalk.com/python-examples/vtk.vtkImageData/" TargetMode="Externa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AC0BA1EB-1949-4708-884C-5B234C9A0A39}"/>
              </a:ext>
            </a:extLst>
          </p:cNvPr>
          <p:cNvSpPr txBox="1"/>
          <p:nvPr/>
        </p:nvSpPr>
        <p:spPr>
          <a:xfrm>
            <a:off x="-5263" y="1509824"/>
            <a:ext cx="12194315" cy="830997"/>
          </a:xfrm>
          <a:prstGeom prst="rect">
            <a:avLst/>
          </a:prstGeom>
          <a:noFill/>
        </p:spPr>
        <p:txBody>
          <a:bodyPr wrap="square" lIns="91440" tIns="45720" rIns="91440" bIns="45720" rtlCol="0" anchor="t">
            <a:spAutoFit/>
          </a:bodyPr>
          <a:lstStyle/>
          <a:p>
            <a:pPr algn="ctr"/>
            <a:r>
              <a:rPr lang="en-US" sz="4800" dirty="0">
                <a:latin typeface="+mj-lt"/>
                <a:ea typeface="ＭＳ Ｐゴシック"/>
              </a:rPr>
              <a:t>Image-guide Navigation for Robotics</a:t>
            </a:r>
            <a:endParaRPr lang="en-US" dirty="0"/>
          </a:p>
        </p:txBody>
      </p:sp>
      <p:sp>
        <p:nvSpPr>
          <p:cNvPr id="19" name="TextBox 18">
            <a:extLst>
              <a:ext uri="{FF2B5EF4-FFF2-40B4-BE49-F238E27FC236}">
                <a16:creationId xmlns:a16="http://schemas.microsoft.com/office/drawing/2014/main" id="{92984BE8-D9D7-4702-AC20-1B3D92B8229D}"/>
              </a:ext>
            </a:extLst>
          </p:cNvPr>
          <p:cNvSpPr txBox="1"/>
          <p:nvPr/>
        </p:nvSpPr>
        <p:spPr>
          <a:xfrm>
            <a:off x="1488557" y="2340821"/>
            <a:ext cx="8580475" cy="584775"/>
          </a:xfrm>
          <a:prstGeom prst="rect">
            <a:avLst/>
          </a:prstGeom>
          <a:noFill/>
        </p:spPr>
        <p:txBody>
          <a:bodyPr wrap="square" rtlCol="0">
            <a:spAutoFit/>
          </a:bodyPr>
          <a:lstStyle/>
          <a:p>
            <a:pPr algn="ctr"/>
            <a:r>
              <a:rPr lang="en-US" sz="3200" dirty="0">
                <a:latin typeface="+mj-lt"/>
              </a:rPr>
              <a:t>Good Practices for Code Design</a:t>
            </a:r>
          </a:p>
        </p:txBody>
      </p:sp>
      <p:sp>
        <p:nvSpPr>
          <p:cNvPr id="5" name="TextBox 4">
            <a:extLst>
              <a:ext uri="{FF2B5EF4-FFF2-40B4-BE49-F238E27FC236}">
                <a16:creationId xmlns:a16="http://schemas.microsoft.com/office/drawing/2014/main" id="{7C3FBDE3-7B07-4BBC-9FFE-15033776BB8A}"/>
              </a:ext>
            </a:extLst>
          </p:cNvPr>
          <p:cNvSpPr txBox="1"/>
          <p:nvPr/>
        </p:nvSpPr>
        <p:spPr>
          <a:xfrm>
            <a:off x="154709" y="4882490"/>
            <a:ext cx="7049387" cy="1569660"/>
          </a:xfrm>
          <a:prstGeom prst="rect">
            <a:avLst/>
          </a:prstGeom>
          <a:noFill/>
        </p:spPr>
        <p:txBody>
          <a:bodyPr wrap="square" rtlCol="0">
            <a:spAutoFit/>
          </a:bodyPr>
          <a:lstStyle/>
          <a:p>
            <a:r>
              <a:rPr lang="en-US" sz="2400" dirty="0">
                <a:latin typeface="+mn-lt"/>
              </a:rPr>
              <a:t>Rachel Sparks, Ph.D.</a:t>
            </a:r>
          </a:p>
          <a:p>
            <a:r>
              <a:rPr lang="en-US" sz="2400" dirty="0">
                <a:latin typeface="+mn-lt"/>
              </a:rPr>
              <a:t>Rachel.sparks@kcl.ac.uk</a:t>
            </a:r>
          </a:p>
          <a:p>
            <a:r>
              <a:rPr lang="en-US" sz="2400" dirty="0">
                <a:latin typeface="+mj-lt"/>
              </a:rPr>
              <a:t>Lecturer in Surgical &amp; Interventional Engineering</a:t>
            </a:r>
          </a:p>
          <a:p>
            <a:r>
              <a:rPr lang="en-US" sz="2400" dirty="0">
                <a:latin typeface="+mj-lt"/>
              </a:rPr>
              <a:t>School of Biomedical Engineering &amp; Imaging Sciences</a:t>
            </a:r>
          </a:p>
        </p:txBody>
      </p:sp>
    </p:spTree>
    <p:extLst>
      <p:ext uri="{BB962C8B-B14F-4D97-AF65-F5344CB8AC3E}">
        <p14:creationId xmlns:p14="http://schemas.microsoft.com/office/powerpoint/2010/main" val="902491239"/>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4F3E336-49B9-44AA-9D99-2E6D5A8D8A3A}"/>
              </a:ext>
            </a:extLst>
          </p:cNvPr>
          <p:cNvSpPr>
            <a:spLocks noGrp="1"/>
          </p:cNvSpPr>
          <p:nvPr>
            <p:ph sz="quarter" idx="13"/>
          </p:nvPr>
        </p:nvSpPr>
        <p:spPr/>
        <p:txBody>
          <a:bodyPr/>
          <a:lstStyle/>
          <a:p>
            <a:r>
              <a:rPr lang="en-US" dirty="0"/>
              <a:t>Systematic approach to design &amp; implementing code</a:t>
            </a:r>
          </a:p>
          <a:p>
            <a:pPr lvl="1"/>
            <a:r>
              <a:rPr lang="en-US" dirty="0"/>
              <a:t>There are many possible methods – Agile, Waterfall, Scrum, Lean, Extreme</a:t>
            </a:r>
          </a:p>
          <a:p>
            <a:pPr lvl="1"/>
            <a:r>
              <a:rPr lang="en-US" dirty="0"/>
              <a:t>Some differences, but we are going to focus on the similarities</a:t>
            </a:r>
          </a:p>
          <a:p>
            <a:r>
              <a:rPr lang="en-US" dirty="0"/>
              <a:t>Common trends</a:t>
            </a:r>
          </a:p>
          <a:p>
            <a:pPr lvl="1"/>
            <a:r>
              <a:rPr lang="en-US" dirty="0"/>
              <a:t>Decouple design (</a:t>
            </a:r>
            <a:r>
              <a:rPr lang="en-US" i="1" dirty="0"/>
              <a:t>how</a:t>
            </a:r>
            <a:r>
              <a:rPr lang="en-US" dirty="0"/>
              <a:t> code achieve aim) from implementation (specifics of </a:t>
            </a:r>
            <a:r>
              <a:rPr lang="en-US" i="1" dirty="0"/>
              <a:t>what</a:t>
            </a:r>
            <a:r>
              <a:rPr lang="en-US" dirty="0"/>
              <a:t> code does)</a:t>
            </a:r>
          </a:p>
          <a:p>
            <a:pPr lvl="1"/>
            <a:endParaRPr lang="en-US" dirty="0"/>
          </a:p>
        </p:txBody>
      </p:sp>
      <p:sp>
        <p:nvSpPr>
          <p:cNvPr id="4" name="Title 3">
            <a:extLst>
              <a:ext uri="{FF2B5EF4-FFF2-40B4-BE49-F238E27FC236}">
                <a16:creationId xmlns:a16="http://schemas.microsoft.com/office/drawing/2014/main" id="{EC511D6F-95CC-4198-B9F9-1950BD23211C}"/>
              </a:ext>
            </a:extLst>
          </p:cNvPr>
          <p:cNvSpPr>
            <a:spLocks noGrp="1"/>
          </p:cNvSpPr>
          <p:nvPr>
            <p:ph type="title"/>
          </p:nvPr>
        </p:nvSpPr>
        <p:spPr/>
        <p:txBody>
          <a:bodyPr/>
          <a:lstStyle/>
          <a:p>
            <a:r>
              <a:rPr lang="en-US" dirty="0"/>
              <a:t>Code Design</a:t>
            </a:r>
          </a:p>
        </p:txBody>
      </p:sp>
    </p:spTree>
    <p:extLst>
      <p:ext uri="{BB962C8B-B14F-4D97-AF65-F5344CB8AC3E}">
        <p14:creationId xmlns:p14="http://schemas.microsoft.com/office/powerpoint/2010/main" val="1748236131"/>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01B0893A-4BDE-41E6-8857-262A3BF8DA8F}"/>
              </a:ext>
            </a:extLst>
          </p:cNvPr>
          <p:cNvSpPr/>
          <p:nvPr/>
        </p:nvSpPr>
        <p:spPr>
          <a:xfrm>
            <a:off x="9459693" y="1772775"/>
            <a:ext cx="1121934"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Define Problem</a:t>
            </a:r>
          </a:p>
        </p:txBody>
      </p:sp>
      <p:sp>
        <p:nvSpPr>
          <p:cNvPr id="8" name="Arrow: Circular 7">
            <a:extLst>
              <a:ext uri="{FF2B5EF4-FFF2-40B4-BE49-F238E27FC236}">
                <a16:creationId xmlns:a16="http://schemas.microsoft.com/office/drawing/2014/main" id="{08604D32-D523-4F25-AFC8-2D189AF17EE6}"/>
              </a:ext>
            </a:extLst>
          </p:cNvPr>
          <p:cNvSpPr/>
          <p:nvPr/>
        </p:nvSpPr>
        <p:spPr>
          <a:xfrm>
            <a:off x="6816721" y="1739863"/>
            <a:ext cx="4211211" cy="4211211"/>
          </a:xfrm>
          <a:prstGeom prst="circularArrow">
            <a:avLst>
              <a:gd name="adj1" fmla="val 5195"/>
              <a:gd name="adj2" fmla="val 335545"/>
              <a:gd name="adj3" fmla="val 21294739"/>
              <a:gd name="adj4" fmla="val 19764927"/>
              <a:gd name="adj5" fmla="val 6061"/>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en-US"/>
          </a:p>
        </p:txBody>
      </p:sp>
      <p:sp>
        <p:nvSpPr>
          <p:cNvPr id="9" name="Freeform: Shape 8">
            <a:extLst>
              <a:ext uri="{FF2B5EF4-FFF2-40B4-BE49-F238E27FC236}">
                <a16:creationId xmlns:a16="http://schemas.microsoft.com/office/drawing/2014/main" id="{1EB59233-AD7F-4675-A542-692A6E3D5487}"/>
              </a:ext>
            </a:extLst>
          </p:cNvPr>
          <p:cNvSpPr/>
          <p:nvPr/>
        </p:nvSpPr>
        <p:spPr>
          <a:xfrm>
            <a:off x="10138501" y="3861930"/>
            <a:ext cx="1121934"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Design</a:t>
            </a:r>
          </a:p>
        </p:txBody>
      </p:sp>
      <p:sp>
        <p:nvSpPr>
          <p:cNvPr id="10" name="Arrow: Circular 9">
            <a:extLst>
              <a:ext uri="{FF2B5EF4-FFF2-40B4-BE49-F238E27FC236}">
                <a16:creationId xmlns:a16="http://schemas.microsoft.com/office/drawing/2014/main" id="{B275146D-43B5-4A87-B3BA-ED7911B1E089}"/>
              </a:ext>
            </a:extLst>
          </p:cNvPr>
          <p:cNvSpPr/>
          <p:nvPr/>
        </p:nvSpPr>
        <p:spPr>
          <a:xfrm>
            <a:off x="6816721" y="1739863"/>
            <a:ext cx="4211211" cy="4211211"/>
          </a:xfrm>
          <a:prstGeom prst="circularArrow">
            <a:avLst>
              <a:gd name="adj1" fmla="val 5195"/>
              <a:gd name="adj2" fmla="val 335545"/>
              <a:gd name="adj3" fmla="val 4016250"/>
              <a:gd name="adj4" fmla="val 2252007"/>
              <a:gd name="adj5" fmla="val 6061"/>
            </a:avLst>
          </a:pr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en-US"/>
          </a:p>
        </p:txBody>
      </p:sp>
      <p:sp>
        <p:nvSpPr>
          <p:cNvPr id="11" name="Freeform: Shape 10">
            <a:extLst>
              <a:ext uri="{FF2B5EF4-FFF2-40B4-BE49-F238E27FC236}">
                <a16:creationId xmlns:a16="http://schemas.microsoft.com/office/drawing/2014/main" id="{DCF975C5-96B7-4DF2-91B7-FA0BD2388841}"/>
              </a:ext>
            </a:extLst>
          </p:cNvPr>
          <p:cNvSpPr/>
          <p:nvPr/>
        </p:nvSpPr>
        <p:spPr>
          <a:xfrm>
            <a:off x="8361359" y="5153099"/>
            <a:ext cx="1121934"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Implement</a:t>
            </a:r>
          </a:p>
        </p:txBody>
      </p:sp>
      <p:sp>
        <p:nvSpPr>
          <p:cNvPr id="12" name="Arrow: Circular 11">
            <a:extLst>
              <a:ext uri="{FF2B5EF4-FFF2-40B4-BE49-F238E27FC236}">
                <a16:creationId xmlns:a16="http://schemas.microsoft.com/office/drawing/2014/main" id="{C931BEA8-C1CE-43BE-99C9-0B9075A147C4}"/>
              </a:ext>
            </a:extLst>
          </p:cNvPr>
          <p:cNvSpPr/>
          <p:nvPr/>
        </p:nvSpPr>
        <p:spPr>
          <a:xfrm>
            <a:off x="6816721" y="1739863"/>
            <a:ext cx="4211211" cy="4211211"/>
          </a:xfrm>
          <a:prstGeom prst="circularArrow">
            <a:avLst>
              <a:gd name="adj1" fmla="val 5195"/>
              <a:gd name="adj2" fmla="val 335545"/>
              <a:gd name="adj3" fmla="val 8212447"/>
              <a:gd name="adj4" fmla="val 6448204"/>
              <a:gd name="adj5" fmla="val 6061"/>
            </a:avLst>
          </a:pr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a:lstStyle/>
          <a:p>
            <a:endParaRPr lang="en-US"/>
          </a:p>
        </p:txBody>
      </p:sp>
      <p:sp>
        <p:nvSpPr>
          <p:cNvPr id="13" name="Freeform: Shape 12">
            <a:extLst>
              <a:ext uri="{FF2B5EF4-FFF2-40B4-BE49-F238E27FC236}">
                <a16:creationId xmlns:a16="http://schemas.microsoft.com/office/drawing/2014/main" id="{9BE4E709-E8FE-42BF-9A12-BAC75E3F3204}"/>
              </a:ext>
            </a:extLst>
          </p:cNvPr>
          <p:cNvSpPr/>
          <p:nvPr/>
        </p:nvSpPr>
        <p:spPr>
          <a:xfrm>
            <a:off x="6584218" y="3861930"/>
            <a:ext cx="1121934"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Test</a:t>
            </a:r>
          </a:p>
        </p:txBody>
      </p:sp>
      <p:sp>
        <p:nvSpPr>
          <p:cNvPr id="14" name="Arrow: Circular 13">
            <a:extLst>
              <a:ext uri="{FF2B5EF4-FFF2-40B4-BE49-F238E27FC236}">
                <a16:creationId xmlns:a16="http://schemas.microsoft.com/office/drawing/2014/main" id="{47013EBC-A85E-48D7-8336-E5CDFC1C699E}"/>
              </a:ext>
            </a:extLst>
          </p:cNvPr>
          <p:cNvSpPr/>
          <p:nvPr/>
        </p:nvSpPr>
        <p:spPr>
          <a:xfrm>
            <a:off x="6816721" y="1739863"/>
            <a:ext cx="4211211" cy="4211211"/>
          </a:xfrm>
          <a:prstGeom prst="circularArrow">
            <a:avLst>
              <a:gd name="adj1" fmla="val 5195"/>
              <a:gd name="adj2" fmla="val 335545"/>
              <a:gd name="adj3" fmla="val 12299528"/>
              <a:gd name="adj4" fmla="val 10769715"/>
              <a:gd name="adj5" fmla="val 6061"/>
            </a:avLst>
          </a:pr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a:lstStyle/>
          <a:p>
            <a:endParaRPr lang="en-US"/>
          </a:p>
        </p:txBody>
      </p:sp>
      <p:sp>
        <p:nvSpPr>
          <p:cNvPr id="15" name="Freeform: Shape 14">
            <a:extLst>
              <a:ext uri="{FF2B5EF4-FFF2-40B4-BE49-F238E27FC236}">
                <a16:creationId xmlns:a16="http://schemas.microsoft.com/office/drawing/2014/main" id="{96326257-6A8B-4AB8-8439-45A9D8B1EABF}"/>
              </a:ext>
            </a:extLst>
          </p:cNvPr>
          <p:cNvSpPr/>
          <p:nvPr/>
        </p:nvSpPr>
        <p:spPr>
          <a:xfrm>
            <a:off x="7263026" y="1772775"/>
            <a:ext cx="1121934"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Analyze</a:t>
            </a:r>
          </a:p>
        </p:txBody>
      </p:sp>
      <p:sp>
        <p:nvSpPr>
          <p:cNvPr id="16" name="Arrow: Circular 15">
            <a:extLst>
              <a:ext uri="{FF2B5EF4-FFF2-40B4-BE49-F238E27FC236}">
                <a16:creationId xmlns:a16="http://schemas.microsoft.com/office/drawing/2014/main" id="{50551519-CF1E-4B63-9553-87B5FFC66262}"/>
              </a:ext>
            </a:extLst>
          </p:cNvPr>
          <p:cNvSpPr/>
          <p:nvPr/>
        </p:nvSpPr>
        <p:spPr>
          <a:xfrm>
            <a:off x="6816721" y="1739863"/>
            <a:ext cx="4211211" cy="4211211"/>
          </a:xfrm>
          <a:prstGeom prst="circularArrow">
            <a:avLst>
              <a:gd name="adj1" fmla="val 5195"/>
              <a:gd name="adj2" fmla="val 335545"/>
              <a:gd name="adj3" fmla="val 16867234"/>
              <a:gd name="adj4" fmla="val 15197221"/>
              <a:gd name="adj5" fmla="val 6061"/>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US"/>
          </a:p>
        </p:txBody>
      </p:sp>
      <p:sp>
        <p:nvSpPr>
          <p:cNvPr id="3" name="Title 2">
            <a:extLst>
              <a:ext uri="{FF2B5EF4-FFF2-40B4-BE49-F238E27FC236}">
                <a16:creationId xmlns:a16="http://schemas.microsoft.com/office/drawing/2014/main" id="{7E10ADDA-0E25-4979-8B77-C5E21DA7DDCB}"/>
              </a:ext>
            </a:extLst>
          </p:cNvPr>
          <p:cNvSpPr>
            <a:spLocks noGrp="1"/>
          </p:cNvSpPr>
          <p:nvPr>
            <p:ph type="title"/>
          </p:nvPr>
        </p:nvSpPr>
        <p:spPr/>
        <p:txBody>
          <a:bodyPr/>
          <a:lstStyle/>
          <a:p>
            <a:r>
              <a:rPr lang="en-US" dirty="0"/>
              <a:t>Code Design Cycle</a:t>
            </a:r>
          </a:p>
        </p:txBody>
      </p:sp>
    </p:spTree>
    <p:extLst>
      <p:ext uri="{BB962C8B-B14F-4D97-AF65-F5344CB8AC3E}">
        <p14:creationId xmlns:p14="http://schemas.microsoft.com/office/powerpoint/2010/main" val="55034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1" grpId="0"/>
      <p:bldP spid="13" grpId="0"/>
      <p:bldP spid="1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01B0893A-4BDE-41E6-8857-262A3BF8DA8F}"/>
              </a:ext>
            </a:extLst>
          </p:cNvPr>
          <p:cNvSpPr/>
          <p:nvPr/>
        </p:nvSpPr>
        <p:spPr>
          <a:xfrm>
            <a:off x="9459693" y="1772775"/>
            <a:ext cx="1121934"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b="1" kern="1200" dirty="0"/>
              <a:t>Define Problem</a:t>
            </a:r>
          </a:p>
        </p:txBody>
      </p:sp>
      <p:sp>
        <p:nvSpPr>
          <p:cNvPr id="8" name="Arrow: Circular 7">
            <a:extLst>
              <a:ext uri="{FF2B5EF4-FFF2-40B4-BE49-F238E27FC236}">
                <a16:creationId xmlns:a16="http://schemas.microsoft.com/office/drawing/2014/main" id="{08604D32-D523-4F25-AFC8-2D189AF17EE6}"/>
              </a:ext>
            </a:extLst>
          </p:cNvPr>
          <p:cNvSpPr/>
          <p:nvPr/>
        </p:nvSpPr>
        <p:spPr>
          <a:xfrm>
            <a:off x="6816721" y="1739863"/>
            <a:ext cx="4211211" cy="4211211"/>
          </a:xfrm>
          <a:prstGeom prst="circularArrow">
            <a:avLst>
              <a:gd name="adj1" fmla="val 5195"/>
              <a:gd name="adj2" fmla="val 335545"/>
              <a:gd name="adj3" fmla="val 21294739"/>
              <a:gd name="adj4" fmla="val 19764927"/>
              <a:gd name="adj5" fmla="val 6061"/>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en-US"/>
          </a:p>
        </p:txBody>
      </p:sp>
      <p:sp>
        <p:nvSpPr>
          <p:cNvPr id="9" name="Freeform: Shape 8">
            <a:extLst>
              <a:ext uri="{FF2B5EF4-FFF2-40B4-BE49-F238E27FC236}">
                <a16:creationId xmlns:a16="http://schemas.microsoft.com/office/drawing/2014/main" id="{1EB59233-AD7F-4675-A542-692A6E3D5487}"/>
              </a:ext>
            </a:extLst>
          </p:cNvPr>
          <p:cNvSpPr/>
          <p:nvPr/>
        </p:nvSpPr>
        <p:spPr>
          <a:xfrm>
            <a:off x="10138501" y="3861930"/>
            <a:ext cx="1121934"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Design</a:t>
            </a:r>
          </a:p>
        </p:txBody>
      </p:sp>
      <p:sp>
        <p:nvSpPr>
          <p:cNvPr id="10" name="Arrow: Circular 9">
            <a:extLst>
              <a:ext uri="{FF2B5EF4-FFF2-40B4-BE49-F238E27FC236}">
                <a16:creationId xmlns:a16="http://schemas.microsoft.com/office/drawing/2014/main" id="{B275146D-43B5-4A87-B3BA-ED7911B1E089}"/>
              </a:ext>
            </a:extLst>
          </p:cNvPr>
          <p:cNvSpPr/>
          <p:nvPr/>
        </p:nvSpPr>
        <p:spPr>
          <a:xfrm>
            <a:off x="6816721" y="1739863"/>
            <a:ext cx="4211211" cy="4211211"/>
          </a:xfrm>
          <a:prstGeom prst="circularArrow">
            <a:avLst>
              <a:gd name="adj1" fmla="val 5195"/>
              <a:gd name="adj2" fmla="val 335545"/>
              <a:gd name="adj3" fmla="val 4016250"/>
              <a:gd name="adj4" fmla="val 2252007"/>
              <a:gd name="adj5" fmla="val 6061"/>
            </a:avLst>
          </a:pr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en-US"/>
          </a:p>
        </p:txBody>
      </p:sp>
      <p:sp>
        <p:nvSpPr>
          <p:cNvPr id="11" name="Freeform: Shape 10">
            <a:extLst>
              <a:ext uri="{FF2B5EF4-FFF2-40B4-BE49-F238E27FC236}">
                <a16:creationId xmlns:a16="http://schemas.microsoft.com/office/drawing/2014/main" id="{DCF975C5-96B7-4DF2-91B7-FA0BD2388841}"/>
              </a:ext>
            </a:extLst>
          </p:cNvPr>
          <p:cNvSpPr/>
          <p:nvPr/>
        </p:nvSpPr>
        <p:spPr>
          <a:xfrm>
            <a:off x="8361359" y="5153099"/>
            <a:ext cx="1121934"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Implement</a:t>
            </a:r>
          </a:p>
        </p:txBody>
      </p:sp>
      <p:sp>
        <p:nvSpPr>
          <p:cNvPr id="12" name="Arrow: Circular 11">
            <a:extLst>
              <a:ext uri="{FF2B5EF4-FFF2-40B4-BE49-F238E27FC236}">
                <a16:creationId xmlns:a16="http://schemas.microsoft.com/office/drawing/2014/main" id="{C931BEA8-C1CE-43BE-99C9-0B9075A147C4}"/>
              </a:ext>
            </a:extLst>
          </p:cNvPr>
          <p:cNvSpPr/>
          <p:nvPr/>
        </p:nvSpPr>
        <p:spPr>
          <a:xfrm>
            <a:off x="6816721" y="1739863"/>
            <a:ext cx="4211211" cy="4211211"/>
          </a:xfrm>
          <a:prstGeom prst="circularArrow">
            <a:avLst>
              <a:gd name="adj1" fmla="val 5195"/>
              <a:gd name="adj2" fmla="val 335545"/>
              <a:gd name="adj3" fmla="val 8212447"/>
              <a:gd name="adj4" fmla="val 6448204"/>
              <a:gd name="adj5" fmla="val 6061"/>
            </a:avLst>
          </a:pr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a:lstStyle/>
          <a:p>
            <a:endParaRPr lang="en-US"/>
          </a:p>
        </p:txBody>
      </p:sp>
      <p:sp>
        <p:nvSpPr>
          <p:cNvPr id="13" name="Freeform: Shape 12">
            <a:extLst>
              <a:ext uri="{FF2B5EF4-FFF2-40B4-BE49-F238E27FC236}">
                <a16:creationId xmlns:a16="http://schemas.microsoft.com/office/drawing/2014/main" id="{9BE4E709-E8FE-42BF-9A12-BAC75E3F3204}"/>
              </a:ext>
            </a:extLst>
          </p:cNvPr>
          <p:cNvSpPr/>
          <p:nvPr/>
        </p:nvSpPr>
        <p:spPr>
          <a:xfrm>
            <a:off x="6584218" y="3861930"/>
            <a:ext cx="1121934"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Test</a:t>
            </a:r>
          </a:p>
        </p:txBody>
      </p:sp>
      <p:sp>
        <p:nvSpPr>
          <p:cNvPr id="14" name="Arrow: Circular 13">
            <a:extLst>
              <a:ext uri="{FF2B5EF4-FFF2-40B4-BE49-F238E27FC236}">
                <a16:creationId xmlns:a16="http://schemas.microsoft.com/office/drawing/2014/main" id="{47013EBC-A85E-48D7-8336-E5CDFC1C699E}"/>
              </a:ext>
            </a:extLst>
          </p:cNvPr>
          <p:cNvSpPr/>
          <p:nvPr/>
        </p:nvSpPr>
        <p:spPr>
          <a:xfrm>
            <a:off x="6816721" y="1739863"/>
            <a:ext cx="4211211" cy="4211211"/>
          </a:xfrm>
          <a:prstGeom prst="circularArrow">
            <a:avLst>
              <a:gd name="adj1" fmla="val 5195"/>
              <a:gd name="adj2" fmla="val 335545"/>
              <a:gd name="adj3" fmla="val 12299528"/>
              <a:gd name="adj4" fmla="val 10769715"/>
              <a:gd name="adj5" fmla="val 6061"/>
            </a:avLst>
          </a:pr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a:lstStyle/>
          <a:p>
            <a:endParaRPr lang="en-US"/>
          </a:p>
        </p:txBody>
      </p:sp>
      <p:sp>
        <p:nvSpPr>
          <p:cNvPr id="15" name="Freeform: Shape 14">
            <a:extLst>
              <a:ext uri="{FF2B5EF4-FFF2-40B4-BE49-F238E27FC236}">
                <a16:creationId xmlns:a16="http://schemas.microsoft.com/office/drawing/2014/main" id="{96326257-6A8B-4AB8-8439-45A9D8B1EABF}"/>
              </a:ext>
            </a:extLst>
          </p:cNvPr>
          <p:cNvSpPr/>
          <p:nvPr/>
        </p:nvSpPr>
        <p:spPr>
          <a:xfrm>
            <a:off x="7263026" y="1772775"/>
            <a:ext cx="1121934"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Analyze</a:t>
            </a:r>
          </a:p>
        </p:txBody>
      </p:sp>
      <p:sp>
        <p:nvSpPr>
          <p:cNvPr id="16" name="Arrow: Circular 15">
            <a:extLst>
              <a:ext uri="{FF2B5EF4-FFF2-40B4-BE49-F238E27FC236}">
                <a16:creationId xmlns:a16="http://schemas.microsoft.com/office/drawing/2014/main" id="{50551519-CF1E-4B63-9553-87B5FFC66262}"/>
              </a:ext>
            </a:extLst>
          </p:cNvPr>
          <p:cNvSpPr/>
          <p:nvPr/>
        </p:nvSpPr>
        <p:spPr>
          <a:xfrm>
            <a:off x="6816721" y="1739863"/>
            <a:ext cx="4211211" cy="4211211"/>
          </a:xfrm>
          <a:prstGeom prst="circularArrow">
            <a:avLst>
              <a:gd name="adj1" fmla="val 5195"/>
              <a:gd name="adj2" fmla="val 335545"/>
              <a:gd name="adj3" fmla="val 16867234"/>
              <a:gd name="adj4" fmla="val 15197221"/>
              <a:gd name="adj5" fmla="val 6061"/>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US"/>
          </a:p>
        </p:txBody>
      </p:sp>
      <p:sp>
        <p:nvSpPr>
          <p:cNvPr id="3" name="Title 2">
            <a:extLst>
              <a:ext uri="{FF2B5EF4-FFF2-40B4-BE49-F238E27FC236}">
                <a16:creationId xmlns:a16="http://schemas.microsoft.com/office/drawing/2014/main" id="{7E10ADDA-0E25-4979-8B77-C5E21DA7DDCB}"/>
              </a:ext>
            </a:extLst>
          </p:cNvPr>
          <p:cNvSpPr>
            <a:spLocks noGrp="1"/>
          </p:cNvSpPr>
          <p:nvPr>
            <p:ph type="title"/>
          </p:nvPr>
        </p:nvSpPr>
        <p:spPr/>
        <p:txBody>
          <a:bodyPr/>
          <a:lstStyle/>
          <a:p>
            <a:r>
              <a:rPr lang="en-US" dirty="0"/>
              <a:t>Code Design Cycle</a:t>
            </a:r>
          </a:p>
        </p:txBody>
      </p:sp>
      <p:sp>
        <p:nvSpPr>
          <p:cNvPr id="5" name="Content Placeholder 4">
            <a:extLst>
              <a:ext uri="{FF2B5EF4-FFF2-40B4-BE49-F238E27FC236}">
                <a16:creationId xmlns:a16="http://schemas.microsoft.com/office/drawing/2014/main" id="{142253C1-B65B-42B2-AFA4-DAFC9177DC5C}"/>
              </a:ext>
            </a:extLst>
          </p:cNvPr>
          <p:cNvSpPr txBox="1">
            <a:spLocks/>
          </p:cNvSpPr>
          <p:nvPr/>
        </p:nvSpPr>
        <p:spPr>
          <a:xfrm>
            <a:off x="609601" y="1628799"/>
            <a:ext cx="5846618" cy="4536505"/>
          </a:xfrm>
          <a:prstGeom prst="rect">
            <a:avLst/>
          </a:prstGeom>
        </p:spPr>
        <p:txBody>
          <a:bodyPr vert="horz" lIns="0" tIns="0" rIns="0" bIns="0" rtlCol="0">
            <a:normAutofit fontScale="92500" lnSpcReduction="10000"/>
          </a:bodyPr>
          <a:lstStyle>
            <a:lvl1pPr marL="269875" indent="-269875" algn="l" defTabSz="457200" rtl="0" eaLnBrk="1" latinLnBrk="0" hangingPunct="1">
              <a:lnSpc>
                <a:spcPct val="120000"/>
              </a:lnSpc>
              <a:spcBef>
                <a:spcPts val="0"/>
              </a:spcBef>
              <a:buClr>
                <a:srgbClr val="0A2D50"/>
              </a:buClr>
              <a:buFont typeface="Arial"/>
              <a:buChar char="•"/>
              <a:defRPr sz="2400" kern="1200">
                <a:solidFill>
                  <a:schemeClr val="tx1"/>
                </a:solidFill>
                <a:latin typeface="Georgia"/>
                <a:ea typeface="+mn-ea"/>
                <a:cs typeface="Georgia"/>
              </a:defRPr>
            </a:lvl1pPr>
            <a:lvl2pPr marL="539750"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2pPr>
            <a:lvl3pPr marL="809625"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3pPr>
            <a:lvl4pPr marL="1079500"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4pPr>
            <a:lvl5pPr marL="1341438" indent="-261938"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fontAlgn="auto">
              <a:spcAft>
                <a:spcPts val="0"/>
              </a:spcAft>
            </a:pPr>
            <a:r>
              <a:rPr lang="en-US" dirty="0"/>
              <a:t>Define Problem </a:t>
            </a:r>
          </a:p>
          <a:p>
            <a:pPr lvl="1" fontAlgn="auto">
              <a:spcAft>
                <a:spcPts val="0"/>
              </a:spcAft>
            </a:pPr>
            <a:r>
              <a:rPr lang="en-US" dirty="0"/>
              <a:t>Why is our code being created?</a:t>
            </a:r>
          </a:p>
          <a:p>
            <a:pPr lvl="1" fontAlgn="auto">
              <a:spcAft>
                <a:spcPts val="0"/>
              </a:spcAft>
            </a:pPr>
            <a:r>
              <a:rPr lang="en-US" dirty="0"/>
              <a:t>Corresponds to theoretical definition</a:t>
            </a:r>
          </a:p>
          <a:p>
            <a:pPr marL="269875" lvl="1" indent="0" fontAlgn="auto">
              <a:spcAft>
                <a:spcPts val="0"/>
              </a:spcAft>
              <a:buNone/>
            </a:pPr>
            <a:endParaRPr lang="en-US" dirty="0"/>
          </a:p>
          <a:p>
            <a:pPr fontAlgn="auto">
              <a:spcAft>
                <a:spcPts val="0"/>
              </a:spcAft>
            </a:pPr>
            <a:r>
              <a:rPr lang="en-US" dirty="0"/>
              <a:t>At this point don’t think about code, inputs or outputs </a:t>
            </a:r>
          </a:p>
          <a:p>
            <a:pPr lvl="1" fontAlgn="auto">
              <a:spcAft>
                <a:spcPts val="0"/>
              </a:spcAft>
            </a:pPr>
            <a:r>
              <a:rPr lang="en-US" dirty="0"/>
              <a:t>Use mathematics or English to define the main idea</a:t>
            </a:r>
          </a:p>
          <a:p>
            <a:pPr lvl="1" fontAlgn="auto">
              <a:spcAft>
                <a:spcPts val="0"/>
              </a:spcAft>
            </a:pPr>
            <a:r>
              <a:rPr lang="en-US" dirty="0"/>
              <a:t>Should be able to do in one sentence </a:t>
            </a:r>
          </a:p>
          <a:p>
            <a:pPr lvl="1" fontAlgn="auto">
              <a:spcAft>
                <a:spcPts val="0"/>
              </a:spcAft>
            </a:pPr>
            <a:endParaRPr lang="en-US" dirty="0"/>
          </a:p>
          <a:p>
            <a:pPr fontAlgn="auto">
              <a:spcAft>
                <a:spcPts val="0"/>
              </a:spcAft>
            </a:pPr>
            <a:r>
              <a:rPr lang="en-US" dirty="0"/>
              <a:t>In school this typically defines your assignment </a:t>
            </a:r>
          </a:p>
          <a:p>
            <a:pPr fontAlgn="auto">
              <a:spcAft>
                <a:spcPts val="0"/>
              </a:spcAft>
            </a:pPr>
            <a:r>
              <a:rPr lang="en-US" dirty="0"/>
              <a:t>Industry this is done by your boss/client</a:t>
            </a:r>
          </a:p>
          <a:p>
            <a:pPr marL="269875" lvl="1" indent="0" fontAlgn="auto">
              <a:spcAft>
                <a:spcPts val="0"/>
              </a:spcAft>
              <a:buNone/>
            </a:pPr>
            <a:endParaRPr lang="en-US" dirty="0"/>
          </a:p>
        </p:txBody>
      </p:sp>
    </p:spTree>
    <p:extLst>
      <p:ext uri="{BB962C8B-B14F-4D97-AF65-F5344CB8AC3E}">
        <p14:creationId xmlns:p14="http://schemas.microsoft.com/office/powerpoint/2010/main" val="1267423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grpId="0" nodeType="clickEffect">
                                  <p:stCondLst>
                                    <p:cond delay="0"/>
                                  </p:stCondLst>
                                  <p:childTnLst>
                                    <p:set>
                                      <p:cBhvr override="childStyle">
                                        <p:cTn id="6" dur="indefinite"/>
                                        <p:tgtEl>
                                          <p:spTgt spid="7"/>
                                        </p:tgtEl>
                                        <p:attrNameLst>
                                          <p:attrName>style.fontWeight</p:attrName>
                                        </p:attrNameLst>
                                      </p:cBhvr>
                                      <p:to>
                                        <p:strVal val="bold"/>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01B0893A-4BDE-41E6-8857-262A3BF8DA8F}"/>
              </a:ext>
            </a:extLst>
          </p:cNvPr>
          <p:cNvSpPr/>
          <p:nvPr/>
        </p:nvSpPr>
        <p:spPr>
          <a:xfrm>
            <a:off x="9459693" y="1772775"/>
            <a:ext cx="1121934"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Define Problem</a:t>
            </a:r>
          </a:p>
        </p:txBody>
      </p:sp>
      <p:sp>
        <p:nvSpPr>
          <p:cNvPr id="8" name="Arrow: Circular 7">
            <a:extLst>
              <a:ext uri="{FF2B5EF4-FFF2-40B4-BE49-F238E27FC236}">
                <a16:creationId xmlns:a16="http://schemas.microsoft.com/office/drawing/2014/main" id="{08604D32-D523-4F25-AFC8-2D189AF17EE6}"/>
              </a:ext>
            </a:extLst>
          </p:cNvPr>
          <p:cNvSpPr/>
          <p:nvPr/>
        </p:nvSpPr>
        <p:spPr>
          <a:xfrm>
            <a:off x="6816721" y="1739863"/>
            <a:ext cx="4211211" cy="4211211"/>
          </a:xfrm>
          <a:prstGeom prst="circularArrow">
            <a:avLst>
              <a:gd name="adj1" fmla="val 5195"/>
              <a:gd name="adj2" fmla="val 335545"/>
              <a:gd name="adj3" fmla="val 21294739"/>
              <a:gd name="adj4" fmla="val 19764927"/>
              <a:gd name="adj5" fmla="val 6061"/>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en-US"/>
          </a:p>
        </p:txBody>
      </p:sp>
      <p:sp>
        <p:nvSpPr>
          <p:cNvPr id="9" name="Freeform: Shape 8">
            <a:extLst>
              <a:ext uri="{FF2B5EF4-FFF2-40B4-BE49-F238E27FC236}">
                <a16:creationId xmlns:a16="http://schemas.microsoft.com/office/drawing/2014/main" id="{1EB59233-AD7F-4675-A542-692A6E3D5487}"/>
              </a:ext>
            </a:extLst>
          </p:cNvPr>
          <p:cNvSpPr/>
          <p:nvPr/>
        </p:nvSpPr>
        <p:spPr>
          <a:xfrm>
            <a:off x="10138501" y="3861930"/>
            <a:ext cx="1121934"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b="1" kern="1200" dirty="0"/>
              <a:t>Design</a:t>
            </a:r>
          </a:p>
        </p:txBody>
      </p:sp>
      <p:sp>
        <p:nvSpPr>
          <p:cNvPr id="10" name="Arrow: Circular 9">
            <a:extLst>
              <a:ext uri="{FF2B5EF4-FFF2-40B4-BE49-F238E27FC236}">
                <a16:creationId xmlns:a16="http://schemas.microsoft.com/office/drawing/2014/main" id="{B275146D-43B5-4A87-B3BA-ED7911B1E089}"/>
              </a:ext>
            </a:extLst>
          </p:cNvPr>
          <p:cNvSpPr/>
          <p:nvPr/>
        </p:nvSpPr>
        <p:spPr>
          <a:xfrm>
            <a:off x="6816721" y="1739863"/>
            <a:ext cx="4211211" cy="4211211"/>
          </a:xfrm>
          <a:prstGeom prst="circularArrow">
            <a:avLst>
              <a:gd name="adj1" fmla="val 5195"/>
              <a:gd name="adj2" fmla="val 335545"/>
              <a:gd name="adj3" fmla="val 4016250"/>
              <a:gd name="adj4" fmla="val 2252007"/>
              <a:gd name="adj5" fmla="val 6061"/>
            </a:avLst>
          </a:pr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en-US"/>
          </a:p>
        </p:txBody>
      </p:sp>
      <p:sp>
        <p:nvSpPr>
          <p:cNvPr id="11" name="Freeform: Shape 10">
            <a:extLst>
              <a:ext uri="{FF2B5EF4-FFF2-40B4-BE49-F238E27FC236}">
                <a16:creationId xmlns:a16="http://schemas.microsoft.com/office/drawing/2014/main" id="{DCF975C5-96B7-4DF2-91B7-FA0BD2388841}"/>
              </a:ext>
            </a:extLst>
          </p:cNvPr>
          <p:cNvSpPr/>
          <p:nvPr/>
        </p:nvSpPr>
        <p:spPr>
          <a:xfrm>
            <a:off x="8361359" y="5153099"/>
            <a:ext cx="1121934"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Implement</a:t>
            </a:r>
          </a:p>
        </p:txBody>
      </p:sp>
      <p:sp>
        <p:nvSpPr>
          <p:cNvPr id="12" name="Arrow: Circular 11">
            <a:extLst>
              <a:ext uri="{FF2B5EF4-FFF2-40B4-BE49-F238E27FC236}">
                <a16:creationId xmlns:a16="http://schemas.microsoft.com/office/drawing/2014/main" id="{C931BEA8-C1CE-43BE-99C9-0B9075A147C4}"/>
              </a:ext>
            </a:extLst>
          </p:cNvPr>
          <p:cNvSpPr/>
          <p:nvPr/>
        </p:nvSpPr>
        <p:spPr>
          <a:xfrm>
            <a:off x="6816721" y="1739863"/>
            <a:ext cx="4211211" cy="4211211"/>
          </a:xfrm>
          <a:prstGeom prst="circularArrow">
            <a:avLst>
              <a:gd name="adj1" fmla="val 5195"/>
              <a:gd name="adj2" fmla="val 335545"/>
              <a:gd name="adj3" fmla="val 8212447"/>
              <a:gd name="adj4" fmla="val 6448204"/>
              <a:gd name="adj5" fmla="val 6061"/>
            </a:avLst>
          </a:pr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a:lstStyle/>
          <a:p>
            <a:endParaRPr lang="en-US"/>
          </a:p>
        </p:txBody>
      </p:sp>
      <p:sp>
        <p:nvSpPr>
          <p:cNvPr id="13" name="Freeform: Shape 12">
            <a:extLst>
              <a:ext uri="{FF2B5EF4-FFF2-40B4-BE49-F238E27FC236}">
                <a16:creationId xmlns:a16="http://schemas.microsoft.com/office/drawing/2014/main" id="{9BE4E709-E8FE-42BF-9A12-BAC75E3F3204}"/>
              </a:ext>
            </a:extLst>
          </p:cNvPr>
          <p:cNvSpPr/>
          <p:nvPr/>
        </p:nvSpPr>
        <p:spPr>
          <a:xfrm>
            <a:off x="6584218" y="3861930"/>
            <a:ext cx="1121934"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Test</a:t>
            </a:r>
          </a:p>
        </p:txBody>
      </p:sp>
      <p:sp>
        <p:nvSpPr>
          <p:cNvPr id="14" name="Arrow: Circular 13">
            <a:extLst>
              <a:ext uri="{FF2B5EF4-FFF2-40B4-BE49-F238E27FC236}">
                <a16:creationId xmlns:a16="http://schemas.microsoft.com/office/drawing/2014/main" id="{47013EBC-A85E-48D7-8336-E5CDFC1C699E}"/>
              </a:ext>
            </a:extLst>
          </p:cNvPr>
          <p:cNvSpPr/>
          <p:nvPr/>
        </p:nvSpPr>
        <p:spPr>
          <a:xfrm>
            <a:off x="6816721" y="1739863"/>
            <a:ext cx="4211211" cy="4211211"/>
          </a:xfrm>
          <a:prstGeom prst="circularArrow">
            <a:avLst>
              <a:gd name="adj1" fmla="val 5195"/>
              <a:gd name="adj2" fmla="val 335545"/>
              <a:gd name="adj3" fmla="val 12299528"/>
              <a:gd name="adj4" fmla="val 10769715"/>
              <a:gd name="adj5" fmla="val 6061"/>
            </a:avLst>
          </a:pr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a:lstStyle/>
          <a:p>
            <a:endParaRPr lang="en-US"/>
          </a:p>
        </p:txBody>
      </p:sp>
      <p:sp>
        <p:nvSpPr>
          <p:cNvPr id="15" name="Freeform: Shape 14">
            <a:extLst>
              <a:ext uri="{FF2B5EF4-FFF2-40B4-BE49-F238E27FC236}">
                <a16:creationId xmlns:a16="http://schemas.microsoft.com/office/drawing/2014/main" id="{96326257-6A8B-4AB8-8439-45A9D8B1EABF}"/>
              </a:ext>
            </a:extLst>
          </p:cNvPr>
          <p:cNvSpPr/>
          <p:nvPr/>
        </p:nvSpPr>
        <p:spPr>
          <a:xfrm>
            <a:off x="7263026" y="1772775"/>
            <a:ext cx="1121934"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Analyze</a:t>
            </a:r>
          </a:p>
        </p:txBody>
      </p:sp>
      <p:sp>
        <p:nvSpPr>
          <p:cNvPr id="16" name="Arrow: Circular 15">
            <a:extLst>
              <a:ext uri="{FF2B5EF4-FFF2-40B4-BE49-F238E27FC236}">
                <a16:creationId xmlns:a16="http://schemas.microsoft.com/office/drawing/2014/main" id="{50551519-CF1E-4B63-9553-87B5FFC66262}"/>
              </a:ext>
            </a:extLst>
          </p:cNvPr>
          <p:cNvSpPr/>
          <p:nvPr/>
        </p:nvSpPr>
        <p:spPr>
          <a:xfrm>
            <a:off x="6816721" y="1739863"/>
            <a:ext cx="4211211" cy="4211211"/>
          </a:xfrm>
          <a:prstGeom prst="circularArrow">
            <a:avLst>
              <a:gd name="adj1" fmla="val 5195"/>
              <a:gd name="adj2" fmla="val 335545"/>
              <a:gd name="adj3" fmla="val 16867234"/>
              <a:gd name="adj4" fmla="val 15197221"/>
              <a:gd name="adj5" fmla="val 6061"/>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US"/>
          </a:p>
        </p:txBody>
      </p:sp>
      <p:sp>
        <p:nvSpPr>
          <p:cNvPr id="3" name="Title 2">
            <a:extLst>
              <a:ext uri="{FF2B5EF4-FFF2-40B4-BE49-F238E27FC236}">
                <a16:creationId xmlns:a16="http://schemas.microsoft.com/office/drawing/2014/main" id="{7E10ADDA-0E25-4979-8B77-C5E21DA7DDCB}"/>
              </a:ext>
            </a:extLst>
          </p:cNvPr>
          <p:cNvSpPr>
            <a:spLocks noGrp="1"/>
          </p:cNvSpPr>
          <p:nvPr>
            <p:ph type="title"/>
          </p:nvPr>
        </p:nvSpPr>
        <p:spPr/>
        <p:txBody>
          <a:bodyPr/>
          <a:lstStyle/>
          <a:p>
            <a:r>
              <a:rPr lang="en-US" dirty="0"/>
              <a:t>Code Design Cycle</a:t>
            </a:r>
          </a:p>
        </p:txBody>
      </p:sp>
      <p:sp>
        <p:nvSpPr>
          <p:cNvPr id="5" name="Content Placeholder 4">
            <a:extLst>
              <a:ext uri="{FF2B5EF4-FFF2-40B4-BE49-F238E27FC236}">
                <a16:creationId xmlns:a16="http://schemas.microsoft.com/office/drawing/2014/main" id="{142253C1-B65B-42B2-AFA4-DAFC9177DC5C}"/>
              </a:ext>
            </a:extLst>
          </p:cNvPr>
          <p:cNvSpPr txBox="1">
            <a:spLocks/>
          </p:cNvSpPr>
          <p:nvPr/>
        </p:nvSpPr>
        <p:spPr>
          <a:xfrm>
            <a:off x="609600" y="1628799"/>
            <a:ext cx="6207119" cy="4536505"/>
          </a:xfrm>
          <a:prstGeom prst="rect">
            <a:avLst/>
          </a:prstGeom>
        </p:spPr>
        <p:txBody>
          <a:bodyPr vert="horz" lIns="0" tIns="0" rIns="0" bIns="0" rtlCol="0">
            <a:normAutofit/>
          </a:bodyPr>
          <a:lstStyle>
            <a:lvl1pPr marL="269875" indent="-269875" algn="l" defTabSz="457200" rtl="0" eaLnBrk="1" latinLnBrk="0" hangingPunct="1">
              <a:lnSpc>
                <a:spcPct val="120000"/>
              </a:lnSpc>
              <a:spcBef>
                <a:spcPts val="0"/>
              </a:spcBef>
              <a:buClr>
                <a:srgbClr val="0A2D50"/>
              </a:buClr>
              <a:buFont typeface="Arial"/>
              <a:buChar char="•"/>
              <a:defRPr sz="2400" kern="1200">
                <a:solidFill>
                  <a:schemeClr val="tx1"/>
                </a:solidFill>
                <a:latin typeface="Georgia"/>
                <a:ea typeface="+mn-ea"/>
                <a:cs typeface="Georgia"/>
              </a:defRPr>
            </a:lvl1pPr>
            <a:lvl2pPr marL="539750"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2pPr>
            <a:lvl3pPr marL="809625"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3pPr>
            <a:lvl4pPr marL="1079500"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4pPr>
            <a:lvl5pPr marL="1341438" indent="-261938"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fontAlgn="auto">
              <a:spcAft>
                <a:spcPts val="0"/>
              </a:spcAft>
            </a:pPr>
            <a:r>
              <a:rPr lang="en-US" dirty="0"/>
              <a:t>Design</a:t>
            </a:r>
          </a:p>
          <a:p>
            <a:pPr lvl="1" fontAlgn="auto">
              <a:spcAft>
                <a:spcPts val="0"/>
              </a:spcAft>
            </a:pPr>
            <a:r>
              <a:rPr lang="en-US" dirty="0"/>
              <a:t>Structure the &lt;problem&gt; into smaller tasks?</a:t>
            </a:r>
          </a:p>
          <a:p>
            <a:pPr lvl="1" fontAlgn="auto">
              <a:spcAft>
                <a:spcPts val="0"/>
              </a:spcAft>
            </a:pPr>
            <a:r>
              <a:rPr lang="en-US" dirty="0"/>
              <a:t>Corresponds to Pseudo-Code</a:t>
            </a:r>
          </a:p>
          <a:p>
            <a:pPr marL="269875" lvl="1" indent="0" fontAlgn="auto">
              <a:spcAft>
                <a:spcPts val="0"/>
              </a:spcAft>
              <a:buNone/>
            </a:pPr>
            <a:endParaRPr lang="en-US" dirty="0"/>
          </a:p>
          <a:p>
            <a:pPr lvl="1" fontAlgn="auto">
              <a:spcAft>
                <a:spcPts val="0"/>
              </a:spcAft>
            </a:pPr>
            <a:endParaRPr lang="en-US" dirty="0"/>
          </a:p>
          <a:p>
            <a:pPr fontAlgn="auto">
              <a:spcAft>
                <a:spcPts val="0"/>
              </a:spcAft>
            </a:pPr>
            <a:r>
              <a:rPr lang="en-US" dirty="0"/>
              <a:t>At this point don’t think how to code</a:t>
            </a:r>
          </a:p>
          <a:p>
            <a:pPr lvl="1" fontAlgn="auto">
              <a:spcAft>
                <a:spcPts val="0"/>
              </a:spcAft>
            </a:pPr>
            <a:r>
              <a:rPr lang="en-US" dirty="0"/>
              <a:t>Imagine you have a friend that only uses FORTRAN how would you describe this problem?</a:t>
            </a:r>
          </a:p>
          <a:p>
            <a:pPr lvl="1" fontAlgn="auto">
              <a:spcAft>
                <a:spcPts val="0"/>
              </a:spcAft>
            </a:pPr>
            <a:r>
              <a:rPr lang="en-US" dirty="0"/>
              <a:t>Define inputs and outputs</a:t>
            </a:r>
          </a:p>
          <a:p>
            <a:pPr lvl="1" fontAlgn="auto">
              <a:spcAft>
                <a:spcPts val="0"/>
              </a:spcAft>
            </a:pPr>
            <a:r>
              <a:rPr lang="en-US" dirty="0"/>
              <a:t>Define information flow in the program</a:t>
            </a:r>
          </a:p>
          <a:p>
            <a:pPr lvl="1" fontAlgn="auto">
              <a:spcAft>
                <a:spcPts val="0"/>
              </a:spcAft>
            </a:pPr>
            <a:endParaRPr lang="en-US" dirty="0"/>
          </a:p>
          <a:p>
            <a:pPr lvl="1" fontAlgn="auto">
              <a:spcAft>
                <a:spcPts val="0"/>
              </a:spcAft>
            </a:pPr>
            <a:endParaRPr lang="en-US" dirty="0"/>
          </a:p>
        </p:txBody>
      </p:sp>
    </p:spTree>
    <p:extLst>
      <p:ext uri="{BB962C8B-B14F-4D97-AF65-F5344CB8AC3E}">
        <p14:creationId xmlns:p14="http://schemas.microsoft.com/office/powerpoint/2010/main" val="1700142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01B0893A-4BDE-41E6-8857-262A3BF8DA8F}"/>
              </a:ext>
            </a:extLst>
          </p:cNvPr>
          <p:cNvSpPr/>
          <p:nvPr/>
        </p:nvSpPr>
        <p:spPr>
          <a:xfrm>
            <a:off x="9459693" y="1772775"/>
            <a:ext cx="1121934"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Define Problem</a:t>
            </a:r>
          </a:p>
        </p:txBody>
      </p:sp>
      <p:sp>
        <p:nvSpPr>
          <p:cNvPr id="8" name="Arrow: Circular 7">
            <a:extLst>
              <a:ext uri="{FF2B5EF4-FFF2-40B4-BE49-F238E27FC236}">
                <a16:creationId xmlns:a16="http://schemas.microsoft.com/office/drawing/2014/main" id="{08604D32-D523-4F25-AFC8-2D189AF17EE6}"/>
              </a:ext>
            </a:extLst>
          </p:cNvPr>
          <p:cNvSpPr/>
          <p:nvPr/>
        </p:nvSpPr>
        <p:spPr>
          <a:xfrm>
            <a:off x="6816721" y="1739863"/>
            <a:ext cx="4211211" cy="4211211"/>
          </a:xfrm>
          <a:prstGeom prst="circularArrow">
            <a:avLst>
              <a:gd name="adj1" fmla="val 5195"/>
              <a:gd name="adj2" fmla="val 335545"/>
              <a:gd name="adj3" fmla="val 21294739"/>
              <a:gd name="adj4" fmla="val 19764927"/>
              <a:gd name="adj5" fmla="val 6061"/>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en-US"/>
          </a:p>
        </p:txBody>
      </p:sp>
      <p:sp>
        <p:nvSpPr>
          <p:cNvPr id="9" name="Freeform: Shape 8">
            <a:extLst>
              <a:ext uri="{FF2B5EF4-FFF2-40B4-BE49-F238E27FC236}">
                <a16:creationId xmlns:a16="http://schemas.microsoft.com/office/drawing/2014/main" id="{1EB59233-AD7F-4675-A542-692A6E3D5487}"/>
              </a:ext>
            </a:extLst>
          </p:cNvPr>
          <p:cNvSpPr/>
          <p:nvPr/>
        </p:nvSpPr>
        <p:spPr>
          <a:xfrm>
            <a:off x="10138501" y="3861930"/>
            <a:ext cx="1121934"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Design</a:t>
            </a:r>
          </a:p>
        </p:txBody>
      </p:sp>
      <p:sp>
        <p:nvSpPr>
          <p:cNvPr id="10" name="Arrow: Circular 9">
            <a:extLst>
              <a:ext uri="{FF2B5EF4-FFF2-40B4-BE49-F238E27FC236}">
                <a16:creationId xmlns:a16="http://schemas.microsoft.com/office/drawing/2014/main" id="{B275146D-43B5-4A87-B3BA-ED7911B1E089}"/>
              </a:ext>
            </a:extLst>
          </p:cNvPr>
          <p:cNvSpPr/>
          <p:nvPr/>
        </p:nvSpPr>
        <p:spPr>
          <a:xfrm>
            <a:off x="6816721" y="1739863"/>
            <a:ext cx="4211211" cy="4211211"/>
          </a:xfrm>
          <a:prstGeom prst="circularArrow">
            <a:avLst>
              <a:gd name="adj1" fmla="val 5195"/>
              <a:gd name="adj2" fmla="val 335545"/>
              <a:gd name="adj3" fmla="val 4016250"/>
              <a:gd name="adj4" fmla="val 2252007"/>
              <a:gd name="adj5" fmla="val 6061"/>
            </a:avLst>
          </a:pr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en-US"/>
          </a:p>
        </p:txBody>
      </p:sp>
      <p:sp>
        <p:nvSpPr>
          <p:cNvPr id="11" name="Freeform: Shape 10">
            <a:extLst>
              <a:ext uri="{FF2B5EF4-FFF2-40B4-BE49-F238E27FC236}">
                <a16:creationId xmlns:a16="http://schemas.microsoft.com/office/drawing/2014/main" id="{DCF975C5-96B7-4DF2-91B7-FA0BD2388841}"/>
              </a:ext>
            </a:extLst>
          </p:cNvPr>
          <p:cNvSpPr/>
          <p:nvPr/>
        </p:nvSpPr>
        <p:spPr>
          <a:xfrm>
            <a:off x="8321017" y="5247228"/>
            <a:ext cx="1293629"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b="1" kern="1200" dirty="0"/>
              <a:t>Implement</a:t>
            </a:r>
          </a:p>
        </p:txBody>
      </p:sp>
      <p:sp>
        <p:nvSpPr>
          <p:cNvPr id="12" name="Arrow: Circular 11">
            <a:extLst>
              <a:ext uri="{FF2B5EF4-FFF2-40B4-BE49-F238E27FC236}">
                <a16:creationId xmlns:a16="http://schemas.microsoft.com/office/drawing/2014/main" id="{C931BEA8-C1CE-43BE-99C9-0B9075A147C4}"/>
              </a:ext>
            </a:extLst>
          </p:cNvPr>
          <p:cNvSpPr/>
          <p:nvPr/>
        </p:nvSpPr>
        <p:spPr>
          <a:xfrm>
            <a:off x="6816721" y="1739863"/>
            <a:ext cx="4211211" cy="4211211"/>
          </a:xfrm>
          <a:prstGeom prst="circularArrow">
            <a:avLst>
              <a:gd name="adj1" fmla="val 5195"/>
              <a:gd name="adj2" fmla="val 335545"/>
              <a:gd name="adj3" fmla="val 8212447"/>
              <a:gd name="adj4" fmla="val 6448204"/>
              <a:gd name="adj5" fmla="val 6061"/>
            </a:avLst>
          </a:pr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a:lstStyle/>
          <a:p>
            <a:endParaRPr lang="en-US"/>
          </a:p>
        </p:txBody>
      </p:sp>
      <p:sp>
        <p:nvSpPr>
          <p:cNvPr id="13" name="Freeform: Shape 12">
            <a:extLst>
              <a:ext uri="{FF2B5EF4-FFF2-40B4-BE49-F238E27FC236}">
                <a16:creationId xmlns:a16="http://schemas.microsoft.com/office/drawing/2014/main" id="{9BE4E709-E8FE-42BF-9A12-BAC75E3F3204}"/>
              </a:ext>
            </a:extLst>
          </p:cNvPr>
          <p:cNvSpPr/>
          <p:nvPr/>
        </p:nvSpPr>
        <p:spPr>
          <a:xfrm>
            <a:off x="6584218" y="3861930"/>
            <a:ext cx="1121934"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Test</a:t>
            </a:r>
          </a:p>
        </p:txBody>
      </p:sp>
      <p:sp>
        <p:nvSpPr>
          <p:cNvPr id="14" name="Arrow: Circular 13">
            <a:extLst>
              <a:ext uri="{FF2B5EF4-FFF2-40B4-BE49-F238E27FC236}">
                <a16:creationId xmlns:a16="http://schemas.microsoft.com/office/drawing/2014/main" id="{47013EBC-A85E-48D7-8336-E5CDFC1C699E}"/>
              </a:ext>
            </a:extLst>
          </p:cNvPr>
          <p:cNvSpPr/>
          <p:nvPr/>
        </p:nvSpPr>
        <p:spPr>
          <a:xfrm>
            <a:off x="6816721" y="1739863"/>
            <a:ext cx="4211211" cy="4211211"/>
          </a:xfrm>
          <a:prstGeom prst="circularArrow">
            <a:avLst>
              <a:gd name="adj1" fmla="val 5195"/>
              <a:gd name="adj2" fmla="val 335545"/>
              <a:gd name="adj3" fmla="val 12299528"/>
              <a:gd name="adj4" fmla="val 10769715"/>
              <a:gd name="adj5" fmla="val 6061"/>
            </a:avLst>
          </a:pr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a:lstStyle/>
          <a:p>
            <a:endParaRPr lang="en-US"/>
          </a:p>
        </p:txBody>
      </p:sp>
      <p:sp>
        <p:nvSpPr>
          <p:cNvPr id="15" name="Freeform: Shape 14">
            <a:extLst>
              <a:ext uri="{FF2B5EF4-FFF2-40B4-BE49-F238E27FC236}">
                <a16:creationId xmlns:a16="http://schemas.microsoft.com/office/drawing/2014/main" id="{96326257-6A8B-4AB8-8439-45A9D8B1EABF}"/>
              </a:ext>
            </a:extLst>
          </p:cNvPr>
          <p:cNvSpPr/>
          <p:nvPr/>
        </p:nvSpPr>
        <p:spPr>
          <a:xfrm>
            <a:off x="7263026" y="1772775"/>
            <a:ext cx="1121934"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Analyze</a:t>
            </a:r>
          </a:p>
        </p:txBody>
      </p:sp>
      <p:sp>
        <p:nvSpPr>
          <p:cNvPr id="16" name="Arrow: Circular 15">
            <a:extLst>
              <a:ext uri="{FF2B5EF4-FFF2-40B4-BE49-F238E27FC236}">
                <a16:creationId xmlns:a16="http://schemas.microsoft.com/office/drawing/2014/main" id="{50551519-CF1E-4B63-9553-87B5FFC66262}"/>
              </a:ext>
            </a:extLst>
          </p:cNvPr>
          <p:cNvSpPr/>
          <p:nvPr/>
        </p:nvSpPr>
        <p:spPr>
          <a:xfrm>
            <a:off x="6816721" y="1739863"/>
            <a:ext cx="4211211" cy="4211211"/>
          </a:xfrm>
          <a:prstGeom prst="circularArrow">
            <a:avLst>
              <a:gd name="adj1" fmla="val 5195"/>
              <a:gd name="adj2" fmla="val 335545"/>
              <a:gd name="adj3" fmla="val 16867234"/>
              <a:gd name="adj4" fmla="val 15197221"/>
              <a:gd name="adj5" fmla="val 6061"/>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US"/>
          </a:p>
        </p:txBody>
      </p:sp>
      <p:sp>
        <p:nvSpPr>
          <p:cNvPr id="3" name="Title 2">
            <a:extLst>
              <a:ext uri="{FF2B5EF4-FFF2-40B4-BE49-F238E27FC236}">
                <a16:creationId xmlns:a16="http://schemas.microsoft.com/office/drawing/2014/main" id="{7E10ADDA-0E25-4979-8B77-C5E21DA7DDCB}"/>
              </a:ext>
            </a:extLst>
          </p:cNvPr>
          <p:cNvSpPr>
            <a:spLocks noGrp="1"/>
          </p:cNvSpPr>
          <p:nvPr>
            <p:ph type="title"/>
          </p:nvPr>
        </p:nvSpPr>
        <p:spPr/>
        <p:txBody>
          <a:bodyPr/>
          <a:lstStyle/>
          <a:p>
            <a:r>
              <a:rPr lang="en-US" dirty="0"/>
              <a:t>Code Design Cycle</a:t>
            </a:r>
          </a:p>
        </p:txBody>
      </p:sp>
      <p:sp>
        <p:nvSpPr>
          <p:cNvPr id="5" name="Content Placeholder 4">
            <a:extLst>
              <a:ext uri="{FF2B5EF4-FFF2-40B4-BE49-F238E27FC236}">
                <a16:creationId xmlns:a16="http://schemas.microsoft.com/office/drawing/2014/main" id="{142253C1-B65B-42B2-AFA4-DAFC9177DC5C}"/>
              </a:ext>
            </a:extLst>
          </p:cNvPr>
          <p:cNvSpPr txBox="1">
            <a:spLocks/>
          </p:cNvSpPr>
          <p:nvPr/>
        </p:nvSpPr>
        <p:spPr>
          <a:xfrm>
            <a:off x="609601" y="1628799"/>
            <a:ext cx="6082748" cy="4536505"/>
          </a:xfrm>
          <a:prstGeom prst="rect">
            <a:avLst/>
          </a:prstGeom>
        </p:spPr>
        <p:txBody>
          <a:bodyPr vert="horz" lIns="0" tIns="0" rIns="0" bIns="0" rtlCol="0">
            <a:normAutofit/>
          </a:bodyPr>
          <a:lstStyle>
            <a:lvl1pPr marL="269875" indent="-269875" algn="l" defTabSz="457200" rtl="0" eaLnBrk="1" latinLnBrk="0" hangingPunct="1">
              <a:lnSpc>
                <a:spcPct val="120000"/>
              </a:lnSpc>
              <a:spcBef>
                <a:spcPts val="0"/>
              </a:spcBef>
              <a:buClr>
                <a:srgbClr val="0A2D50"/>
              </a:buClr>
              <a:buFont typeface="Arial"/>
              <a:buChar char="•"/>
              <a:defRPr sz="2400" kern="1200">
                <a:solidFill>
                  <a:schemeClr val="tx1"/>
                </a:solidFill>
                <a:latin typeface="Georgia"/>
                <a:ea typeface="+mn-ea"/>
                <a:cs typeface="Georgia"/>
              </a:defRPr>
            </a:lvl1pPr>
            <a:lvl2pPr marL="539750"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2pPr>
            <a:lvl3pPr marL="809625"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3pPr>
            <a:lvl4pPr marL="1079500"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4pPr>
            <a:lvl5pPr marL="1341438" indent="-261938"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fontAlgn="auto">
              <a:spcAft>
                <a:spcPts val="0"/>
              </a:spcAft>
            </a:pPr>
            <a:r>
              <a:rPr lang="en-US" dirty="0"/>
              <a:t>Implement</a:t>
            </a:r>
          </a:p>
          <a:p>
            <a:pPr lvl="1" fontAlgn="auto">
              <a:spcAft>
                <a:spcPts val="0"/>
              </a:spcAft>
            </a:pPr>
            <a:r>
              <a:rPr lang="en-US" dirty="0"/>
              <a:t>Translate Pseudo-Code to actual code</a:t>
            </a:r>
          </a:p>
          <a:p>
            <a:pPr marL="269875" lvl="1" indent="0" fontAlgn="auto">
              <a:spcAft>
                <a:spcPts val="0"/>
              </a:spcAft>
              <a:buNone/>
            </a:pPr>
            <a:endParaRPr lang="en-US" dirty="0"/>
          </a:p>
          <a:p>
            <a:pPr fontAlgn="auto">
              <a:spcAft>
                <a:spcPts val="0"/>
              </a:spcAft>
            </a:pPr>
            <a:r>
              <a:rPr lang="en-US" dirty="0"/>
              <a:t>Key here is to start small and build up</a:t>
            </a:r>
          </a:p>
          <a:p>
            <a:pPr lvl="1" fontAlgn="auto">
              <a:spcAft>
                <a:spcPts val="0"/>
              </a:spcAft>
            </a:pPr>
            <a:r>
              <a:rPr lang="en-US" dirty="0"/>
              <a:t>Start with what you know how to do</a:t>
            </a:r>
          </a:p>
          <a:p>
            <a:pPr lvl="1" fontAlgn="auto">
              <a:spcAft>
                <a:spcPts val="0"/>
              </a:spcAft>
            </a:pPr>
            <a:r>
              <a:rPr lang="en-US" dirty="0"/>
              <a:t>What (if any) code have we already created that might help</a:t>
            </a:r>
          </a:p>
          <a:p>
            <a:pPr lvl="1" fontAlgn="auto">
              <a:spcAft>
                <a:spcPts val="0"/>
              </a:spcAft>
            </a:pPr>
            <a:endParaRPr lang="en-US" dirty="0"/>
          </a:p>
          <a:p>
            <a:pPr lvl="1" fontAlgn="auto">
              <a:spcAft>
                <a:spcPts val="0"/>
              </a:spcAft>
            </a:pPr>
            <a:endParaRPr lang="en-US" dirty="0"/>
          </a:p>
          <a:p>
            <a:pPr lvl="1" fontAlgn="auto">
              <a:spcAft>
                <a:spcPts val="0"/>
              </a:spcAft>
            </a:pPr>
            <a:endParaRPr lang="en-US" dirty="0"/>
          </a:p>
        </p:txBody>
      </p:sp>
    </p:spTree>
    <p:extLst>
      <p:ext uri="{BB962C8B-B14F-4D97-AF65-F5344CB8AC3E}">
        <p14:creationId xmlns:p14="http://schemas.microsoft.com/office/powerpoint/2010/main" val="962808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01B0893A-4BDE-41E6-8857-262A3BF8DA8F}"/>
              </a:ext>
            </a:extLst>
          </p:cNvPr>
          <p:cNvSpPr/>
          <p:nvPr/>
        </p:nvSpPr>
        <p:spPr>
          <a:xfrm>
            <a:off x="9459693" y="1772775"/>
            <a:ext cx="1121934"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Define Problem</a:t>
            </a:r>
          </a:p>
        </p:txBody>
      </p:sp>
      <p:sp>
        <p:nvSpPr>
          <p:cNvPr id="8" name="Arrow: Circular 7">
            <a:extLst>
              <a:ext uri="{FF2B5EF4-FFF2-40B4-BE49-F238E27FC236}">
                <a16:creationId xmlns:a16="http://schemas.microsoft.com/office/drawing/2014/main" id="{08604D32-D523-4F25-AFC8-2D189AF17EE6}"/>
              </a:ext>
            </a:extLst>
          </p:cNvPr>
          <p:cNvSpPr/>
          <p:nvPr/>
        </p:nvSpPr>
        <p:spPr>
          <a:xfrm>
            <a:off x="6816721" y="1739863"/>
            <a:ext cx="4211211" cy="4211211"/>
          </a:xfrm>
          <a:prstGeom prst="circularArrow">
            <a:avLst>
              <a:gd name="adj1" fmla="val 5195"/>
              <a:gd name="adj2" fmla="val 335545"/>
              <a:gd name="adj3" fmla="val 21294739"/>
              <a:gd name="adj4" fmla="val 19764927"/>
              <a:gd name="adj5" fmla="val 6061"/>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en-US"/>
          </a:p>
        </p:txBody>
      </p:sp>
      <p:sp>
        <p:nvSpPr>
          <p:cNvPr id="9" name="Freeform: Shape 8">
            <a:extLst>
              <a:ext uri="{FF2B5EF4-FFF2-40B4-BE49-F238E27FC236}">
                <a16:creationId xmlns:a16="http://schemas.microsoft.com/office/drawing/2014/main" id="{1EB59233-AD7F-4675-A542-692A6E3D5487}"/>
              </a:ext>
            </a:extLst>
          </p:cNvPr>
          <p:cNvSpPr/>
          <p:nvPr/>
        </p:nvSpPr>
        <p:spPr>
          <a:xfrm>
            <a:off x="10138501" y="3861930"/>
            <a:ext cx="1121934"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Design</a:t>
            </a:r>
          </a:p>
        </p:txBody>
      </p:sp>
      <p:sp>
        <p:nvSpPr>
          <p:cNvPr id="10" name="Arrow: Circular 9">
            <a:extLst>
              <a:ext uri="{FF2B5EF4-FFF2-40B4-BE49-F238E27FC236}">
                <a16:creationId xmlns:a16="http://schemas.microsoft.com/office/drawing/2014/main" id="{B275146D-43B5-4A87-B3BA-ED7911B1E089}"/>
              </a:ext>
            </a:extLst>
          </p:cNvPr>
          <p:cNvSpPr/>
          <p:nvPr/>
        </p:nvSpPr>
        <p:spPr>
          <a:xfrm>
            <a:off x="6816721" y="1739863"/>
            <a:ext cx="4211211" cy="4211211"/>
          </a:xfrm>
          <a:prstGeom prst="circularArrow">
            <a:avLst>
              <a:gd name="adj1" fmla="val 5195"/>
              <a:gd name="adj2" fmla="val 335545"/>
              <a:gd name="adj3" fmla="val 4016250"/>
              <a:gd name="adj4" fmla="val 2252007"/>
              <a:gd name="adj5" fmla="val 6061"/>
            </a:avLst>
          </a:pr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en-US"/>
          </a:p>
        </p:txBody>
      </p:sp>
      <p:sp>
        <p:nvSpPr>
          <p:cNvPr id="11" name="Freeform: Shape 10">
            <a:extLst>
              <a:ext uri="{FF2B5EF4-FFF2-40B4-BE49-F238E27FC236}">
                <a16:creationId xmlns:a16="http://schemas.microsoft.com/office/drawing/2014/main" id="{DCF975C5-96B7-4DF2-91B7-FA0BD2388841}"/>
              </a:ext>
            </a:extLst>
          </p:cNvPr>
          <p:cNvSpPr/>
          <p:nvPr/>
        </p:nvSpPr>
        <p:spPr>
          <a:xfrm>
            <a:off x="8361359" y="5153099"/>
            <a:ext cx="1121934"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Implement</a:t>
            </a:r>
          </a:p>
        </p:txBody>
      </p:sp>
      <p:sp>
        <p:nvSpPr>
          <p:cNvPr id="12" name="Arrow: Circular 11">
            <a:extLst>
              <a:ext uri="{FF2B5EF4-FFF2-40B4-BE49-F238E27FC236}">
                <a16:creationId xmlns:a16="http://schemas.microsoft.com/office/drawing/2014/main" id="{C931BEA8-C1CE-43BE-99C9-0B9075A147C4}"/>
              </a:ext>
            </a:extLst>
          </p:cNvPr>
          <p:cNvSpPr/>
          <p:nvPr/>
        </p:nvSpPr>
        <p:spPr>
          <a:xfrm>
            <a:off x="6816721" y="1739863"/>
            <a:ext cx="4211211" cy="4211211"/>
          </a:xfrm>
          <a:prstGeom prst="circularArrow">
            <a:avLst>
              <a:gd name="adj1" fmla="val 5195"/>
              <a:gd name="adj2" fmla="val 335545"/>
              <a:gd name="adj3" fmla="val 8212447"/>
              <a:gd name="adj4" fmla="val 6448204"/>
              <a:gd name="adj5" fmla="val 6061"/>
            </a:avLst>
          </a:pr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a:lstStyle/>
          <a:p>
            <a:endParaRPr lang="en-US"/>
          </a:p>
        </p:txBody>
      </p:sp>
      <p:sp>
        <p:nvSpPr>
          <p:cNvPr id="13" name="Freeform: Shape 12">
            <a:extLst>
              <a:ext uri="{FF2B5EF4-FFF2-40B4-BE49-F238E27FC236}">
                <a16:creationId xmlns:a16="http://schemas.microsoft.com/office/drawing/2014/main" id="{9BE4E709-E8FE-42BF-9A12-BAC75E3F3204}"/>
              </a:ext>
            </a:extLst>
          </p:cNvPr>
          <p:cNvSpPr/>
          <p:nvPr/>
        </p:nvSpPr>
        <p:spPr>
          <a:xfrm>
            <a:off x="6584218" y="3861930"/>
            <a:ext cx="1121934"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b="1" kern="1200" dirty="0"/>
              <a:t>Test</a:t>
            </a:r>
          </a:p>
        </p:txBody>
      </p:sp>
      <p:sp>
        <p:nvSpPr>
          <p:cNvPr id="14" name="Arrow: Circular 13">
            <a:extLst>
              <a:ext uri="{FF2B5EF4-FFF2-40B4-BE49-F238E27FC236}">
                <a16:creationId xmlns:a16="http://schemas.microsoft.com/office/drawing/2014/main" id="{47013EBC-A85E-48D7-8336-E5CDFC1C699E}"/>
              </a:ext>
            </a:extLst>
          </p:cNvPr>
          <p:cNvSpPr/>
          <p:nvPr/>
        </p:nvSpPr>
        <p:spPr>
          <a:xfrm>
            <a:off x="6816721" y="1739863"/>
            <a:ext cx="4211211" cy="4211211"/>
          </a:xfrm>
          <a:prstGeom prst="circularArrow">
            <a:avLst>
              <a:gd name="adj1" fmla="val 5195"/>
              <a:gd name="adj2" fmla="val 335545"/>
              <a:gd name="adj3" fmla="val 12299528"/>
              <a:gd name="adj4" fmla="val 10769715"/>
              <a:gd name="adj5" fmla="val 6061"/>
            </a:avLst>
          </a:pr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a:lstStyle/>
          <a:p>
            <a:endParaRPr lang="en-US"/>
          </a:p>
        </p:txBody>
      </p:sp>
      <p:sp>
        <p:nvSpPr>
          <p:cNvPr id="15" name="Freeform: Shape 14">
            <a:extLst>
              <a:ext uri="{FF2B5EF4-FFF2-40B4-BE49-F238E27FC236}">
                <a16:creationId xmlns:a16="http://schemas.microsoft.com/office/drawing/2014/main" id="{96326257-6A8B-4AB8-8439-45A9D8B1EABF}"/>
              </a:ext>
            </a:extLst>
          </p:cNvPr>
          <p:cNvSpPr/>
          <p:nvPr/>
        </p:nvSpPr>
        <p:spPr>
          <a:xfrm>
            <a:off x="7263026" y="1772775"/>
            <a:ext cx="1121934"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Analyze</a:t>
            </a:r>
          </a:p>
        </p:txBody>
      </p:sp>
      <p:sp>
        <p:nvSpPr>
          <p:cNvPr id="16" name="Arrow: Circular 15">
            <a:extLst>
              <a:ext uri="{FF2B5EF4-FFF2-40B4-BE49-F238E27FC236}">
                <a16:creationId xmlns:a16="http://schemas.microsoft.com/office/drawing/2014/main" id="{50551519-CF1E-4B63-9553-87B5FFC66262}"/>
              </a:ext>
            </a:extLst>
          </p:cNvPr>
          <p:cNvSpPr/>
          <p:nvPr/>
        </p:nvSpPr>
        <p:spPr>
          <a:xfrm>
            <a:off x="6816721" y="1739863"/>
            <a:ext cx="4211211" cy="4211211"/>
          </a:xfrm>
          <a:prstGeom prst="circularArrow">
            <a:avLst>
              <a:gd name="adj1" fmla="val 5195"/>
              <a:gd name="adj2" fmla="val 335545"/>
              <a:gd name="adj3" fmla="val 16867234"/>
              <a:gd name="adj4" fmla="val 15197221"/>
              <a:gd name="adj5" fmla="val 6061"/>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US"/>
          </a:p>
        </p:txBody>
      </p:sp>
      <p:sp>
        <p:nvSpPr>
          <p:cNvPr id="3" name="Title 2">
            <a:extLst>
              <a:ext uri="{FF2B5EF4-FFF2-40B4-BE49-F238E27FC236}">
                <a16:creationId xmlns:a16="http://schemas.microsoft.com/office/drawing/2014/main" id="{7E10ADDA-0E25-4979-8B77-C5E21DA7DDCB}"/>
              </a:ext>
            </a:extLst>
          </p:cNvPr>
          <p:cNvSpPr>
            <a:spLocks noGrp="1"/>
          </p:cNvSpPr>
          <p:nvPr>
            <p:ph type="title"/>
          </p:nvPr>
        </p:nvSpPr>
        <p:spPr/>
        <p:txBody>
          <a:bodyPr/>
          <a:lstStyle/>
          <a:p>
            <a:r>
              <a:rPr lang="en-US" dirty="0"/>
              <a:t>Code Design Cycle</a:t>
            </a:r>
          </a:p>
        </p:txBody>
      </p:sp>
      <p:sp>
        <p:nvSpPr>
          <p:cNvPr id="5" name="Content Placeholder 4">
            <a:extLst>
              <a:ext uri="{FF2B5EF4-FFF2-40B4-BE49-F238E27FC236}">
                <a16:creationId xmlns:a16="http://schemas.microsoft.com/office/drawing/2014/main" id="{142253C1-B65B-42B2-AFA4-DAFC9177DC5C}"/>
              </a:ext>
            </a:extLst>
          </p:cNvPr>
          <p:cNvSpPr txBox="1">
            <a:spLocks/>
          </p:cNvSpPr>
          <p:nvPr/>
        </p:nvSpPr>
        <p:spPr>
          <a:xfrm>
            <a:off x="609601" y="1628799"/>
            <a:ext cx="6082748" cy="4536505"/>
          </a:xfrm>
          <a:prstGeom prst="rect">
            <a:avLst/>
          </a:prstGeom>
        </p:spPr>
        <p:txBody>
          <a:bodyPr vert="horz" lIns="0" tIns="0" rIns="0" bIns="0" rtlCol="0">
            <a:normAutofit/>
          </a:bodyPr>
          <a:lstStyle>
            <a:lvl1pPr marL="269875" indent="-269875" algn="l" defTabSz="457200" rtl="0" eaLnBrk="1" latinLnBrk="0" hangingPunct="1">
              <a:lnSpc>
                <a:spcPct val="120000"/>
              </a:lnSpc>
              <a:spcBef>
                <a:spcPts val="0"/>
              </a:spcBef>
              <a:buClr>
                <a:srgbClr val="0A2D50"/>
              </a:buClr>
              <a:buFont typeface="Arial"/>
              <a:buChar char="•"/>
              <a:defRPr sz="2400" kern="1200">
                <a:solidFill>
                  <a:schemeClr val="tx1"/>
                </a:solidFill>
                <a:latin typeface="Georgia"/>
                <a:ea typeface="+mn-ea"/>
                <a:cs typeface="Georgia"/>
              </a:defRPr>
            </a:lvl1pPr>
            <a:lvl2pPr marL="539750"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2pPr>
            <a:lvl3pPr marL="809625"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3pPr>
            <a:lvl4pPr marL="1079500"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4pPr>
            <a:lvl5pPr marL="1341438" indent="-261938"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fontAlgn="auto">
              <a:spcAft>
                <a:spcPts val="0"/>
              </a:spcAft>
            </a:pPr>
            <a:r>
              <a:rPr lang="en-US" dirty="0"/>
              <a:t>Test</a:t>
            </a:r>
          </a:p>
          <a:p>
            <a:pPr lvl="1" fontAlgn="auto">
              <a:spcAft>
                <a:spcPts val="0"/>
              </a:spcAft>
            </a:pPr>
            <a:r>
              <a:rPr lang="en-US" dirty="0"/>
              <a:t>Check does our code work as expected?</a:t>
            </a:r>
          </a:p>
          <a:p>
            <a:pPr lvl="1" fontAlgn="auto">
              <a:spcAft>
                <a:spcPts val="0"/>
              </a:spcAft>
            </a:pPr>
            <a:r>
              <a:rPr lang="en-US" dirty="0"/>
              <a:t>Early warning your code is not correct</a:t>
            </a:r>
          </a:p>
          <a:p>
            <a:pPr marL="269875" lvl="1" indent="0" fontAlgn="auto">
              <a:spcAft>
                <a:spcPts val="0"/>
              </a:spcAft>
              <a:buNone/>
            </a:pPr>
            <a:endParaRPr lang="en-US" dirty="0"/>
          </a:p>
          <a:p>
            <a:pPr fontAlgn="auto">
              <a:spcAft>
                <a:spcPts val="0"/>
              </a:spcAft>
            </a:pPr>
            <a:r>
              <a:rPr lang="en-US" dirty="0"/>
              <a:t>Key is to keep it simple</a:t>
            </a:r>
          </a:p>
          <a:p>
            <a:pPr lvl="1" fontAlgn="auto">
              <a:spcAft>
                <a:spcPts val="0"/>
              </a:spcAft>
            </a:pPr>
            <a:r>
              <a:rPr lang="en-US" dirty="0"/>
              <a:t>Minimum working example</a:t>
            </a:r>
          </a:p>
          <a:p>
            <a:pPr lvl="1" fontAlgn="auto">
              <a:spcAft>
                <a:spcPts val="0"/>
              </a:spcAft>
            </a:pPr>
            <a:r>
              <a:rPr lang="en-US" dirty="0"/>
              <a:t>Easy to check – we already know the result(s)</a:t>
            </a:r>
          </a:p>
          <a:p>
            <a:pPr fontAlgn="auto">
              <a:spcAft>
                <a:spcPts val="0"/>
              </a:spcAft>
            </a:pPr>
            <a:endParaRPr lang="en-US" dirty="0"/>
          </a:p>
          <a:p>
            <a:pPr lvl="1" fontAlgn="auto">
              <a:spcAft>
                <a:spcPts val="0"/>
              </a:spcAft>
            </a:pPr>
            <a:endParaRPr lang="en-US" dirty="0"/>
          </a:p>
          <a:p>
            <a:pPr lvl="1" fontAlgn="auto">
              <a:spcAft>
                <a:spcPts val="0"/>
              </a:spcAft>
            </a:pPr>
            <a:endParaRPr lang="en-US" dirty="0"/>
          </a:p>
          <a:p>
            <a:pPr fontAlgn="auto">
              <a:spcAft>
                <a:spcPts val="0"/>
              </a:spcAft>
            </a:pPr>
            <a:endParaRPr lang="en-US" dirty="0"/>
          </a:p>
          <a:p>
            <a:pPr lvl="1" fontAlgn="auto">
              <a:spcAft>
                <a:spcPts val="0"/>
              </a:spcAft>
            </a:pPr>
            <a:endParaRPr lang="en-US" dirty="0"/>
          </a:p>
          <a:p>
            <a:pPr lvl="1" fontAlgn="auto">
              <a:spcAft>
                <a:spcPts val="0"/>
              </a:spcAft>
            </a:pPr>
            <a:endParaRPr lang="en-US" dirty="0"/>
          </a:p>
        </p:txBody>
      </p:sp>
    </p:spTree>
    <p:extLst>
      <p:ext uri="{BB962C8B-B14F-4D97-AF65-F5344CB8AC3E}">
        <p14:creationId xmlns:p14="http://schemas.microsoft.com/office/powerpoint/2010/main" val="420385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01B0893A-4BDE-41E6-8857-262A3BF8DA8F}"/>
              </a:ext>
            </a:extLst>
          </p:cNvPr>
          <p:cNvSpPr/>
          <p:nvPr/>
        </p:nvSpPr>
        <p:spPr>
          <a:xfrm>
            <a:off x="9459693" y="1772775"/>
            <a:ext cx="1121934"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Define Problem</a:t>
            </a:r>
          </a:p>
        </p:txBody>
      </p:sp>
      <p:sp>
        <p:nvSpPr>
          <p:cNvPr id="8" name="Arrow: Circular 7">
            <a:extLst>
              <a:ext uri="{FF2B5EF4-FFF2-40B4-BE49-F238E27FC236}">
                <a16:creationId xmlns:a16="http://schemas.microsoft.com/office/drawing/2014/main" id="{08604D32-D523-4F25-AFC8-2D189AF17EE6}"/>
              </a:ext>
            </a:extLst>
          </p:cNvPr>
          <p:cNvSpPr/>
          <p:nvPr/>
        </p:nvSpPr>
        <p:spPr>
          <a:xfrm>
            <a:off x="6816721" y="1739863"/>
            <a:ext cx="4211211" cy="4211211"/>
          </a:xfrm>
          <a:prstGeom prst="circularArrow">
            <a:avLst>
              <a:gd name="adj1" fmla="val 5195"/>
              <a:gd name="adj2" fmla="val 335545"/>
              <a:gd name="adj3" fmla="val 21294739"/>
              <a:gd name="adj4" fmla="val 19764927"/>
              <a:gd name="adj5" fmla="val 6061"/>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en-US"/>
          </a:p>
        </p:txBody>
      </p:sp>
      <p:sp>
        <p:nvSpPr>
          <p:cNvPr id="9" name="Freeform: Shape 8">
            <a:extLst>
              <a:ext uri="{FF2B5EF4-FFF2-40B4-BE49-F238E27FC236}">
                <a16:creationId xmlns:a16="http://schemas.microsoft.com/office/drawing/2014/main" id="{1EB59233-AD7F-4675-A542-692A6E3D5487}"/>
              </a:ext>
            </a:extLst>
          </p:cNvPr>
          <p:cNvSpPr/>
          <p:nvPr/>
        </p:nvSpPr>
        <p:spPr>
          <a:xfrm>
            <a:off x="10138501" y="3861930"/>
            <a:ext cx="1121934"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Design</a:t>
            </a:r>
          </a:p>
        </p:txBody>
      </p:sp>
      <p:sp>
        <p:nvSpPr>
          <p:cNvPr id="10" name="Arrow: Circular 9">
            <a:extLst>
              <a:ext uri="{FF2B5EF4-FFF2-40B4-BE49-F238E27FC236}">
                <a16:creationId xmlns:a16="http://schemas.microsoft.com/office/drawing/2014/main" id="{B275146D-43B5-4A87-B3BA-ED7911B1E089}"/>
              </a:ext>
            </a:extLst>
          </p:cNvPr>
          <p:cNvSpPr/>
          <p:nvPr/>
        </p:nvSpPr>
        <p:spPr>
          <a:xfrm>
            <a:off x="6816721" y="1739863"/>
            <a:ext cx="4211211" cy="4211211"/>
          </a:xfrm>
          <a:prstGeom prst="circularArrow">
            <a:avLst>
              <a:gd name="adj1" fmla="val 5195"/>
              <a:gd name="adj2" fmla="val 335545"/>
              <a:gd name="adj3" fmla="val 4016250"/>
              <a:gd name="adj4" fmla="val 2252007"/>
              <a:gd name="adj5" fmla="val 6061"/>
            </a:avLst>
          </a:pr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en-US"/>
          </a:p>
        </p:txBody>
      </p:sp>
      <p:sp>
        <p:nvSpPr>
          <p:cNvPr id="11" name="Freeform: Shape 10">
            <a:extLst>
              <a:ext uri="{FF2B5EF4-FFF2-40B4-BE49-F238E27FC236}">
                <a16:creationId xmlns:a16="http://schemas.microsoft.com/office/drawing/2014/main" id="{DCF975C5-96B7-4DF2-91B7-FA0BD2388841}"/>
              </a:ext>
            </a:extLst>
          </p:cNvPr>
          <p:cNvSpPr/>
          <p:nvPr/>
        </p:nvSpPr>
        <p:spPr>
          <a:xfrm>
            <a:off x="8361359" y="5153099"/>
            <a:ext cx="1121934"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Implement</a:t>
            </a:r>
          </a:p>
        </p:txBody>
      </p:sp>
      <p:sp>
        <p:nvSpPr>
          <p:cNvPr id="12" name="Arrow: Circular 11">
            <a:extLst>
              <a:ext uri="{FF2B5EF4-FFF2-40B4-BE49-F238E27FC236}">
                <a16:creationId xmlns:a16="http://schemas.microsoft.com/office/drawing/2014/main" id="{C931BEA8-C1CE-43BE-99C9-0B9075A147C4}"/>
              </a:ext>
            </a:extLst>
          </p:cNvPr>
          <p:cNvSpPr/>
          <p:nvPr/>
        </p:nvSpPr>
        <p:spPr>
          <a:xfrm>
            <a:off x="6816721" y="1739863"/>
            <a:ext cx="4211211" cy="4211211"/>
          </a:xfrm>
          <a:prstGeom prst="circularArrow">
            <a:avLst>
              <a:gd name="adj1" fmla="val 5195"/>
              <a:gd name="adj2" fmla="val 335545"/>
              <a:gd name="adj3" fmla="val 8212447"/>
              <a:gd name="adj4" fmla="val 6448204"/>
              <a:gd name="adj5" fmla="val 6061"/>
            </a:avLst>
          </a:pr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a:lstStyle/>
          <a:p>
            <a:endParaRPr lang="en-US"/>
          </a:p>
        </p:txBody>
      </p:sp>
      <p:sp>
        <p:nvSpPr>
          <p:cNvPr id="13" name="Freeform: Shape 12">
            <a:extLst>
              <a:ext uri="{FF2B5EF4-FFF2-40B4-BE49-F238E27FC236}">
                <a16:creationId xmlns:a16="http://schemas.microsoft.com/office/drawing/2014/main" id="{9BE4E709-E8FE-42BF-9A12-BAC75E3F3204}"/>
              </a:ext>
            </a:extLst>
          </p:cNvPr>
          <p:cNvSpPr/>
          <p:nvPr/>
        </p:nvSpPr>
        <p:spPr>
          <a:xfrm>
            <a:off x="6584218" y="3861930"/>
            <a:ext cx="1121934"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Test</a:t>
            </a:r>
          </a:p>
        </p:txBody>
      </p:sp>
      <p:sp>
        <p:nvSpPr>
          <p:cNvPr id="14" name="Arrow: Circular 13">
            <a:extLst>
              <a:ext uri="{FF2B5EF4-FFF2-40B4-BE49-F238E27FC236}">
                <a16:creationId xmlns:a16="http://schemas.microsoft.com/office/drawing/2014/main" id="{47013EBC-A85E-48D7-8336-E5CDFC1C699E}"/>
              </a:ext>
            </a:extLst>
          </p:cNvPr>
          <p:cNvSpPr/>
          <p:nvPr/>
        </p:nvSpPr>
        <p:spPr>
          <a:xfrm>
            <a:off x="6816721" y="1739863"/>
            <a:ext cx="4211211" cy="4211211"/>
          </a:xfrm>
          <a:prstGeom prst="circularArrow">
            <a:avLst>
              <a:gd name="adj1" fmla="val 5195"/>
              <a:gd name="adj2" fmla="val 335545"/>
              <a:gd name="adj3" fmla="val 12299528"/>
              <a:gd name="adj4" fmla="val 10769715"/>
              <a:gd name="adj5" fmla="val 6061"/>
            </a:avLst>
          </a:pr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a:lstStyle/>
          <a:p>
            <a:endParaRPr lang="en-US"/>
          </a:p>
        </p:txBody>
      </p:sp>
      <p:sp>
        <p:nvSpPr>
          <p:cNvPr id="15" name="Freeform: Shape 14">
            <a:extLst>
              <a:ext uri="{FF2B5EF4-FFF2-40B4-BE49-F238E27FC236}">
                <a16:creationId xmlns:a16="http://schemas.microsoft.com/office/drawing/2014/main" id="{96326257-6A8B-4AB8-8439-45A9D8B1EABF}"/>
              </a:ext>
            </a:extLst>
          </p:cNvPr>
          <p:cNvSpPr/>
          <p:nvPr/>
        </p:nvSpPr>
        <p:spPr>
          <a:xfrm>
            <a:off x="7263026" y="1772775"/>
            <a:ext cx="1121934"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b="1" kern="1200" dirty="0"/>
              <a:t>Analyze</a:t>
            </a:r>
          </a:p>
        </p:txBody>
      </p:sp>
      <p:sp>
        <p:nvSpPr>
          <p:cNvPr id="16" name="Arrow: Circular 15">
            <a:extLst>
              <a:ext uri="{FF2B5EF4-FFF2-40B4-BE49-F238E27FC236}">
                <a16:creationId xmlns:a16="http://schemas.microsoft.com/office/drawing/2014/main" id="{50551519-CF1E-4B63-9553-87B5FFC66262}"/>
              </a:ext>
            </a:extLst>
          </p:cNvPr>
          <p:cNvSpPr/>
          <p:nvPr/>
        </p:nvSpPr>
        <p:spPr>
          <a:xfrm>
            <a:off x="6816721" y="1739863"/>
            <a:ext cx="4211211" cy="4211211"/>
          </a:xfrm>
          <a:prstGeom prst="circularArrow">
            <a:avLst>
              <a:gd name="adj1" fmla="val 5195"/>
              <a:gd name="adj2" fmla="val 335545"/>
              <a:gd name="adj3" fmla="val 16867234"/>
              <a:gd name="adj4" fmla="val 15197221"/>
              <a:gd name="adj5" fmla="val 6061"/>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US"/>
          </a:p>
        </p:txBody>
      </p:sp>
      <p:sp>
        <p:nvSpPr>
          <p:cNvPr id="3" name="Title 2">
            <a:extLst>
              <a:ext uri="{FF2B5EF4-FFF2-40B4-BE49-F238E27FC236}">
                <a16:creationId xmlns:a16="http://schemas.microsoft.com/office/drawing/2014/main" id="{7E10ADDA-0E25-4979-8B77-C5E21DA7DDCB}"/>
              </a:ext>
            </a:extLst>
          </p:cNvPr>
          <p:cNvSpPr>
            <a:spLocks noGrp="1"/>
          </p:cNvSpPr>
          <p:nvPr>
            <p:ph type="title"/>
          </p:nvPr>
        </p:nvSpPr>
        <p:spPr/>
        <p:txBody>
          <a:bodyPr/>
          <a:lstStyle/>
          <a:p>
            <a:r>
              <a:rPr lang="en-US" dirty="0"/>
              <a:t>Code Design Cycle</a:t>
            </a:r>
          </a:p>
        </p:txBody>
      </p:sp>
      <p:sp>
        <p:nvSpPr>
          <p:cNvPr id="5" name="Content Placeholder 4">
            <a:extLst>
              <a:ext uri="{FF2B5EF4-FFF2-40B4-BE49-F238E27FC236}">
                <a16:creationId xmlns:a16="http://schemas.microsoft.com/office/drawing/2014/main" id="{142253C1-B65B-42B2-AFA4-DAFC9177DC5C}"/>
              </a:ext>
            </a:extLst>
          </p:cNvPr>
          <p:cNvSpPr txBox="1">
            <a:spLocks/>
          </p:cNvSpPr>
          <p:nvPr/>
        </p:nvSpPr>
        <p:spPr>
          <a:xfrm>
            <a:off x="609601" y="1628799"/>
            <a:ext cx="6082748" cy="4536505"/>
          </a:xfrm>
          <a:prstGeom prst="rect">
            <a:avLst/>
          </a:prstGeom>
        </p:spPr>
        <p:txBody>
          <a:bodyPr vert="horz" lIns="0" tIns="0" rIns="0" bIns="0" rtlCol="0">
            <a:normAutofit/>
          </a:bodyPr>
          <a:lstStyle>
            <a:lvl1pPr marL="269875" indent="-269875" algn="l" defTabSz="457200" rtl="0" eaLnBrk="1" latinLnBrk="0" hangingPunct="1">
              <a:lnSpc>
                <a:spcPct val="120000"/>
              </a:lnSpc>
              <a:spcBef>
                <a:spcPts val="0"/>
              </a:spcBef>
              <a:buClr>
                <a:srgbClr val="0A2D50"/>
              </a:buClr>
              <a:buFont typeface="Arial"/>
              <a:buChar char="•"/>
              <a:defRPr sz="2400" kern="1200">
                <a:solidFill>
                  <a:schemeClr val="tx1"/>
                </a:solidFill>
                <a:latin typeface="Georgia"/>
                <a:ea typeface="+mn-ea"/>
                <a:cs typeface="Georgia"/>
              </a:defRPr>
            </a:lvl1pPr>
            <a:lvl2pPr marL="539750"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2pPr>
            <a:lvl3pPr marL="809625"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3pPr>
            <a:lvl4pPr marL="1079500"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4pPr>
            <a:lvl5pPr marL="1341438" indent="-261938"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fontAlgn="auto">
              <a:spcAft>
                <a:spcPts val="0"/>
              </a:spcAft>
            </a:pPr>
            <a:r>
              <a:rPr lang="en-US" dirty="0"/>
              <a:t>Analyze</a:t>
            </a:r>
          </a:p>
          <a:p>
            <a:pPr lvl="1" fontAlgn="auto">
              <a:spcAft>
                <a:spcPts val="0"/>
              </a:spcAft>
            </a:pPr>
            <a:r>
              <a:rPr lang="en-US" dirty="0"/>
              <a:t>Have we have solved the problem?</a:t>
            </a:r>
          </a:p>
          <a:p>
            <a:pPr lvl="1" fontAlgn="auto">
              <a:spcAft>
                <a:spcPts val="0"/>
              </a:spcAft>
            </a:pPr>
            <a:r>
              <a:rPr lang="en-US" dirty="0"/>
              <a:t>Corresponds to Validation</a:t>
            </a:r>
          </a:p>
          <a:p>
            <a:pPr lvl="1" fontAlgn="auto">
              <a:spcAft>
                <a:spcPts val="0"/>
              </a:spcAft>
            </a:pPr>
            <a:endParaRPr lang="en-US" dirty="0"/>
          </a:p>
          <a:p>
            <a:pPr lvl="1" fontAlgn="auto">
              <a:spcAft>
                <a:spcPts val="0"/>
              </a:spcAft>
            </a:pPr>
            <a:endParaRPr lang="en-US" dirty="0"/>
          </a:p>
          <a:p>
            <a:pPr lvl="1" fontAlgn="auto">
              <a:spcAft>
                <a:spcPts val="0"/>
              </a:spcAft>
            </a:pPr>
            <a:endParaRPr lang="en-US" dirty="0"/>
          </a:p>
          <a:p>
            <a:pPr fontAlgn="auto">
              <a:spcAft>
                <a:spcPts val="0"/>
              </a:spcAft>
            </a:pPr>
            <a:r>
              <a:rPr lang="en-US" dirty="0"/>
              <a:t>Assess how the code works on real data</a:t>
            </a:r>
          </a:p>
          <a:p>
            <a:pPr lvl="1" fontAlgn="auto">
              <a:spcAft>
                <a:spcPts val="0"/>
              </a:spcAft>
            </a:pPr>
            <a:r>
              <a:rPr lang="en-US" dirty="0"/>
              <a:t>Define criteria of success – we may not always know the right answer</a:t>
            </a:r>
          </a:p>
          <a:p>
            <a:pPr lvl="1" fontAlgn="auto">
              <a:spcAft>
                <a:spcPts val="0"/>
              </a:spcAft>
            </a:pPr>
            <a:r>
              <a:rPr lang="en-US" dirty="0"/>
              <a:t>Allows us to define expected performance</a:t>
            </a:r>
          </a:p>
        </p:txBody>
      </p:sp>
    </p:spTree>
    <p:extLst>
      <p:ext uri="{BB962C8B-B14F-4D97-AF65-F5344CB8AC3E}">
        <p14:creationId xmlns:p14="http://schemas.microsoft.com/office/powerpoint/2010/main" val="1656674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01B0893A-4BDE-41E6-8857-262A3BF8DA8F}"/>
              </a:ext>
            </a:extLst>
          </p:cNvPr>
          <p:cNvSpPr/>
          <p:nvPr/>
        </p:nvSpPr>
        <p:spPr>
          <a:xfrm>
            <a:off x="9459693" y="1772775"/>
            <a:ext cx="1121934"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b="1" kern="1200" dirty="0"/>
              <a:t>Define Problem</a:t>
            </a:r>
          </a:p>
        </p:txBody>
      </p:sp>
      <p:sp>
        <p:nvSpPr>
          <p:cNvPr id="8" name="Arrow: Circular 7">
            <a:extLst>
              <a:ext uri="{FF2B5EF4-FFF2-40B4-BE49-F238E27FC236}">
                <a16:creationId xmlns:a16="http://schemas.microsoft.com/office/drawing/2014/main" id="{08604D32-D523-4F25-AFC8-2D189AF17EE6}"/>
              </a:ext>
            </a:extLst>
          </p:cNvPr>
          <p:cNvSpPr/>
          <p:nvPr/>
        </p:nvSpPr>
        <p:spPr>
          <a:xfrm>
            <a:off x="6816721" y="1739863"/>
            <a:ext cx="4211211" cy="4211211"/>
          </a:xfrm>
          <a:prstGeom prst="circularArrow">
            <a:avLst>
              <a:gd name="adj1" fmla="val 5195"/>
              <a:gd name="adj2" fmla="val 335545"/>
              <a:gd name="adj3" fmla="val 21294739"/>
              <a:gd name="adj4" fmla="val 19764927"/>
              <a:gd name="adj5" fmla="val 6061"/>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en-US"/>
          </a:p>
        </p:txBody>
      </p:sp>
      <p:sp>
        <p:nvSpPr>
          <p:cNvPr id="9" name="Freeform: Shape 8">
            <a:extLst>
              <a:ext uri="{FF2B5EF4-FFF2-40B4-BE49-F238E27FC236}">
                <a16:creationId xmlns:a16="http://schemas.microsoft.com/office/drawing/2014/main" id="{1EB59233-AD7F-4675-A542-692A6E3D5487}"/>
              </a:ext>
            </a:extLst>
          </p:cNvPr>
          <p:cNvSpPr/>
          <p:nvPr/>
        </p:nvSpPr>
        <p:spPr>
          <a:xfrm>
            <a:off x="10138501" y="3861930"/>
            <a:ext cx="1121934"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Design</a:t>
            </a:r>
          </a:p>
        </p:txBody>
      </p:sp>
      <p:sp>
        <p:nvSpPr>
          <p:cNvPr id="10" name="Arrow: Circular 9">
            <a:extLst>
              <a:ext uri="{FF2B5EF4-FFF2-40B4-BE49-F238E27FC236}">
                <a16:creationId xmlns:a16="http://schemas.microsoft.com/office/drawing/2014/main" id="{B275146D-43B5-4A87-B3BA-ED7911B1E089}"/>
              </a:ext>
            </a:extLst>
          </p:cNvPr>
          <p:cNvSpPr/>
          <p:nvPr/>
        </p:nvSpPr>
        <p:spPr>
          <a:xfrm>
            <a:off x="6816721" y="1739863"/>
            <a:ext cx="4211211" cy="4211211"/>
          </a:xfrm>
          <a:prstGeom prst="circularArrow">
            <a:avLst>
              <a:gd name="adj1" fmla="val 5195"/>
              <a:gd name="adj2" fmla="val 335545"/>
              <a:gd name="adj3" fmla="val 4016250"/>
              <a:gd name="adj4" fmla="val 2252007"/>
              <a:gd name="adj5" fmla="val 6061"/>
            </a:avLst>
          </a:pr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en-US"/>
          </a:p>
        </p:txBody>
      </p:sp>
      <p:sp>
        <p:nvSpPr>
          <p:cNvPr id="11" name="Freeform: Shape 10">
            <a:extLst>
              <a:ext uri="{FF2B5EF4-FFF2-40B4-BE49-F238E27FC236}">
                <a16:creationId xmlns:a16="http://schemas.microsoft.com/office/drawing/2014/main" id="{DCF975C5-96B7-4DF2-91B7-FA0BD2388841}"/>
              </a:ext>
            </a:extLst>
          </p:cNvPr>
          <p:cNvSpPr/>
          <p:nvPr/>
        </p:nvSpPr>
        <p:spPr>
          <a:xfrm>
            <a:off x="8361359" y="5153099"/>
            <a:ext cx="1121934"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Implement</a:t>
            </a:r>
          </a:p>
        </p:txBody>
      </p:sp>
      <p:sp>
        <p:nvSpPr>
          <p:cNvPr id="12" name="Arrow: Circular 11">
            <a:extLst>
              <a:ext uri="{FF2B5EF4-FFF2-40B4-BE49-F238E27FC236}">
                <a16:creationId xmlns:a16="http://schemas.microsoft.com/office/drawing/2014/main" id="{C931BEA8-C1CE-43BE-99C9-0B9075A147C4}"/>
              </a:ext>
            </a:extLst>
          </p:cNvPr>
          <p:cNvSpPr/>
          <p:nvPr/>
        </p:nvSpPr>
        <p:spPr>
          <a:xfrm>
            <a:off x="6816721" y="1739863"/>
            <a:ext cx="4211211" cy="4211211"/>
          </a:xfrm>
          <a:prstGeom prst="circularArrow">
            <a:avLst>
              <a:gd name="adj1" fmla="val 5195"/>
              <a:gd name="adj2" fmla="val 335545"/>
              <a:gd name="adj3" fmla="val 8212447"/>
              <a:gd name="adj4" fmla="val 6448204"/>
              <a:gd name="adj5" fmla="val 6061"/>
            </a:avLst>
          </a:pr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a:lstStyle/>
          <a:p>
            <a:endParaRPr lang="en-US"/>
          </a:p>
        </p:txBody>
      </p:sp>
      <p:sp>
        <p:nvSpPr>
          <p:cNvPr id="13" name="Freeform: Shape 12">
            <a:extLst>
              <a:ext uri="{FF2B5EF4-FFF2-40B4-BE49-F238E27FC236}">
                <a16:creationId xmlns:a16="http://schemas.microsoft.com/office/drawing/2014/main" id="{9BE4E709-E8FE-42BF-9A12-BAC75E3F3204}"/>
              </a:ext>
            </a:extLst>
          </p:cNvPr>
          <p:cNvSpPr/>
          <p:nvPr/>
        </p:nvSpPr>
        <p:spPr>
          <a:xfrm>
            <a:off x="6584218" y="3861930"/>
            <a:ext cx="1121934"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Test</a:t>
            </a:r>
          </a:p>
        </p:txBody>
      </p:sp>
      <p:sp>
        <p:nvSpPr>
          <p:cNvPr id="14" name="Arrow: Circular 13">
            <a:extLst>
              <a:ext uri="{FF2B5EF4-FFF2-40B4-BE49-F238E27FC236}">
                <a16:creationId xmlns:a16="http://schemas.microsoft.com/office/drawing/2014/main" id="{47013EBC-A85E-48D7-8336-E5CDFC1C699E}"/>
              </a:ext>
            </a:extLst>
          </p:cNvPr>
          <p:cNvSpPr/>
          <p:nvPr/>
        </p:nvSpPr>
        <p:spPr>
          <a:xfrm>
            <a:off x="6816721" y="1739863"/>
            <a:ext cx="4211211" cy="4211211"/>
          </a:xfrm>
          <a:prstGeom prst="circularArrow">
            <a:avLst>
              <a:gd name="adj1" fmla="val 5195"/>
              <a:gd name="adj2" fmla="val 335545"/>
              <a:gd name="adj3" fmla="val 12299528"/>
              <a:gd name="adj4" fmla="val 10769715"/>
              <a:gd name="adj5" fmla="val 6061"/>
            </a:avLst>
          </a:pr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a:lstStyle/>
          <a:p>
            <a:endParaRPr lang="en-US"/>
          </a:p>
        </p:txBody>
      </p:sp>
      <p:sp>
        <p:nvSpPr>
          <p:cNvPr id="15" name="Freeform: Shape 14">
            <a:extLst>
              <a:ext uri="{FF2B5EF4-FFF2-40B4-BE49-F238E27FC236}">
                <a16:creationId xmlns:a16="http://schemas.microsoft.com/office/drawing/2014/main" id="{96326257-6A8B-4AB8-8439-45A9D8B1EABF}"/>
              </a:ext>
            </a:extLst>
          </p:cNvPr>
          <p:cNvSpPr/>
          <p:nvPr/>
        </p:nvSpPr>
        <p:spPr>
          <a:xfrm>
            <a:off x="7263026" y="1772775"/>
            <a:ext cx="1121934"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Analyze</a:t>
            </a:r>
          </a:p>
        </p:txBody>
      </p:sp>
      <p:sp>
        <p:nvSpPr>
          <p:cNvPr id="16" name="Arrow: Circular 15">
            <a:extLst>
              <a:ext uri="{FF2B5EF4-FFF2-40B4-BE49-F238E27FC236}">
                <a16:creationId xmlns:a16="http://schemas.microsoft.com/office/drawing/2014/main" id="{50551519-CF1E-4B63-9553-87B5FFC66262}"/>
              </a:ext>
            </a:extLst>
          </p:cNvPr>
          <p:cNvSpPr/>
          <p:nvPr/>
        </p:nvSpPr>
        <p:spPr>
          <a:xfrm>
            <a:off x="6816721" y="1739863"/>
            <a:ext cx="4211211" cy="4211211"/>
          </a:xfrm>
          <a:prstGeom prst="circularArrow">
            <a:avLst>
              <a:gd name="adj1" fmla="val 5195"/>
              <a:gd name="adj2" fmla="val 335545"/>
              <a:gd name="adj3" fmla="val 16867234"/>
              <a:gd name="adj4" fmla="val 15197221"/>
              <a:gd name="adj5" fmla="val 6061"/>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US"/>
          </a:p>
        </p:txBody>
      </p:sp>
      <p:sp>
        <p:nvSpPr>
          <p:cNvPr id="3" name="Title 2">
            <a:extLst>
              <a:ext uri="{FF2B5EF4-FFF2-40B4-BE49-F238E27FC236}">
                <a16:creationId xmlns:a16="http://schemas.microsoft.com/office/drawing/2014/main" id="{7E10ADDA-0E25-4979-8B77-C5E21DA7DDCB}"/>
              </a:ext>
            </a:extLst>
          </p:cNvPr>
          <p:cNvSpPr>
            <a:spLocks noGrp="1"/>
          </p:cNvSpPr>
          <p:nvPr>
            <p:ph type="title"/>
          </p:nvPr>
        </p:nvSpPr>
        <p:spPr/>
        <p:txBody>
          <a:bodyPr/>
          <a:lstStyle/>
          <a:p>
            <a:r>
              <a:rPr lang="en-US" dirty="0"/>
              <a:t>Code Design Cycle</a:t>
            </a:r>
          </a:p>
        </p:txBody>
      </p:sp>
      <p:sp>
        <p:nvSpPr>
          <p:cNvPr id="5" name="Content Placeholder 4">
            <a:extLst>
              <a:ext uri="{FF2B5EF4-FFF2-40B4-BE49-F238E27FC236}">
                <a16:creationId xmlns:a16="http://schemas.microsoft.com/office/drawing/2014/main" id="{142253C1-B65B-42B2-AFA4-DAFC9177DC5C}"/>
              </a:ext>
            </a:extLst>
          </p:cNvPr>
          <p:cNvSpPr txBox="1">
            <a:spLocks/>
          </p:cNvSpPr>
          <p:nvPr/>
        </p:nvSpPr>
        <p:spPr>
          <a:xfrm>
            <a:off x="609601" y="1628799"/>
            <a:ext cx="5846618" cy="4536505"/>
          </a:xfrm>
          <a:prstGeom prst="rect">
            <a:avLst/>
          </a:prstGeom>
        </p:spPr>
        <p:txBody>
          <a:bodyPr vert="horz" lIns="0" tIns="0" rIns="0" bIns="0" rtlCol="0">
            <a:normAutofit/>
          </a:bodyPr>
          <a:lstStyle>
            <a:lvl1pPr marL="269875" indent="-269875" algn="l" defTabSz="457200" rtl="0" eaLnBrk="1" latinLnBrk="0" hangingPunct="1">
              <a:lnSpc>
                <a:spcPct val="120000"/>
              </a:lnSpc>
              <a:spcBef>
                <a:spcPts val="0"/>
              </a:spcBef>
              <a:buClr>
                <a:srgbClr val="0A2D50"/>
              </a:buClr>
              <a:buFont typeface="Arial"/>
              <a:buChar char="•"/>
              <a:defRPr sz="2400" kern="1200">
                <a:solidFill>
                  <a:schemeClr val="tx1"/>
                </a:solidFill>
                <a:latin typeface="Georgia"/>
                <a:ea typeface="+mn-ea"/>
                <a:cs typeface="Georgia"/>
              </a:defRPr>
            </a:lvl1pPr>
            <a:lvl2pPr marL="539750"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2pPr>
            <a:lvl3pPr marL="809625"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3pPr>
            <a:lvl4pPr marL="1079500"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4pPr>
            <a:lvl5pPr marL="1341438" indent="-261938"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fontAlgn="auto">
              <a:spcAft>
                <a:spcPts val="0"/>
              </a:spcAft>
            </a:pPr>
            <a:r>
              <a:rPr lang="en-US" dirty="0"/>
              <a:t>Define Problem</a:t>
            </a:r>
          </a:p>
          <a:p>
            <a:pPr lvl="1" fontAlgn="auto">
              <a:spcAft>
                <a:spcPts val="0"/>
              </a:spcAft>
            </a:pPr>
            <a:r>
              <a:rPr lang="en-US" dirty="0"/>
              <a:t>Rescope if your analysis shows your implementation is not good enough</a:t>
            </a:r>
          </a:p>
          <a:p>
            <a:pPr lvl="1" fontAlgn="auto">
              <a:spcAft>
                <a:spcPts val="0"/>
              </a:spcAft>
            </a:pPr>
            <a:r>
              <a:rPr lang="en-US" dirty="0"/>
              <a:t>Move onto another interesting problem if you have solved it </a:t>
            </a:r>
          </a:p>
        </p:txBody>
      </p:sp>
    </p:spTree>
    <p:extLst>
      <p:ext uri="{BB962C8B-B14F-4D97-AF65-F5344CB8AC3E}">
        <p14:creationId xmlns:p14="http://schemas.microsoft.com/office/powerpoint/2010/main" val="3520858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10ADDA-0E25-4979-8B77-C5E21DA7DDCB}"/>
              </a:ext>
            </a:extLst>
          </p:cNvPr>
          <p:cNvSpPr>
            <a:spLocks noGrp="1"/>
          </p:cNvSpPr>
          <p:nvPr>
            <p:ph type="title"/>
          </p:nvPr>
        </p:nvSpPr>
        <p:spPr/>
        <p:txBody>
          <a:bodyPr/>
          <a:lstStyle/>
          <a:p>
            <a:r>
              <a:rPr lang="en-US" dirty="0"/>
              <a:t>Code Design Cycle</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142253C1-B65B-42B2-AFA4-DAFC9177DC5C}"/>
                  </a:ext>
                </a:extLst>
              </p:cNvPr>
              <p:cNvSpPr txBox="1">
                <a:spLocks/>
              </p:cNvSpPr>
              <p:nvPr/>
            </p:nvSpPr>
            <p:spPr>
              <a:xfrm>
                <a:off x="609601" y="1628799"/>
                <a:ext cx="5846618" cy="4536505"/>
              </a:xfrm>
              <a:prstGeom prst="rect">
                <a:avLst/>
              </a:prstGeom>
            </p:spPr>
            <p:txBody>
              <a:bodyPr vert="horz" lIns="0" tIns="0" rIns="0" bIns="0" rtlCol="0">
                <a:normAutofit/>
              </a:bodyPr>
              <a:lstStyle>
                <a:lvl1pPr marL="269875" indent="-269875" algn="l" defTabSz="457200" rtl="0" eaLnBrk="1" latinLnBrk="0" hangingPunct="1">
                  <a:lnSpc>
                    <a:spcPct val="120000"/>
                  </a:lnSpc>
                  <a:spcBef>
                    <a:spcPts val="0"/>
                  </a:spcBef>
                  <a:buClr>
                    <a:srgbClr val="0A2D50"/>
                  </a:buClr>
                  <a:buFont typeface="Arial"/>
                  <a:buChar char="•"/>
                  <a:defRPr sz="2400" kern="1200">
                    <a:solidFill>
                      <a:schemeClr val="tx1"/>
                    </a:solidFill>
                    <a:latin typeface="Georgia"/>
                    <a:ea typeface="+mn-ea"/>
                    <a:cs typeface="Georgia"/>
                  </a:defRPr>
                </a:lvl1pPr>
                <a:lvl2pPr marL="539750"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2pPr>
                <a:lvl3pPr marL="809625"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3pPr>
                <a:lvl4pPr marL="1079500"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4pPr>
                <a:lvl5pPr marL="1341438" indent="-261938"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fontAlgn="auto">
                  <a:spcAft>
                    <a:spcPts val="0"/>
                  </a:spcAft>
                </a:pPr>
                <a:r>
                  <a:rPr lang="en-US" dirty="0"/>
                  <a:t>Define Problem </a:t>
                </a:r>
              </a:p>
              <a:p>
                <a:pPr lvl="1" fontAlgn="auto">
                  <a:spcAft>
                    <a:spcPts val="0"/>
                  </a:spcAft>
                </a:pPr>
                <a:r>
                  <a:rPr lang="en-US" dirty="0"/>
                  <a:t>I want an algorithm that will find all the points inside a structure</a:t>
                </a:r>
              </a:p>
              <a:p>
                <a:pPr lvl="1" fontAlgn="auto">
                  <a:spcAft>
                    <a:spcPts val="0"/>
                  </a:spcAft>
                </a:pPr>
                <a:r>
                  <a:rPr lang="en-US" dirty="0"/>
                  <a:t>Find all point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𝑃</m:t>
                    </m:r>
                  </m:oMath>
                </a14:m>
                <a:r>
                  <a:rPr lang="en-US" dirty="0"/>
                  <a:t> such that </a:t>
                </a:r>
                <a14:m>
                  <m:oMath xmlns:m="http://schemas.openxmlformats.org/officeDocument/2006/math">
                    <m:r>
                      <m:rPr>
                        <m:sty m:val="p"/>
                      </m:rPr>
                      <a:rPr lang="en-US" dirty="0" smtClean="0">
                        <a:latin typeface="Cambria Math" panose="02040503050406030204" pitchFamily="18" charset="0"/>
                      </a:rPr>
                      <m:t>O</m:t>
                    </m:r>
                    <m:r>
                      <m:rPr>
                        <m:sty m:val="p"/>
                      </m:rPr>
                      <a:rPr lang="en-US" b="0" i="0" dirty="0" smtClean="0">
                        <a:latin typeface="Cambria Math" panose="02040503050406030204" pitchFamily="18" charset="0"/>
                      </a:rPr>
                      <m:t>utside</m:t>
                    </m:r>
                    <m:d>
                      <m:dPr>
                        <m:ctrlPr>
                          <a:rPr lang="en-US" b="0" i="1" smtClean="0">
                            <a:latin typeface="Cambria Math" panose="02040503050406030204" pitchFamily="18" charset="0"/>
                          </a:rPr>
                        </m:ctrlPr>
                      </m:dPr>
                      <m:e>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𝐵</m:t>
                        </m:r>
                      </m:e>
                    </m:d>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m:t>
                    </m:r>
                  </m:oMath>
                </a14:m>
                <a:endParaRPr lang="en-US" dirty="0"/>
              </a:p>
            </p:txBody>
          </p:sp>
        </mc:Choice>
        <mc:Fallback xmlns="">
          <p:sp>
            <p:nvSpPr>
              <p:cNvPr id="5" name="Content Placeholder 4">
                <a:extLst>
                  <a:ext uri="{FF2B5EF4-FFF2-40B4-BE49-F238E27FC236}">
                    <a16:creationId xmlns:a16="http://schemas.microsoft.com/office/drawing/2014/main" id="{142253C1-B65B-42B2-AFA4-DAFC9177DC5C}"/>
                  </a:ext>
                </a:extLst>
              </p:cNvPr>
              <p:cNvSpPr txBox="1">
                <a:spLocks noRot="1" noChangeAspect="1" noMove="1" noResize="1" noEditPoints="1" noAdjustHandles="1" noChangeArrowheads="1" noChangeShapeType="1" noTextEdit="1"/>
              </p:cNvSpPr>
              <p:nvPr/>
            </p:nvSpPr>
            <p:spPr>
              <a:xfrm>
                <a:off x="609601" y="1628799"/>
                <a:ext cx="5846618" cy="4536505"/>
              </a:xfrm>
              <a:prstGeom prst="rect">
                <a:avLst/>
              </a:prstGeom>
              <a:blipFill>
                <a:blip r:embed="rId3"/>
                <a:stretch>
                  <a:fillRect l="-2920" t="-1210" r="-2607"/>
                </a:stretch>
              </a:blipFill>
            </p:spPr>
            <p:txBody>
              <a:bodyPr/>
              <a:lstStyle/>
              <a:p>
                <a:r>
                  <a:rPr lang="en-US">
                    <a:noFill/>
                  </a:rPr>
                  <a:t> </a:t>
                </a:r>
              </a:p>
            </p:txBody>
          </p:sp>
        </mc:Fallback>
      </mc:AlternateContent>
      <p:sp>
        <p:nvSpPr>
          <p:cNvPr id="4" name="Freeform: Shape 3">
            <a:extLst>
              <a:ext uri="{FF2B5EF4-FFF2-40B4-BE49-F238E27FC236}">
                <a16:creationId xmlns:a16="http://schemas.microsoft.com/office/drawing/2014/main" id="{494BA494-BC2B-4A0B-AE78-D455186E5902}"/>
              </a:ext>
            </a:extLst>
          </p:cNvPr>
          <p:cNvSpPr/>
          <p:nvPr/>
        </p:nvSpPr>
        <p:spPr>
          <a:xfrm>
            <a:off x="9459693" y="1772775"/>
            <a:ext cx="1121934"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b="1" kern="1200" dirty="0"/>
              <a:t>Define Problem</a:t>
            </a:r>
          </a:p>
        </p:txBody>
      </p:sp>
      <p:sp>
        <p:nvSpPr>
          <p:cNvPr id="6" name="Arrow: Circular 5">
            <a:extLst>
              <a:ext uri="{FF2B5EF4-FFF2-40B4-BE49-F238E27FC236}">
                <a16:creationId xmlns:a16="http://schemas.microsoft.com/office/drawing/2014/main" id="{8154A79E-3D66-400C-897C-0DDF9E76CEF4}"/>
              </a:ext>
            </a:extLst>
          </p:cNvPr>
          <p:cNvSpPr/>
          <p:nvPr/>
        </p:nvSpPr>
        <p:spPr>
          <a:xfrm>
            <a:off x="6816721" y="1739863"/>
            <a:ext cx="4211211" cy="4211211"/>
          </a:xfrm>
          <a:prstGeom prst="circularArrow">
            <a:avLst>
              <a:gd name="adj1" fmla="val 5195"/>
              <a:gd name="adj2" fmla="val 335545"/>
              <a:gd name="adj3" fmla="val 21294739"/>
              <a:gd name="adj4" fmla="val 19764927"/>
              <a:gd name="adj5" fmla="val 6061"/>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en-US"/>
          </a:p>
        </p:txBody>
      </p:sp>
      <p:sp>
        <p:nvSpPr>
          <p:cNvPr id="7" name="Freeform: Shape 6">
            <a:extLst>
              <a:ext uri="{FF2B5EF4-FFF2-40B4-BE49-F238E27FC236}">
                <a16:creationId xmlns:a16="http://schemas.microsoft.com/office/drawing/2014/main" id="{799220AD-70B5-4D61-A570-AD5DA737DB0F}"/>
              </a:ext>
            </a:extLst>
          </p:cNvPr>
          <p:cNvSpPr/>
          <p:nvPr/>
        </p:nvSpPr>
        <p:spPr>
          <a:xfrm>
            <a:off x="10138501" y="3861930"/>
            <a:ext cx="1121934"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Design</a:t>
            </a:r>
          </a:p>
        </p:txBody>
      </p:sp>
      <p:sp>
        <p:nvSpPr>
          <p:cNvPr id="8" name="Arrow: Circular 7">
            <a:extLst>
              <a:ext uri="{FF2B5EF4-FFF2-40B4-BE49-F238E27FC236}">
                <a16:creationId xmlns:a16="http://schemas.microsoft.com/office/drawing/2014/main" id="{3C2CF261-061F-4BF7-BC62-EE848F5AD5EF}"/>
              </a:ext>
            </a:extLst>
          </p:cNvPr>
          <p:cNvSpPr/>
          <p:nvPr/>
        </p:nvSpPr>
        <p:spPr>
          <a:xfrm>
            <a:off x="6816721" y="1739863"/>
            <a:ext cx="4211211" cy="4211211"/>
          </a:xfrm>
          <a:prstGeom prst="circularArrow">
            <a:avLst>
              <a:gd name="adj1" fmla="val 5195"/>
              <a:gd name="adj2" fmla="val 335545"/>
              <a:gd name="adj3" fmla="val 4016250"/>
              <a:gd name="adj4" fmla="val 2252007"/>
              <a:gd name="adj5" fmla="val 6061"/>
            </a:avLst>
          </a:pr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en-US"/>
          </a:p>
        </p:txBody>
      </p:sp>
      <p:sp>
        <p:nvSpPr>
          <p:cNvPr id="9" name="Freeform: Shape 8">
            <a:extLst>
              <a:ext uri="{FF2B5EF4-FFF2-40B4-BE49-F238E27FC236}">
                <a16:creationId xmlns:a16="http://schemas.microsoft.com/office/drawing/2014/main" id="{42182BFE-A09F-4A84-A4CE-0C0E6EF67CD4}"/>
              </a:ext>
            </a:extLst>
          </p:cNvPr>
          <p:cNvSpPr/>
          <p:nvPr/>
        </p:nvSpPr>
        <p:spPr>
          <a:xfrm>
            <a:off x="8361359" y="5153099"/>
            <a:ext cx="1121934"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Implement</a:t>
            </a:r>
          </a:p>
        </p:txBody>
      </p:sp>
      <p:sp>
        <p:nvSpPr>
          <p:cNvPr id="10" name="Arrow: Circular 9">
            <a:extLst>
              <a:ext uri="{FF2B5EF4-FFF2-40B4-BE49-F238E27FC236}">
                <a16:creationId xmlns:a16="http://schemas.microsoft.com/office/drawing/2014/main" id="{A6250CC2-FE59-460B-A491-8DDC0DAEB120}"/>
              </a:ext>
            </a:extLst>
          </p:cNvPr>
          <p:cNvSpPr/>
          <p:nvPr/>
        </p:nvSpPr>
        <p:spPr>
          <a:xfrm>
            <a:off x="6816721" y="1739863"/>
            <a:ext cx="4211211" cy="4211211"/>
          </a:xfrm>
          <a:prstGeom prst="circularArrow">
            <a:avLst>
              <a:gd name="adj1" fmla="val 5195"/>
              <a:gd name="adj2" fmla="val 335545"/>
              <a:gd name="adj3" fmla="val 8212447"/>
              <a:gd name="adj4" fmla="val 6448204"/>
              <a:gd name="adj5" fmla="val 6061"/>
            </a:avLst>
          </a:pr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a:lstStyle/>
          <a:p>
            <a:endParaRPr lang="en-US"/>
          </a:p>
        </p:txBody>
      </p:sp>
      <p:sp>
        <p:nvSpPr>
          <p:cNvPr id="11" name="Freeform: Shape 10">
            <a:extLst>
              <a:ext uri="{FF2B5EF4-FFF2-40B4-BE49-F238E27FC236}">
                <a16:creationId xmlns:a16="http://schemas.microsoft.com/office/drawing/2014/main" id="{7F861B03-89BB-4D71-BDF6-AD9CFE27204D}"/>
              </a:ext>
            </a:extLst>
          </p:cNvPr>
          <p:cNvSpPr/>
          <p:nvPr/>
        </p:nvSpPr>
        <p:spPr>
          <a:xfrm>
            <a:off x="6584218" y="3861930"/>
            <a:ext cx="1121934"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Test</a:t>
            </a:r>
          </a:p>
        </p:txBody>
      </p:sp>
      <p:sp>
        <p:nvSpPr>
          <p:cNvPr id="12" name="Arrow: Circular 11">
            <a:extLst>
              <a:ext uri="{FF2B5EF4-FFF2-40B4-BE49-F238E27FC236}">
                <a16:creationId xmlns:a16="http://schemas.microsoft.com/office/drawing/2014/main" id="{10F2F17D-DF08-4999-9F73-DA3A19DF5540}"/>
              </a:ext>
            </a:extLst>
          </p:cNvPr>
          <p:cNvSpPr/>
          <p:nvPr/>
        </p:nvSpPr>
        <p:spPr>
          <a:xfrm>
            <a:off x="6816721" y="1739863"/>
            <a:ext cx="4211211" cy="4211211"/>
          </a:xfrm>
          <a:prstGeom prst="circularArrow">
            <a:avLst>
              <a:gd name="adj1" fmla="val 5195"/>
              <a:gd name="adj2" fmla="val 335545"/>
              <a:gd name="adj3" fmla="val 12299528"/>
              <a:gd name="adj4" fmla="val 10769715"/>
              <a:gd name="adj5" fmla="val 6061"/>
            </a:avLst>
          </a:pr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a:lstStyle/>
          <a:p>
            <a:endParaRPr lang="en-US"/>
          </a:p>
        </p:txBody>
      </p:sp>
      <p:sp>
        <p:nvSpPr>
          <p:cNvPr id="13" name="Freeform: Shape 12">
            <a:extLst>
              <a:ext uri="{FF2B5EF4-FFF2-40B4-BE49-F238E27FC236}">
                <a16:creationId xmlns:a16="http://schemas.microsoft.com/office/drawing/2014/main" id="{294F1B89-D964-4AC4-8122-0CEF6C449C82}"/>
              </a:ext>
            </a:extLst>
          </p:cNvPr>
          <p:cNvSpPr/>
          <p:nvPr/>
        </p:nvSpPr>
        <p:spPr>
          <a:xfrm>
            <a:off x="7263026" y="1772775"/>
            <a:ext cx="1121934"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Analyze</a:t>
            </a:r>
          </a:p>
        </p:txBody>
      </p:sp>
      <p:sp>
        <p:nvSpPr>
          <p:cNvPr id="14" name="Arrow: Circular 13">
            <a:extLst>
              <a:ext uri="{FF2B5EF4-FFF2-40B4-BE49-F238E27FC236}">
                <a16:creationId xmlns:a16="http://schemas.microsoft.com/office/drawing/2014/main" id="{17F8B9A1-F26F-49BD-AA9B-6C1D82D90862}"/>
              </a:ext>
            </a:extLst>
          </p:cNvPr>
          <p:cNvSpPr/>
          <p:nvPr/>
        </p:nvSpPr>
        <p:spPr>
          <a:xfrm>
            <a:off x="6816721" y="1739863"/>
            <a:ext cx="4211211" cy="4211211"/>
          </a:xfrm>
          <a:prstGeom prst="circularArrow">
            <a:avLst>
              <a:gd name="adj1" fmla="val 5195"/>
              <a:gd name="adj2" fmla="val 335545"/>
              <a:gd name="adj3" fmla="val 16867234"/>
              <a:gd name="adj4" fmla="val 15197221"/>
              <a:gd name="adj5" fmla="val 6061"/>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US"/>
          </a:p>
        </p:txBody>
      </p:sp>
    </p:spTree>
    <p:extLst>
      <p:ext uri="{BB962C8B-B14F-4D97-AF65-F5344CB8AC3E}">
        <p14:creationId xmlns:p14="http://schemas.microsoft.com/office/powerpoint/2010/main" val="2205380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grpId="0" nodeType="clickEffect">
                                  <p:stCondLst>
                                    <p:cond delay="0"/>
                                  </p:stCondLst>
                                  <p:childTnLst>
                                    <p:set>
                                      <p:cBhvr override="childStyle">
                                        <p:cTn id="6" dur="indefinite"/>
                                        <p:tgtEl>
                                          <p:spTgt spid="4"/>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01B0893A-4BDE-41E6-8857-262A3BF8DA8F}"/>
              </a:ext>
            </a:extLst>
          </p:cNvPr>
          <p:cNvSpPr/>
          <p:nvPr/>
        </p:nvSpPr>
        <p:spPr>
          <a:xfrm>
            <a:off x="9459693" y="1772775"/>
            <a:ext cx="1121934"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Define Problem</a:t>
            </a:r>
          </a:p>
        </p:txBody>
      </p:sp>
      <p:sp>
        <p:nvSpPr>
          <p:cNvPr id="8" name="Arrow: Circular 7">
            <a:extLst>
              <a:ext uri="{FF2B5EF4-FFF2-40B4-BE49-F238E27FC236}">
                <a16:creationId xmlns:a16="http://schemas.microsoft.com/office/drawing/2014/main" id="{08604D32-D523-4F25-AFC8-2D189AF17EE6}"/>
              </a:ext>
            </a:extLst>
          </p:cNvPr>
          <p:cNvSpPr/>
          <p:nvPr/>
        </p:nvSpPr>
        <p:spPr>
          <a:xfrm>
            <a:off x="6816721" y="1739863"/>
            <a:ext cx="4211211" cy="4211211"/>
          </a:xfrm>
          <a:prstGeom prst="circularArrow">
            <a:avLst>
              <a:gd name="adj1" fmla="val 5195"/>
              <a:gd name="adj2" fmla="val 335545"/>
              <a:gd name="adj3" fmla="val 21294739"/>
              <a:gd name="adj4" fmla="val 19764927"/>
              <a:gd name="adj5" fmla="val 6061"/>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en-US"/>
          </a:p>
        </p:txBody>
      </p:sp>
      <p:sp>
        <p:nvSpPr>
          <p:cNvPr id="9" name="Freeform: Shape 8">
            <a:extLst>
              <a:ext uri="{FF2B5EF4-FFF2-40B4-BE49-F238E27FC236}">
                <a16:creationId xmlns:a16="http://schemas.microsoft.com/office/drawing/2014/main" id="{1EB59233-AD7F-4675-A542-692A6E3D5487}"/>
              </a:ext>
            </a:extLst>
          </p:cNvPr>
          <p:cNvSpPr/>
          <p:nvPr/>
        </p:nvSpPr>
        <p:spPr>
          <a:xfrm>
            <a:off x="10138501" y="3861930"/>
            <a:ext cx="1121934"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b="1" kern="1200" dirty="0"/>
              <a:t>Design</a:t>
            </a:r>
          </a:p>
        </p:txBody>
      </p:sp>
      <p:sp>
        <p:nvSpPr>
          <p:cNvPr id="10" name="Arrow: Circular 9">
            <a:extLst>
              <a:ext uri="{FF2B5EF4-FFF2-40B4-BE49-F238E27FC236}">
                <a16:creationId xmlns:a16="http://schemas.microsoft.com/office/drawing/2014/main" id="{B275146D-43B5-4A87-B3BA-ED7911B1E089}"/>
              </a:ext>
            </a:extLst>
          </p:cNvPr>
          <p:cNvSpPr/>
          <p:nvPr/>
        </p:nvSpPr>
        <p:spPr>
          <a:xfrm>
            <a:off x="6816721" y="1739863"/>
            <a:ext cx="4211211" cy="4211211"/>
          </a:xfrm>
          <a:prstGeom prst="circularArrow">
            <a:avLst>
              <a:gd name="adj1" fmla="val 5195"/>
              <a:gd name="adj2" fmla="val 335545"/>
              <a:gd name="adj3" fmla="val 4016250"/>
              <a:gd name="adj4" fmla="val 2252007"/>
              <a:gd name="adj5" fmla="val 6061"/>
            </a:avLst>
          </a:pr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en-US"/>
          </a:p>
        </p:txBody>
      </p:sp>
      <p:sp>
        <p:nvSpPr>
          <p:cNvPr id="11" name="Freeform: Shape 10">
            <a:extLst>
              <a:ext uri="{FF2B5EF4-FFF2-40B4-BE49-F238E27FC236}">
                <a16:creationId xmlns:a16="http://schemas.microsoft.com/office/drawing/2014/main" id="{DCF975C5-96B7-4DF2-91B7-FA0BD2388841}"/>
              </a:ext>
            </a:extLst>
          </p:cNvPr>
          <p:cNvSpPr/>
          <p:nvPr/>
        </p:nvSpPr>
        <p:spPr>
          <a:xfrm>
            <a:off x="8361359" y="5153099"/>
            <a:ext cx="1121934"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Implement</a:t>
            </a:r>
          </a:p>
        </p:txBody>
      </p:sp>
      <p:sp>
        <p:nvSpPr>
          <p:cNvPr id="12" name="Arrow: Circular 11">
            <a:extLst>
              <a:ext uri="{FF2B5EF4-FFF2-40B4-BE49-F238E27FC236}">
                <a16:creationId xmlns:a16="http://schemas.microsoft.com/office/drawing/2014/main" id="{C931BEA8-C1CE-43BE-99C9-0B9075A147C4}"/>
              </a:ext>
            </a:extLst>
          </p:cNvPr>
          <p:cNvSpPr/>
          <p:nvPr/>
        </p:nvSpPr>
        <p:spPr>
          <a:xfrm>
            <a:off x="6816721" y="1739863"/>
            <a:ext cx="4211211" cy="4211211"/>
          </a:xfrm>
          <a:prstGeom prst="circularArrow">
            <a:avLst>
              <a:gd name="adj1" fmla="val 5195"/>
              <a:gd name="adj2" fmla="val 335545"/>
              <a:gd name="adj3" fmla="val 8212447"/>
              <a:gd name="adj4" fmla="val 6448204"/>
              <a:gd name="adj5" fmla="val 6061"/>
            </a:avLst>
          </a:pr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a:lstStyle/>
          <a:p>
            <a:endParaRPr lang="en-US"/>
          </a:p>
        </p:txBody>
      </p:sp>
      <p:sp>
        <p:nvSpPr>
          <p:cNvPr id="13" name="Freeform: Shape 12">
            <a:extLst>
              <a:ext uri="{FF2B5EF4-FFF2-40B4-BE49-F238E27FC236}">
                <a16:creationId xmlns:a16="http://schemas.microsoft.com/office/drawing/2014/main" id="{9BE4E709-E8FE-42BF-9A12-BAC75E3F3204}"/>
              </a:ext>
            </a:extLst>
          </p:cNvPr>
          <p:cNvSpPr/>
          <p:nvPr/>
        </p:nvSpPr>
        <p:spPr>
          <a:xfrm>
            <a:off x="6584218" y="3861930"/>
            <a:ext cx="1121934"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Test</a:t>
            </a:r>
          </a:p>
        </p:txBody>
      </p:sp>
      <p:sp>
        <p:nvSpPr>
          <p:cNvPr id="14" name="Arrow: Circular 13">
            <a:extLst>
              <a:ext uri="{FF2B5EF4-FFF2-40B4-BE49-F238E27FC236}">
                <a16:creationId xmlns:a16="http://schemas.microsoft.com/office/drawing/2014/main" id="{47013EBC-A85E-48D7-8336-E5CDFC1C699E}"/>
              </a:ext>
            </a:extLst>
          </p:cNvPr>
          <p:cNvSpPr/>
          <p:nvPr/>
        </p:nvSpPr>
        <p:spPr>
          <a:xfrm>
            <a:off x="6816721" y="1739863"/>
            <a:ext cx="4211211" cy="4211211"/>
          </a:xfrm>
          <a:prstGeom prst="circularArrow">
            <a:avLst>
              <a:gd name="adj1" fmla="val 5195"/>
              <a:gd name="adj2" fmla="val 335545"/>
              <a:gd name="adj3" fmla="val 12299528"/>
              <a:gd name="adj4" fmla="val 10769715"/>
              <a:gd name="adj5" fmla="val 6061"/>
            </a:avLst>
          </a:pr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a:lstStyle/>
          <a:p>
            <a:endParaRPr lang="en-US"/>
          </a:p>
        </p:txBody>
      </p:sp>
      <p:sp>
        <p:nvSpPr>
          <p:cNvPr id="15" name="Freeform: Shape 14">
            <a:extLst>
              <a:ext uri="{FF2B5EF4-FFF2-40B4-BE49-F238E27FC236}">
                <a16:creationId xmlns:a16="http://schemas.microsoft.com/office/drawing/2014/main" id="{96326257-6A8B-4AB8-8439-45A9D8B1EABF}"/>
              </a:ext>
            </a:extLst>
          </p:cNvPr>
          <p:cNvSpPr/>
          <p:nvPr/>
        </p:nvSpPr>
        <p:spPr>
          <a:xfrm>
            <a:off x="7263026" y="1772775"/>
            <a:ext cx="1121934"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Analyze</a:t>
            </a:r>
          </a:p>
        </p:txBody>
      </p:sp>
      <p:sp>
        <p:nvSpPr>
          <p:cNvPr id="16" name="Arrow: Circular 15">
            <a:extLst>
              <a:ext uri="{FF2B5EF4-FFF2-40B4-BE49-F238E27FC236}">
                <a16:creationId xmlns:a16="http://schemas.microsoft.com/office/drawing/2014/main" id="{50551519-CF1E-4B63-9553-87B5FFC66262}"/>
              </a:ext>
            </a:extLst>
          </p:cNvPr>
          <p:cNvSpPr/>
          <p:nvPr/>
        </p:nvSpPr>
        <p:spPr>
          <a:xfrm>
            <a:off x="6816721" y="1739863"/>
            <a:ext cx="4211211" cy="4211211"/>
          </a:xfrm>
          <a:prstGeom prst="circularArrow">
            <a:avLst>
              <a:gd name="adj1" fmla="val 5195"/>
              <a:gd name="adj2" fmla="val 335545"/>
              <a:gd name="adj3" fmla="val 16867234"/>
              <a:gd name="adj4" fmla="val 15197221"/>
              <a:gd name="adj5" fmla="val 6061"/>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US"/>
          </a:p>
        </p:txBody>
      </p:sp>
      <p:sp>
        <p:nvSpPr>
          <p:cNvPr id="3" name="Title 2">
            <a:extLst>
              <a:ext uri="{FF2B5EF4-FFF2-40B4-BE49-F238E27FC236}">
                <a16:creationId xmlns:a16="http://schemas.microsoft.com/office/drawing/2014/main" id="{7E10ADDA-0E25-4979-8B77-C5E21DA7DDCB}"/>
              </a:ext>
            </a:extLst>
          </p:cNvPr>
          <p:cNvSpPr>
            <a:spLocks noGrp="1"/>
          </p:cNvSpPr>
          <p:nvPr>
            <p:ph type="title"/>
          </p:nvPr>
        </p:nvSpPr>
        <p:spPr/>
        <p:txBody>
          <a:bodyPr/>
          <a:lstStyle/>
          <a:p>
            <a:r>
              <a:rPr lang="en-US" dirty="0"/>
              <a:t>Code Design Cycle</a:t>
            </a:r>
          </a:p>
        </p:txBody>
      </p:sp>
      <p:sp>
        <p:nvSpPr>
          <p:cNvPr id="5" name="Content Placeholder 4">
            <a:extLst>
              <a:ext uri="{FF2B5EF4-FFF2-40B4-BE49-F238E27FC236}">
                <a16:creationId xmlns:a16="http://schemas.microsoft.com/office/drawing/2014/main" id="{142253C1-B65B-42B2-AFA4-DAFC9177DC5C}"/>
              </a:ext>
            </a:extLst>
          </p:cNvPr>
          <p:cNvSpPr txBox="1">
            <a:spLocks/>
          </p:cNvSpPr>
          <p:nvPr/>
        </p:nvSpPr>
        <p:spPr>
          <a:xfrm>
            <a:off x="609600" y="1628799"/>
            <a:ext cx="6207119" cy="4536505"/>
          </a:xfrm>
          <a:prstGeom prst="rect">
            <a:avLst/>
          </a:prstGeom>
        </p:spPr>
        <p:txBody>
          <a:bodyPr vert="horz" lIns="0" tIns="0" rIns="0" bIns="0" rtlCol="0">
            <a:normAutofit/>
          </a:bodyPr>
          <a:lstStyle>
            <a:lvl1pPr marL="269875" indent="-269875" algn="l" defTabSz="457200" rtl="0" eaLnBrk="1" latinLnBrk="0" hangingPunct="1">
              <a:lnSpc>
                <a:spcPct val="120000"/>
              </a:lnSpc>
              <a:spcBef>
                <a:spcPts val="0"/>
              </a:spcBef>
              <a:buClr>
                <a:srgbClr val="0A2D50"/>
              </a:buClr>
              <a:buFont typeface="Arial"/>
              <a:buChar char="•"/>
              <a:defRPr sz="2400" kern="1200">
                <a:solidFill>
                  <a:schemeClr val="tx1"/>
                </a:solidFill>
                <a:latin typeface="Georgia"/>
                <a:ea typeface="+mn-ea"/>
                <a:cs typeface="Georgia"/>
              </a:defRPr>
            </a:lvl1pPr>
            <a:lvl2pPr marL="539750"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2pPr>
            <a:lvl3pPr marL="809625"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3pPr>
            <a:lvl4pPr marL="1079500"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4pPr>
            <a:lvl5pPr marL="1341438" indent="-261938"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fontAlgn="auto">
              <a:spcAft>
                <a:spcPts val="0"/>
              </a:spcAft>
            </a:pPr>
            <a:r>
              <a:rPr lang="en-US" dirty="0"/>
              <a:t>Design</a:t>
            </a:r>
          </a:p>
          <a:p>
            <a:pPr lvl="1" fontAlgn="auto">
              <a:spcAft>
                <a:spcPts val="0"/>
              </a:spcAft>
            </a:pPr>
            <a:r>
              <a:rPr lang="en-US" dirty="0"/>
              <a:t>I want an algorithm that will find all the points inside a structure</a:t>
            </a:r>
          </a:p>
          <a:p>
            <a:pPr fontAlgn="auto">
              <a:spcAft>
                <a:spcPts val="0"/>
              </a:spcAft>
            </a:pPr>
            <a:r>
              <a:rPr lang="en-US" dirty="0"/>
              <a:t>Usually inputs/outputs are defined first</a:t>
            </a:r>
          </a:p>
          <a:p>
            <a:pPr lvl="1" fontAlgn="auto">
              <a:spcAft>
                <a:spcPts val="0"/>
              </a:spcAft>
            </a:pPr>
            <a:endParaRPr lang="en-US" dirty="0"/>
          </a:p>
          <a:p>
            <a:pPr lvl="1" fontAlgn="auto">
              <a:spcAft>
                <a:spcPts val="0"/>
              </a:spcAft>
            </a:pPr>
            <a:endParaRPr lang="en-US" dirty="0"/>
          </a:p>
        </p:txBody>
      </p:sp>
    </p:spTree>
    <p:extLst>
      <p:ext uri="{BB962C8B-B14F-4D97-AF65-F5344CB8AC3E}">
        <p14:creationId xmlns:p14="http://schemas.microsoft.com/office/powerpoint/2010/main" val="29490799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10ADDA-0E25-4979-8B77-C5E21DA7DDCB}"/>
              </a:ext>
            </a:extLst>
          </p:cNvPr>
          <p:cNvSpPr>
            <a:spLocks noGrp="1"/>
          </p:cNvSpPr>
          <p:nvPr>
            <p:ph type="title"/>
          </p:nvPr>
        </p:nvSpPr>
        <p:spPr/>
        <p:txBody>
          <a:bodyPr/>
          <a:lstStyle/>
          <a:p>
            <a:r>
              <a:rPr lang="en-US" dirty="0"/>
              <a:t>Code Design Cycle</a:t>
            </a:r>
          </a:p>
        </p:txBody>
      </p:sp>
      <p:sp>
        <p:nvSpPr>
          <p:cNvPr id="5" name="Content Placeholder 4">
            <a:extLst>
              <a:ext uri="{FF2B5EF4-FFF2-40B4-BE49-F238E27FC236}">
                <a16:creationId xmlns:a16="http://schemas.microsoft.com/office/drawing/2014/main" id="{142253C1-B65B-42B2-AFA4-DAFC9177DC5C}"/>
              </a:ext>
            </a:extLst>
          </p:cNvPr>
          <p:cNvSpPr txBox="1">
            <a:spLocks/>
          </p:cNvSpPr>
          <p:nvPr/>
        </p:nvSpPr>
        <p:spPr>
          <a:xfrm>
            <a:off x="609601" y="1628799"/>
            <a:ext cx="6082748" cy="4536505"/>
          </a:xfrm>
          <a:prstGeom prst="rect">
            <a:avLst/>
          </a:prstGeom>
        </p:spPr>
        <p:txBody>
          <a:bodyPr vert="horz" lIns="0" tIns="0" rIns="0" bIns="0" rtlCol="0">
            <a:normAutofit/>
          </a:bodyPr>
          <a:lstStyle>
            <a:lvl1pPr marL="269875" indent="-269875" algn="l" defTabSz="457200" rtl="0" eaLnBrk="1" latinLnBrk="0" hangingPunct="1">
              <a:lnSpc>
                <a:spcPct val="120000"/>
              </a:lnSpc>
              <a:spcBef>
                <a:spcPts val="0"/>
              </a:spcBef>
              <a:buClr>
                <a:srgbClr val="0A2D50"/>
              </a:buClr>
              <a:buFont typeface="Arial"/>
              <a:buChar char="•"/>
              <a:defRPr sz="2400" kern="1200">
                <a:solidFill>
                  <a:schemeClr val="tx1"/>
                </a:solidFill>
                <a:latin typeface="Georgia"/>
                <a:ea typeface="+mn-ea"/>
                <a:cs typeface="Georgia"/>
              </a:defRPr>
            </a:lvl1pPr>
            <a:lvl2pPr marL="539750"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2pPr>
            <a:lvl3pPr marL="809625"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3pPr>
            <a:lvl4pPr marL="1079500"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4pPr>
            <a:lvl5pPr marL="1341438" indent="-261938"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fontAlgn="auto">
              <a:spcAft>
                <a:spcPts val="0"/>
              </a:spcAft>
            </a:pPr>
            <a:r>
              <a:rPr lang="en-US" dirty="0"/>
              <a:t>Design</a:t>
            </a:r>
          </a:p>
          <a:p>
            <a:pPr lvl="1" fontAlgn="auto">
              <a:spcAft>
                <a:spcPts val="0"/>
              </a:spcAft>
            </a:pPr>
            <a:r>
              <a:rPr lang="en-US" dirty="0"/>
              <a:t>I want an algorithm that will find all the points inside a structure</a:t>
            </a:r>
          </a:p>
          <a:p>
            <a:pPr fontAlgn="auto">
              <a:spcAft>
                <a:spcPts val="0"/>
              </a:spcAft>
            </a:pPr>
            <a:r>
              <a:rPr lang="en-US" dirty="0"/>
              <a:t>Usually inputs/outputs are defined first</a:t>
            </a:r>
          </a:p>
          <a:p>
            <a:pPr fontAlgn="auto">
              <a:spcAft>
                <a:spcPts val="0"/>
              </a:spcAft>
            </a:pPr>
            <a:endParaRPr lang="en-US" dirty="0"/>
          </a:p>
          <a:p>
            <a:pPr lvl="1" fontAlgn="auto">
              <a:spcAft>
                <a:spcPts val="0"/>
              </a:spcAft>
            </a:pPr>
            <a:endParaRPr lang="en-US" dirty="0"/>
          </a:p>
          <a:p>
            <a:pPr lvl="1" fontAlgn="auto">
              <a:spcAft>
                <a:spcPts val="0"/>
              </a:spcAft>
            </a:pPr>
            <a:endParaRPr lang="en-US" dirty="0"/>
          </a:p>
        </p:txBody>
      </p:sp>
      <p:sp>
        <p:nvSpPr>
          <p:cNvPr id="2" name="Rectangle: Rounded Corners 1">
            <a:extLst>
              <a:ext uri="{FF2B5EF4-FFF2-40B4-BE49-F238E27FC236}">
                <a16:creationId xmlns:a16="http://schemas.microsoft.com/office/drawing/2014/main" id="{42754339-E6F7-45DF-AF29-52A07C7D7097}"/>
              </a:ext>
            </a:extLst>
          </p:cNvPr>
          <p:cNvSpPr/>
          <p:nvPr/>
        </p:nvSpPr>
        <p:spPr>
          <a:xfrm>
            <a:off x="3180021" y="3437857"/>
            <a:ext cx="5759244" cy="2731589"/>
          </a:xfrm>
          <a:prstGeom prst="roundRect">
            <a:avLst/>
          </a:prstGeom>
          <a:ln/>
        </p:spPr>
        <p:style>
          <a:lnRef idx="2">
            <a:schemeClr val="dk1"/>
          </a:lnRef>
          <a:fillRef idx="1">
            <a:schemeClr val="lt1"/>
          </a:fillRef>
          <a:effectRef idx="0">
            <a:schemeClr val="dk1"/>
          </a:effectRef>
          <a:fontRef idx="minor">
            <a:schemeClr val="dk1"/>
          </a:fontRef>
        </p:style>
        <p:txBody>
          <a:bodyPr rtlCol="0" anchor="t"/>
          <a:lstStyle/>
          <a:p>
            <a:pPr algn="ctr"/>
            <a:r>
              <a:rPr lang="en-US" dirty="0"/>
              <a:t>MY PROGRAM</a:t>
            </a:r>
          </a:p>
        </p:txBody>
      </p:sp>
      <p:cxnSp>
        <p:nvCxnSpPr>
          <p:cNvPr id="6" name="Straight Arrow Connector 5">
            <a:extLst>
              <a:ext uri="{FF2B5EF4-FFF2-40B4-BE49-F238E27FC236}">
                <a16:creationId xmlns:a16="http://schemas.microsoft.com/office/drawing/2014/main" id="{7BB5DB76-CE97-43CD-BF9A-BFDA738BFFA2}"/>
              </a:ext>
            </a:extLst>
          </p:cNvPr>
          <p:cNvCxnSpPr/>
          <p:nvPr/>
        </p:nvCxnSpPr>
        <p:spPr>
          <a:xfrm>
            <a:off x="1743514" y="4155284"/>
            <a:ext cx="126829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358B00B1-DBFC-4A3F-9162-3C9BB96C9382}"/>
              </a:ext>
            </a:extLst>
          </p:cNvPr>
          <p:cNvSpPr txBox="1"/>
          <p:nvPr/>
        </p:nvSpPr>
        <p:spPr>
          <a:xfrm>
            <a:off x="1370664" y="3774430"/>
            <a:ext cx="1809357" cy="369332"/>
          </a:xfrm>
          <a:prstGeom prst="rect">
            <a:avLst/>
          </a:prstGeom>
          <a:noFill/>
        </p:spPr>
        <p:txBody>
          <a:bodyPr wrap="square" rtlCol="0">
            <a:spAutoFit/>
          </a:bodyPr>
          <a:lstStyle/>
          <a:p>
            <a:r>
              <a:rPr lang="en-US" dirty="0"/>
              <a:t>List of points P</a:t>
            </a:r>
            <a:r>
              <a:rPr lang="en-US" baseline="-25000" dirty="0"/>
              <a:t>o</a:t>
            </a:r>
          </a:p>
        </p:txBody>
      </p:sp>
      <p:sp>
        <p:nvSpPr>
          <p:cNvPr id="19" name="TextBox 18">
            <a:extLst>
              <a:ext uri="{FF2B5EF4-FFF2-40B4-BE49-F238E27FC236}">
                <a16:creationId xmlns:a16="http://schemas.microsoft.com/office/drawing/2014/main" id="{7EED3B72-E5F3-4F25-B6A6-B90804E037C6}"/>
              </a:ext>
            </a:extLst>
          </p:cNvPr>
          <p:cNvSpPr txBox="1"/>
          <p:nvPr/>
        </p:nvSpPr>
        <p:spPr>
          <a:xfrm>
            <a:off x="1418238" y="4331483"/>
            <a:ext cx="1484081" cy="369332"/>
          </a:xfrm>
          <a:prstGeom prst="rect">
            <a:avLst/>
          </a:prstGeom>
          <a:noFill/>
        </p:spPr>
        <p:txBody>
          <a:bodyPr wrap="square" rtlCol="0">
            <a:spAutoFit/>
          </a:bodyPr>
          <a:lstStyle/>
          <a:p>
            <a:r>
              <a:rPr lang="en-US" dirty="0"/>
              <a:t>Structure B</a:t>
            </a:r>
          </a:p>
        </p:txBody>
      </p:sp>
      <p:cxnSp>
        <p:nvCxnSpPr>
          <p:cNvPr id="20" name="Straight Arrow Connector 19">
            <a:extLst>
              <a:ext uri="{FF2B5EF4-FFF2-40B4-BE49-F238E27FC236}">
                <a16:creationId xmlns:a16="http://schemas.microsoft.com/office/drawing/2014/main" id="{E4A36FF8-323B-4378-BEEC-E41EC6E8E409}"/>
              </a:ext>
            </a:extLst>
          </p:cNvPr>
          <p:cNvCxnSpPr/>
          <p:nvPr/>
        </p:nvCxnSpPr>
        <p:spPr>
          <a:xfrm>
            <a:off x="1743514" y="4700815"/>
            <a:ext cx="126829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1CF01DD4-E871-4311-A84E-112FA70F8AC4}"/>
              </a:ext>
            </a:extLst>
          </p:cNvPr>
          <p:cNvCxnSpPr/>
          <p:nvPr/>
        </p:nvCxnSpPr>
        <p:spPr>
          <a:xfrm>
            <a:off x="9127196" y="4409755"/>
            <a:ext cx="126829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5F5493AD-521C-40D7-A965-52F3624BE35D}"/>
              </a:ext>
            </a:extLst>
          </p:cNvPr>
          <p:cNvSpPr txBox="1"/>
          <p:nvPr/>
        </p:nvSpPr>
        <p:spPr>
          <a:xfrm>
            <a:off x="9095256" y="3959096"/>
            <a:ext cx="1726080" cy="369332"/>
          </a:xfrm>
          <a:prstGeom prst="rect">
            <a:avLst/>
          </a:prstGeom>
          <a:noFill/>
        </p:spPr>
        <p:txBody>
          <a:bodyPr wrap="square" rtlCol="0">
            <a:spAutoFit/>
          </a:bodyPr>
          <a:lstStyle/>
          <a:p>
            <a:r>
              <a:rPr lang="en-US" dirty="0"/>
              <a:t>List of points P</a:t>
            </a:r>
          </a:p>
        </p:txBody>
      </p:sp>
      <p:sp>
        <p:nvSpPr>
          <p:cNvPr id="23" name="TextBox 22">
            <a:extLst>
              <a:ext uri="{FF2B5EF4-FFF2-40B4-BE49-F238E27FC236}">
                <a16:creationId xmlns:a16="http://schemas.microsoft.com/office/drawing/2014/main" id="{DDB10EDD-CED2-41C0-8DD3-41E65CA05DE6}"/>
              </a:ext>
            </a:extLst>
          </p:cNvPr>
          <p:cNvSpPr txBox="1"/>
          <p:nvPr/>
        </p:nvSpPr>
        <p:spPr>
          <a:xfrm>
            <a:off x="816365" y="4256316"/>
            <a:ext cx="2336098" cy="369332"/>
          </a:xfrm>
          <a:prstGeom prst="rect">
            <a:avLst/>
          </a:prstGeom>
          <a:solidFill>
            <a:schemeClr val="bg1"/>
          </a:solidFill>
        </p:spPr>
        <p:txBody>
          <a:bodyPr wrap="square" rtlCol="0">
            <a:spAutoFit/>
          </a:bodyPr>
          <a:lstStyle/>
          <a:p>
            <a:r>
              <a:rPr lang="en-US" dirty="0"/>
              <a:t>Structure B (Image)</a:t>
            </a:r>
          </a:p>
        </p:txBody>
      </p:sp>
      <p:sp>
        <p:nvSpPr>
          <p:cNvPr id="25" name="Rectangle 24">
            <a:extLst>
              <a:ext uri="{FF2B5EF4-FFF2-40B4-BE49-F238E27FC236}">
                <a16:creationId xmlns:a16="http://schemas.microsoft.com/office/drawing/2014/main" id="{3A862036-C879-4449-AF1E-565775B4DD8D}"/>
              </a:ext>
            </a:extLst>
          </p:cNvPr>
          <p:cNvSpPr/>
          <p:nvPr/>
        </p:nvSpPr>
        <p:spPr>
          <a:xfrm>
            <a:off x="3235137" y="4377649"/>
            <a:ext cx="1313180" cy="646331"/>
          </a:xfrm>
          <a:prstGeom prst="rect">
            <a:avLst/>
          </a:prstGeom>
        </p:spPr>
        <p:style>
          <a:lnRef idx="2">
            <a:schemeClr val="accent6"/>
          </a:lnRef>
          <a:fillRef idx="1">
            <a:schemeClr val="lt1"/>
          </a:fillRef>
          <a:effectRef idx="0">
            <a:schemeClr val="accent6"/>
          </a:effectRef>
          <a:fontRef idx="minor">
            <a:schemeClr val="dk1"/>
          </a:fontRef>
        </p:style>
        <p:txBody>
          <a:bodyPr wrap="none">
            <a:spAutoFit/>
          </a:bodyPr>
          <a:lstStyle/>
          <a:p>
            <a:r>
              <a:rPr lang="en-US" dirty="0"/>
              <a:t>Get a point</a:t>
            </a:r>
          </a:p>
          <a:p>
            <a:r>
              <a:rPr lang="en-US" dirty="0"/>
              <a:t>p in list Po</a:t>
            </a:r>
          </a:p>
        </p:txBody>
      </p:sp>
      <p:sp>
        <p:nvSpPr>
          <p:cNvPr id="26" name="Rectangle 25">
            <a:extLst>
              <a:ext uri="{FF2B5EF4-FFF2-40B4-BE49-F238E27FC236}">
                <a16:creationId xmlns:a16="http://schemas.microsoft.com/office/drawing/2014/main" id="{31AA4833-CF08-4224-AFE8-3A5450164F61}"/>
              </a:ext>
            </a:extLst>
          </p:cNvPr>
          <p:cNvSpPr/>
          <p:nvPr/>
        </p:nvSpPr>
        <p:spPr>
          <a:xfrm>
            <a:off x="4873594" y="4377648"/>
            <a:ext cx="1344585" cy="923330"/>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dirty="0"/>
              <a:t>Find Pixel location for p</a:t>
            </a:r>
          </a:p>
        </p:txBody>
      </p:sp>
      <p:sp>
        <p:nvSpPr>
          <p:cNvPr id="27" name="Rectangle 26">
            <a:extLst>
              <a:ext uri="{FF2B5EF4-FFF2-40B4-BE49-F238E27FC236}">
                <a16:creationId xmlns:a16="http://schemas.microsoft.com/office/drawing/2014/main" id="{B9E3ECAA-822F-41C7-B5E2-0E5A3069E728}"/>
              </a:ext>
            </a:extLst>
          </p:cNvPr>
          <p:cNvSpPr/>
          <p:nvPr/>
        </p:nvSpPr>
        <p:spPr>
          <a:xfrm>
            <a:off x="6511791" y="4394815"/>
            <a:ext cx="832037" cy="1200329"/>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dirty="0"/>
              <a:t>Check if Pixel is in B</a:t>
            </a:r>
          </a:p>
        </p:txBody>
      </p:sp>
      <p:sp>
        <p:nvSpPr>
          <p:cNvPr id="28" name="Arrow: Right 27">
            <a:extLst>
              <a:ext uri="{FF2B5EF4-FFF2-40B4-BE49-F238E27FC236}">
                <a16:creationId xmlns:a16="http://schemas.microsoft.com/office/drawing/2014/main" id="{F1BB4AB1-8CCA-4417-ADE1-982ECA62FB1D}"/>
              </a:ext>
            </a:extLst>
          </p:cNvPr>
          <p:cNvSpPr/>
          <p:nvPr/>
        </p:nvSpPr>
        <p:spPr>
          <a:xfrm>
            <a:off x="4548317" y="4625648"/>
            <a:ext cx="277702" cy="184666"/>
          </a:xfrm>
          <a:prstGeom prst="rightArrow">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29" name="Arrow: Right 28">
            <a:extLst>
              <a:ext uri="{FF2B5EF4-FFF2-40B4-BE49-F238E27FC236}">
                <a16:creationId xmlns:a16="http://schemas.microsoft.com/office/drawing/2014/main" id="{DD19A962-2D81-48A9-BEB1-28C18A2A3806}"/>
              </a:ext>
            </a:extLst>
          </p:cNvPr>
          <p:cNvSpPr/>
          <p:nvPr/>
        </p:nvSpPr>
        <p:spPr>
          <a:xfrm>
            <a:off x="6226134" y="4673962"/>
            <a:ext cx="277702" cy="184666"/>
          </a:xfrm>
          <a:prstGeom prst="rightArrow">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0" name="Arrow: Right 29">
            <a:extLst>
              <a:ext uri="{FF2B5EF4-FFF2-40B4-BE49-F238E27FC236}">
                <a16:creationId xmlns:a16="http://schemas.microsoft.com/office/drawing/2014/main" id="{3E1BFAA3-4FF6-45D3-AA98-E31DC30F4156}"/>
              </a:ext>
            </a:extLst>
          </p:cNvPr>
          <p:cNvSpPr/>
          <p:nvPr/>
        </p:nvSpPr>
        <p:spPr>
          <a:xfrm>
            <a:off x="7343828" y="4618985"/>
            <a:ext cx="277702" cy="184666"/>
          </a:xfrm>
          <a:prstGeom prst="rightArrow">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94628AE6-781E-4AD0-ABD3-91E27CB39719}"/>
              </a:ext>
            </a:extLst>
          </p:cNvPr>
          <p:cNvSpPr/>
          <p:nvPr/>
        </p:nvSpPr>
        <p:spPr>
          <a:xfrm>
            <a:off x="7637440" y="4377648"/>
            <a:ext cx="1205402" cy="923330"/>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dirty="0"/>
              <a:t>Put p inside B into list</a:t>
            </a:r>
          </a:p>
        </p:txBody>
      </p:sp>
    </p:spTree>
    <p:extLst>
      <p:ext uri="{BB962C8B-B14F-4D97-AF65-F5344CB8AC3E}">
        <p14:creationId xmlns:p14="http://schemas.microsoft.com/office/powerpoint/2010/main" val="2954597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9" grpId="0"/>
      <p:bldP spid="22" grpId="0"/>
      <p:bldP spid="23" grpId="0" animBg="1"/>
      <p:bldP spid="25" grpId="0" animBg="1"/>
      <p:bldP spid="26" grpId="0" animBg="1"/>
      <p:bldP spid="27" grpId="0" animBg="1"/>
      <p:bldP spid="28" grpId="0" animBg="1"/>
      <p:bldP spid="29" grpId="0" animBg="1"/>
      <p:bldP spid="30" grpId="0" animBg="1"/>
      <p:bldP spid="3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42754339-E6F7-45DF-AF29-52A07C7D7097}"/>
              </a:ext>
            </a:extLst>
          </p:cNvPr>
          <p:cNvSpPr/>
          <p:nvPr/>
        </p:nvSpPr>
        <p:spPr>
          <a:xfrm>
            <a:off x="3180021" y="3437857"/>
            <a:ext cx="5759244" cy="2731589"/>
          </a:xfrm>
          <a:prstGeom prst="roundRect">
            <a:avLst/>
          </a:prstGeom>
          <a:ln/>
        </p:spPr>
        <p:style>
          <a:lnRef idx="2">
            <a:schemeClr val="dk1"/>
          </a:lnRef>
          <a:fillRef idx="1">
            <a:schemeClr val="lt1"/>
          </a:fillRef>
          <a:effectRef idx="0">
            <a:schemeClr val="dk1"/>
          </a:effectRef>
          <a:fontRef idx="minor">
            <a:schemeClr val="dk1"/>
          </a:fontRef>
        </p:style>
        <p:txBody>
          <a:bodyPr rtlCol="0" anchor="t"/>
          <a:lstStyle/>
          <a:p>
            <a:pPr algn="ctr"/>
            <a:r>
              <a:rPr lang="en-US" dirty="0"/>
              <a:t>MY PROGRAM</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27926F51-50A0-4194-8B56-458F55990079}"/>
                  </a:ext>
                </a:extLst>
              </p:cNvPr>
              <p:cNvSpPr txBox="1"/>
              <p:nvPr/>
            </p:nvSpPr>
            <p:spPr>
              <a:xfrm>
                <a:off x="3409800" y="3958726"/>
                <a:ext cx="5357682" cy="1200329"/>
              </a:xfrm>
              <a:prstGeom prst="rect">
                <a:avLst/>
              </a:prstGeom>
              <a:noFill/>
            </p:spPr>
            <p:txBody>
              <a:bodyPr wrap="square" rtlCol="0">
                <a:spAutoFit/>
              </a:bodyPr>
              <a:lstStyle/>
              <a:p>
                <a:r>
                  <a:rPr lang="en-US" dirty="0"/>
                  <a:t>Iterate over points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𝑜</m:t>
                        </m:r>
                      </m:sub>
                    </m:sSub>
                  </m:oMath>
                </a14:m>
                <a:endParaRPr lang="en-US" dirty="0"/>
              </a:p>
              <a:p>
                <a:pPr lvl="1"/>
                <a:r>
                  <a:rPr lang="en-US" dirty="0"/>
                  <a:t>For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 </m:t>
                    </m:r>
                  </m:oMath>
                </a14:m>
                <a:r>
                  <a:rPr lang="en-US" dirty="0"/>
                  <a:t>find corresponding pixel in Image</a:t>
                </a:r>
              </a:p>
              <a:p>
                <a:pPr lvl="1"/>
                <a:r>
                  <a:rPr lang="en-US" dirty="0"/>
                  <a:t>	If image value at pixel is 1 </a:t>
                </a:r>
              </a:p>
              <a:p>
                <a:pPr lvl="1"/>
                <a:r>
                  <a:rPr lang="en-US" dirty="0"/>
                  <a:t>		place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 </m:t>
                    </m:r>
                  </m:oMath>
                </a14:m>
                <a:r>
                  <a:rPr lang="en-US" dirty="0"/>
                  <a:t>into new list	</a:t>
                </a:r>
              </a:p>
            </p:txBody>
          </p:sp>
        </mc:Choice>
        <mc:Fallback xmlns="">
          <p:sp>
            <p:nvSpPr>
              <p:cNvPr id="24" name="TextBox 23">
                <a:extLst>
                  <a:ext uri="{FF2B5EF4-FFF2-40B4-BE49-F238E27FC236}">
                    <a16:creationId xmlns:a16="http://schemas.microsoft.com/office/drawing/2014/main" id="{27926F51-50A0-4194-8B56-458F55990079}"/>
                  </a:ext>
                </a:extLst>
              </p:cNvPr>
              <p:cNvSpPr txBox="1">
                <a:spLocks noRot="1" noChangeAspect="1" noMove="1" noResize="1" noEditPoints="1" noAdjustHandles="1" noChangeArrowheads="1" noChangeShapeType="1" noTextEdit="1"/>
              </p:cNvSpPr>
              <p:nvPr/>
            </p:nvSpPr>
            <p:spPr>
              <a:xfrm>
                <a:off x="3409800" y="3958726"/>
                <a:ext cx="5357682" cy="1200329"/>
              </a:xfrm>
              <a:prstGeom prst="rect">
                <a:avLst/>
              </a:prstGeom>
              <a:blipFill>
                <a:blip r:embed="rId3"/>
                <a:stretch>
                  <a:fillRect l="-910" t="-2538" b="-71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C314324E-1795-4E20-A618-8F88A9B4422A}"/>
                  </a:ext>
                </a:extLst>
              </p:cNvPr>
              <p:cNvSpPr txBox="1"/>
              <p:nvPr/>
            </p:nvSpPr>
            <p:spPr>
              <a:xfrm>
                <a:off x="4733203" y="4830155"/>
                <a:ext cx="3404023" cy="276999"/>
              </a:xfrm>
              <a:prstGeom prst="rect">
                <a:avLst/>
              </a:prstGeom>
              <a:solidFill>
                <a:schemeClr val="bg1"/>
              </a:solidFill>
            </p:spPr>
            <p:txBody>
              <a:bodyPr wrap="square" tIns="0" bIns="0" rtlCol="0">
                <a:spAutoFit/>
              </a:bodyPr>
              <a:lstStyle/>
              <a:p>
                <a:pPr lvl="1"/>
                <a:r>
                  <a:rPr lang="en-US" dirty="0"/>
                  <a:t>  </a:t>
                </a:r>
                <a14:m>
                  <m:oMath xmlns:m="http://schemas.openxmlformats.org/officeDocument/2006/math">
                    <m:r>
                      <a:rPr lang="en-US" i="1" dirty="0" smtClean="0">
                        <a:latin typeface="Cambria Math" panose="02040503050406030204" pitchFamily="18" charset="0"/>
                      </a:rPr>
                      <m:t>𝑝</m:t>
                    </m:r>
                    <m:r>
                      <a:rPr lang="en-US" i="1"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𝑃</m:t>
                    </m:r>
                  </m:oMath>
                </a14:m>
                <a:r>
                  <a:rPr lang="en-US" dirty="0"/>
                  <a:t>	</a:t>
                </a:r>
              </a:p>
            </p:txBody>
          </p:sp>
        </mc:Choice>
        <mc:Fallback xmlns="">
          <p:sp>
            <p:nvSpPr>
              <p:cNvPr id="31" name="TextBox 30">
                <a:extLst>
                  <a:ext uri="{FF2B5EF4-FFF2-40B4-BE49-F238E27FC236}">
                    <a16:creationId xmlns:a16="http://schemas.microsoft.com/office/drawing/2014/main" id="{C314324E-1795-4E20-A618-8F88A9B4422A}"/>
                  </a:ext>
                </a:extLst>
              </p:cNvPr>
              <p:cNvSpPr txBox="1">
                <a:spLocks noRot="1" noChangeAspect="1" noMove="1" noResize="1" noEditPoints="1" noAdjustHandles="1" noChangeArrowheads="1" noChangeShapeType="1" noTextEdit="1"/>
              </p:cNvSpPr>
              <p:nvPr/>
            </p:nvSpPr>
            <p:spPr>
              <a:xfrm>
                <a:off x="4733203" y="4830155"/>
                <a:ext cx="3404023" cy="276999"/>
              </a:xfrm>
              <a:prstGeom prst="rect">
                <a:avLst/>
              </a:prstGeom>
              <a:blipFill>
                <a:blip r:embed="rId4"/>
                <a:stretch>
                  <a:fillRect b="-26087"/>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7E10ADDA-0E25-4979-8B77-C5E21DA7DDCB}"/>
              </a:ext>
            </a:extLst>
          </p:cNvPr>
          <p:cNvSpPr>
            <a:spLocks noGrp="1"/>
          </p:cNvSpPr>
          <p:nvPr>
            <p:ph type="title"/>
          </p:nvPr>
        </p:nvSpPr>
        <p:spPr/>
        <p:txBody>
          <a:bodyPr/>
          <a:lstStyle/>
          <a:p>
            <a:r>
              <a:rPr lang="en-US" dirty="0"/>
              <a:t>Code Design Cycle</a:t>
            </a:r>
          </a:p>
        </p:txBody>
      </p:sp>
      <p:sp>
        <p:nvSpPr>
          <p:cNvPr id="5" name="Content Placeholder 4">
            <a:extLst>
              <a:ext uri="{FF2B5EF4-FFF2-40B4-BE49-F238E27FC236}">
                <a16:creationId xmlns:a16="http://schemas.microsoft.com/office/drawing/2014/main" id="{142253C1-B65B-42B2-AFA4-DAFC9177DC5C}"/>
              </a:ext>
            </a:extLst>
          </p:cNvPr>
          <p:cNvSpPr txBox="1">
            <a:spLocks/>
          </p:cNvSpPr>
          <p:nvPr/>
        </p:nvSpPr>
        <p:spPr>
          <a:xfrm>
            <a:off x="609601" y="1628799"/>
            <a:ext cx="6082748" cy="4536505"/>
          </a:xfrm>
          <a:prstGeom prst="rect">
            <a:avLst/>
          </a:prstGeom>
        </p:spPr>
        <p:txBody>
          <a:bodyPr vert="horz" lIns="0" tIns="0" rIns="0" bIns="0" rtlCol="0">
            <a:normAutofit/>
          </a:bodyPr>
          <a:lstStyle>
            <a:lvl1pPr marL="269875" indent="-269875" algn="l" defTabSz="457200" rtl="0" eaLnBrk="1" latinLnBrk="0" hangingPunct="1">
              <a:lnSpc>
                <a:spcPct val="120000"/>
              </a:lnSpc>
              <a:spcBef>
                <a:spcPts val="0"/>
              </a:spcBef>
              <a:buClr>
                <a:srgbClr val="0A2D50"/>
              </a:buClr>
              <a:buFont typeface="Arial"/>
              <a:buChar char="•"/>
              <a:defRPr sz="2400" kern="1200">
                <a:solidFill>
                  <a:schemeClr val="tx1"/>
                </a:solidFill>
                <a:latin typeface="Georgia"/>
                <a:ea typeface="+mn-ea"/>
                <a:cs typeface="Georgia"/>
              </a:defRPr>
            </a:lvl1pPr>
            <a:lvl2pPr marL="539750"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2pPr>
            <a:lvl3pPr marL="809625"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3pPr>
            <a:lvl4pPr marL="1079500"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4pPr>
            <a:lvl5pPr marL="1341438" indent="-261938"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fontAlgn="auto">
              <a:spcAft>
                <a:spcPts val="0"/>
              </a:spcAft>
            </a:pPr>
            <a:r>
              <a:rPr lang="en-US" dirty="0"/>
              <a:t>Design</a:t>
            </a:r>
          </a:p>
          <a:p>
            <a:pPr lvl="2" fontAlgn="auto">
              <a:spcAft>
                <a:spcPts val="0"/>
              </a:spcAft>
            </a:pPr>
            <a:r>
              <a:rPr lang="en-US" dirty="0"/>
              <a:t>Take the elements you have designed and identified how to turn them into pseudo code</a:t>
            </a:r>
          </a:p>
          <a:p>
            <a:pPr fontAlgn="auto">
              <a:spcAft>
                <a:spcPts val="0"/>
              </a:spcAft>
            </a:pPr>
            <a:endParaRPr lang="en-US" dirty="0"/>
          </a:p>
          <a:p>
            <a:pPr lvl="1" fontAlgn="auto">
              <a:spcAft>
                <a:spcPts val="0"/>
              </a:spcAft>
            </a:pPr>
            <a:endParaRPr lang="en-US" dirty="0"/>
          </a:p>
          <a:p>
            <a:pPr lvl="1" fontAlgn="auto">
              <a:spcAft>
                <a:spcPts val="0"/>
              </a:spcAft>
            </a:pPr>
            <a:endParaRPr lang="en-US" dirty="0"/>
          </a:p>
        </p:txBody>
      </p:sp>
      <p:cxnSp>
        <p:nvCxnSpPr>
          <p:cNvPr id="6" name="Straight Arrow Connector 5">
            <a:extLst>
              <a:ext uri="{FF2B5EF4-FFF2-40B4-BE49-F238E27FC236}">
                <a16:creationId xmlns:a16="http://schemas.microsoft.com/office/drawing/2014/main" id="{7BB5DB76-CE97-43CD-BF9A-BFDA738BFFA2}"/>
              </a:ext>
            </a:extLst>
          </p:cNvPr>
          <p:cNvCxnSpPr/>
          <p:nvPr/>
        </p:nvCxnSpPr>
        <p:spPr>
          <a:xfrm>
            <a:off x="1743514" y="4155284"/>
            <a:ext cx="126829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E4A36FF8-323B-4378-BEEC-E41EC6E8E409}"/>
              </a:ext>
            </a:extLst>
          </p:cNvPr>
          <p:cNvCxnSpPr/>
          <p:nvPr/>
        </p:nvCxnSpPr>
        <p:spPr>
          <a:xfrm>
            <a:off x="1743514" y="4700815"/>
            <a:ext cx="126829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1CF01DD4-E871-4311-A84E-112FA70F8AC4}"/>
              </a:ext>
            </a:extLst>
          </p:cNvPr>
          <p:cNvCxnSpPr/>
          <p:nvPr/>
        </p:nvCxnSpPr>
        <p:spPr>
          <a:xfrm>
            <a:off x="9127196" y="4409755"/>
            <a:ext cx="126829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F968A108-364A-45AC-8393-44488EFD3458}"/>
              </a:ext>
            </a:extLst>
          </p:cNvPr>
          <p:cNvSpPr txBox="1"/>
          <p:nvPr/>
        </p:nvSpPr>
        <p:spPr>
          <a:xfrm>
            <a:off x="1370664" y="3785952"/>
            <a:ext cx="1809357" cy="369332"/>
          </a:xfrm>
          <a:prstGeom prst="rect">
            <a:avLst/>
          </a:prstGeom>
          <a:noFill/>
        </p:spPr>
        <p:txBody>
          <a:bodyPr wrap="square" rtlCol="0">
            <a:spAutoFit/>
          </a:bodyPr>
          <a:lstStyle/>
          <a:p>
            <a:r>
              <a:rPr lang="en-US" dirty="0"/>
              <a:t>List of points P</a:t>
            </a:r>
            <a:r>
              <a:rPr lang="en-US" baseline="-25000" dirty="0"/>
              <a:t>o</a:t>
            </a:r>
          </a:p>
        </p:txBody>
      </p:sp>
      <p:sp>
        <p:nvSpPr>
          <p:cNvPr id="29" name="TextBox 28">
            <a:extLst>
              <a:ext uri="{FF2B5EF4-FFF2-40B4-BE49-F238E27FC236}">
                <a16:creationId xmlns:a16="http://schemas.microsoft.com/office/drawing/2014/main" id="{FEF1B68E-8F9C-45FA-BB23-140170B7B027}"/>
              </a:ext>
            </a:extLst>
          </p:cNvPr>
          <p:cNvSpPr txBox="1"/>
          <p:nvPr/>
        </p:nvSpPr>
        <p:spPr>
          <a:xfrm>
            <a:off x="9095256" y="3959096"/>
            <a:ext cx="1726080" cy="369332"/>
          </a:xfrm>
          <a:prstGeom prst="rect">
            <a:avLst/>
          </a:prstGeom>
          <a:noFill/>
        </p:spPr>
        <p:txBody>
          <a:bodyPr wrap="square" rtlCol="0">
            <a:spAutoFit/>
          </a:bodyPr>
          <a:lstStyle/>
          <a:p>
            <a:r>
              <a:rPr lang="en-US" dirty="0"/>
              <a:t>List of points P</a:t>
            </a:r>
          </a:p>
        </p:txBody>
      </p:sp>
      <p:sp>
        <p:nvSpPr>
          <p:cNvPr id="30" name="TextBox 29">
            <a:extLst>
              <a:ext uri="{FF2B5EF4-FFF2-40B4-BE49-F238E27FC236}">
                <a16:creationId xmlns:a16="http://schemas.microsoft.com/office/drawing/2014/main" id="{E4E48D01-52B6-4912-85B7-DA3871755545}"/>
              </a:ext>
            </a:extLst>
          </p:cNvPr>
          <p:cNvSpPr txBox="1"/>
          <p:nvPr/>
        </p:nvSpPr>
        <p:spPr>
          <a:xfrm>
            <a:off x="816365" y="4256316"/>
            <a:ext cx="2336098" cy="369332"/>
          </a:xfrm>
          <a:prstGeom prst="rect">
            <a:avLst/>
          </a:prstGeom>
          <a:solidFill>
            <a:schemeClr val="bg1"/>
          </a:solidFill>
        </p:spPr>
        <p:txBody>
          <a:bodyPr wrap="square" rtlCol="0">
            <a:spAutoFit/>
          </a:bodyPr>
          <a:lstStyle/>
          <a:p>
            <a:r>
              <a:rPr lang="en-US" dirty="0"/>
              <a:t>Structure B (Image)</a:t>
            </a:r>
          </a:p>
        </p:txBody>
      </p:sp>
      <p:pic>
        <p:nvPicPr>
          <p:cNvPr id="9" name="Picture 8">
            <a:extLst>
              <a:ext uri="{FF2B5EF4-FFF2-40B4-BE49-F238E27FC236}">
                <a16:creationId xmlns:a16="http://schemas.microsoft.com/office/drawing/2014/main" id="{468AA027-C992-4905-B5E4-D507151CC269}"/>
              </a:ext>
            </a:extLst>
          </p:cNvPr>
          <p:cNvPicPr>
            <a:picLocks noChangeAspect="1"/>
          </p:cNvPicPr>
          <p:nvPr/>
        </p:nvPicPr>
        <p:blipFill>
          <a:blip r:embed="rId5"/>
          <a:stretch>
            <a:fillRect/>
          </a:stretch>
        </p:blipFill>
        <p:spPr>
          <a:xfrm>
            <a:off x="3180021" y="3411744"/>
            <a:ext cx="5779509" cy="2755631"/>
          </a:xfrm>
          <a:prstGeom prst="rect">
            <a:avLst/>
          </a:prstGeom>
        </p:spPr>
      </p:pic>
    </p:spTree>
    <p:extLst>
      <p:ext uri="{BB962C8B-B14F-4D97-AF65-F5344CB8AC3E}">
        <p14:creationId xmlns:p14="http://schemas.microsoft.com/office/powerpoint/2010/main" val="1262570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nodeType="clickEffect">
                                  <p:stCondLst>
                                    <p:cond delay="0"/>
                                  </p:stCondLst>
                                  <p:childTnLst>
                                    <p:animMotion origin="layout" path="M 3.54167E-6 3.7037E-7 L 0.26198 -0.49769 " pathEditMode="relative" rAng="0" ptsTypes="AA">
                                      <p:cBhvr>
                                        <p:cTn id="10" dur="2000" fill="hold"/>
                                        <p:tgtEl>
                                          <p:spTgt spid="9"/>
                                        </p:tgtEl>
                                        <p:attrNameLst>
                                          <p:attrName>ppt_x</p:attrName>
                                          <p:attrName>ppt_y</p:attrName>
                                        </p:attrNameLst>
                                      </p:cBhvr>
                                      <p:rCtr x="13099" y="-24884"/>
                                    </p:animMotion>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4">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4">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4">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01B0893A-4BDE-41E6-8857-262A3BF8DA8F}"/>
              </a:ext>
            </a:extLst>
          </p:cNvPr>
          <p:cNvSpPr/>
          <p:nvPr/>
        </p:nvSpPr>
        <p:spPr>
          <a:xfrm>
            <a:off x="9459693" y="1772775"/>
            <a:ext cx="1121934"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Define Problem</a:t>
            </a:r>
          </a:p>
        </p:txBody>
      </p:sp>
      <p:sp>
        <p:nvSpPr>
          <p:cNvPr id="8" name="Arrow: Circular 7">
            <a:extLst>
              <a:ext uri="{FF2B5EF4-FFF2-40B4-BE49-F238E27FC236}">
                <a16:creationId xmlns:a16="http://schemas.microsoft.com/office/drawing/2014/main" id="{08604D32-D523-4F25-AFC8-2D189AF17EE6}"/>
              </a:ext>
            </a:extLst>
          </p:cNvPr>
          <p:cNvSpPr/>
          <p:nvPr/>
        </p:nvSpPr>
        <p:spPr>
          <a:xfrm>
            <a:off x="6816721" y="1739863"/>
            <a:ext cx="4211211" cy="4211211"/>
          </a:xfrm>
          <a:prstGeom prst="circularArrow">
            <a:avLst>
              <a:gd name="adj1" fmla="val 5195"/>
              <a:gd name="adj2" fmla="val 335545"/>
              <a:gd name="adj3" fmla="val 21294739"/>
              <a:gd name="adj4" fmla="val 19764927"/>
              <a:gd name="adj5" fmla="val 6061"/>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en-US"/>
          </a:p>
        </p:txBody>
      </p:sp>
      <p:sp>
        <p:nvSpPr>
          <p:cNvPr id="9" name="Freeform: Shape 8">
            <a:extLst>
              <a:ext uri="{FF2B5EF4-FFF2-40B4-BE49-F238E27FC236}">
                <a16:creationId xmlns:a16="http://schemas.microsoft.com/office/drawing/2014/main" id="{1EB59233-AD7F-4675-A542-692A6E3D5487}"/>
              </a:ext>
            </a:extLst>
          </p:cNvPr>
          <p:cNvSpPr/>
          <p:nvPr/>
        </p:nvSpPr>
        <p:spPr>
          <a:xfrm>
            <a:off x="10138501" y="3861930"/>
            <a:ext cx="1121934"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Design</a:t>
            </a:r>
          </a:p>
        </p:txBody>
      </p:sp>
      <p:sp>
        <p:nvSpPr>
          <p:cNvPr id="10" name="Arrow: Circular 9">
            <a:extLst>
              <a:ext uri="{FF2B5EF4-FFF2-40B4-BE49-F238E27FC236}">
                <a16:creationId xmlns:a16="http://schemas.microsoft.com/office/drawing/2014/main" id="{B275146D-43B5-4A87-B3BA-ED7911B1E089}"/>
              </a:ext>
            </a:extLst>
          </p:cNvPr>
          <p:cNvSpPr/>
          <p:nvPr/>
        </p:nvSpPr>
        <p:spPr>
          <a:xfrm>
            <a:off x="6816721" y="1739863"/>
            <a:ext cx="4211211" cy="4211211"/>
          </a:xfrm>
          <a:prstGeom prst="circularArrow">
            <a:avLst>
              <a:gd name="adj1" fmla="val 5195"/>
              <a:gd name="adj2" fmla="val 335545"/>
              <a:gd name="adj3" fmla="val 4016250"/>
              <a:gd name="adj4" fmla="val 2252007"/>
              <a:gd name="adj5" fmla="val 6061"/>
            </a:avLst>
          </a:pr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en-US"/>
          </a:p>
        </p:txBody>
      </p:sp>
      <p:sp>
        <p:nvSpPr>
          <p:cNvPr id="11" name="Freeform: Shape 10">
            <a:extLst>
              <a:ext uri="{FF2B5EF4-FFF2-40B4-BE49-F238E27FC236}">
                <a16:creationId xmlns:a16="http://schemas.microsoft.com/office/drawing/2014/main" id="{DCF975C5-96B7-4DF2-91B7-FA0BD2388841}"/>
              </a:ext>
            </a:extLst>
          </p:cNvPr>
          <p:cNvSpPr/>
          <p:nvPr/>
        </p:nvSpPr>
        <p:spPr>
          <a:xfrm>
            <a:off x="8321017" y="5247228"/>
            <a:ext cx="1293629"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b="1" kern="1200" dirty="0"/>
              <a:t>Implement</a:t>
            </a:r>
          </a:p>
        </p:txBody>
      </p:sp>
      <p:sp>
        <p:nvSpPr>
          <p:cNvPr id="12" name="Arrow: Circular 11">
            <a:extLst>
              <a:ext uri="{FF2B5EF4-FFF2-40B4-BE49-F238E27FC236}">
                <a16:creationId xmlns:a16="http://schemas.microsoft.com/office/drawing/2014/main" id="{C931BEA8-C1CE-43BE-99C9-0B9075A147C4}"/>
              </a:ext>
            </a:extLst>
          </p:cNvPr>
          <p:cNvSpPr/>
          <p:nvPr/>
        </p:nvSpPr>
        <p:spPr>
          <a:xfrm>
            <a:off x="6816721" y="1739863"/>
            <a:ext cx="4211211" cy="4211211"/>
          </a:xfrm>
          <a:prstGeom prst="circularArrow">
            <a:avLst>
              <a:gd name="adj1" fmla="val 5195"/>
              <a:gd name="adj2" fmla="val 335545"/>
              <a:gd name="adj3" fmla="val 8212447"/>
              <a:gd name="adj4" fmla="val 6448204"/>
              <a:gd name="adj5" fmla="val 6061"/>
            </a:avLst>
          </a:pr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a:lstStyle/>
          <a:p>
            <a:endParaRPr lang="en-US"/>
          </a:p>
        </p:txBody>
      </p:sp>
      <p:sp>
        <p:nvSpPr>
          <p:cNvPr id="13" name="Freeform: Shape 12">
            <a:extLst>
              <a:ext uri="{FF2B5EF4-FFF2-40B4-BE49-F238E27FC236}">
                <a16:creationId xmlns:a16="http://schemas.microsoft.com/office/drawing/2014/main" id="{9BE4E709-E8FE-42BF-9A12-BAC75E3F3204}"/>
              </a:ext>
            </a:extLst>
          </p:cNvPr>
          <p:cNvSpPr/>
          <p:nvPr/>
        </p:nvSpPr>
        <p:spPr>
          <a:xfrm>
            <a:off x="6584218" y="3861930"/>
            <a:ext cx="1121934"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Test</a:t>
            </a:r>
          </a:p>
        </p:txBody>
      </p:sp>
      <p:sp>
        <p:nvSpPr>
          <p:cNvPr id="14" name="Arrow: Circular 13">
            <a:extLst>
              <a:ext uri="{FF2B5EF4-FFF2-40B4-BE49-F238E27FC236}">
                <a16:creationId xmlns:a16="http://schemas.microsoft.com/office/drawing/2014/main" id="{47013EBC-A85E-48D7-8336-E5CDFC1C699E}"/>
              </a:ext>
            </a:extLst>
          </p:cNvPr>
          <p:cNvSpPr/>
          <p:nvPr/>
        </p:nvSpPr>
        <p:spPr>
          <a:xfrm>
            <a:off x="6816721" y="1739863"/>
            <a:ext cx="4211211" cy="4211211"/>
          </a:xfrm>
          <a:prstGeom prst="circularArrow">
            <a:avLst>
              <a:gd name="adj1" fmla="val 5195"/>
              <a:gd name="adj2" fmla="val 335545"/>
              <a:gd name="adj3" fmla="val 12299528"/>
              <a:gd name="adj4" fmla="val 10769715"/>
              <a:gd name="adj5" fmla="val 6061"/>
            </a:avLst>
          </a:pr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a:lstStyle/>
          <a:p>
            <a:endParaRPr lang="en-US"/>
          </a:p>
        </p:txBody>
      </p:sp>
      <p:sp>
        <p:nvSpPr>
          <p:cNvPr id="15" name="Freeform: Shape 14">
            <a:extLst>
              <a:ext uri="{FF2B5EF4-FFF2-40B4-BE49-F238E27FC236}">
                <a16:creationId xmlns:a16="http://schemas.microsoft.com/office/drawing/2014/main" id="{96326257-6A8B-4AB8-8439-45A9D8B1EABF}"/>
              </a:ext>
            </a:extLst>
          </p:cNvPr>
          <p:cNvSpPr/>
          <p:nvPr/>
        </p:nvSpPr>
        <p:spPr>
          <a:xfrm>
            <a:off x="7263026" y="1772775"/>
            <a:ext cx="1121934"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Analyze</a:t>
            </a:r>
          </a:p>
        </p:txBody>
      </p:sp>
      <p:sp>
        <p:nvSpPr>
          <p:cNvPr id="16" name="Arrow: Circular 15">
            <a:extLst>
              <a:ext uri="{FF2B5EF4-FFF2-40B4-BE49-F238E27FC236}">
                <a16:creationId xmlns:a16="http://schemas.microsoft.com/office/drawing/2014/main" id="{50551519-CF1E-4B63-9553-87B5FFC66262}"/>
              </a:ext>
            </a:extLst>
          </p:cNvPr>
          <p:cNvSpPr/>
          <p:nvPr/>
        </p:nvSpPr>
        <p:spPr>
          <a:xfrm>
            <a:off x="6816721" y="1739863"/>
            <a:ext cx="4211211" cy="4211211"/>
          </a:xfrm>
          <a:prstGeom prst="circularArrow">
            <a:avLst>
              <a:gd name="adj1" fmla="val 5195"/>
              <a:gd name="adj2" fmla="val 335545"/>
              <a:gd name="adj3" fmla="val 16867234"/>
              <a:gd name="adj4" fmla="val 15197221"/>
              <a:gd name="adj5" fmla="val 6061"/>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US"/>
          </a:p>
        </p:txBody>
      </p:sp>
      <p:sp>
        <p:nvSpPr>
          <p:cNvPr id="3" name="Title 2">
            <a:extLst>
              <a:ext uri="{FF2B5EF4-FFF2-40B4-BE49-F238E27FC236}">
                <a16:creationId xmlns:a16="http://schemas.microsoft.com/office/drawing/2014/main" id="{7E10ADDA-0E25-4979-8B77-C5E21DA7DDCB}"/>
              </a:ext>
            </a:extLst>
          </p:cNvPr>
          <p:cNvSpPr>
            <a:spLocks noGrp="1"/>
          </p:cNvSpPr>
          <p:nvPr>
            <p:ph type="title"/>
          </p:nvPr>
        </p:nvSpPr>
        <p:spPr/>
        <p:txBody>
          <a:bodyPr/>
          <a:lstStyle/>
          <a:p>
            <a:r>
              <a:rPr lang="en-US" dirty="0"/>
              <a:t>Code Design Cycle</a:t>
            </a:r>
          </a:p>
        </p:txBody>
      </p:sp>
      <p:sp>
        <p:nvSpPr>
          <p:cNvPr id="5" name="Content Placeholder 4">
            <a:extLst>
              <a:ext uri="{FF2B5EF4-FFF2-40B4-BE49-F238E27FC236}">
                <a16:creationId xmlns:a16="http://schemas.microsoft.com/office/drawing/2014/main" id="{142253C1-B65B-42B2-AFA4-DAFC9177DC5C}"/>
              </a:ext>
            </a:extLst>
          </p:cNvPr>
          <p:cNvSpPr txBox="1">
            <a:spLocks/>
          </p:cNvSpPr>
          <p:nvPr/>
        </p:nvSpPr>
        <p:spPr>
          <a:xfrm>
            <a:off x="609601" y="1628799"/>
            <a:ext cx="6082748" cy="4536505"/>
          </a:xfrm>
          <a:prstGeom prst="rect">
            <a:avLst/>
          </a:prstGeom>
        </p:spPr>
        <p:txBody>
          <a:bodyPr vert="horz" lIns="0" tIns="0" rIns="0" bIns="0" rtlCol="0">
            <a:normAutofit/>
          </a:bodyPr>
          <a:lstStyle>
            <a:lvl1pPr marL="269875" indent="-269875" algn="l" defTabSz="457200" rtl="0" eaLnBrk="1" latinLnBrk="0" hangingPunct="1">
              <a:lnSpc>
                <a:spcPct val="120000"/>
              </a:lnSpc>
              <a:spcBef>
                <a:spcPts val="0"/>
              </a:spcBef>
              <a:buClr>
                <a:srgbClr val="0A2D50"/>
              </a:buClr>
              <a:buFont typeface="Arial"/>
              <a:buChar char="•"/>
              <a:defRPr sz="2400" kern="1200">
                <a:solidFill>
                  <a:schemeClr val="tx1"/>
                </a:solidFill>
                <a:latin typeface="Georgia"/>
                <a:ea typeface="+mn-ea"/>
                <a:cs typeface="Georgia"/>
              </a:defRPr>
            </a:lvl1pPr>
            <a:lvl2pPr marL="539750"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2pPr>
            <a:lvl3pPr marL="809625"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3pPr>
            <a:lvl4pPr marL="1079500"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4pPr>
            <a:lvl5pPr marL="1341438" indent="-261938"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fontAlgn="auto">
              <a:spcAft>
                <a:spcPts val="0"/>
              </a:spcAft>
            </a:pPr>
            <a:r>
              <a:rPr lang="en-US" dirty="0"/>
              <a:t>Implement</a:t>
            </a:r>
          </a:p>
          <a:p>
            <a:pPr lvl="1" fontAlgn="auto">
              <a:spcAft>
                <a:spcPts val="0"/>
              </a:spcAft>
            </a:pPr>
            <a:r>
              <a:rPr lang="en-US" dirty="0"/>
              <a:t>Translate Pseudo-Code to actual code</a:t>
            </a:r>
          </a:p>
          <a:p>
            <a:pPr marL="269875" lvl="1" indent="0" fontAlgn="auto">
              <a:spcAft>
                <a:spcPts val="0"/>
              </a:spcAft>
              <a:buNone/>
            </a:pPr>
            <a:endParaRPr lang="en-US" dirty="0"/>
          </a:p>
          <a:p>
            <a:pPr fontAlgn="auto">
              <a:spcAft>
                <a:spcPts val="0"/>
              </a:spcAft>
            </a:pPr>
            <a:r>
              <a:rPr lang="en-US" dirty="0"/>
              <a:t>Key here is to start small and build up</a:t>
            </a:r>
          </a:p>
          <a:p>
            <a:pPr lvl="1" fontAlgn="auto">
              <a:spcAft>
                <a:spcPts val="0"/>
              </a:spcAft>
            </a:pPr>
            <a:r>
              <a:rPr lang="en-US" dirty="0"/>
              <a:t>Start with what you know how to do</a:t>
            </a:r>
          </a:p>
          <a:p>
            <a:pPr lvl="1" fontAlgn="auto">
              <a:spcAft>
                <a:spcPts val="0"/>
              </a:spcAft>
            </a:pPr>
            <a:r>
              <a:rPr lang="en-US" dirty="0"/>
              <a:t>What (if any) code have we already created that might help</a:t>
            </a:r>
          </a:p>
          <a:p>
            <a:pPr lvl="1" fontAlgn="auto">
              <a:spcAft>
                <a:spcPts val="0"/>
              </a:spcAft>
            </a:pPr>
            <a:r>
              <a:rPr lang="en-US" dirty="0"/>
              <a:t>For now skip what we don’t know how to do</a:t>
            </a:r>
          </a:p>
          <a:p>
            <a:pPr lvl="1" fontAlgn="auto">
              <a:spcAft>
                <a:spcPts val="0"/>
              </a:spcAft>
            </a:pPr>
            <a:endParaRPr lang="en-US" dirty="0"/>
          </a:p>
          <a:p>
            <a:pPr lvl="1" fontAlgn="auto">
              <a:spcAft>
                <a:spcPts val="0"/>
              </a:spcAft>
            </a:pPr>
            <a:endParaRPr lang="en-US" dirty="0"/>
          </a:p>
          <a:p>
            <a:pPr lvl="1" fontAlgn="auto">
              <a:spcAft>
                <a:spcPts val="0"/>
              </a:spcAft>
            </a:pPr>
            <a:endParaRPr lang="en-US" dirty="0"/>
          </a:p>
        </p:txBody>
      </p:sp>
    </p:spTree>
    <p:extLst>
      <p:ext uri="{BB962C8B-B14F-4D97-AF65-F5344CB8AC3E}">
        <p14:creationId xmlns:p14="http://schemas.microsoft.com/office/powerpoint/2010/main" val="1120516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42754339-E6F7-45DF-AF29-52A07C7D7097}"/>
              </a:ext>
            </a:extLst>
          </p:cNvPr>
          <p:cNvSpPr/>
          <p:nvPr/>
        </p:nvSpPr>
        <p:spPr>
          <a:xfrm>
            <a:off x="3180021" y="3437857"/>
            <a:ext cx="5759244" cy="2731589"/>
          </a:xfrm>
          <a:prstGeom prst="roundRect">
            <a:avLst/>
          </a:prstGeom>
          <a:ln/>
        </p:spPr>
        <p:style>
          <a:lnRef idx="2">
            <a:schemeClr val="dk1"/>
          </a:lnRef>
          <a:fillRef idx="1">
            <a:schemeClr val="lt1"/>
          </a:fillRef>
          <a:effectRef idx="0">
            <a:schemeClr val="dk1"/>
          </a:effectRef>
          <a:fontRef idx="minor">
            <a:schemeClr val="dk1"/>
          </a:fontRef>
        </p:style>
        <p:txBody>
          <a:bodyPr rtlCol="0" anchor="t"/>
          <a:lstStyle/>
          <a:p>
            <a:pPr algn="ctr"/>
            <a:r>
              <a:rPr lang="en-US" dirty="0"/>
              <a:t>MY PROGRAM</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27926F51-50A0-4194-8B56-458F55990079}"/>
                  </a:ext>
                </a:extLst>
              </p:cNvPr>
              <p:cNvSpPr txBox="1"/>
              <p:nvPr/>
            </p:nvSpPr>
            <p:spPr>
              <a:xfrm>
                <a:off x="3409800" y="3958726"/>
                <a:ext cx="5357682" cy="1200329"/>
              </a:xfrm>
              <a:prstGeom prst="rect">
                <a:avLst/>
              </a:prstGeom>
              <a:noFill/>
            </p:spPr>
            <p:txBody>
              <a:bodyPr wrap="square" rtlCol="0">
                <a:spAutoFit/>
              </a:bodyPr>
              <a:lstStyle/>
              <a:p>
                <a:r>
                  <a:rPr lang="en-US" dirty="0"/>
                  <a:t>Iterate over points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𝑜</m:t>
                        </m:r>
                      </m:sub>
                    </m:sSub>
                  </m:oMath>
                </a14:m>
                <a:endParaRPr lang="en-US" dirty="0"/>
              </a:p>
              <a:p>
                <a:pPr lvl="1"/>
                <a:r>
                  <a:rPr lang="en-US" dirty="0"/>
                  <a:t>For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 </m:t>
                    </m:r>
                  </m:oMath>
                </a14:m>
                <a:r>
                  <a:rPr lang="en-US" dirty="0"/>
                  <a:t>find corresponding pixel in Image</a:t>
                </a:r>
              </a:p>
              <a:p>
                <a:pPr lvl="1"/>
                <a:r>
                  <a:rPr lang="en-US" dirty="0"/>
                  <a:t>	If image value at pixel is 1 </a:t>
                </a:r>
              </a:p>
              <a:p>
                <a:pPr lvl="1"/>
                <a:r>
                  <a:rPr lang="en-US" dirty="0"/>
                  <a:t>		place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 </m:t>
                    </m:r>
                  </m:oMath>
                </a14:m>
                <a:r>
                  <a:rPr lang="en-US" dirty="0"/>
                  <a:t>into new list	</a:t>
                </a:r>
              </a:p>
            </p:txBody>
          </p:sp>
        </mc:Choice>
        <mc:Fallback xmlns="">
          <p:sp>
            <p:nvSpPr>
              <p:cNvPr id="24" name="TextBox 23">
                <a:extLst>
                  <a:ext uri="{FF2B5EF4-FFF2-40B4-BE49-F238E27FC236}">
                    <a16:creationId xmlns:a16="http://schemas.microsoft.com/office/drawing/2014/main" id="{27926F51-50A0-4194-8B56-458F55990079}"/>
                  </a:ext>
                </a:extLst>
              </p:cNvPr>
              <p:cNvSpPr txBox="1">
                <a:spLocks noRot="1" noChangeAspect="1" noMove="1" noResize="1" noEditPoints="1" noAdjustHandles="1" noChangeArrowheads="1" noChangeShapeType="1" noTextEdit="1"/>
              </p:cNvSpPr>
              <p:nvPr/>
            </p:nvSpPr>
            <p:spPr>
              <a:xfrm>
                <a:off x="3409800" y="3958726"/>
                <a:ext cx="5357682" cy="1200329"/>
              </a:xfrm>
              <a:prstGeom prst="rect">
                <a:avLst/>
              </a:prstGeom>
              <a:blipFill>
                <a:blip r:embed="rId3"/>
                <a:stretch>
                  <a:fillRect l="-910" t="-2538" b="-7107"/>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7E10ADDA-0E25-4979-8B77-C5E21DA7DDCB}"/>
              </a:ext>
            </a:extLst>
          </p:cNvPr>
          <p:cNvSpPr>
            <a:spLocks noGrp="1"/>
          </p:cNvSpPr>
          <p:nvPr>
            <p:ph type="title"/>
          </p:nvPr>
        </p:nvSpPr>
        <p:spPr/>
        <p:txBody>
          <a:bodyPr/>
          <a:lstStyle/>
          <a:p>
            <a:r>
              <a:rPr lang="en-US" dirty="0"/>
              <a:t>Code Design Cycle</a:t>
            </a:r>
          </a:p>
        </p:txBody>
      </p:sp>
      <p:sp>
        <p:nvSpPr>
          <p:cNvPr id="5" name="Content Placeholder 4">
            <a:extLst>
              <a:ext uri="{FF2B5EF4-FFF2-40B4-BE49-F238E27FC236}">
                <a16:creationId xmlns:a16="http://schemas.microsoft.com/office/drawing/2014/main" id="{142253C1-B65B-42B2-AFA4-DAFC9177DC5C}"/>
              </a:ext>
            </a:extLst>
          </p:cNvPr>
          <p:cNvSpPr txBox="1">
            <a:spLocks/>
          </p:cNvSpPr>
          <p:nvPr/>
        </p:nvSpPr>
        <p:spPr>
          <a:xfrm>
            <a:off x="609601" y="1628799"/>
            <a:ext cx="6082748" cy="4536505"/>
          </a:xfrm>
          <a:prstGeom prst="rect">
            <a:avLst/>
          </a:prstGeom>
        </p:spPr>
        <p:txBody>
          <a:bodyPr vert="horz" lIns="0" tIns="0" rIns="0" bIns="0" rtlCol="0">
            <a:normAutofit/>
          </a:bodyPr>
          <a:lstStyle>
            <a:lvl1pPr marL="269875" indent="-269875" algn="l" defTabSz="457200" rtl="0" eaLnBrk="1" latinLnBrk="0" hangingPunct="1">
              <a:lnSpc>
                <a:spcPct val="120000"/>
              </a:lnSpc>
              <a:spcBef>
                <a:spcPts val="0"/>
              </a:spcBef>
              <a:buClr>
                <a:srgbClr val="0A2D50"/>
              </a:buClr>
              <a:buFont typeface="Arial"/>
              <a:buChar char="•"/>
              <a:defRPr sz="2400" kern="1200">
                <a:solidFill>
                  <a:schemeClr val="tx1"/>
                </a:solidFill>
                <a:latin typeface="Georgia"/>
                <a:ea typeface="+mn-ea"/>
                <a:cs typeface="Georgia"/>
              </a:defRPr>
            </a:lvl1pPr>
            <a:lvl2pPr marL="539750"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2pPr>
            <a:lvl3pPr marL="809625"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3pPr>
            <a:lvl4pPr marL="1079500"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4pPr>
            <a:lvl5pPr marL="1341438" indent="-261938"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fontAlgn="auto">
              <a:spcAft>
                <a:spcPts val="0"/>
              </a:spcAft>
            </a:pPr>
            <a:r>
              <a:rPr lang="en-US" dirty="0"/>
              <a:t>Implement</a:t>
            </a:r>
          </a:p>
          <a:p>
            <a:pPr lvl="1" fontAlgn="auto">
              <a:spcAft>
                <a:spcPts val="0"/>
              </a:spcAft>
            </a:pPr>
            <a:r>
              <a:rPr lang="en-US" dirty="0"/>
              <a:t>Inputs and Outputs are probably defined by our code base</a:t>
            </a:r>
          </a:p>
          <a:p>
            <a:pPr lvl="1" fontAlgn="auto">
              <a:spcAft>
                <a:spcPts val="0"/>
              </a:spcAft>
            </a:pPr>
            <a:endParaRPr lang="en-US" dirty="0"/>
          </a:p>
          <a:p>
            <a:pPr lvl="1" fontAlgn="auto">
              <a:spcAft>
                <a:spcPts val="0"/>
              </a:spcAft>
            </a:pPr>
            <a:endParaRPr lang="en-US" dirty="0"/>
          </a:p>
        </p:txBody>
      </p:sp>
      <p:cxnSp>
        <p:nvCxnSpPr>
          <p:cNvPr id="6" name="Straight Arrow Connector 5">
            <a:extLst>
              <a:ext uri="{FF2B5EF4-FFF2-40B4-BE49-F238E27FC236}">
                <a16:creationId xmlns:a16="http://schemas.microsoft.com/office/drawing/2014/main" id="{7BB5DB76-CE97-43CD-BF9A-BFDA738BFFA2}"/>
              </a:ext>
            </a:extLst>
          </p:cNvPr>
          <p:cNvCxnSpPr/>
          <p:nvPr/>
        </p:nvCxnSpPr>
        <p:spPr>
          <a:xfrm>
            <a:off x="1743514" y="4155284"/>
            <a:ext cx="126829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E4A36FF8-323B-4378-BEEC-E41EC6E8E409}"/>
              </a:ext>
            </a:extLst>
          </p:cNvPr>
          <p:cNvCxnSpPr/>
          <p:nvPr/>
        </p:nvCxnSpPr>
        <p:spPr>
          <a:xfrm>
            <a:off x="1743514" y="4700815"/>
            <a:ext cx="126829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1CF01DD4-E871-4311-A84E-112FA70F8AC4}"/>
              </a:ext>
            </a:extLst>
          </p:cNvPr>
          <p:cNvCxnSpPr/>
          <p:nvPr/>
        </p:nvCxnSpPr>
        <p:spPr>
          <a:xfrm>
            <a:off x="9127196" y="4409755"/>
            <a:ext cx="126829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F968A108-364A-45AC-8393-44488EFD3458}"/>
              </a:ext>
            </a:extLst>
          </p:cNvPr>
          <p:cNvSpPr txBox="1"/>
          <p:nvPr/>
        </p:nvSpPr>
        <p:spPr>
          <a:xfrm>
            <a:off x="1370664" y="3785952"/>
            <a:ext cx="1809357" cy="369332"/>
          </a:xfrm>
          <a:prstGeom prst="rect">
            <a:avLst/>
          </a:prstGeom>
          <a:noFill/>
        </p:spPr>
        <p:txBody>
          <a:bodyPr wrap="square" rtlCol="0">
            <a:spAutoFit/>
          </a:bodyPr>
          <a:lstStyle/>
          <a:p>
            <a:r>
              <a:rPr lang="en-US" dirty="0"/>
              <a:t>List of points P</a:t>
            </a:r>
            <a:r>
              <a:rPr lang="en-US" baseline="-25000" dirty="0"/>
              <a:t>o</a:t>
            </a:r>
          </a:p>
        </p:txBody>
      </p:sp>
      <p:sp>
        <p:nvSpPr>
          <p:cNvPr id="29" name="TextBox 28">
            <a:extLst>
              <a:ext uri="{FF2B5EF4-FFF2-40B4-BE49-F238E27FC236}">
                <a16:creationId xmlns:a16="http://schemas.microsoft.com/office/drawing/2014/main" id="{FEF1B68E-8F9C-45FA-BB23-140170B7B027}"/>
              </a:ext>
            </a:extLst>
          </p:cNvPr>
          <p:cNvSpPr txBox="1"/>
          <p:nvPr/>
        </p:nvSpPr>
        <p:spPr>
          <a:xfrm>
            <a:off x="9095256" y="3959096"/>
            <a:ext cx="1726080" cy="369332"/>
          </a:xfrm>
          <a:prstGeom prst="rect">
            <a:avLst/>
          </a:prstGeom>
          <a:noFill/>
        </p:spPr>
        <p:txBody>
          <a:bodyPr wrap="square" rtlCol="0">
            <a:spAutoFit/>
          </a:bodyPr>
          <a:lstStyle/>
          <a:p>
            <a:r>
              <a:rPr lang="en-US" dirty="0"/>
              <a:t>List of points P</a:t>
            </a:r>
          </a:p>
        </p:txBody>
      </p:sp>
      <p:sp>
        <p:nvSpPr>
          <p:cNvPr id="30" name="TextBox 29">
            <a:extLst>
              <a:ext uri="{FF2B5EF4-FFF2-40B4-BE49-F238E27FC236}">
                <a16:creationId xmlns:a16="http://schemas.microsoft.com/office/drawing/2014/main" id="{E4E48D01-52B6-4912-85B7-DA3871755545}"/>
              </a:ext>
            </a:extLst>
          </p:cNvPr>
          <p:cNvSpPr txBox="1"/>
          <p:nvPr/>
        </p:nvSpPr>
        <p:spPr>
          <a:xfrm>
            <a:off x="816365" y="4256316"/>
            <a:ext cx="2336098" cy="369332"/>
          </a:xfrm>
          <a:prstGeom prst="rect">
            <a:avLst/>
          </a:prstGeom>
          <a:solidFill>
            <a:schemeClr val="bg1"/>
          </a:solidFill>
        </p:spPr>
        <p:txBody>
          <a:bodyPr wrap="square" rtlCol="0">
            <a:spAutoFit/>
          </a:bodyPr>
          <a:lstStyle/>
          <a:p>
            <a:r>
              <a:rPr lang="en-US" dirty="0"/>
              <a:t>Structure B (Image)</a:t>
            </a: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C314324E-1795-4E20-A618-8F88A9B4422A}"/>
                  </a:ext>
                </a:extLst>
              </p:cNvPr>
              <p:cNvSpPr txBox="1"/>
              <p:nvPr/>
            </p:nvSpPr>
            <p:spPr>
              <a:xfrm>
                <a:off x="4137513" y="4832361"/>
                <a:ext cx="3404023" cy="276999"/>
              </a:xfrm>
              <a:prstGeom prst="rect">
                <a:avLst/>
              </a:prstGeom>
              <a:solidFill>
                <a:schemeClr val="bg1"/>
              </a:solidFill>
            </p:spPr>
            <p:txBody>
              <a:bodyPr wrap="square" tIns="0" bIns="0" rtlCol="0">
                <a:spAutoFit/>
              </a:bodyPr>
              <a:lstStyle/>
              <a:p>
                <a:pPr lvl="1"/>
                <a:r>
                  <a:rPr lang="en-US" dirty="0"/>
                  <a:t>  </a:t>
                </a:r>
                <a14:m>
                  <m:oMath xmlns:m="http://schemas.openxmlformats.org/officeDocument/2006/math">
                    <m:r>
                      <a:rPr lang="en-US" i="1" dirty="0" smtClean="0">
                        <a:latin typeface="Cambria Math" panose="02040503050406030204" pitchFamily="18" charset="0"/>
                      </a:rPr>
                      <m:t>𝑝</m:t>
                    </m:r>
                    <m:r>
                      <a:rPr lang="en-US" i="1"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𝑃</m:t>
                    </m:r>
                  </m:oMath>
                </a14:m>
                <a:r>
                  <a:rPr lang="en-US" dirty="0"/>
                  <a:t>	</a:t>
                </a:r>
              </a:p>
            </p:txBody>
          </p:sp>
        </mc:Choice>
        <mc:Fallback xmlns="">
          <p:sp>
            <p:nvSpPr>
              <p:cNvPr id="31" name="TextBox 30">
                <a:extLst>
                  <a:ext uri="{FF2B5EF4-FFF2-40B4-BE49-F238E27FC236}">
                    <a16:creationId xmlns:a16="http://schemas.microsoft.com/office/drawing/2014/main" id="{C314324E-1795-4E20-A618-8F88A9B4422A}"/>
                  </a:ext>
                </a:extLst>
              </p:cNvPr>
              <p:cNvSpPr txBox="1">
                <a:spLocks noRot="1" noChangeAspect="1" noMove="1" noResize="1" noEditPoints="1" noAdjustHandles="1" noChangeArrowheads="1" noChangeShapeType="1" noTextEdit="1"/>
              </p:cNvSpPr>
              <p:nvPr/>
            </p:nvSpPr>
            <p:spPr>
              <a:xfrm>
                <a:off x="4137513" y="4832361"/>
                <a:ext cx="3404023" cy="276999"/>
              </a:xfrm>
              <a:prstGeom prst="rect">
                <a:avLst/>
              </a:prstGeom>
              <a:blipFill>
                <a:blip r:embed="rId4"/>
                <a:stretch>
                  <a:fillRect b="-28889"/>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9E5B8453-693A-4E4F-9CD2-E181E857F446}"/>
              </a:ext>
            </a:extLst>
          </p:cNvPr>
          <p:cNvSpPr txBox="1"/>
          <p:nvPr/>
        </p:nvSpPr>
        <p:spPr>
          <a:xfrm>
            <a:off x="965479" y="3468493"/>
            <a:ext cx="2099254" cy="646331"/>
          </a:xfrm>
          <a:prstGeom prst="rect">
            <a:avLst/>
          </a:prstGeom>
          <a:solidFill>
            <a:schemeClr val="bg1"/>
          </a:solidFill>
        </p:spPr>
        <p:txBody>
          <a:bodyPr wrap="square" rtlCol="0">
            <a:spAutoFit/>
          </a:bodyPr>
          <a:lstStyle/>
          <a:p>
            <a:pPr algn="ctr"/>
            <a:r>
              <a:rPr lang="en-US" dirty="0" err="1"/>
              <a:t>vtkMRMLMarkupsFiducialNode</a:t>
            </a:r>
            <a:endParaRPr lang="en-US" dirty="0"/>
          </a:p>
        </p:txBody>
      </p:sp>
      <p:sp>
        <p:nvSpPr>
          <p:cNvPr id="15" name="TextBox 14">
            <a:extLst>
              <a:ext uri="{FF2B5EF4-FFF2-40B4-BE49-F238E27FC236}">
                <a16:creationId xmlns:a16="http://schemas.microsoft.com/office/drawing/2014/main" id="{DF450E72-1D5B-4E56-B240-E47099A5A7C9}"/>
              </a:ext>
            </a:extLst>
          </p:cNvPr>
          <p:cNvSpPr txBox="1"/>
          <p:nvPr/>
        </p:nvSpPr>
        <p:spPr>
          <a:xfrm>
            <a:off x="9127267" y="3682097"/>
            <a:ext cx="2099254" cy="646331"/>
          </a:xfrm>
          <a:prstGeom prst="rect">
            <a:avLst/>
          </a:prstGeom>
          <a:solidFill>
            <a:schemeClr val="bg1"/>
          </a:solidFill>
        </p:spPr>
        <p:txBody>
          <a:bodyPr wrap="square" rtlCol="0">
            <a:spAutoFit/>
          </a:bodyPr>
          <a:lstStyle/>
          <a:p>
            <a:pPr algn="ctr"/>
            <a:r>
              <a:rPr lang="en-US" dirty="0" err="1"/>
              <a:t>vtkMRMLMarkupsFiducialNode</a:t>
            </a:r>
            <a:endParaRPr lang="en-US" dirty="0"/>
          </a:p>
        </p:txBody>
      </p:sp>
      <p:sp>
        <p:nvSpPr>
          <p:cNvPr id="16" name="TextBox 15">
            <a:extLst>
              <a:ext uri="{FF2B5EF4-FFF2-40B4-BE49-F238E27FC236}">
                <a16:creationId xmlns:a16="http://schemas.microsoft.com/office/drawing/2014/main" id="{8886EC91-5668-4940-95C8-895EEBEF4463}"/>
              </a:ext>
            </a:extLst>
          </p:cNvPr>
          <p:cNvSpPr txBox="1"/>
          <p:nvPr/>
        </p:nvSpPr>
        <p:spPr>
          <a:xfrm>
            <a:off x="805657" y="4256831"/>
            <a:ext cx="2099254" cy="369332"/>
          </a:xfrm>
          <a:prstGeom prst="rect">
            <a:avLst/>
          </a:prstGeom>
          <a:solidFill>
            <a:schemeClr val="bg1"/>
          </a:solidFill>
        </p:spPr>
        <p:txBody>
          <a:bodyPr wrap="square" rtlCol="0">
            <a:spAutoFit/>
          </a:bodyPr>
          <a:lstStyle/>
          <a:p>
            <a:pPr algn="ctr"/>
            <a:r>
              <a:rPr lang="en-US" dirty="0" err="1"/>
              <a:t>vtkImageData</a:t>
            </a:r>
            <a:endParaRPr lang="en-US" dirty="0"/>
          </a:p>
        </p:txBody>
      </p:sp>
    </p:spTree>
    <p:extLst>
      <p:ext uri="{BB962C8B-B14F-4D97-AF65-F5344CB8AC3E}">
        <p14:creationId xmlns:p14="http://schemas.microsoft.com/office/powerpoint/2010/main" val="3433584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42754339-E6F7-45DF-AF29-52A07C7D7097}"/>
              </a:ext>
            </a:extLst>
          </p:cNvPr>
          <p:cNvSpPr/>
          <p:nvPr/>
        </p:nvSpPr>
        <p:spPr>
          <a:xfrm>
            <a:off x="3180021" y="3437857"/>
            <a:ext cx="5759244" cy="2731589"/>
          </a:xfrm>
          <a:prstGeom prst="roundRect">
            <a:avLst/>
          </a:prstGeom>
          <a:ln/>
        </p:spPr>
        <p:style>
          <a:lnRef idx="2">
            <a:schemeClr val="dk1"/>
          </a:lnRef>
          <a:fillRef idx="1">
            <a:schemeClr val="lt1"/>
          </a:fillRef>
          <a:effectRef idx="0">
            <a:schemeClr val="dk1"/>
          </a:effectRef>
          <a:fontRef idx="minor">
            <a:schemeClr val="dk1"/>
          </a:fontRef>
        </p:style>
        <p:txBody>
          <a:bodyPr rtlCol="0" anchor="t"/>
          <a:lstStyle/>
          <a:p>
            <a:pPr algn="ctr"/>
            <a:r>
              <a:rPr lang="en-US" dirty="0"/>
              <a:t>MY PROGRAM</a:t>
            </a: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D8161DE-81F3-4465-9FFE-CDDB48F725A3}"/>
                  </a:ext>
                </a:extLst>
              </p:cNvPr>
              <p:cNvSpPr txBox="1"/>
              <p:nvPr/>
            </p:nvSpPr>
            <p:spPr>
              <a:xfrm>
                <a:off x="3409800" y="3958726"/>
                <a:ext cx="5357682" cy="1754326"/>
              </a:xfrm>
              <a:prstGeom prst="rect">
                <a:avLst/>
              </a:prstGeom>
              <a:noFill/>
            </p:spPr>
            <p:txBody>
              <a:bodyPr wrap="square" rtlCol="0">
                <a:spAutoFit/>
              </a:bodyPr>
              <a:lstStyle/>
              <a:p>
                <a:r>
                  <a:rPr lang="en-US" dirty="0"/>
                  <a:t>Iterate over points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𝑜</m:t>
                        </m:r>
                      </m:sub>
                    </m:sSub>
                  </m:oMath>
                </a14:m>
                <a:endParaRPr lang="en-US" dirty="0"/>
              </a:p>
              <a:p>
                <a:endParaRPr lang="en-US" dirty="0"/>
              </a:p>
              <a:p>
                <a:endParaRPr lang="en-US" dirty="0"/>
              </a:p>
              <a:p>
                <a:pPr lvl="1"/>
                <a:r>
                  <a:rPr lang="en-US" dirty="0"/>
                  <a:t>For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 </m:t>
                    </m:r>
                  </m:oMath>
                </a14:m>
                <a:r>
                  <a:rPr lang="en-US" dirty="0"/>
                  <a:t>find corresponding pixel in Image</a:t>
                </a:r>
              </a:p>
              <a:p>
                <a:pPr lvl="1"/>
                <a:r>
                  <a:rPr lang="en-US" dirty="0"/>
                  <a:t>	If image value at pixel is 1 </a:t>
                </a:r>
              </a:p>
              <a:p>
                <a:pPr lvl="1"/>
                <a:r>
                  <a:rPr lang="en-US" dirty="0"/>
                  <a:t> 	   </a:t>
                </a:r>
                <a14:m>
                  <m:oMath xmlns:m="http://schemas.openxmlformats.org/officeDocument/2006/math">
                    <m:r>
                      <a:rPr lang="en-US" i="1" dirty="0">
                        <a:latin typeface="Cambria Math" panose="02040503050406030204" pitchFamily="18" charset="0"/>
                      </a:rPr>
                      <m:t>𝑝</m:t>
                    </m:r>
                    <m:r>
                      <a:rPr lang="en-US" i="1" dirty="0">
                        <a:latin typeface="Cambria Math" panose="02040503050406030204" pitchFamily="18" charset="0"/>
                        <a:ea typeface="Cambria Math" panose="02040503050406030204" pitchFamily="18" charset="0"/>
                      </a:rPr>
                      <m:t>→</m:t>
                    </m:r>
                    <m:r>
                      <a:rPr lang="en-US" i="1" dirty="0">
                        <a:latin typeface="Cambria Math" panose="02040503050406030204" pitchFamily="18" charset="0"/>
                        <a:ea typeface="Cambria Math" panose="02040503050406030204" pitchFamily="18" charset="0"/>
                      </a:rPr>
                      <m:t>𝑃</m:t>
                    </m:r>
                  </m:oMath>
                </a14:m>
                <a:r>
                  <a:rPr lang="en-US" dirty="0"/>
                  <a:t>	</a:t>
                </a:r>
              </a:p>
            </p:txBody>
          </p:sp>
        </mc:Choice>
        <mc:Fallback xmlns="">
          <p:sp>
            <p:nvSpPr>
              <p:cNvPr id="25" name="TextBox 24">
                <a:extLst>
                  <a:ext uri="{FF2B5EF4-FFF2-40B4-BE49-F238E27FC236}">
                    <a16:creationId xmlns:a16="http://schemas.microsoft.com/office/drawing/2014/main" id="{FD8161DE-81F3-4465-9FFE-CDDB48F725A3}"/>
                  </a:ext>
                </a:extLst>
              </p:cNvPr>
              <p:cNvSpPr txBox="1">
                <a:spLocks noRot="1" noChangeAspect="1" noMove="1" noResize="1" noEditPoints="1" noAdjustHandles="1" noChangeArrowheads="1" noChangeShapeType="1" noTextEdit="1"/>
              </p:cNvSpPr>
              <p:nvPr/>
            </p:nvSpPr>
            <p:spPr>
              <a:xfrm>
                <a:off x="3409800" y="3958726"/>
                <a:ext cx="5357682" cy="1754326"/>
              </a:xfrm>
              <a:prstGeom prst="rect">
                <a:avLst/>
              </a:prstGeom>
              <a:blipFill>
                <a:blip r:embed="rId3"/>
                <a:stretch>
                  <a:fillRect l="-910" t="-1736" b="-1042"/>
                </a:stretch>
              </a:blipFill>
            </p:spPr>
            <p:txBody>
              <a:bodyPr/>
              <a:lstStyle/>
              <a:p>
                <a:r>
                  <a:rPr lang="en-US">
                    <a:noFill/>
                  </a:rPr>
                  <a:t> </a:t>
                </a:r>
              </a:p>
            </p:txBody>
          </p:sp>
        </mc:Fallback>
      </mc:AlternateContent>
      <p:sp>
        <p:nvSpPr>
          <p:cNvPr id="23" name="TextBox 22">
            <a:extLst>
              <a:ext uri="{FF2B5EF4-FFF2-40B4-BE49-F238E27FC236}">
                <a16:creationId xmlns:a16="http://schemas.microsoft.com/office/drawing/2014/main" id="{DDB10EDD-CED2-41C0-8DD3-41E65CA05DE6}"/>
              </a:ext>
            </a:extLst>
          </p:cNvPr>
          <p:cNvSpPr txBox="1"/>
          <p:nvPr/>
        </p:nvSpPr>
        <p:spPr>
          <a:xfrm>
            <a:off x="1030100" y="4245308"/>
            <a:ext cx="2003115" cy="369332"/>
          </a:xfrm>
          <a:prstGeom prst="rect">
            <a:avLst/>
          </a:prstGeom>
          <a:solidFill>
            <a:schemeClr val="bg1"/>
          </a:solidFill>
        </p:spPr>
        <p:txBody>
          <a:bodyPr wrap="square" rtlCol="0">
            <a:spAutoFit/>
          </a:bodyPr>
          <a:lstStyle/>
          <a:p>
            <a:r>
              <a:rPr lang="en-US" dirty="0"/>
              <a:t>Structure (Image)</a:t>
            </a:r>
          </a:p>
        </p:txBody>
      </p:sp>
      <p:sp>
        <p:nvSpPr>
          <p:cNvPr id="3" name="Title 2">
            <a:extLst>
              <a:ext uri="{FF2B5EF4-FFF2-40B4-BE49-F238E27FC236}">
                <a16:creationId xmlns:a16="http://schemas.microsoft.com/office/drawing/2014/main" id="{7E10ADDA-0E25-4979-8B77-C5E21DA7DDCB}"/>
              </a:ext>
            </a:extLst>
          </p:cNvPr>
          <p:cNvSpPr>
            <a:spLocks noGrp="1"/>
          </p:cNvSpPr>
          <p:nvPr>
            <p:ph type="title"/>
          </p:nvPr>
        </p:nvSpPr>
        <p:spPr/>
        <p:txBody>
          <a:bodyPr/>
          <a:lstStyle/>
          <a:p>
            <a:r>
              <a:rPr lang="en-US" dirty="0"/>
              <a:t>Code Design Cycle</a:t>
            </a:r>
          </a:p>
        </p:txBody>
      </p:sp>
      <p:sp>
        <p:nvSpPr>
          <p:cNvPr id="5" name="Content Placeholder 4">
            <a:extLst>
              <a:ext uri="{FF2B5EF4-FFF2-40B4-BE49-F238E27FC236}">
                <a16:creationId xmlns:a16="http://schemas.microsoft.com/office/drawing/2014/main" id="{142253C1-B65B-42B2-AFA4-DAFC9177DC5C}"/>
              </a:ext>
            </a:extLst>
          </p:cNvPr>
          <p:cNvSpPr txBox="1">
            <a:spLocks/>
          </p:cNvSpPr>
          <p:nvPr/>
        </p:nvSpPr>
        <p:spPr>
          <a:xfrm>
            <a:off x="609600" y="1628799"/>
            <a:ext cx="10349753" cy="4536505"/>
          </a:xfrm>
          <a:prstGeom prst="rect">
            <a:avLst/>
          </a:prstGeom>
        </p:spPr>
        <p:txBody>
          <a:bodyPr vert="horz" lIns="0" tIns="0" rIns="0" bIns="0" rtlCol="0">
            <a:normAutofit/>
          </a:bodyPr>
          <a:lstStyle>
            <a:lvl1pPr marL="269875" indent="-269875" algn="l" defTabSz="457200" rtl="0" eaLnBrk="1" latinLnBrk="0" hangingPunct="1">
              <a:lnSpc>
                <a:spcPct val="120000"/>
              </a:lnSpc>
              <a:spcBef>
                <a:spcPts val="0"/>
              </a:spcBef>
              <a:buClr>
                <a:srgbClr val="0A2D50"/>
              </a:buClr>
              <a:buFont typeface="Arial"/>
              <a:buChar char="•"/>
              <a:defRPr sz="2400" kern="1200">
                <a:solidFill>
                  <a:schemeClr val="tx1"/>
                </a:solidFill>
                <a:latin typeface="Georgia"/>
                <a:ea typeface="+mn-ea"/>
                <a:cs typeface="Georgia"/>
              </a:defRPr>
            </a:lvl1pPr>
            <a:lvl2pPr marL="539750"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2pPr>
            <a:lvl3pPr marL="809625"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3pPr>
            <a:lvl4pPr marL="1079500"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4pPr>
            <a:lvl5pPr marL="1341438" indent="-261938"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fontAlgn="auto">
              <a:spcAft>
                <a:spcPts val="0"/>
              </a:spcAft>
            </a:pPr>
            <a:r>
              <a:rPr lang="en-US" dirty="0"/>
              <a:t>Implement</a:t>
            </a:r>
          </a:p>
          <a:p>
            <a:pPr lvl="1" fontAlgn="auto">
              <a:spcAft>
                <a:spcPts val="0"/>
              </a:spcAft>
            </a:pPr>
            <a:r>
              <a:rPr lang="en-US" dirty="0"/>
              <a:t>Inputs and Outputs are probably defined by our code base</a:t>
            </a:r>
          </a:p>
          <a:p>
            <a:pPr lvl="1" fontAlgn="auto">
              <a:spcAft>
                <a:spcPts val="0"/>
              </a:spcAft>
            </a:pPr>
            <a:r>
              <a:rPr lang="en-US" dirty="0"/>
              <a:t>What do you know how to do</a:t>
            </a:r>
          </a:p>
          <a:p>
            <a:pPr lvl="1" fontAlgn="auto">
              <a:spcAft>
                <a:spcPts val="0"/>
              </a:spcAft>
            </a:pPr>
            <a:r>
              <a:rPr lang="en-US" dirty="0"/>
              <a:t>We have done a fair amount of code – but haven’t tested if anything works yet</a:t>
            </a:r>
          </a:p>
          <a:p>
            <a:pPr lvl="1" fontAlgn="auto">
              <a:spcAft>
                <a:spcPts val="0"/>
              </a:spcAft>
            </a:pPr>
            <a:endParaRPr lang="en-US" dirty="0"/>
          </a:p>
          <a:p>
            <a:pPr lvl="1" fontAlgn="auto">
              <a:spcAft>
                <a:spcPts val="0"/>
              </a:spcAft>
            </a:pPr>
            <a:endParaRPr lang="en-US" dirty="0"/>
          </a:p>
          <a:p>
            <a:pPr lvl="1" fontAlgn="auto">
              <a:spcAft>
                <a:spcPts val="0"/>
              </a:spcAft>
            </a:pPr>
            <a:endParaRPr lang="en-US" dirty="0"/>
          </a:p>
          <a:p>
            <a:pPr lvl="1" fontAlgn="auto">
              <a:spcAft>
                <a:spcPts val="0"/>
              </a:spcAft>
            </a:pPr>
            <a:endParaRPr lang="en-US" dirty="0"/>
          </a:p>
        </p:txBody>
      </p:sp>
      <p:cxnSp>
        <p:nvCxnSpPr>
          <p:cNvPr id="6" name="Straight Arrow Connector 5">
            <a:extLst>
              <a:ext uri="{FF2B5EF4-FFF2-40B4-BE49-F238E27FC236}">
                <a16:creationId xmlns:a16="http://schemas.microsoft.com/office/drawing/2014/main" id="{7BB5DB76-CE97-43CD-BF9A-BFDA738BFFA2}"/>
              </a:ext>
            </a:extLst>
          </p:cNvPr>
          <p:cNvCxnSpPr/>
          <p:nvPr/>
        </p:nvCxnSpPr>
        <p:spPr>
          <a:xfrm>
            <a:off x="1743514" y="4155284"/>
            <a:ext cx="126829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358B00B1-DBFC-4A3F-9162-3C9BB96C9382}"/>
              </a:ext>
            </a:extLst>
          </p:cNvPr>
          <p:cNvSpPr txBox="1"/>
          <p:nvPr/>
        </p:nvSpPr>
        <p:spPr>
          <a:xfrm>
            <a:off x="1370664" y="3774430"/>
            <a:ext cx="1484081" cy="369332"/>
          </a:xfrm>
          <a:prstGeom prst="rect">
            <a:avLst/>
          </a:prstGeom>
          <a:noFill/>
        </p:spPr>
        <p:txBody>
          <a:bodyPr wrap="square" rtlCol="0">
            <a:spAutoFit/>
          </a:bodyPr>
          <a:lstStyle/>
          <a:p>
            <a:r>
              <a:rPr lang="en-US" dirty="0"/>
              <a:t>List of points</a:t>
            </a:r>
          </a:p>
        </p:txBody>
      </p:sp>
      <p:cxnSp>
        <p:nvCxnSpPr>
          <p:cNvPr id="20" name="Straight Arrow Connector 19">
            <a:extLst>
              <a:ext uri="{FF2B5EF4-FFF2-40B4-BE49-F238E27FC236}">
                <a16:creationId xmlns:a16="http://schemas.microsoft.com/office/drawing/2014/main" id="{E4A36FF8-323B-4378-BEEC-E41EC6E8E409}"/>
              </a:ext>
            </a:extLst>
          </p:cNvPr>
          <p:cNvCxnSpPr/>
          <p:nvPr/>
        </p:nvCxnSpPr>
        <p:spPr>
          <a:xfrm>
            <a:off x="1743514" y="4700815"/>
            <a:ext cx="126829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1CF01DD4-E871-4311-A84E-112FA70F8AC4}"/>
              </a:ext>
            </a:extLst>
          </p:cNvPr>
          <p:cNvCxnSpPr/>
          <p:nvPr/>
        </p:nvCxnSpPr>
        <p:spPr>
          <a:xfrm>
            <a:off x="9127196" y="4409755"/>
            <a:ext cx="126829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5F5493AD-521C-40D7-A965-52F3624BE35D}"/>
              </a:ext>
            </a:extLst>
          </p:cNvPr>
          <p:cNvSpPr txBox="1"/>
          <p:nvPr/>
        </p:nvSpPr>
        <p:spPr>
          <a:xfrm>
            <a:off x="9337255" y="3959096"/>
            <a:ext cx="1484081" cy="369332"/>
          </a:xfrm>
          <a:prstGeom prst="rect">
            <a:avLst/>
          </a:prstGeom>
          <a:noFill/>
        </p:spPr>
        <p:txBody>
          <a:bodyPr wrap="square" rtlCol="0">
            <a:spAutoFit/>
          </a:bodyPr>
          <a:lstStyle/>
          <a:p>
            <a:r>
              <a:rPr lang="en-US" dirty="0"/>
              <a:t>List of points</a:t>
            </a:r>
          </a:p>
        </p:txBody>
      </p:sp>
      <p:sp>
        <p:nvSpPr>
          <p:cNvPr id="12" name="TextBox 11">
            <a:extLst>
              <a:ext uri="{FF2B5EF4-FFF2-40B4-BE49-F238E27FC236}">
                <a16:creationId xmlns:a16="http://schemas.microsoft.com/office/drawing/2014/main" id="{46BDD4D6-E999-41D8-B6DA-B13A1D720E0B}"/>
              </a:ext>
            </a:extLst>
          </p:cNvPr>
          <p:cNvSpPr txBox="1"/>
          <p:nvPr/>
        </p:nvSpPr>
        <p:spPr>
          <a:xfrm>
            <a:off x="800914" y="3447122"/>
            <a:ext cx="2099254" cy="646331"/>
          </a:xfrm>
          <a:prstGeom prst="rect">
            <a:avLst/>
          </a:prstGeom>
          <a:solidFill>
            <a:schemeClr val="bg1"/>
          </a:solidFill>
        </p:spPr>
        <p:txBody>
          <a:bodyPr wrap="square" rtlCol="0">
            <a:spAutoFit/>
          </a:bodyPr>
          <a:lstStyle/>
          <a:p>
            <a:pPr algn="ctr"/>
            <a:r>
              <a:rPr lang="en-US" dirty="0" err="1"/>
              <a:t>vtkMRMLMarkupsFiducialNode</a:t>
            </a:r>
            <a:endParaRPr lang="en-US" dirty="0"/>
          </a:p>
        </p:txBody>
      </p:sp>
      <p:sp>
        <p:nvSpPr>
          <p:cNvPr id="13" name="TextBox 12">
            <a:extLst>
              <a:ext uri="{FF2B5EF4-FFF2-40B4-BE49-F238E27FC236}">
                <a16:creationId xmlns:a16="http://schemas.microsoft.com/office/drawing/2014/main" id="{1468A674-426B-4B8F-95C5-36A2A52702A0}"/>
              </a:ext>
            </a:extLst>
          </p:cNvPr>
          <p:cNvSpPr txBox="1"/>
          <p:nvPr/>
        </p:nvSpPr>
        <p:spPr>
          <a:xfrm>
            <a:off x="9029668" y="3669563"/>
            <a:ext cx="2099254" cy="646331"/>
          </a:xfrm>
          <a:prstGeom prst="rect">
            <a:avLst/>
          </a:prstGeom>
          <a:solidFill>
            <a:schemeClr val="bg1"/>
          </a:solidFill>
        </p:spPr>
        <p:txBody>
          <a:bodyPr wrap="square" rtlCol="0">
            <a:spAutoFit/>
          </a:bodyPr>
          <a:lstStyle/>
          <a:p>
            <a:pPr algn="ctr"/>
            <a:r>
              <a:rPr lang="en-US" dirty="0" err="1"/>
              <a:t>vtkMRMLMarkupsFiducialNode</a:t>
            </a:r>
            <a:endParaRPr lang="en-US" dirty="0"/>
          </a:p>
        </p:txBody>
      </p:sp>
      <p:sp>
        <p:nvSpPr>
          <p:cNvPr id="14" name="TextBox 13">
            <a:extLst>
              <a:ext uri="{FF2B5EF4-FFF2-40B4-BE49-F238E27FC236}">
                <a16:creationId xmlns:a16="http://schemas.microsoft.com/office/drawing/2014/main" id="{52956AA1-0A8D-4DD5-ADB8-658F81141896}"/>
              </a:ext>
            </a:extLst>
          </p:cNvPr>
          <p:cNvSpPr txBox="1"/>
          <p:nvPr/>
        </p:nvSpPr>
        <p:spPr>
          <a:xfrm>
            <a:off x="805657" y="4256831"/>
            <a:ext cx="2099254" cy="369332"/>
          </a:xfrm>
          <a:prstGeom prst="rect">
            <a:avLst/>
          </a:prstGeom>
          <a:solidFill>
            <a:schemeClr val="bg1"/>
          </a:solidFill>
        </p:spPr>
        <p:txBody>
          <a:bodyPr wrap="square" rtlCol="0">
            <a:spAutoFit/>
          </a:bodyPr>
          <a:lstStyle/>
          <a:p>
            <a:pPr algn="ctr"/>
            <a:r>
              <a:rPr lang="en-US" dirty="0" err="1"/>
              <a:t>vtkDataImage</a:t>
            </a:r>
            <a:endParaRPr lang="en-US" dirty="0"/>
          </a:p>
        </p:txBody>
      </p:sp>
      <p:sp>
        <p:nvSpPr>
          <p:cNvPr id="15" name="TextBox 14">
            <a:extLst>
              <a:ext uri="{FF2B5EF4-FFF2-40B4-BE49-F238E27FC236}">
                <a16:creationId xmlns:a16="http://schemas.microsoft.com/office/drawing/2014/main" id="{EB45C9B7-0758-4349-B466-087173D6AA94}"/>
              </a:ext>
            </a:extLst>
          </p:cNvPr>
          <p:cNvSpPr txBox="1"/>
          <p:nvPr/>
        </p:nvSpPr>
        <p:spPr>
          <a:xfrm>
            <a:off x="3383737" y="3920828"/>
            <a:ext cx="5409808" cy="923330"/>
          </a:xfrm>
          <a:prstGeom prst="rect">
            <a:avLst/>
          </a:prstGeom>
          <a:solidFill>
            <a:schemeClr val="bg1"/>
          </a:solidFill>
        </p:spPr>
        <p:txBody>
          <a:bodyPr wrap="square" rtlCol="0">
            <a:spAutoFit/>
          </a:bodyPr>
          <a:lstStyle/>
          <a:p>
            <a:r>
              <a:rPr lang="en-US" dirty="0"/>
              <a:t>For x in range (0, </a:t>
            </a:r>
            <a:r>
              <a:rPr lang="en-US" dirty="0" err="1"/>
              <a:t>input.GetNumberOfFiducials</a:t>
            </a:r>
            <a:r>
              <a:rPr lang="en-US" dirty="0"/>
              <a:t>()) :                              </a:t>
            </a:r>
          </a:p>
          <a:p>
            <a:pPr lvl="1"/>
            <a:r>
              <a:rPr lang="en-US" dirty="0"/>
              <a:t>pos = [0,0,0]</a:t>
            </a:r>
          </a:p>
          <a:p>
            <a:pPr lvl="1"/>
            <a:r>
              <a:rPr lang="en-US" dirty="0" err="1"/>
              <a:t>inputFiducials.GetNthFiducialPosition</a:t>
            </a:r>
            <a:r>
              <a:rPr lang="en-US" dirty="0"/>
              <a:t>(x, pos)</a:t>
            </a:r>
          </a:p>
        </p:txBody>
      </p:sp>
      <p:sp>
        <p:nvSpPr>
          <p:cNvPr id="16" name="TextBox 15">
            <a:extLst>
              <a:ext uri="{FF2B5EF4-FFF2-40B4-BE49-F238E27FC236}">
                <a16:creationId xmlns:a16="http://schemas.microsoft.com/office/drawing/2014/main" id="{CC7886D8-0EDC-449A-A8D0-0FE0494866C9}"/>
              </a:ext>
            </a:extLst>
          </p:cNvPr>
          <p:cNvSpPr txBox="1"/>
          <p:nvPr/>
        </p:nvSpPr>
        <p:spPr>
          <a:xfrm>
            <a:off x="7997963" y="4791877"/>
            <a:ext cx="1023414" cy="369332"/>
          </a:xfrm>
          <a:prstGeom prst="rect">
            <a:avLst/>
          </a:prstGeom>
          <a:noFill/>
        </p:spPr>
        <p:txBody>
          <a:bodyPr wrap="square" rtlCol="0">
            <a:spAutoFit/>
          </a:bodyPr>
          <a:lstStyle/>
          <a:p>
            <a:pPr algn="ctr"/>
            <a:r>
              <a:rPr lang="en-US" dirty="0">
                <a:solidFill>
                  <a:srgbClr val="00B050"/>
                </a:solidFill>
              </a:rPr>
              <a:t># ignore</a:t>
            </a:r>
          </a:p>
        </p:txBody>
      </p:sp>
      <p:sp>
        <p:nvSpPr>
          <p:cNvPr id="18" name="TextBox 17">
            <a:extLst>
              <a:ext uri="{FF2B5EF4-FFF2-40B4-BE49-F238E27FC236}">
                <a16:creationId xmlns:a16="http://schemas.microsoft.com/office/drawing/2014/main" id="{2347960E-31BE-48FC-8805-389DDA494A76}"/>
              </a:ext>
            </a:extLst>
          </p:cNvPr>
          <p:cNvSpPr txBox="1"/>
          <p:nvPr/>
        </p:nvSpPr>
        <p:spPr>
          <a:xfrm>
            <a:off x="4223094" y="5094302"/>
            <a:ext cx="3774869" cy="276999"/>
          </a:xfrm>
          <a:prstGeom prst="rect">
            <a:avLst/>
          </a:prstGeom>
          <a:solidFill>
            <a:schemeClr val="bg1"/>
          </a:solidFill>
        </p:spPr>
        <p:txBody>
          <a:bodyPr wrap="square" tIns="0" bIns="0" rtlCol="0">
            <a:spAutoFit/>
          </a:bodyPr>
          <a:lstStyle/>
          <a:p>
            <a:r>
              <a:rPr lang="en-US" dirty="0"/>
              <a:t>if (</a:t>
            </a:r>
            <a:r>
              <a:rPr lang="en-US" dirty="0" err="1"/>
              <a:t>pixelValue</a:t>
            </a:r>
            <a:r>
              <a:rPr lang="en-US" dirty="0"/>
              <a:t> == 1)</a:t>
            </a:r>
          </a:p>
        </p:txBody>
      </p:sp>
      <p:sp>
        <p:nvSpPr>
          <p:cNvPr id="19" name="TextBox 18">
            <a:extLst>
              <a:ext uri="{FF2B5EF4-FFF2-40B4-BE49-F238E27FC236}">
                <a16:creationId xmlns:a16="http://schemas.microsoft.com/office/drawing/2014/main" id="{8BB41C36-7EE3-49A3-872E-5ED204D15B5B}"/>
              </a:ext>
            </a:extLst>
          </p:cNvPr>
          <p:cNvSpPr txBox="1"/>
          <p:nvPr/>
        </p:nvSpPr>
        <p:spPr>
          <a:xfrm>
            <a:off x="4223094" y="5381967"/>
            <a:ext cx="3913092" cy="369332"/>
          </a:xfrm>
          <a:prstGeom prst="rect">
            <a:avLst/>
          </a:prstGeom>
          <a:solidFill>
            <a:schemeClr val="bg1"/>
          </a:solidFill>
        </p:spPr>
        <p:txBody>
          <a:bodyPr wrap="square" rtlCol="0">
            <a:spAutoFit/>
          </a:bodyPr>
          <a:lstStyle/>
          <a:p>
            <a:r>
              <a:rPr lang="en-US" dirty="0"/>
              <a:t>     </a:t>
            </a:r>
            <a:r>
              <a:rPr lang="en-US" dirty="0" err="1"/>
              <a:t>output.AddFiducial</a:t>
            </a:r>
            <a:r>
              <a:rPr lang="en-US" dirty="0"/>
              <a:t>(pos)</a:t>
            </a:r>
          </a:p>
        </p:txBody>
      </p:sp>
    </p:spTree>
    <p:extLst>
      <p:ext uri="{BB962C8B-B14F-4D97-AF65-F5344CB8AC3E}">
        <p14:creationId xmlns:p14="http://schemas.microsoft.com/office/powerpoint/2010/main" val="3747187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p:bldP spid="18" grpId="0" animBg="1"/>
      <p:bldP spid="1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01B0893A-4BDE-41E6-8857-262A3BF8DA8F}"/>
              </a:ext>
            </a:extLst>
          </p:cNvPr>
          <p:cNvSpPr/>
          <p:nvPr/>
        </p:nvSpPr>
        <p:spPr>
          <a:xfrm>
            <a:off x="9459693" y="1772775"/>
            <a:ext cx="1121934"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Define Problem</a:t>
            </a:r>
          </a:p>
        </p:txBody>
      </p:sp>
      <p:sp>
        <p:nvSpPr>
          <p:cNvPr id="8" name="Arrow: Circular 7">
            <a:extLst>
              <a:ext uri="{FF2B5EF4-FFF2-40B4-BE49-F238E27FC236}">
                <a16:creationId xmlns:a16="http://schemas.microsoft.com/office/drawing/2014/main" id="{08604D32-D523-4F25-AFC8-2D189AF17EE6}"/>
              </a:ext>
            </a:extLst>
          </p:cNvPr>
          <p:cNvSpPr/>
          <p:nvPr/>
        </p:nvSpPr>
        <p:spPr>
          <a:xfrm>
            <a:off x="6816721" y="1739863"/>
            <a:ext cx="4211211" cy="4211211"/>
          </a:xfrm>
          <a:prstGeom prst="circularArrow">
            <a:avLst>
              <a:gd name="adj1" fmla="val 5195"/>
              <a:gd name="adj2" fmla="val 335545"/>
              <a:gd name="adj3" fmla="val 21294739"/>
              <a:gd name="adj4" fmla="val 19764927"/>
              <a:gd name="adj5" fmla="val 6061"/>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en-US"/>
          </a:p>
        </p:txBody>
      </p:sp>
      <p:sp>
        <p:nvSpPr>
          <p:cNvPr id="9" name="Freeform: Shape 8">
            <a:extLst>
              <a:ext uri="{FF2B5EF4-FFF2-40B4-BE49-F238E27FC236}">
                <a16:creationId xmlns:a16="http://schemas.microsoft.com/office/drawing/2014/main" id="{1EB59233-AD7F-4675-A542-692A6E3D5487}"/>
              </a:ext>
            </a:extLst>
          </p:cNvPr>
          <p:cNvSpPr/>
          <p:nvPr/>
        </p:nvSpPr>
        <p:spPr>
          <a:xfrm>
            <a:off x="10138501" y="3861930"/>
            <a:ext cx="1121934"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Design</a:t>
            </a:r>
          </a:p>
        </p:txBody>
      </p:sp>
      <p:sp>
        <p:nvSpPr>
          <p:cNvPr id="10" name="Arrow: Circular 9">
            <a:extLst>
              <a:ext uri="{FF2B5EF4-FFF2-40B4-BE49-F238E27FC236}">
                <a16:creationId xmlns:a16="http://schemas.microsoft.com/office/drawing/2014/main" id="{B275146D-43B5-4A87-B3BA-ED7911B1E089}"/>
              </a:ext>
            </a:extLst>
          </p:cNvPr>
          <p:cNvSpPr/>
          <p:nvPr/>
        </p:nvSpPr>
        <p:spPr>
          <a:xfrm>
            <a:off x="6816721" y="1739863"/>
            <a:ext cx="4211211" cy="4211211"/>
          </a:xfrm>
          <a:prstGeom prst="circularArrow">
            <a:avLst>
              <a:gd name="adj1" fmla="val 5195"/>
              <a:gd name="adj2" fmla="val 335545"/>
              <a:gd name="adj3" fmla="val 4016250"/>
              <a:gd name="adj4" fmla="val 2252007"/>
              <a:gd name="adj5" fmla="val 6061"/>
            </a:avLst>
          </a:pr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en-US"/>
          </a:p>
        </p:txBody>
      </p:sp>
      <p:sp>
        <p:nvSpPr>
          <p:cNvPr id="11" name="Freeform: Shape 10">
            <a:extLst>
              <a:ext uri="{FF2B5EF4-FFF2-40B4-BE49-F238E27FC236}">
                <a16:creationId xmlns:a16="http://schemas.microsoft.com/office/drawing/2014/main" id="{DCF975C5-96B7-4DF2-91B7-FA0BD2388841}"/>
              </a:ext>
            </a:extLst>
          </p:cNvPr>
          <p:cNvSpPr/>
          <p:nvPr/>
        </p:nvSpPr>
        <p:spPr>
          <a:xfrm>
            <a:off x="8361359" y="5153099"/>
            <a:ext cx="1121934"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Implement</a:t>
            </a:r>
          </a:p>
        </p:txBody>
      </p:sp>
      <p:sp>
        <p:nvSpPr>
          <p:cNvPr id="12" name="Arrow: Circular 11">
            <a:extLst>
              <a:ext uri="{FF2B5EF4-FFF2-40B4-BE49-F238E27FC236}">
                <a16:creationId xmlns:a16="http://schemas.microsoft.com/office/drawing/2014/main" id="{C931BEA8-C1CE-43BE-99C9-0B9075A147C4}"/>
              </a:ext>
            </a:extLst>
          </p:cNvPr>
          <p:cNvSpPr/>
          <p:nvPr/>
        </p:nvSpPr>
        <p:spPr>
          <a:xfrm>
            <a:off x="6816721" y="1739863"/>
            <a:ext cx="4211211" cy="4211211"/>
          </a:xfrm>
          <a:prstGeom prst="circularArrow">
            <a:avLst>
              <a:gd name="adj1" fmla="val 5195"/>
              <a:gd name="adj2" fmla="val 335545"/>
              <a:gd name="adj3" fmla="val 8212447"/>
              <a:gd name="adj4" fmla="val 6448204"/>
              <a:gd name="adj5" fmla="val 6061"/>
            </a:avLst>
          </a:pr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a:lstStyle/>
          <a:p>
            <a:endParaRPr lang="en-US"/>
          </a:p>
        </p:txBody>
      </p:sp>
      <p:sp>
        <p:nvSpPr>
          <p:cNvPr id="13" name="Freeform: Shape 12">
            <a:extLst>
              <a:ext uri="{FF2B5EF4-FFF2-40B4-BE49-F238E27FC236}">
                <a16:creationId xmlns:a16="http://schemas.microsoft.com/office/drawing/2014/main" id="{9BE4E709-E8FE-42BF-9A12-BAC75E3F3204}"/>
              </a:ext>
            </a:extLst>
          </p:cNvPr>
          <p:cNvSpPr/>
          <p:nvPr/>
        </p:nvSpPr>
        <p:spPr>
          <a:xfrm>
            <a:off x="6584218" y="3861930"/>
            <a:ext cx="1121934"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b="1" kern="1200" dirty="0"/>
              <a:t>Test</a:t>
            </a:r>
          </a:p>
        </p:txBody>
      </p:sp>
      <p:sp>
        <p:nvSpPr>
          <p:cNvPr id="14" name="Arrow: Circular 13">
            <a:extLst>
              <a:ext uri="{FF2B5EF4-FFF2-40B4-BE49-F238E27FC236}">
                <a16:creationId xmlns:a16="http://schemas.microsoft.com/office/drawing/2014/main" id="{47013EBC-A85E-48D7-8336-E5CDFC1C699E}"/>
              </a:ext>
            </a:extLst>
          </p:cNvPr>
          <p:cNvSpPr/>
          <p:nvPr/>
        </p:nvSpPr>
        <p:spPr>
          <a:xfrm>
            <a:off x="6816721" y="1739863"/>
            <a:ext cx="4211211" cy="4211211"/>
          </a:xfrm>
          <a:prstGeom prst="circularArrow">
            <a:avLst>
              <a:gd name="adj1" fmla="val 5195"/>
              <a:gd name="adj2" fmla="val 335545"/>
              <a:gd name="adj3" fmla="val 12299528"/>
              <a:gd name="adj4" fmla="val 10769715"/>
              <a:gd name="adj5" fmla="val 6061"/>
            </a:avLst>
          </a:pr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a:lstStyle/>
          <a:p>
            <a:endParaRPr lang="en-US"/>
          </a:p>
        </p:txBody>
      </p:sp>
      <p:sp>
        <p:nvSpPr>
          <p:cNvPr id="15" name="Freeform: Shape 14">
            <a:extLst>
              <a:ext uri="{FF2B5EF4-FFF2-40B4-BE49-F238E27FC236}">
                <a16:creationId xmlns:a16="http://schemas.microsoft.com/office/drawing/2014/main" id="{96326257-6A8B-4AB8-8439-45A9D8B1EABF}"/>
              </a:ext>
            </a:extLst>
          </p:cNvPr>
          <p:cNvSpPr/>
          <p:nvPr/>
        </p:nvSpPr>
        <p:spPr>
          <a:xfrm>
            <a:off x="7263026" y="1772775"/>
            <a:ext cx="1121934"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Analyze</a:t>
            </a:r>
          </a:p>
        </p:txBody>
      </p:sp>
      <p:sp>
        <p:nvSpPr>
          <p:cNvPr id="16" name="Arrow: Circular 15">
            <a:extLst>
              <a:ext uri="{FF2B5EF4-FFF2-40B4-BE49-F238E27FC236}">
                <a16:creationId xmlns:a16="http://schemas.microsoft.com/office/drawing/2014/main" id="{50551519-CF1E-4B63-9553-87B5FFC66262}"/>
              </a:ext>
            </a:extLst>
          </p:cNvPr>
          <p:cNvSpPr/>
          <p:nvPr/>
        </p:nvSpPr>
        <p:spPr>
          <a:xfrm>
            <a:off x="6816721" y="1739863"/>
            <a:ext cx="4211211" cy="4211211"/>
          </a:xfrm>
          <a:prstGeom prst="circularArrow">
            <a:avLst>
              <a:gd name="adj1" fmla="val 5195"/>
              <a:gd name="adj2" fmla="val 335545"/>
              <a:gd name="adj3" fmla="val 16867234"/>
              <a:gd name="adj4" fmla="val 15197221"/>
              <a:gd name="adj5" fmla="val 6061"/>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US"/>
          </a:p>
        </p:txBody>
      </p:sp>
      <p:sp>
        <p:nvSpPr>
          <p:cNvPr id="3" name="Title 2">
            <a:extLst>
              <a:ext uri="{FF2B5EF4-FFF2-40B4-BE49-F238E27FC236}">
                <a16:creationId xmlns:a16="http://schemas.microsoft.com/office/drawing/2014/main" id="{7E10ADDA-0E25-4979-8B77-C5E21DA7DDCB}"/>
              </a:ext>
            </a:extLst>
          </p:cNvPr>
          <p:cNvSpPr>
            <a:spLocks noGrp="1"/>
          </p:cNvSpPr>
          <p:nvPr>
            <p:ph type="title"/>
          </p:nvPr>
        </p:nvSpPr>
        <p:spPr/>
        <p:txBody>
          <a:bodyPr/>
          <a:lstStyle/>
          <a:p>
            <a:r>
              <a:rPr lang="en-US" dirty="0"/>
              <a:t>Code Design Cycle</a:t>
            </a:r>
          </a:p>
        </p:txBody>
      </p:sp>
      <p:sp>
        <p:nvSpPr>
          <p:cNvPr id="5" name="Content Placeholder 4">
            <a:extLst>
              <a:ext uri="{FF2B5EF4-FFF2-40B4-BE49-F238E27FC236}">
                <a16:creationId xmlns:a16="http://schemas.microsoft.com/office/drawing/2014/main" id="{142253C1-B65B-42B2-AFA4-DAFC9177DC5C}"/>
              </a:ext>
            </a:extLst>
          </p:cNvPr>
          <p:cNvSpPr txBox="1">
            <a:spLocks/>
          </p:cNvSpPr>
          <p:nvPr/>
        </p:nvSpPr>
        <p:spPr>
          <a:xfrm>
            <a:off x="609601" y="1628799"/>
            <a:ext cx="6082748" cy="4536505"/>
          </a:xfrm>
          <a:prstGeom prst="rect">
            <a:avLst/>
          </a:prstGeom>
        </p:spPr>
        <p:txBody>
          <a:bodyPr vert="horz" lIns="0" tIns="0" rIns="0" bIns="0" rtlCol="0">
            <a:normAutofit/>
          </a:bodyPr>
          <a:lstStyle>
            <a:lvl1pPr marL="269875" indent="-269875" algn="l" defTabSz="457200" rtl="0" eaLnBrk="1" latinLnBrk="0" hangingPunct="1">
              <a:lnSpc>
                <a:spcPct val="120000"/>
              </a:lnSpc>
              <a:spcBef>
                <a:spcPts val="0"/>
              </a:spcBef>
              <a:buClr>
                <a:srgbClr val="0A2D50"/>
              </a:buClr>
              <a:buFont typeface="Arial"/>
              <a:buChar char="•"/>
              <a:defRPr sz="2400" kern="1200">
                <a:solidFill>
                  <a:schemeClr val="tx1"/>
                </a:solidFill>
                <a:latin typeface="Georgia"/>
                <a:ea typeface="+mn-ea"/>
                <a:cs typeface="Georgia"/>
              </a:defRPr>
            </a:lvl1pPr>
            <a:lvl2pPr marL="539750"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2pPr>
            <a:lvl3pPr marL="809625"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3pPr>
            <a:lvl4pPr marL="1079500"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4pPr>
            <a:lvl5pPr marL="1341438" indent="-261938"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fontAlgn="auto">
              <a:spcAft>
                <a:spcPts val="0"/>
              </a:spcAft>
            </a:pPr>
            <a:r>
              <a:rPr lang="en-US" dirty="0"/>
              <a:t>Test</a:t>
            </a:r>
          </a:p>
          <a:p>
            <a:pPr lvl="1" fontAlgn="auto">
              <a:spcAft>
                <a:spcPts val="0"/>
              </a:spcAft>
            </a:pPr>
            <a:r>
              <a:rPr lang="en-US" dirty="0"/>
              <a:t>Check does our code work as expected?</a:t>
            </a:r>
          </a:p>
          <a:p>
            <a:pPr lvl="1" fontAlgn="auto">
              <a:spcAft>
                <a:spcPts val="0"/>
              </a:spcAft>
            </a:pPr>
            <a:r>
              <a:rPr lang="en-US" dirty="0"/>
              <a:t>Early warning your code is not correct</a:t>
            </a:r>
          </a:p>
          <a:p>
            <a:pPr marL="0" indent="0" fontAlgn="auto">
              <a:spcAft>
                <a:spcPts val="0"/>
              </a:spcAft>
              <a:buNone/>
            </a:pPr>
            <a:endParaRPr lang="en-US" dirty="0"/>
          </a:p>
          <a:p>
            <a:pPr fontAlgn="auto">
              <a:spcAft>
                <a:spcPts val="0"/>
              </a:spcAft>
            </a:pPr>
            <a:r>
              <a:rPr lang="en-US" dirty="0"/>
              <a:t>Your test should inform how to fix your implementation </a:t>
            </a:r>
          </a:p>
          <a:p>
            <a:pPr lvl="1" fontAlgn="auto">
              <a:spcAft>
                <a:spcPts val="0"/>
              </a:spcAft>
            </a:pPr>
            <a:endParaRPr lang="en-US" dirty="0"/>
          </a:p>
          <a:p>
            <a:pPr lvl="1" fontAlgn="auto">
              <a:spcAft>
                <a:spcPts val="0"/>
              </a:spcAft>
            </a:pPr>
            <a:endParaRPr lang="en-US" dirty="0"/>
          </a:p>
          <a:p>
            <a:pPr fontAlgn="auto">
              <a:spcAft>
                <a:spcPts val="0"/>
              </a:spcAft>
            </a:pPr>
            <a:endParaRPr lang="en-US" dirty="0"/>
          </a:p>
          <a:p>
            <a:pPr lvl="1" fontAlgn="auto">
              <a:spcAft>
                <a:spcPts val="0"/>
              </a:spcAft>
            </a:pPr>
            <a:endParaRPr lang="en-US" dirty="0"/>
          </a:p>
          <a:p>
            <a:pPr lvl="1" fontAlgn="auto">
              <a:spcAft>
                <a:spcPts val="0"/>
              </a:spcAft>
            </a:pPr>
            <a:endParaRPr lang="en-US" dirty="0"/>
          </a:p>
        </p:txBody>
      </p:sp>
      <p:sp>
        <p:nvSpPr>
          <p:cNvPr id="17" name="Arrow: Circular 16">
            <a:extLst>
              <a:ext uri="{FF2B5EF4-FFF2-40B4-BE49-F238E27FC236}">
                <a16:creationId xmlns:a16="http://schemas.microsoft.com/office/drawing/2014/main" id="{CBADFA40-D897-49E2-A1C6-C0F9A09204AF}"/>
              </a:ext>
            </a:extLst>
          </p:cNvPr>
          <p:cNvSpPr/>
          <p:nvPr/>
        </p:nvSpPr>
        <p:spPr>
          <a:xfrm rot="7535254">
            <a:off x="5039554" y="4007448"/>
            <a:ext cx="4211211" cy="4211211"/>
          </a:xfrm>
          <a:prstGeom prst="circularArrow">
            <a:avLst>
              <a:gd name="adj1" fmla="val 5195"/>
              <a:gd name="adj2" fmla="val 335545"/>
              <a:gd name="adj3" fmla="val 12299528"/>
              <a:gd name="adj4" fmla="val 9646926"/>
              <a:gd name="adj5" fmla="val 6061"/>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9787350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DDB10EDD-CED2-41C0-8DD3-41E65CA05DE6}"/>
              </a:ext>
            </a:extLst>
          </p:cNvPr>
          <p:cNvSpPr txBox="1"/>
          <p:nvPr/>
        </p:nvSpPr>
        <p:spPr>
          <a:xfrm>
            <a:off x="1030100" y="4245308"/>
            <a:ext cx="2003115" cy="369332"/>
          </a:xfrm>
          <a:prstGeom prst="rect">
            <a:avLst/>
          </a:prstGeom>
          <a:solidFill>
            <a:schemeClr val="bg1"/>
          </a:solidFill>
        </p:spPr>
        <p:txBody>
          <a:bodyPr wrap="square" rtlCol="0">
            <a:spAutoFit/>
          </a:bodyPr>
          <a:lstStyle/>
          <a:p>
            <a:r>
              <a:rPr lang="en-US" dirty="0"/>
              <a:t>Structure (Image)</a:t>
            </a:r>
          </a:p>
        </p:txBody>
      </p:sp>
      <p:sp>
        <p:nvSpPr>
          <p:cNvPr id="3" name="Title 2">
            <a:extLst>
              <a:ext uri="{FF2B5EF4-FFF2-40B4-BE49-F238E27FC236}">
                <a16:creationId xmlns:a16="http://schemas.microsoft.com/office/drawing/2014/main" id="{7E10ADDA-0E25-4979-8B77-C5E21DA7DDCB}"/>
              </a:ext>
            </a:extLst>
          </p:cNvPr>
          <p:cNvSpPr>
            <a:spLocks noGrp="1"/>
          </p:cNvSpPr>
          <p:nvPr>
            <p:ph type="title"/>
          </p:nvPr>
        </p:nvSpPr>
        <p:spPr/>
        <p:txBody>
          <a:bodyPr/>
          <a:lstStyle/>
          <a:p>
            <a:r>
              <a:rPr lang="en-US" dirty="0"/>
              <a:t>Code Design Cycle</a:t>
            </a:r>
          </a:p>
        </p:txBody>
      </p:sp>
      <p:sp>
        <p:nvSpPr>
          <p:cNvPr id="5" name="Content Placeholder 4">
            <a:extLst>
              <a:ext uri="{FF2B5EF4-FFF2-40B4-BE49-F238E27FC236}">
                <a16:creationId xmlns:a16="http://schemas.microsoft.com/office/drawing/2014/main" id="{142253C1-B65B-42B2-AFA4-DAFC9177DC5C}"/>
              </a:ext>
            </a:extLst>
          </p:cNvPr>
          <p:cNvSpPr txBox="1">
            <a:spLocks/>
          </p:cNvSpPr>
          <p:nvPr/>
        </p:nvSpPr>
        <p:spPr>
          <a:xfrm>
            <a:off x="609600" y="1628799"/>
            <a:ext cx="10349753" cy="4536505"/>
          </a:xfrm>
          <a:prstGeom prst="rect">
            <a:avLst/>
          </a:prstGeom>
        </p:spPr>
        <p:txBody>
          <a:bodyPr vert="horz" lIns="0" tIns="0" rIns="0" bIns="0" rtlCol="0">
            <a:normAutofit/>
          </a:bodyPr>
          <a:lstStyle>
            <a:lvl1pPr marL="269875" indent="-269875" algn="l" defTabSz="457200" rtl="0" eaLnBrk="1" latinLnBrk="0" hangingPunct="1">
              <a:lnSpc>
                <a:spcPct val="120000"/>
              </a:lnSpc>
              <a:spcBef>
                <a:spcPts val="0"/>
              </a:spcBef>
              <a:buClr>
                <a:srgbClr val="0A2D50"/>
              </a:buClr>
              <a:buFont typeface="Arial"/>
              <a:buChar char="•"/>
              <a:defRPr sz="2400" kern="1200">
                <a:solidFill>
                  <a:schemeClr val="tx1"/>
                </a:solidFill>
                <a:latin typeface="Georgia"/>
                <a:ea typeface="+mn-ea"/>
                <a:cs typeface="Georgia"/>
              </a:defRPr>
            </a:lvl1pPr>
            <a:lvl2pPr marL="539750"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2pPr>
            <a:lvl3pPr marL="809625"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3pPr>
            <a:lvl4pPr marL="1079500"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4pPr>
            <a:lvl5pPr marL="1341438" indent="-261938"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fontAlgn="auto">
              <a:spcAft>
                <a:spcPts val="0"/>
              </a:spcAft>
            </a:pPr>
            <a:r>
              <a:rPr lang="en-US" dirty="0"/>
              <a:t>Test</a:t>
            </a:r>
          </a:p>
          <a:p>
            <a:pPr lvl="1" fontAlgn="auto">
              <a:spcAft>
                <a:spcPts val="0"/>
              </a:spcAft>
            </a:pPr>
            <a:r>
              <a:rPr lang="en-US" dirty="0"/>
              <a:t>Don’t need to finish to start testing</a:t>
            </a:r>
          </a:p>
          <a:p>
            <a:pPr lvl="1" fontAlgn="auto">
              <a:spcAft>
                <a:spcPts val="0"/>
              </a:spcAft>
            </a:pPr>
            <a:r>
              <a:rPr lang="en-US" dirty="0"/>
              <a:t>If we run incomplete it will complain </a:t>
            </a:r>
            <a:r>
              <a:rPr lang="en-US" dirty="0" err="1"/>
              <a:t>pixelValue</a:t>
            </a:r>
            <a:r>
              <a:rPr lang="en-US" dirty="0"/>
              <a:t> is not defined – so lets define it </a:t>
            </a:r>
          </a:p>
          <a:p>
            <a:pPr lvl="1" fontAlgn="auto">
              <a:spcAft>
                <a:spcPts val="0"/>
              </a:spcAft>
            </a:pPr>
            <a:endParaRPr lang="en-US" dirty="0"/>
          </a:p>
          <a:p>
            <a:pPr lvl="1" fontAlgn="auto">
              <a:spcAft>
                <a:spcPts val="0"/>
              </a:spcAft>
            </a:pPr>
            <a:endParaRPr lang="en-US" dirty="0"/>
          </a:p>
        </p:txBody>
      </p:sp>
      <p:sp>
        <p:nvSpPr>
          <p:cNvPr id="2" name="Rectangle: Rounded Corners 1">
            <a:extLst>
              <a:ext uri="{FF2B5EF4-FFF2-40B4-BE49-F238E27FC236}">
                <a16:creationId xmlns:a16="http://schemas.microsoft.com/office/drawing/2014/main" id="{42754339-E6F7-45DF-AF29-52A07C7D7097}"/>
              </a:ext>
            </a:extLst>
          </p:cNvPr>
          <p:cNvSpPr/>
          <p:nvPr/>
        </p:nvSpPr>
        <p:spPr>
          <a:xfrm>
            <a:off x="3180021" y="3437857"/>
            <a:ext cx="5759244" cy="2731589"/>
          </a:xfrm>
          <a:prstGeom prst="roundRect">
            <a:avLst/>
          </a:prstGeom>
          <a:ln/>
        </p:spPr>
        <p:style>
          <a:lnRef idx="2">
            <a:schemeClr val="dk1"/>
          </a:lnRef>
          <a:fillRef idx="1">
            <a:schemeClr val="lt1"/>
          </a:fillRef>
          <a:effectRef idx="0">
            <a:schemeClr val="dk1"/>
          </a:effectRef>
          <a:fontRef idx="minor">
            <a:schemeClr val="dk1"/>
          </a:fontRef>
        </p:style>
        <p:txBody>
          <a:bodyPr rtlCol="0" anchor="t"/>
          <a:lstStyle/>
          <a:p>
            <a:pPr algn="ctr"/>
            <a:r>
              <a:rPr lang="en-US" dirty="0"/>
              <a:t>MY PROGRAM</a:t>
            </a:r>
          </a:p>
        </p:txBody>
      </p:sp>
      <p:cxnSp>
        <p:nvCxnSpPr>
          <p:cNvPr id="6" name="Straight Arrow Connector 5">
            <a:extLst>
              <a:ext uri="{FF2B5EF4-FFF2-40B4-BE49-F238E27FC236}">
                <a16:creationId xmlns:a16="http://schemas.microsoft.com/office/drawing/2014/main" id="{7BB5DB76-CE97-43CD-BF9A-BFDA738BFFA2}"/>
              </a:ext>
            </a:extLst>
          </p:cNvPr>
          <p:cNvCxnSpPr/>
          <p:nvPr/>
        </p:nvCxnSpPr>
        <p:spPr>
          <a:xfrm>
            <a:off x="1743514" y="4155284"/>
            <a:ext cx="126829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358B00B1-DBFC-4A3F-9162-3C9BB96C9382}"/>
              </a:ext>
            </a:extLst>
          </p:cNvPr>
          <p:cNvSpPr txBox="1"/>
          <p:nvPr/>
        </p:nvSpPr>
        <p:spPr>
          <a:xfrm>
            <a:off x="1370664" y="3774430"/>
            <a:ext cx="1484081" cy="369332"/>
          </a:xfrm>
          <a:prstGeom prst="rect">
            <a:avLst/>
          </a:prstGeom>
          <a:noFill/>
        </p:spPr>
        <p:txBody>
          <a:bodyPr wrap="square" rtlCol="0">
            <a:spAutoFit/>
          </a:bodyPr>
          <a:lstStyle/>
          <a:p>
            <a:r>
              <a:rPr lang="en-US" dirty="0"/>
              <a:t>List of points</a:t>
            </a:r>
          </a:p>
        </p:txBody>
      </p:sp>
      <p:cxnSp>
        <p:nvCxnSpPr>
          <p:cNvPr id="20" name="Straight Arrow Connector 19">
            <a:extLst>
              <a:ext uri="{FF2B5EF4-FFF2-40B4-BE49-F238E27FC236}">
                <a16:creationId xmlns:a16="http://schemas.microsoft.com/office/drawing/2014/main" id="{E4A36FF8-323B-4378-BEEC-E41EC6E8E409}"/>
              </a:ext>
            </a:extLst>
          </p:cNvPr>
          <p:cNvCxnSpPr/>
          <p:nvPr/>
        </p:nvCxnSpPr>
        <p:spPr>
          <a:xfrm>
            <a:off x="1743514" y="4700815"/>
            <a:ext cx="126829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1CF01DD4-E871-4311-A84E-112FA70F8AC4}"/>
              </a:ext>
            </a:extLst>
          </p:cNvPr>
          <p:cNvCxnSpPr/>
          <p:nvPr/>
        </p:nvCxnSpPr>
        <p:spPr>
          <a:xfrm>
            <a:off x="9127196" y="4409755"/>
            <a:ext cx="126829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5F5493AD-521C-40D7-A965-52F3624BE35D}"/>
              </a:ext>
            </a:extLst>
          </p:cNvPr>
          <p:cNvSpPr txBox="1"/>
          <p:nvPr/>
        </p:nvSpPr>
        <p:spPr>
          <a:xfrm>
            <a:off x="9337255" y="3959096"/>
            <a:ext cx="1484081" cy="369332"/>
          </a:xfrm>
          <a:prstGeom prst="rect">
            <a:avLst/>
          </a:prstGeom>
          <a:noFill/>
        </p:spPr>
        <p:txBody>
          <a:bodyPr wrap="square" rtlCol="0">
            <a:spAutoFit/>
          </a:bodyPr>
          <a:lstStyle/>
          <a:p>
            <a:r>
              <a:rPr lang="en-US" dirty="0"/>
              <a:t>List of points</a:t>
            </a:r>
          </a:p>
        </p:txBody>
      </p:sp>
      <p:sp>
        <p:nvSpPr>
          <p:cNvPr id="24" name="TextBox 23">
            <a:extLst>
              <a:ext uri="{FF2B5EF4-FFF2-40B4-BE49-F238E27FC236}">
                <a16:creationId xmlns:a16="http://schemas.microsoft.com/office/drawing/2014/main" id="{27926F51-50A0-4194-8B56-458F55990079}"/>
              </a:ext>
            </a:extLst>
          </p:cNvPr>
          <p:cNvSpPr txBox="1"/>
          <p:nvPr/>
        </p:nvSpPr>
        <p:spPr>
          <a:xfrm>
            <a:off x="3252735" y="3942745"/>
            <a:ext cx="5357682" cy="2031325"/>
          </a:xfrm>
          <a:prstGeom prst="rect">
            <a:avLst/>
          </a:prstGeom>
          <a:noFill/>
        </p:spPr>
        <p:txBody>
          <a:bodyPr wrap="square" rtlCol="0">
            <a:spAutoFit/>
          </a:bodyPr>
          <a:lstStyle/>
          <a:p>
            <a:r>
              <a:rPr lang="en-US" dirty="0"/>
              <a:t>Iterate over points</a:t>
            </a:r>
          </a:p>
          <a:p>
            <a:pPr lvl="1"/>
            <a:endParaRPr lang="en-US" dirty="0"/>
          </a:p>
          <a:p>
            <a:pPr lvl="1"/>
            <a:endParaRPr lang="en-US" dirty="0"/>
          </a:p>
          <a:p>
            <a:pPr lvl="1"/>
            <a:r>
              <a:rPr lang="en-US" dirty="0">
                <a:solidFill>
                  <a:srgbClr val="FF0000"/>
                </a:solidFill>
              </a:rPr>
              <a:t>For each point find corresponding point in image</a:t>
            </a:r>
          </a:p>
          <a:p>
            <a:pPr lvl="1"/>
            <a:r>
              <a:rPr lang="en-US" dirty="0"/>
              <a:t>	Check if image value at point is correct</a:t>
            </a:r>
          </a:p>
          <a:p>
            <a:pPr lvl="1"/>
            <a:r>
              <a:rPr lang="en-US" dirty="0"/>
              <a:t>		place point into new list	</a:t>
            </a:r>
          </a:p>
        </p:txBody>
      </p:sp>
      <p:sp>
        <p:nvSpPr>
          <p:cNvPr id="12" name="TextBox 11">
            <a:extLst>
              <a:ext uri="{FF2B5EF4-FFF2-40B4-BE49-F238E27FC236}">
                <a16:creationId xmlns:a16="http://schemas.microsoft.com/office/drawing/2014/main" id="{46BDD4D6-E999-41D8-B6DA-B13A1D720E0B}"/>
              </a:ext>
            </a:extLst>
          </p:cNvPr>
          <p:cNvSpPr txBox="1"/>
          <p:nvPr/>
        </p:nvSpPr>
        <p:spPr>
          <a:xfrm>
            <a:off x="800914" y="3447122"/>
            <a:ext cx="2099254" cy="646331"/>
          </a:xfrm>
          <a:prstGeom prst="rect">
            <a:avLst/>
          </a:prstGeom>
          <a:solidFill>
            <a:schemeClr val="bg1"/>
          </a:solidFill>
        </p:spPr>
        <p:txBody>
          <a:bodyPr wrap="square" rtlCol="0">
            <a:spAutoFit/>
          </a:bodyPr>
          <a:lstStyle/>
          <a:p>
            <a:pPr algn="ctr"/>
            <a:r>
              <a:rPr lang="en-US" dirty="0" err="1"/>
              <a:t>vtkMRMLMarkupsFiducialNode</a:t>
            </a:r>
            <a:endParaRPr lang="en-US" dirty="0"/>
          </a:p>
        </p:txBody>
      </p:sp>
      <p:sp>
        <p:nvSpPr>
          <p:cNvPr id="13" name="TextBox 12">
            <a:extLst>
              <a:ext uri="{FF2B5EF4-FFF2-40B4-BE49-F238E27FC236}">
                <a16:creationId xmlns:a16="http://schemas.microsoft.com/office/drawing/2014/main" id="{1468A674-426B-4B8F-95C5-36A2A52702A0}"/>
              </a:ext>
            </a:extLst>
          </p:cNvPr>
          <p:cNvSpPr txBox="1"/>
          <p:nvPr/>
        </p:nvSpPr>
        <p:spPr>
          <a:xfrm>
            <a:off x="9029668" y="3669563"/>
            <a:ext cx="2099254" cy="646331"/>
          </a:xfrm>
          <a:prstGeom prst="rect">
            <a:avLst/>
          </a:prstGeom>
          <a:solidFill>
            <a:schemeClr val="bg1"/>
          </a:solidFill>
        </p:spPr>
        <p:txBody>
          <a:bodyPr wrap="square" rtlCol="0">
            <a:spAutoFit/>
          </a:bodyPr>
          <a:lstStyle/>
          <a:p>
            <a:pPr algn="ctr"/>
            <a:r>
              <a:rPr lang="en-US" dirty="0" err="1"/>
              <a:t>vtkMRMLMarkupsFiducialNode</a:t>
            </a:r>
            <a:endParaRPr lang="en-US" dirty="0"/>
          </a:p>
        </p:txBody>
      </p:sp>
      <p:sp>
        <p:nvSpPr>
          <p:cNvPr id="14" name="TextBox 13">
            <a:extLst>
              <a:ext uri="{FF2B5EF4-FFF2-40B4-BE49-F238E27FC236}">
                <a16:creationId xmlns:a16="http://schemas.microsoft.com/office/drawing/2014/main" id="{52956AA1-0A8D-4DD5-ADB8-658F81141896}"/>
              </a:ext>
            </a:extLst>
          </p:cNvPr>
          <p:cNvSpPr txBox="1"/>
          <p:nvPr/>
        </p:nvSpPr>
        <p:spPr>
          <a:xfrm>
            <a:off x="805657" y="4256831"/>
            <a:ext cx="2099254" cy="369332"/>
          </a:xfrm>
          <a:prstGeom prst="rect">
            <a:avLst/>
          </a:prstGeom>
          <a:solidFill>
            <a:schemeClr val="bg1"/>
          </a:solidFill>
        </p:spPr>
        <p:txBody>
          <a:bodyPr wrap="square" rtlCol="0">
            <a:spAutoFit/>
          </a:bodyPr>
          <a:lstStyle/>
          <a:p>
            <a:pPr algn="ctr"/>
            <a:r>
              <a:rPr lang="en-US" dirty="0" err="1"/>
              <a:t>vtkImageData</a:t>
            </a:r>
            <a:endParaRPr lang="en-US" dirty="0"/>
          </a:p>
        </p:txBody>
      </p:sp>
      <p:sp>
        <p:nvSpPr>
          <p:cNvPr id="15" name="TextBox 14">
            <a:extLst>
              <a:ext uri="{FF2B5EF4-FFF2-40B4-BE49-F238E27FC236}">
                <a16:creationId xmlns:a16="http://schemas.microsoft.com/office/drawing/2014/main" id="{EB45C9B7-0758-4349-B466-087173D6AA94}"/>
              </a:ext>
            </a:extLst>
          </p:cNvPr>
          <p:cNvSpPr txBox="1"/>
          <p:nvPr/>
        </p:nvSpPr>
        <p:spPr>
          <a:xfrm>
            <a:off x="3257658" y="3948090"/>
            <a:ext cx="5409808" cy="923330"/>
          </a:xfrm>
          <a:prstGeom prst="rect">
            <a:avLst/>
          </a:prstGeom>
          <a:solidFill>
            <a:schemeClr val="bg1"/>
          </a:solidFill>
        </p:spPr>
        <p:txBody>
          <a:bodyPr wrap="square" rtlCol="0">
            <a:spAutoFit/>
          </a:bodyPr>
          <a:lstStyle/>
          <a:p>
            <a:r>
              <a:rPr lang="en-US" dirty="0"/>
              <a:t>For x in range (0, </a:t>
            </a:r>
            <a:r>
              <a:rPr lang="en-US" dirty="0" err="1"/>
              <a:t>input.GetNumberOfFiducials</a:t>
            </a:r>
            <a:r>
              <a:rPr lang="en-US" dirty="0"/>
              <a:t>()) :                              </a:t>
            </a:r>
          </a:p>
          <a:p>
            <a:pPr lvl="1"/>
            <a:r>
              <a:rPr lang="en-US" dirty="0"/>
              <a:t>pos = [0,0,0]</a:t>
            </a:r>
          </a:p>
          <a:p>
            <a:pPr lvl="1"/>
            <a:r>
              <a:rPr lang="en-US" dirty="0" err="1"/>
              <a:t>inputFiducials.GetNthFiducialPosition</a:t>
            </a:r>
            <a:r>
              <a:rPr lang="en-US" dirty="0"/>
              <a:t>(x, pos)</a:t>
            </a:r>
          </a:p>
        </p:txBody>
      </p:sp>
      <p:sp>
        <p:nvSpPr>
          <p:cNvPr id="25" name="TextBox 24">
            <a:extLst>
              <a:ext uri="{FF2B5EF4-FFF2-40B4-BE49-F238E27FC236}">
                <a16:creationId xmlns:a16="http://schemas.microsoft.com/office/drawing/2014/main" id="{76F04151-B09D-4C01-B6F5-0F6E96A2E3C8}"/>
              </a:ext>
            </a:extLst>
          </p:cNvPr>
          <p:cNvSpPr txBox="1"/>
          <p:nvPr/>
        </p:nvSpPr>
        <p:spPr>
          <a:xfrm>
            <a:off x="3737308" y="4810644"/>
            <a:ext cx="4450507" cy="646331"/>
          </a:xfrm>
          <a:prstGeom prst="rect">
            <a:avLst/>
          </a:prstGeom>
          <a:solidFill>
            <a:schemeClr val="bg1"/>
          </a:solidFill>
        </p:spPr>
        <p:txBody>
          <a:bodyPr wrap="square" rtlCol="0">
            <a:spAutoFit/>
          </a:bodyPr>
          <a:lstStyle/>
          <a:p>
            <a:r>
              <a:rPr lang="en-US" dirty="0" err="1">
                <a:solidFill>
                  <a:srgbClr val="FF0000"/>
                </a:solidFill>
              </a:rPr>
              <a:t>pixelValue</a:t>
            </a:r>
            <a:r>
              <a:rPr lang="en-US" dirty="0">
                <a:solidFill>
                  <a:srgbClr val="FF0000"/>
                </a:solidFill>
              </a:rPr>
              <a:t> = 1</a:t>
            </a:r>
          </a:p>
          <a:p>
            <a:pPr algn="ctr"/>
            <a:endParaRPr lang="en-US" dirty="0">
              <a:solidFill>
                <a:srgbClr val="FF0000"/>
              </a:solidFill>
            </a:endParaRPr>
          </a:p>
        </p:txBody>
      </p:sp>
      <p:sp>
        <p:nvSpPr>
          <p:cNvPr id="26" name="TextBox 25">
            <a:extLst>
              <a:ext uri="{FF2B5EF4-FFF2-40B4-BE49-F238E27FC236}">
                <a16:creationId xmlns:a16="http://schemas.microsoft.com/office/drawing/2014/main" id="{4EFC688B-BA30-475C-B11A-4097BC4A3D84}"/>
              </a:ext>
            </a:extLst>
          </p:cNvPr>
          <p:cNvSpPr txBox="1"/>
          <p:nvPr/>
        </p:nvSpPr>
        <p:spPr>
          <a:xfrm>
            <a:off x="3792072" y="5429592"/>
            <a:ext cx="4518210" cy="369332"/>
          </a:xfrm>
          <a:prstGeom prst="rect">
            <a:avLst/>
          </a:prstGeom>
          <a:solidFill>
            <a:schemeClr val="bg1"/>
          </a:solidFill>
        </p:spPr>
        <p:txBody>
          <a:bodyPr wrap="square" rtlCol="0">
            <a:spAutoFit/>
          </a:bodyPr>
          <a:lstStyle/>
          <a:p>
            <a:r>
              <a:rPr lang="en-US" dirty="0"/>
              <a:t>if (</a:t>
            </a:r>
            <a:r>
              <a:rPr lang="en-US" dirty="0" err="1"/>
              <a:t>pixelValue</a:t>
            </a:r>
            <a:r>
              <a:rPr lang="en-US" dirty="0"/>
              <a:t> == 1)</a:t>
            </a:r>
          </a:p>
        </p:txBody>
      </p:sp>
      <p:sp>
        <p:nvSpPr>
          <p:cNvPr id="27" name="TextBox 26">
            <a:extLst>
              <a:ext uri="{FF2B5EF4-FFF2-40B4-BE49-F238E27FC236}">
                <a16:creationId xmlns:a16="http://schemas.microsoft.com/office/drawing/2014/main" id="{9729E4D4-1565-48AE-BC5C-CA6386EBB7DF}"/>
              </a:ext>
            </a:extLst>
          </p:cNvPr>
          <p:cNvSpPr txBox="1"/>
          <p:nvPr/>
        </p:nvSpPr>
        <p:spPr>
          <a:xfrm>
            <a:off x="3792073" y="5759930"/>
            <a:ext cx="3913092" cy="369332"/>
          </a:xfrm>
          <a:prstGeom prst="rect">
            <a:avLst/>
          </a:prstGeom>
          <a:solidFill>
            <a:schemeClr val="bg1"/>
          </a:solidFill>
        </p:spPr>
        <p:txBody>
          <a:bodyPr wrap="square" rtlCol="0">
            <a:spAutoFit/>
          </a:bodyPr>
          <a:lstStyle/>
          <a:p>
            <a:r>
              <a:rPr lang="en-US" dirty="0"/>
              <a:t>     </a:t>
            </a:r>
            <a:r>
              <a:rPr lang="en-US" dirty="0" err="1"/>
              <a:t>output.AddFiducial</a:t>
            </a:r>
            <a:r>
              <a:rPr lang="en-US" dirty="0"/>
              <a:t>(pos)</a:t>
            </a:r>
          </a:p>
        </p:txBody>
      </p:sp>
      <p:sp>
        <p:nvSpPr>
          <p:cNvPr id="29" name="TextBox 28">
            <a:extLst>
              <a:ext uri="{FF2B5EF4-FFF2-40B4-BE49-F238E27FC236}">
                <a16:creationId xmlns:a16="http://schemas.microsoft.com/office/drawing/2014/main" id="{806D94FA-3C6C-4C36-8814-99D776B6659C}"/>
              </a:ext>
            </a:extLst>
          </p:cNvPr>
          <p:cNvSpPr txBox="1"/>
          <p:nvPr/>
        </p:nvSpPr>
        <p:spPr>
          <a:xfrm>
            <a:off x="7997963" y="4791877"/>
            <a:ext cx="1023414" cy="369332"/>
          </a:xfrm>
          <a:prstGeom prst="rect">
            <a:avLst/>
          </a:prstGeom>
          <a:noFill/>
        </p:spPr>
        <p:txBody>
          <a:bodyPr wrap="square" rtlCol="0">
            <a:spAutoFit/>
          </a:bodyPr>
          <a:lstStyle/>
          <a:p>
            <a:pPr algn="ctr"/>
            <a:r>
              <a:rPr lang="en-US" dirty="0">
                <a:solidFill>
                  <a:srgbClr val="00B050"/>
                </a:solidFill>
              </a:rPr>
              <a:t># ignore</a:t>
            </a:r>
          </a:p>
        </p:txBody>
      </p:sp>
    </p:spTree>
    <p:extLst>
      <p:ext uri="{BB962C8B-B14F-4D97-AF65-F5344CB8AC3E}">
        <p14:creationId xmlns:p14="http://schemas.microsoft.com/office/powerpoint/2010/main" val="246413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DDB10EDD-CED2-41C0-8DD3-41E65CA05DE6}"/>
              </a:ext>
            </a:extLst>
          </p:cNvPr>
          <p:cNvSpPr txBox="1"/>
          <p:nvPr/>
        </p:nvSpPr>
        <p:spPr>
          <a:xfrm>
            <a:off x="1030100" y="4245308"/>
            <a:ext cx="2003115" cy="369332"/>
          </a:xfrm>
          <a:prstGeom prst="rect">
            <a:avLst/>
          </a:prstGeom>
          <a:solidFill>
            <a:schemeClr val="bg1"/>
          </a:solidFill>
        </p:spPr>
        <p:txBody>
          <a:bodyPr wrap="square" rtlCol="0">
            <a:spAutoFit/>
          </a:bodyPr>
          <a:lstStyle/>
          <a:p>
            <a:r>
              <a:rPr lang="en-US" dirty="0"/>
              <a:t>Structure (Image)</a:t>
            </a:r>
          </a:p>
        </p:txBody>
      </p:sp>
      <p:sp>
        <p:nvSpPr>
          <p:cNvPr id="3" name="Title 2">
            <a:extLst>
              <a:ext uri="{FF2B5EF4-FFF2-40B4-BE49-F238E27FC236}">
                <a16:creationId xmlns:a16="http://schemas.microsoft.com/office/drawing/2014/main" id="{7E10ADDA-0E25-4979-8B77-C5E21DA7DDCB}"/>
              </a:ext>
            </a:extLst>
          </p:cNvPr>
          <p:cNvSpPr>
            <a:spLocks noGrp="1"/>
          </p:cNvSpPr>
          <p:nvPr>
            <p:ph type="title"/>
          </p:nvPr>
        </p:nvSpPr>
        <p:spPr/>
        <p:txBody>
          <a:bodyPr/>
          <a:lstStyle/>
          <a:p>
            <a:r>
              <a:rPr lang="en-US" dirty="0"/>
              <a:t>Code Design Cycle</a:t>
            </a:r>
          </a:p>
        </p:txBody>
      </p:sp>
      <p:sp>
        <p:nvSpPr>
          <p:cNvPr id="5" name="Content Placeholder 4">
            <a:extLst>
              <a:ext uri="{FF2B5EF4-FFF2-40B4-BE49-F238E27FC236}">
                <a16:creationId xmlns:a16="http://schemas.microsoft.com/office/drawing/2014/main" id="{142253C1-B65B-42B2-AFA4-DAFC9177DC5C}"/>
              </a:ext>
            </a:extLst>
          </p:cNvPr>
          <p:cNvSpPr txBox="1">
            <a:spLocks/>
          </p:cNvSpPr>
          <p:nvPr/>
        </p:nvSpPr>
        <p:spPr>
          <a:xfrm>
            <a:off x="609600" y="1628799"/>
            <a:ext cx="10349753" cy="4536505"/>
          </a:xfrm>
          <a:prstGeom prst="rect">
            <a:avLst/>
          </a:prstGeom>
        </p:spPr>
        <p:txBody>
          <a:bodyPr vert="horz" lIns="0" tIns="0" rIns="0" bIns="0" rtlCol="0">
            <a:normAutofit/>
          </a:bodyPr>
          <a:lstStyle>
            <a:lvl1pPr marL="269875" indent="-269875" algn="l" defTabSz="457200" rtl="0" eaLnBrk="1" latinLnBrk="0" hangingPunct="1">
              <a:lnSpc>
                <a:spcPct val="120000"/>
              </a:lnSpc>
              <a:spcBef>
                <a:spcPts val="0"/>
              </a:spcBef>
              <a:buClr>
                <a:srgbClr val="0A2D50"/>
              </a:buClr>
              <a:buFont typeface="Arial"/>
              <a:buChar char="•"/>
              <a:defRPr sz="2400" kern="1200">
                <a:solidFill>
                  <a:schemeClr val="tx1"/>
                </a:solidFill>
                <a:latin typeface="Georgia"/>
                <a:ea typeface="+mn-ea"/>
                <a:cs typeface="Georgia"/>
              </a:defRPr>
            </a:lvl1pPr>
            <a:lvl2pPr marL="539750"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2pPr>
            <a:lvl3pPr marL="809625"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3pPr>
            <a:lvl4pPr marL="1079500"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4pPr>
            <a:lvl5pPr marL="1341438" indent="-261938"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fontAlgn="auto">
              <a:spcAft>
                <a:spcPts val="0"/>
              </a:spcAft>
            </a:pPr>
            <a:r>
              <a:rPr lang="en-US" dirty="0"/>
              <a:t>Test</a:t>
            </a:r>
          </a:p>
          <a:p>
            <a:pPr lvl="1" fontAlgn="auto">
              <a:spcAft>
                <a:spcPts val="0"/>
              </a:spcAft>
            </a:pPr>
            <a:r>
              <a:rPr lang="en-US" dirty="0"/>
              <a:t>Don’t need to finish to start testing</a:t>
            </a:r>
          </a:p>
          <a:p>
            <a:pPr lvl="1" fontAlgn="auto">
              <a:spcAft>
                <a:spcPts val="0"/>
              </a:spcAft>
            </a:pPr>
            <a:r>
              <a:rPr lang="en-US" dirty="0"/>
              <a:t>If we run incomplete it will complain </a:t>
            </a:r>
            <a:r>
              <a:rPr lang="en-US" dirty="0" err="1"/>
              <a:t>pixelValue</a:t>
            </a:r>
            <a:r>
              <a:rPr lang="en-US" dirty="0"/>
              <a:t> is not defined – so lets define it </a:t>
            </a:r>
          </a:p>
          <a:p>
            <a:pPr lvl="1" fontAlgn="auto">
              <a:spcAft>
                <a:spcPts val="0"/>
              </a:spcAft>
            </a:pPr>
            <a:endParaRPr lang="en-US" dirty="0"/>
          </a:p>
          <a:p>
            <a:pPr lvl="1" fontAlgn="auto">
              <a:spcAft>
                <a:spcPts val="0"/>
              </a:spcAft>
            </a:pPr>
            <a:endParaRPr lang="en-US" dirty="0"/>
          </a:p>
        </p:txBody>
      </p:sp>
      <p:sp>
        <p:nvSpPr>
          <p:cNvPr id="2" name="Rectangle: Rounded Corners 1">
            <a:extLst>
              <a:ext uri="{FF2B5EF4-FFF2-40B4-BE49-F238E27FC236}">
                <a16:creationId xmlns:a16="http://schemas.microsoft.com/office/drawing/2014/main" id="{42754339-E6F7-45DF-AF29-52A07C7D7097}"/>
              </a:ext>
            </a:extLst>
          </p:cNvPr>
          <p:cNvSpPr/>
          <p:nvPr/>
        </p:nvSpPr>
        <p:spPr>
          <a:xfrm>
            <a:off x="3180021" y="3437857"/>
            <a:ext cx="5759244" cy="2731589"/>
          </a:xfrm>
          <a:prstGeom prst="roundRect">
            <a:avLst/>
          </a:prstGeom>
          <a:ln/>
        </p:spPr>
        <p:style>
          <a:lnRef idx="2">
            <a:schemeClr val="dk1"/>
          </a:lnRef>
          <a:fillRef idx="1">
            <a:schemeClr val="lt1"/>
          </a:fillRef>
          <a:effectRef idx="0">
            <a:schemeClr val="dk1"/>
          </a:effectRef>
          <a:fontRef idx="minor">
            <a:schemeClr val="dk1"/>
          </a:fontRef>
        </p:style>
        <p:txBody>
          <a:bodyPr rtlCol="0" anchor="t"/>
          <a:lstStyle/>
          <a:p>
            <a:pPr algn="ctr"/>
            <a:r>
              <a:rPr lang="en-US" dirty="0"/>
              <a:t>MY PROGRAM</a:t>
            </a:r>
          </a:p>
        </p:txBody>
      </p:sp>
      <p:cxnSp>
        <p:nvCxnSpPr>
          <p:cNvPr id="6" name="Straight Arrow Connector 5">
            <a:extLst>
              <a:ext uri="{FF2B5EF4-FFF2-40B4-BE49-F238E27FC236}">
                <a16:creationId xmlns:a16="http://schemas.microsoft.com/office/drawing/2014/main" id="{7BB5DB76-CE97-43CD-BF9A-BFDA738BFFA2}"/>
              </a:ext>
            </a:extLst>
          </p:cNvPr>
          <p:cNvCxnSpPr/>
          <p:nvPr/>
        </p:nvCxnSpPr>
        <p:spPr>
          <a:xfrm>
            <a:off x="1743514" y="4155284"/>
            <a:ext cx="126829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358B00B1-DBFC-4A3F-9162-3C9BB96C9382}"/>
              </a:ext>
            </a:extLst>
          </p:cNvPr>
          <p:cNvSpPr txBox="1"/>
          <p:nvPr/>
        </p:nvSpPr>
        <p:spPr>
          <a:xfrm>
            <a:off x="1370664" y="3774430"/>
            <a:ext cx="1484081" cy="369332"/>
          </a:xfrm>
          <a:prstGeom prst="rect">
            <a:avLst/>
          </a:prstGeom>
          <a:noFill/>
        </p:spPr>
        <p:txBody>
          <a:bodyPr wrap="square" rtlCol="0">
            <a:spAutoFit/>
          </a:bodyPr>
          <a:lstStyle/>
          <a:p>
            <a:r>
              <a:rPr lang="en-US" dirty="0"/>
              <a:t>List of points</a:t>
            </a:r>
          </a:p>
        </p:txBody>
      </p:sp>
      <p:cxnSp>
        <p:nvCxnSpPr>
          <p:cNvPr id="20" name="Straight Arrow Connector 19">
            <a:extLst>
              <a:ext uri="{FF2B5EF4-FFF2-40B4-BE49-F238E27FC236}">
                <a16:creationId xmlns:a16="http://schemas.microsoft.com/office/drawing/2014/main" id="{E4A36FF8-323B-4378-BEEC-E41EC6E8E409}"/>
              </a:ext>
            </a:extLst>
          </p:cNvPr>
          <p:cNvCxnSpPr/>
          <p:nvPr/>
        </p:nvCxnSpPr>
        <p:spPr>
          <a:xfrm>
            <a:off x="1743514" y="4700815"/>
            <a:ext cx="126829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1CF01DD4-E871-4311-A84E-112FA70F8AC4}"/>
              </a:ext>
            </a:extLst>
          </p:cNvPr>
          <p:cNvCxnSpPr/>
          <p:nvPr/>
        </p:nvCxnSpPr>
        <p:spPr>
          <a:xfrm>
            <a:off x="9127196" y="4409755"/>
            <a:ext cx="126829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5F5493AD-521C-40D7-A965-52F3624BE35D}"/>
              </a:ext>
            </a:extLst>
          </p:cNvPr>
          <p:cNvSpPr txBox="1"/>
          <p:nvPr/>
        </p:nvSpPr>
        <p:spPr>
          <a:xfrm>
            <a:off x="9337255" y="3959096"/>
            <a:ext cx="1484081" cy="369332"/>
          </a:xfrm>
          <a:prstGeom prst="rect">
            <a:avLst/>
          </a:prstGeom>
          <a:noFill/>
        </p:spPr>
        <p:txBody>
          <a:bodyPr wrap="square" rtlCol="0">
            <a:spAutoFit/>
          </a:bodyPr>
          <a:lstStyle/>
          <a:p>
            <a:r>
              <a:rPr lang="en-US" dirty="0"/>
              <a:t>List of points</a:t>
            </a:r>
          </a:p>
        </p:txBody>
      </p:sp>
      <p:sp>
        <p:nvSpPr>
          <p:cNvPr id="24" name="TextBox 23">
            <a:extLst>
              <a:ext uri="{FF2B5EF4-FFF2-40B4-BE49-F238E27FC236}">
                <a16:creationId xmlns:a16="http://schemas.microsoft.com/office/drawing/2014/main" id="{27926F51-50A0-4194-8B56-458F55990079}"/>
              </a:ext>
            </a:extLst>
          </p:cNvPr>
          <p:cNvSpPr txBox="1"/>
          <p:nvPr/>
        </p:nvSpPr>
        <p:spPr>
          <a:xfrm>
            <a:off x="3252735" y="3942745"/>
            <a:ext cx="5357682" cy="2031325"/>
          </a:xfrm>
          <a:prstGeom prst="rect">
            <a:avLst/>
          </a:prstGeom>
          <a:noFill/>
        </p:spPr>
        <p:txBody>
          <a:bodyPr wrap="square" rtlCol="0">
            <a:spAutoFit/>
          </a:bodyPr>
          <a:lstStyle/>
          <a:p>
            <a:r>
              <a:rPr lang="en-US" dirty="0"/>
              <a:t>Iterate over points</a:t>
            </a:r>
          </a:p>
          <a:p>
            <a:pPr lvl="1"/>
            <a:endParaRPr lang="en-US" dirty="0"/>
          </a:p>
          <a:p>
            <a:pPr lvl="1"/>
            <a:endParaRPr lang="en-US" dirty="0"/>
          </a:p>
          <a:p>
            <a:pPr lvl="1"/>
            <a:r>
              <a:rPr lang="en-US" dirty="0">
                <a:solidFill>
                  <a:srgbClr val="FF0000"/>
                </a:solidFill>
              </a:rPr>
              <a:t>For each point find corresponding point in image</a:t>
            </a:r>
          </a:p>
          <a:p>
            <a:pPr lvl="1"/>
            <a:r>
              <a:rPr lang="en-US" dirty="0"/>
              <a:t>	Check if image value at point is correct</a:t>
            </a:r>
          </a:p>
          <a:p>
            <a:pPr lvl="1"/>
            <a:r>
              <a:rPr lang="en-US" dirty="0"/>
              <a:t>		place point into new list	</a:t>
            </a:r>
          </a:p>
        </p:txBody>
      </p:sp>
      <p:sp>
        <p:nvSpPr>
          <p:cNvPr id="12" name="TextBox 11">
            <a:extLst>
              <a:ext uri="{FF2B5EF4-FFF2-40B4-BE49-F238E27FC236}">
                <a16:creationId xmlns:a16="http://schemas.microsoft.com/office/drawing/2014/main" id="{46BDD4D6-E999-41D8-B6DA-B13A1D720E0B}"/>
              </a:ext>
            </a:extLst>
          </p:cNvPr>
          <p:cNvSpPr txBox="1"/>
          <p:nvPr/>
        </p:nvSpPr>
        <p:spPr>
          <a:xfrm>
            <a:off x="800914" y="3447122"/>
            <a:ext cx="2099254" cy="646331"/>
          </a:xfrm>
          <a:prstGeom prst="rect">
            <a:avLst/>
          </a:prstGeom>
          <a:solidFill>
            <a:schemeClr val="bg1"/>
          </a:solidFill>
        </p:spPr>
        <p:txBody>
          <a:bodyPr wrap="square" rtlCol="0">
            <a:spAutoFit/>
          </a:bodyPr>
          <a:lstStyle/>
          <a:p>
            <a:pPr algn="ctr"/>
            <a:r>
              <a:rPr lang="en-US" dirty="0" err="1"/>
              <a:t>vtkMRMLMarkupsFiducialNode</a:t>
            </a:r>
            <a:endParaRPr lang="en-US" dirty="0"/>
          </a:p>
        </p:txBody>
      </p:sp>
      <p:sp>
        <p:nvSpPr>
          <p:cNvPr id="13" name="TextBox 12">
            <a:extLst>
              <a:ext uri="{FF2B5EF4-FFF2-40B4-BE49-F238E27FC236}">
                <a16:creationId xmlns:a16="http://schemas.microsoft.com/office/drawing/2014/main" id="{1468A674-426B-4B8F-95C5-36A2A52702A0}"/>
              </a:ext>
            </a:extLst>
          </p:cNvPr>
          <p:cNvSpPr txBox="1"/>
          <p:nvPr/>
        </p:nvSpPr>
        <p:spPr>
          <a:xfrm>
            <a:off x="9029668" y="3669563"/>
            <a:ext cx="2099254" cy="646331"/>
          </a:xfrm>
          <a:prstGeom prst="rect">
            <a:avLst/>
          </a:prstGeom>
          <a:solidFill>
            <a:schemeClr val="bg1"/>
          </a:solidFill>
        </p:spPr>
        <p:txBody>
          <a:bodyPr wrap="square" rtlCol="0">
            <a:spAutoFit/>
          </a:bodyPr>
          <a:lstStyle/>
          <a:p>
            <a:pPr algn="ctr"/>
            <a:r>
              <a:rPr lang="en-US" dirty="0" err="1"/>
              <a:t>vtkMRMLMarkupsFiducialNode</a:t>
            </a:r>
            <a:endParaRPr lang="en-US" dirty="0"/>
          </a:p>
        </p:txBody>
      </p:sp>
      <p:sp>
        <p:nvSpPr>
          <p:cNvPr id="14" name="TextBox 13">
            <a:extLst>
              <a:ext uri="{FF2B5EF4-FFF2-40B4-BE49-F238E27FC236}">
                <a16:creationId xmlns:a16="http://schemas.microsoft.com/office/drawing/2014/main" id="{52956AA1-0A8D-4DD5-ADB8-658F81141896}"/>
              </a:ext>
            </a:extLst>
          </p:cNvPr>
          <p:cNvSpPr txBox="1"/>
          <p:nvPr/>
        </p:nvSpPr>
        <p:spPr>
          <a:xfrm>
            <a:off x="805657" y="4256831"/>
            <a:ext cx="2099254" cy="369332"/>
          </a:xfrm>
          <a:prstGeom prst="rect">
            <a:avLst/>
          </a:prstGeom>
          <a:solidFill>
            <a:schemeClr val="bg1"/>
          </a:solidFill>
        </p:spPr>
        <p:txBody>
          <a:bodyPr wrap="square" rtlCol="0">
            <a:spAutoFit/>
          </a:bodyPr>
          <a:lstStyle/>
          <a:p>
            <a:pPr algn="ctr"/>
            <a:r>
              <a:rPr lang="en-US" dirty="0" err="1"/>
              <a:t>vtkImageData</a:t>
            </a:r>
            <a:endParaRPr lang="en-US" dirty="0"/>
          </a:p>
        </p:txBody>
      </p:sp>
      <p:sp>
        <p:nvSpPr>
          <p:cNvPr id="15" name="TextBox 14">
            <a:extLst>
              <a:ext uri="{FF2B5EF4-FFF2-40B4-BE49-F238E27FC236}">
                <a16:creationId xmlns:a16="http://schemas.microsoft.com/office/drawing/2014/main" id="{EB45C9B7-0758-4349-B466-087173D6AA94}"/>
              </a:ext>
            </a:extLst>
          </p:cNvPr>
          <p:cNvSpPr txBox="1"/>
          <p:nvPr/>
        </p:nvSpPr>
        <p:spPr>
          <a:xfrm>
            <a:off x="3257658" y="3948090"/>
            <a:ext cx="5409808" cy="923330"/>
          </a:xfrm>
          <a:prstGeom prst="rect">
            <a:avLst/>
          </a:prstGeom>
          <a:solidFill>
            <a:schemeClr val="bg1"/>
          </a:solidFill>
        </p:spPr>
        <p:txBody>
          <a:bodyPr wrap="square" rtlCol="0">
            <a:spAutoFit/>
          </a:bodyPr>
          <a:lstStyle/>
          <a:p>
            <a:r>
              <a:rPr lang="en-US" dirty="0"/>
              <a:t>For x in range (0, </a:t>
            </a:r>
            <a:r>
              <a:rPr lang="en-US" dirty="0" err="1"/>
              <a:t>input.GetNumberOfFiducials</a:t>
            </a:r>
            <a:r>
              <a:rPr lang="en-US" dirty="0"/>
              <a:t>()) :                              </a:t>
            </a:r>
          </a:p>
          <a:p>
            <a:pPr lvl="1"/>
            <a:r>
              <a:rPr lang="en-US" dirty="0"/>
              <a:t>pos = [0,0,0]</a:t>
            </a:r>
          </a:p>
          <a:p>
            <a:pPr lvl="1"/>
            <a:r>
              <a:rPr lang="en-US" dirty="0" err="1"/>
              <a:t>inputFiducials.GetNthFiducialPosition</a:t>
            </a:r>
            <a:r>
              <a:rPr lang="en-US" dirty="0"/>
              <a:t>(x, pos)</a:t>
            </a:r>
          </a:p>
        </p:txBody>
      </p:sp>
      <p:sp>
        <p:nvSpPr>
          <p:cNvPr id="25" name="TextBox 24">
            <a:extLst>
              <a:ext uri="{FF2B5EF4-FFF2-40B4-BE49-F238E27FC236}">
                <a16:creationId xmlns:a16="http://schemas.microsoft.com/office/drawing/2014/main" id="{76F04151-B09D-4C01-B6F5-0F6E96A2E3C8}"/>
              </a:ext>
            </a:extLst>
          </p:cNvPr>
          <p:cNvSpPr txBox="1"/>
          <p:nvPr/>
        </p:nvSpPr>
        <p:spPr>
          <a:xfrm>
            <a:off x="3737308" y="4810644"/>
            <a:ext cx="4450507" cy="646331"/>
          </a:xfrm>
          <a:prstGeom prst="rect">
            <a:avLst/>
          </a:prstGeom>
          <a:solidFill>
            <a:schemeClr val="bg1"/>
          </a:solidFill>
        </p:spPr>
        <p:txBody>
          <a:bodyPr wrap="square" rtlCol="0">
            <a:spAutoFit/>
          </a:bodyPr>
          <a:lstStyle/>
          <a:p>
            <a:r>
              <a:rPr lang="en-US" dirty="0" err="1">
                <a:solidFill>
                  <a:srgbClr val="FF0000"/>
                </a:solidFill>
              </a:rPr>
              <a:t>pixelValue</a:t>
            </a:r>
            <a:r>
              <a:rPr lang="en-US" dirty="0">
                <a:solidFill>
                  <a:srgbClr val="FF0000"/>
                </a:solidFill>
              </a:rPr>
              <a:t> = 1</a:t>
            </a:r>
          </a:p>
          <a:p>
            <a:pPr algn="ctr"/>
            <a:endParaRPr lang="en-US" dirty="0">
              <a:solidFill>
                <a:srgbClr val="FF0000"/>
              </a:solidFill>
            </a:endParaRPr>
          </a:p>
        </p:txBody>
      </p:sp>
      <p:sp>
        <p:nvSpPr>
          <p:cNvPr id="26" name="TextBox 25">
            <a:extLst>
              <a:ext uri="{FF2B5EF4-FFF2-40B4-BE49-F238E27FC236}">
                <a16:creationId xmlns:a16="http://schemas.microsoft.com/office/drawing/2014/main" id="{4EFC688B-BA30-475C-B11A-4097BC4A3D84}"/>
              </a:ext>
            </a:extLst>
          </p:cNvPr>
          <p:cNvSpPr txBox="1"/>
          <p:nvPr/>
        </p:nvSpPr>
        <p:spPr>
          <a:xfrm>
            <a:off x="3792072" y="5429592"/>
            <a:ext cx="4518210" cy="369332"/>
          </a:xfrm>
          <a:prstGeom prst="rect">
            <a:avLst/>
          </a:prstGeom>
          <a:solidFill>
            <a:schemeClr val="bg1"/>
          </a:solidFill>
        </p:spPr>
        <p:txBody>
          <a:bodyPr wrap="square" rtlCol="0">
            <a:spAutoFit/>
          </a:bodyPr>
          <a:lstStyle/>
          <a:p>
            <a:r>
              <a:rPr lang="en-US" dirty="0"/>
              <a:t>if (</a:t>
            </a:r>
            <a:r>
              <a:rPr lang="en-US" dirty="0" err="1"/>
              <a:t>pixelValue</a:t>
            </a:r>
            <a:r>
              <a:rPr lang="en-US" dirty="0"/>
              <a:t> == 1):</a:t>
            </a:r>
          </a:p>
        </p:txBody>
      </p:sp>
      <p:sp>
        <p:nvSpPr>
          <p:cNvPr id="27" name="TextBox 26">
            <a:extLst>
              <a:ext uri="{FF2B5EF4-FFF2-40B4-BE49-F238E27FC236}">
                <a16:creationId xmlns:a16="http://schemas.microsoft.com/office/drawing/2014/main" id="{9729E4D4-1565-48AE-BC5C-CA6386EBB7DF}"/>
              </a:ext>
            </a:extLst>
          </p:cNvPr>
          <p:cNvSpPr txBox="1"/>
          <p:nvPr/>
        </p:nvSpPr>
        <p:spPr>
          <a:xfrm>
            <a:off x="3792073" y="5759930"/>
            <a:ext cx="4693022" cy="369332"/>
          </a:xfrm>
          <a:prstGeom prst="rect">
            <a:avLst/>
          </a:prstGeom>
          <a:solidFill>
            <a:schemeClr val="bg1"/>
          </a:solidFill>
        </p:spPr>
        <p:txBody>
          <a:bodyPr wrap="square" rtlCol="0">
            <a:spAutoFit/>
          </a:bodyPr>
          <a:lstStyle/>
          <a:p>
            <a:r>
              <a:rPr lang="en-US" dirty="0"/>
              <a:t>     </a:t>
            </a:r>
            <a:r>
              <a:rPr lang="en-US" dirty="0" err="1"/>
              <a:t>output.AddFiducial</a:t>
            </a:r>
            <a:r>
              <a:rPr lang="en-US" dirty="0"/>
              <a:t>(pos[0], pos[1], pos[2])</a:t>
            </a:r>
          </a:p>
        </p:txBody>
      </p:sp>
      <p:sp>
        <p:nvSpPr>
          <p:cNvPr id="29" name="TextBox 28">
            <a:extLst>
              <a:ext uri="{FF2B5EF4-FFF2-40B4-BE49-F238E27FC236}">
                <a16:creationId xmlns:a16="http://schemas.microsoft.com/office/drawing/2014/main" id="{806D94FA-3C6C-4C36-8814-99D776B6659C}"/>
              </a:ext>
            </a:extLst>
          </p:cNvPr>
          <p:cNvSpPr txBox="1"/>
          <p:nvPr/>
        </p:nvSpPr>
        <p:spPr>
          <a:xfrm>
            <a:off x="7997963" y="4791877"/>
            <a:ext cx="1023414" cy="369332"/>
          </a:xfrm>
          <a:prstGeom prst="rect">
            <a:avLst/>
          </a:prstGeom>
          <a:noFill/>
        </p:spPr>
        <p:txBody>
          <a:bodyPr wrap="square" rtlCol="0">
            <a:spAutoFit/>
          </a:bodyPr>
          <a:lstStyle/>
          <a:p>
            <a:pPr algn="ctr"/>
            <a:r>
              <a:rPr lang="en-US" dirty="0">
                <a:solidFill>
                  <a:srgbClr val="00B050"/>
                </a:solidFill>
              </a:rPr>
              <a:t># ignore</a:t>
            </a:r>
          </a:p>
        </p:txBody>
      </p:sp>
    </p:spTree>
    <p:extLst>
      <p:ext uri="{BB962C8B-B14F-4D97-AF65-F5344CB8AC3E}">
        <p14:creationId xmlns:p14="http://schemas.microsoft.com/office/powerpoint/2010/main" val="4201736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DDB10EDD-CED2-41C0-8DD3-41E65CA05DE6}"/>
              </a:ext>
            </a:extLst>
          </p:cNvPr>
          <p:cNvSpPr txBox="1"/>
          <p:nvPr/>
        </p:nvSpPr>
        <p:spPr>
          <a:xfrm>
            <a:off x="1030100" y="4245308"/>
            <a:ext cx="2003115" cy="369332"/>
          </a:xfrm>
          <a:prstGeom prst="rect">
            <a:avLst/>
          </a:prstGeom>
          <a:solidFill>
            <a:schemeClr val="bg1"/>
          </a:solidFill>
        </p:spPr>
        <p:txBody>
          <a:bodyPr wrap="square" rtlCol="0">
            <a:spAutoFit/>
          </a:bodyPr>
          <a:lstStyle/>
          <a:p>
            <a:r>
              <a:rPr lang="en-US" dirty="0"/>
              <a:t>Structure (Image)</a:t>
            </a:r>
          </a:p>
        </p:txBody>
      </p:sp>
      <p:sp>
        <p:nvSpPr>
          <p:cNvPr id="3" name="Title 2">
            <a:extLst>
              <a:ext uri="{FF2B5EF4-FFF2-40B4-BE49-F238E27FC236}">
                <a16:creationId xmlns:a16="http://schemas.microsoft.com/office/drawing/2014/main" id="{7E10ADDA-0E25-4979-8B77-C5E21DA7DDCB}"/>
              </a:ext>
            </a:extLst>
          </p:cNvPr>
          <p:cNvSpPr>
            <a:spLocks noGrp="1"/>
          </p:cNvSpPr>
          <p:nvPr>
            <p:ph type="title"/>
          </p:nvPr>
        </p:nvSpPr>
        <p:spPr/>
        <p:txBody>
          <a:bodyPr/>
          <a:lstStyle/>
          <a:p>
            <a:r>
              <a:rPr lang="en-US" dirty="0"/>
              <a:t>Code Design Cycle</a:t>
            </a:r>
          </a:p>
        </p:txBody>
      </p:sp>
      <p:sp>
        <p:nvSpPr>
          <p:cNvPr id="5" name="Content Placeholder 4">
            <a:extLst>
              <a:ext uri="{FF2B5EF4-FFF2-40B4-BE49-F238E27FC236}">
                <a16:creationId xmlns:a16="http://schemas.microsoft.com/office/drawing/2014/main" id="{142253C1-B65B-42B2-AFA4-DAFC9177DC5C}"/>
              </a:ext>
            </a:extLst>
          </p:cNvPr>
          <p:cNvSpPr txBox="1">
            <a:spLocks/>
          </p:cNvSpPr>
          <p:nvPr/>
        </p:nvSpPr>
        <p:spPr>
          <a:xfrm>
            <a:off x="609600" y="1628799"/>
            <a:ext cx="10349753" cy="4536505"/>
          </a:xfrm>
          <a:prstGeom prst="rect">
            <a:avLst/>
          </a:prstGeom>
        </p:spPr>
        <p:txBody>
          <a:bodyPr vert="horz" lIns="0" tIns="0" rIns="0" bIns="0" rtlCol="0">
            <a:normAutofit/>
          </a:bodyPr>
          <a:lstStyle>
            <a:lvl1pPr marL="269875" indent="-269875" algn="l" defTabSz="457200" rtl="0" eaLnBrk="1" latinLnBrk="0" hangingPunct="1">
              <a:lnSpc>
                <a:spcPct val="120000"/>
              </a:lnSpc>
              <a:spcBef>
                <a:spcPts val="0"/>
              </a:spcBef>
              <a:buClr>
                <a:srgbClr val="0A2D50"/>
              </a:buClr>
              <a:buFont typeface="Arial"/>
              <a:buChar char="•"/>
              <a:defRPr sz="2400" kern="1200">
                <a:solidFill>
                  <a:schemeClr val="tx1"/>
                </a:solidFill>
                <a:latin typeface="Georgia"/>
                <a:ea typeface="+mn-ea"/>
                <a:cs typeface="Georgia"/>
              </a:defRPr>
            </a:lvl1pPr>
            <a:lvl2pPr marL="539750"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2pPr>
            <a:lvl3pPr marL="809625"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3pPr>
            <a:lvl4pPr marL="1079500"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4pPr>
            <a:lvl5pPr marL="1341438" indent="-261938"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fontAlgn="auto">
              <a:spcAft>
                <a:spcPts val="0"/>
              </a:spcAft>
            </a:pPr>
            <a:r>
              <a:rPr lang="en-US" dirty="0"/>
              <a:t>Test</a:t>
            </a:r>
          </a:p>
          <a:p>
            <a:pPr lvl="1" fontAlgn="auto">
              <a:spcAft>
                <a:spcPts val="0"/>
              </a:spcAft>
            </a:pPr>
            <a:r>
              <a:rPr lang="en-US" dirty="0"/>
              <a:t>Don’t need to finish to start testing</a:t>
            </a:r>
          </a:p>
          <a:p>
            <a:pPr lvl="1" fontAlgn="auto">
              <a:spcAft>
                <a:spcPts val="0"/>
              </a:spcAft>
            </a:pPr>
            <a:r>
              <a:rPr lang="en-US" dirty="0"/>
              <a:t>If we run incomplete it will complain </a:t>
            </a:r>
            <a:r>
              <a:rPr lang="en-US" dirty="0" err="1"/>
              <a:t>pixelValue</a:t>
            </a:r>
            <a:r>
              <a:rPr lang="en-US" dirty="0"/>
              <a:t> is not defined – or a slightly better test</a:t>
            </a:r>
          </a:p>
          <a:p>
            <a:pPr lvl="1" fontAlgn="auto">
              <a:spcAft>
                <a:spcPts val="0"/>
              </a:spcAft>
            </a:pPr>
            <a:endParaRPr lang="en-US" dirty="0"/>
          </a:p>
          <a:p>
            <a:pPr lvl="1" fontAlgn="auto">
              <a:spcAft>
                <a:spcPts val="0"/>
              </a:spcAft>
            </a:pPr>
            <a:endParaRPr lang="en-US" dirty="0"/>
          </a:p>
        </p:txBody>
      </p:sp>
      <p:sp>
        <p:nvSpPr>
          <p:cNvPr id="2" name="Rectangle: Rounded Corners 1">
            <a:extLst>
              <a:ext uri="{FF2B5EF4-FFF2-40B4-BE49-F238E27FC236}">
                <a16:creationId xmlns:a16="http://schemas.microsoft.com/office/drawing/2014/main" id="{42754339-E6F7-45DF-AF29-52A07C7D7097}"/>
              </a:ext>
            </a:extLst>
          </p:cNvPr>
          <p:cNvSpPr/>
          <p:nvPr/>
        </p:nvSpPr>
        <p:spPr>
          <a:xfrm>
            <a:off x="3180021" y="3437857"/>
            <a:ext cx="5759244" cy="2731589"/>
          </a:xfrm>
          <a:prstGeom prst="roundRect">
            <a:avLst/>
          </a:prstGeom>
          <a:ln/>
        </p:spPr>
        <p:style>
          <a:lnRef idx="2">
            <a:schemeClr val="dk1"/>
          </a:lnRef>
          <a:fillRef idx="1">
            <a:schemeClr val="lt1"/>
          </a:fillRef>
          <a:effectRef idx="0">
            <a:schemeClr val="dk1"/>
          </a:effectRef>
          <a:fontRef idx="minor">
            <a:schemeClr val="dk1"/>
          </a:fontRef>
        </p:style>
        <p:txBody>
          <a:bodyPr rtlCol="0" anchor="t"/>
          <a:lstStyle/>
          <a:p>
            <a:pPr algn="ctr"/>
            <a:r>
              <a:rPr lang="en-US" dirty="0"/>
              <a:t>MY PROGRAM</a:t>
            </a:r>
          </a:p>
        </p:txBody>
      </p:sp>
      <p:cxnSp>
        <p:nvCxnSpPr>
          <p:cNvPr id="6" name="Straight Arrow Connector 5">
            <a:extLst>
              <a:ext uri="{FF2B5EF4-FFF2-40B4-BE49-F238E27FC236}">
                <a16:creationId xmlns:a16="http://schemas.microsoft.com/office/drawing/2014/main" id="{7BB5DB76-CE97-43CD-BF9A-BFDA738BFFA2}"/>
              </a:ext>
            </a:extLst>
          </p:cNvPr>
          <p:cNvCxnSpPr/>
          <p:nvPr/>
        </p:nvCxnSpPr>
        <p:spPr>
          <a:xfrm>
            <a:off x="1743514" y="4155284"/>
            <a:ext cx="126829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358B00B1-DBFC-4A3F-9162-3C9BB96C9382}"/>
              </a:ext>
            </a:extLst>
          </p:cNvPr>
          <p:cNvSpPr txBox="1"/>
          <p:nvPr/>
        </p:nvSpPr>
        <p:spPr>
          <a:xfrm>
            <a:off x="1370664" y="3774430"/>
            <a:ext cx="1484081" cy="369332"/>
          </a:xfrm>
          <a:prstGeom prst="rect">
            <a:avLst/>
          </a:prstGeom>
          <a:noFill/>
        </p:spPr>
        <p:txBody>
          <a:bodyPr wrap="square" rtlCol="0">
            <a:spAutoFit/>
          </a:bodyPr>
          <a:lstStyle/>
          <a:p>
            <a:r>
              <a:rPr lang="en-US" dirty="0"/>
              <a:t>List of points</a:t>
            </a:r>
          </a:p>
        </p:txBody>
      </p:sp>
      <p:cxnSp>
        <p:nvCxnSpPr>
          <p:cNvPr id="20" name="Straight Arrow Connector 19">
            <a:extLst>
              <a:ext uri="{FF2B5EF4-FFF2-40B4-BE49-F238E27FC236}">
                <a16:creationId xmlns:a16="http://schemas.microsoft.com/office/drawing/2014/main" id="{E4A36FF8-323B-4378-BEEC-E41EC6E8E409}"/>
              </a:ext>
            </a:extLst>
          </p:cNvPr>
          <p:cNvCxnSpPr/>
          <p:nvPr/>
        </p:nvCxnSpPr>
        <p:spPr>
          <a:xfrm>
            <a:off x="1743514" y="4700815"/>
            <a:ext cx="126829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1CF01DD4-E871-4311-A84E-112FA70F8AC4}"/>
              </a:ext>
            </a:extLst>
          </p:cNvPr>
          <p:cNvCxnSpPr/>
          <p:nvPr/>
        </p:nvCxnSpPr>
        <p:spPr>
          <a:xfrm>
            <a:off x="9127196" y="4409755"/>
            <a:ext cx="126829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5F5493AD-521C-40D7-A965-52F3624BE35D}"/>
              </a:ext>
            </a:extLst>
          </p:cNvPr>
          <p:cNvSpPr txBox="1"/>
          <p:nvPr/>
        </p:nvSpPr>
        <p:spPr>
          <a:xfrm>
            <a:off x="9337255" y="3959096"/>
            <a:ext cx="1484081" cy="369332"/>
          </a:xfrm>
          <a:prstGeom prst="rect">
            <a:avLst/>
          </a:prstGeom>
          <a:noFill/>
        </p:spPr>
        <p:txBody>
          <a:bodyPr wrap="square" rtlCol="0">
            <a:spAutoFit/>
          </a:bodyPr>
          <a:lstStyle/>
          <a:p>
            <a:r>
              <a:rPr lang="en-US" dirty="0"/>
              <a:t>List of points</a:t>
            </a:r>
          </a:p>
        </p:txBody>
      </p:sp>
      <p:sp>
        <p:nvSpPr>
          <p:cNvPr id="24" name="TextBox 23">
            <a:extLst>
              <a:ext uri="{FF2B5EF4-FFF2-40B4-BE49-F238E27FC236}">
                <a16:creationId xmlns:a16="http://schemas.microsoft.com/office/drawing/2014/main" id="{27926F51-50A0-4194-8B56-458F55990079}"/>
              </a:ext>
            </a:extLst>
          </p:cNvPr>
          <p:cNvSpPr txBox="1"/>
          <p:nvPr/>
        </p:nvSpPr>
        <p:spPr>
          <a:xfrm>
            <a:off x="3252735" y="3942745"/>
            <a:ext cx="5357682" cy="2031325"/>
          </a:xfrm>
          <a:prstGeom prst="rect">
            <a:avLst/>
          </a:prstGeom>
          <a:noFill/>
        </p:spPr>
        <p:txBody>
          <a:bodyPr wrap="square" rtlCol="0">
            <a:spAutoFit/>
          </a:bodyPr>
          <a:lstStyle/>
          <a:p>
            <a:r>
              <a:rPr lang="en-US" dirty="0"/>
              <a:t>Iterate over points</a:t>
            </a:r>
          </a:p>
          <a:p>
            <a:pPr lvl="1"/>
            <a:endParaRPr lang="en-US" dirty="0"/>
          </a:p>
          <a:p>
            <a:pPr lvl="1"/>
            <a:endParaRPr lang="en-US" dirty="0"/>
          </a:p>
          <a:p>
            <a:pPr lvl="1"/>
            <a:r>
              <a:rPr lang="en-US" dirty="0">
                <a:solidFill>
                  <a:srgbClr val="FF0000"/>
                </a:solidFill>
              </a:rPr>
              <a:t>For each point find corresponding point in image</a:t>
            </a:r>
          </a:p>
          <a:p>
            <a:pPr lvl="1"/>
            <a:r>
              <a:rPr lang="en-US" dirty="0"/>
              <a:t>	Check if image value at point is correct</a:t>
            </a:r>
          </a:p>
          <a:p>
            <a:pPr lvl="1"/>
            <a:r>
              <a:rPr lang="en-US" dirty="0"/>
              <a:t>		place point into new list	</a:t>
            </a:r>
          </a:p>
        </p:txBody>
      </p:sp>
      <p:sp>
        <p:nvSpPr>
          <p:cNvPr id="12" name="TextBox 11">
            <a:extLst>
              <a:ext uri="{FF2B5EF4-FFF2-40B4-BE49-F238E27FC236}">
                <a16:creationId xmlns:a16="http://schemas.microsoft.com/office/drawing/2014/main" id="{46BDD4D6-E999-41D8-B6DA-B13A1D720E0B}"/>
              </a:ext>
            </a:extLst>
          </p:cNvPr>
          <p:cNvSpPr txBox="1"/>
          <p:nvPr/>
        </p:nvSpPr>
        <p:spPr>
          <a:xfrm>
            <a:off x="800914" y="3447122"/>
            <a:ext cx="2099254" cy="646331"/>
          </a:xfrm>
          <a:prstGeom prst="rect">
            <a:avLst/>
          </a:prstGeom>
          <a:solidFill>
            <a:schemeClr val="bg1"/>
          </a:solidFill>
        </p:spPr>
        <p:txBody>
          <a:bodyPr wrap="square" rtlCol="0">
            <a:spAutoFit/>
          </a:bodyPr>
          <a:lstStyle/>
          <a:p>
            <a:pPr algn="ctr"/>
            <a:r>
              <a:rPr lang="en-US" dirty="0" err="1"/>
              <a:t>vtkMRMLMarkupsFiducialNode</a:t>
            </a:r>
            <a:endParaRPr lang="en-US" dirty="0"/>
          </a:p>
        </p:txBody>
      </p:sp>
      <p:sp>
        <p:nvSpPr>
          <p:cNvPr id="13" name="TextBox 12">
            <a:extLst>
              <a:ext uri="{FF2B5EF4-FFF2-40B4-BE49-F238E27FC236}">
                <a16:creationId xmlns:a16="http://schemas.microsoft.com/office/drawing/2014/main" id="{1468A674-426B-4B8F-95C5-36A2A52702A0}"/>
              </a:ext>
            </a:extLst>
          </p:cNvPr>
          <p:cNvSpPr txBox="1"/>
          <p:nvPr/>
        </p:nvSpPr>
        <p:spPr>
          <a:xfrm>
            <a:off x="9029668" y="3669563"/>
            <a:ext cx="2099254" cy="646331"/>
          </a:xfrm>
          <a:prstGeom prst="rect">
            <a:avLst/>
          </a:prstGeom>
          <a:solidFill>
            <a:schemeClr val="bg1"/>
          </a:solidFill>
        </p:spPr>
        <p:txBody>
          <a:bodyPr wrap="square" rtlCol="0">
            <a:spAutoFit/>
          </a:bodyPr>
          <a:lstStyle/>
          <a:p>
            <a:pPr algn="ctr"/>
            <a:r>
              <a:rPr lang="en-US" dirty="0" err="1"/>
              <a:t>vtkMRMLMarkupsFiducialNode</a:t>
            </a:r>
            <a:endParaRPr lang="en-US" dirty="0"/>
          </a:p>
        </p:txBody>
      </p:sp>
      <p:sp>
        <p:nvSpPr>
          <p:cNvPr id="14" name="TextBox 13">
            <a:extLst>
              <a:ext uri="{FF2B5EF4-FFF2-40B4-BE49-F238E27FC236}">
                <a16:creationId xmlns:a16="http://schemas.microsoft.com/office/drawing/2014/main" id="{52956AA1-0A8D-4DD5-ADB8-658F81141896}"/>
              </a:ext>
            </a:extLst>
          </p:cNvPr>
          <p:cNvSpPr txBox="1"/>
          <p:nvPr/>
        </p:nvSpPr>
        <p:spPr>
          <a:xfrm>
            <a:off x="805657" y="4256831"/>
            <a:ext cx="2099254" cy="369332"/>
          </a:xfrm>
          <a:prstGeom prst="rect">
            <a:avLst/>
          </a:prstGeom>
          <a:solidFill>
            <a:schemeClr val="bg1"/>
          </a:solidFill>
        </p:spPr>
        <p:txBody>
          <a:bodyPr wrap="square" rtlCol="0">
            <a:spAutoFit/>
          </a:bodyPr>
          <a:lstStyle/>
          <a:p>
            <a:pPr algn="ctr"/>
            <a:r>
              <a:rPr lang="en-US" dirty="0" err="1"/>
              <a:t>vtkImageData</a:t>
            </a:r>
            <a:endParaRPr lang="en-US" dirty="0"/>
          </a:p>
        </p:txBody>
      </p:sp>
      <p:sp>
        <p:nvSpPr>
          <p:cNvPr id="15" name="TextBox 14">
            <a:extLst>
              <a:ext uri="{FF2B5EF4-FFF2-40B4-BE49-F238E27FC236}">
                <a16:creationId xmlns:a16="http://schemas.microsoft.com/office/drawing/2014/main" id="{EB45C9B7-0758-4349-B466-087173D6AA94}"/>
              </a:ext>
            </a:extLst>
          </p:cNvPr>
          <p:cNvSpPr txBox="1"/>
          <p:nvPr/>
        </p:nvSpPr>
        <p:spPr>
          <a:xfrm>
            <a:off x="3257658" y="3948090"/>
            <a:ext cx="5409808" cy="923330"/>
          </a:xfrm>
          <a:prstGeom prst="rect">
            <a:avLst/>
          </a:prstGeom>
          <a:solidFill>
            <a:schemeClr val="bg1"/>
          </a:solidFill>
        </p:spPr>
        <p:txBody>
          <a:bodyPr wrap="square" rtlCol="0">
            <a:spAutoFit/>
          </a:bodyPr>
          <a:lstStyle/>
          <a:p>
            <a:r>
              <a:rPr lang="en-US" dirty="0"/>
              <a:t>For x in range (0, </a:t>
            </a:r>
            <a:r>
              <a:rPr lang="en-US" dirty="0" err="1"/>
              <a:t>input.GetNumberOfFiducials</a:t>
            </a:r>
            <a:r>
              <a:rPr lang="en-US" dirty="0"/>
              <a:t>()) :                              </a:t>
            </a:r>
          </a:p>
          <a:p>
            <a:pPr lvl="1"/>
            <a:r>
              <a:rPr lang="en-US" dirty="0"/>
              <a:t>pos = [0,0,0]</a:t>
            </a:r>
          </a:p>
          <a:p>
            <a:pPr lvl="1"/>
            <a:r>
              <a:rPr lang="en-US" dirty="0" err="1"/>
              <a:t>inputFiducials.GetNthFiducialPosition</a:t>
            </a:r>
            <a:r>
              <a:rPr lang="en-US" dirty="0"/>
              <a:t>(x, pos)</a:t>
            </a:r>
          </a:p>
        </p:txBody>
      </p:sp>
      <p:sp>
        <p:nvSpPr>
          <p:cNvPr id="25" name="TextBox 24">
            <a:extLst>
              <a:ext uri="{FF2B5EF4-FFF2-40B4-BE49-F238E27FC236}">
                <a16:creationId xmlns:a16="http://schemas.microsoft.com/office/drawing/2014/main" id="{76F04151-B09D-4C01-B6F5-0F6E96A2E3C8}"/>
              </a:ext>
            </a:extLst>
          </p:cNvPr>
          <p:cNvSpPr txBox="1"/>
          <p:nvPr/>
        </p:nvSpPr>
        <p:spPr>
          <a:xfrm>
            <a:off x="3737308" y="4810644"/>
            <a:ext cx="4450507" cy="646331"/>
          </a:xfrm>
          <a:prstGeom prst="rect">
            <a:avLst/>
          </a:prstGeom>
          <a:solidFill>
            <a:schemeClr val="bg1"/>
          </a:solidFill>
        </p:spPr>
        <p:txBody>
          <a:bodyPr wrap="square" rtlCol="0">
            <a:spAutoFit/>
          </a:bodyPr>
          <a:lstStyle/>
          <a:p>
            <a:r>
              <a:rPr lang="en-US" dirty="0" err="1">
                <a:solidFill>
                  <a:srgbClr val="FF0000"/>
                </a:solidFill>
              </a:rPr>
              <a:t>pixelValue</a:t>
            </a:r>
            <a:r>
              <a:rPr lang="en-US" dirty="0">
                <a:solidFill>
                  <a:srgbClr val="FF0000"/>
                </a:solidFill>
              </a:rPr>
              <a:t> = </a:t>
            </a:r>
            <a:r>
              <a:rPr lang="en-US" dirty="0" err="1">
                <a:solidFill>
                  <a:srgbClr val="FF0000"/>
                </a:solidFill>
              </a:rPr>
              <a:t>random.random</a:t>
            </a:r>
            <a:r>
              <a:rPr lang="en-US" dirty="0">
                <a:solidFill>
                  <a:srgbClr val="FF0000"/>
                </a:solidFill>
              </a:rPr>
              <a:t>()</a:t>
            </a:r>
          </a:p>
          <a:p>
            <a:pPr algn="ctr"/>
            <a:endParaRPr lang="en-US" dirty="0">
              <a:solidFill>
                <a:srgbClr val="FF0000"/>
              </a:solidFill>
            </a:endParaRPr>
          </a:p>
        </p:txBody>
      </p:sp>
      <p:sp>
        <p:nvSpPr>
          <p:cNvPr id="26" name="TextBox 25">
            <a:extLst>
              <a:ext uri="{FF2B5EF4-FFF2-40B4-BE49-F238E27FC236}">
                <a16:creationId xmlns:a16="http://schemas.microsoft.com/office/drawing/2014/main" id="{4EFC688B-BA30-475C-B11A-4097BC4A3D84}"/>
              </a:ext>
            </a:extLst>
          </p:cNvPr>
          <p:cNvSpPr txBox="1"/>
          <p:nvPr/>
        </p:nvSpPr>
        <p:spPr>
          <a:xfrm>
            <a:off x="3792072" y="5429592"/>
            <a:ext cx="4518210" cy="369332"/>
          </a:xfrm>
          <a:prstGeom prst="rect">
            <a:avLst/>
          </a:prstGeom>
          <a:solidFill>
            <a:schemeClr val="bg1"/>
          </a:solidFill>
        </p:spPr>
        <p:txBody>
          <a:bodyPr wrap="square" rtlCol="0">
            <a:spAutoFit/>
          </a:bodyPr>
          <a:lstStyle/>
          <a:p>
            <a:r>
              <a:rPr lang="en-US" dirty="0"/>
              <a:t>if (</a:t>
            </a:r>
            <a:r>
              <a:rPr lang="en-US" dirty="0" err="1"/>
              <a:t>pixelValue</a:t>
            </a:r>
            <a:r>
              <a:rPr lang="en-US" dirty="0"/>
              <a:t> == 1):</a:t>
            </a:r>
          </a:p>
        </p:txBody>
      </p:sp>
      <p:sp>
        <p:nvSpPr>
          <p:cNvPr id="29" name="TextBox 28">
            <a:extLst>
              <a:ext uri="{FF2B5EF4-FFF2-40B4-BE49-F238E27FC236}">
                <a16:creationId xmlns:a16="http://schemas.microsoft.com/office/drawing/2014/main" id="{806D94FA-3C6C-4C36-8814-99D776B6659C}"/>
              </a:ext>
            </a:extLst>
          </p:cNvPr>
          <p:cNvSpPr txBox="1"/>
          <p:nvPr/>
        </p:nvSpPr>
        <p:spPr>
          <a:xfrm>
            <a:off x="7997963" y="4791877"/>
            <a:ext cx="1023414" cy="369332"/>
          </a:xfrm>
          <a:prstGeom prst="rect">
            <a:avLst/>
          </a:prstGeom>
          <a:noFill/>
        </p:spPr>
        <p:txBody>
          <a:bodyPr wrap="square" rtlCol="0">
            <a:spAutoFit/>
          </a:bodyPr>
          <a:lstStyle/>
          <a:p>
            <a:pPr algn="ctr"/>
            <a:r>
              <a:rPr lang="en-US" dirty="0">
                <a:solidFill>
                  <a:srgbClr val="00B050"/>
                </a:solidFill>
              </a:rPr>
              <a:t># ignore</a:t>
            </a:r>
          </a:p>
        </p:txBody>
      </p:sp>
      <p:sp>
        <p:nvSpPr>
          <p:cNvPr id="28" name="TextBox 27">
            <a:extLst>
              <a:ext uri="{FF2B5EF4-FFF2-40B4-BE49-F238E27FC236}">
                <a16:creationId xmlns:a16="http://schemas.microsoft.com/office/drawing/2014/main" id="{9792C3F0-B891-4254-B7C6-3B657A3B85CF}"/>
              </a:ext>
            </a:extLst>
          </p:cNvPr>
          <p:cNvSpPr txBox="1"/>
          <p:nvPr/>
        </p:nvSpPr>
        <p:spPr>
          <a:xfrm>
            <a:off x="3792073" y="5759930"/>
            <a:ext cx="4693022" cy="369332"/>
          </a:xfrm>
          <a:prstGeom prst="rect">
            <a:avLst/>
          </a:prstGeom>
          <a:solidFill>
            <a:schemeClr val="bg1"/>
          </a:solidFill>
        </p:spPr>
        <p:txBody>
          <a:bodyPr wrap="square" rtlCol="0">
            <a:spAutoFit/>
          </a:bodyPr>
          <a:lstStyle/>
          <a:p>
            <a:r>
              <a:rPr lang="en-US" dirty="0"/>
              <a:t>     </a:t>
            </a:r>
            <a:r>
              <a:rPr lang="en-US" dirty="0" err="1"/>
              <a:t>output.AddFiducial</a:t>
            </a:r>
            <a:r>
              <a:rPr lang="en-US" dirty="0"/>
              <a:t>(pos[0], pos[1], pos[2])</a:t>
            </a:r>
          </a:p>
        </p:txBody>
      </p:sp>
    </p:spTree>
    <p:extLst>
      <p:ext uri="{BB962C8B-B14F-4D97-AF65-F5344CB8AC3E}">
        <p14:creationId xmlns:p14="http://schemas.microsoft.com/office/powerpoint/2010/main" val="689559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01B0893A-4BDE-41E6-8857-262A3BF8DA8F}"/>
              </a:ext>
            </a:extLst>
          </p:cNvPr>
          <p:cNvSpPr/>
          <p:nvPr/>
        </p:nvSpPr>
        <p:spPr>
          <a:xfrm>
            <a:off x="9459693" y="1772775"/>
            <a:ext cx="1121934"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Define Problem</a:t>
            </a:r>
          </a:p>
        </p:txBody>
      </p:sp>
      <p:sp>
        <p:nvSpPr>
          <p:cNvPr id="8" name="Arrow: Circular 7">
            <a:extLst>
              <a:ext uri="{FF2B5EF4-FFF2-40B4-BE49-F238E27FC236}">
                <a16:creationId xmlns:a16="http://schemas.microsoft.com/office/drawing/2014/main" id="{08604D32-D523-4F25-AFC8-2D189AF17EE6}"/>
              </a:ext>
            </a:extLst>
          </p:cNvPr>
          <p:cNvSpPr/>
          <p:nvPr/>
        </p:nvSpPr>
        <p:spPr>
          <a:xfrm>
            <a:off x="6816721" y="1739863"/>
            <a:ext cx="4211211" cy="4211211"/>
          </a:xfrm>
          <a:prstGeom prst="circularArrow">
            <a:avLst>
              <a:gd name="adj1" fmla="val 5195"/>
              <a:gd name="adj2" fmla="val 335545"/>
              <a:gd name="adj3" fmla="val 21294739"/>
              <a:gd name="adj4" fmla="val 19764927"/>
              <a:gd name="adj5" fmla="val 6061"/>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en-US"/>
          </a:p>
        </p:txBody>
      </p:sp>
      <p:sp>
        <p:nvSpPr>
          <p:cNvPr id="9" name="Freeform: Shape 8">
            <a:extLst>
              <a:ext uri="{FF2B5EF4-FFF2-40B4-BE49-F238E27FC236}">
                <a16:creationId xmlns:a16="http://schemas.microsoft.com/office/drawing/2014/main" id="{1EB59233-AD7F-4675-A542-692A6E3D5487}"/>
              </a:ext>
            </a:extLst>
          </p:cNvPr>
          <p:cNvSpPr/>
          <p:nvPr/>
        </p:nvSpPr>
        <p:spPr>
          <a:xfrm>
            <a:off x="10138501" y="3861930"/>
            <a:ext cx="1121934"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Design</a:t>
            </a:r>
          </a:p>
        </p:txBody>
      </p:sp>
      <p:sp>
        <p:nvSpPr>
          <p:cNvPr id="10" name="Arrow: Circular 9">
            <a:extLst>
              <a:ext uri="{FF2B5EF4-FFF2-40B4-BE49-F238E27FC236}">
                <a16:creationId xmlns:a16="http://schemas.microsoft.com/office/drawing/2014/main" id="{B275146D-43B5-4A87-B3BA-ED7911B1E089}"/>
              </a:ext>
            </a:extLst>
          </p:cNvPr>
          <p:cNvSpPr/>
          <p:nvPr/>
        </p:nvSpPr>
        <p:spPr>
          <a:xfrm>
            <a:off x="6816721" y="1739863"/>
            <a:ext cx="4211211" cy="4211211"/>
          </a:xfrm>
          <a:prstGeom prst="circularArrow">
            <a:avLst>
              <a:gd name="adj1" fmla="val 5195"/>
              <a:gd name="adj2" fmla="val 335545"/>
              <a:gd name="adj3" fmla="val 4016250"/>
              <a:gd name="adj4" fmla="val 2252007"/>
              <a:gd name="adj5" fmla="val 6061"/>
            </a:avLst>
          </a:pr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en-US"/>
          </a:p>
        </p:txBody>
      </p:sp>
      <p:sp>
        <p:nvSpPr>
          <p:cNvPr id="11" name="Freeform: Shape 10">
            <a:extLst>
              <a:ext uri="{FF2B5EF4-FFF2-40B4-BE49-F238E27FC236}">
                <a16:creationId xmlns:a16="http://schemas.microsoft.com/office/drawing/2014/main" id="{DCF975C5-96B7-4DF2-91B7-FA0BD2388841}"/>
              </a:ext>
            </a:extLst>
          </p:cNvPr>
          <p:cNvSpPr/>
          <p:nvPr/>
        </p:nvSpPr>
        <p:spPr>
          <a:xfrm>
            <a:off x="8321017" y="5247228"/>
            <a:ext cx="1293629"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b="1" kern="1200" dirty="0"/>
              <a:t>Implement</a:t>
            </a:r>
          </a:p>
        </p:txBody>
      </p:sp>
      <p:sp>
        <p:nvSpPr>
          <p:cNvPr id="12" name="Arrow: Circular 11">
            <a:extLst>
              <a:ext uri="{FF2B5EF4-FFF2-40B4-BE49-F238E27FC236}">
                <a16:creationId xmlns:a16="http://schemas.microsoft.com/office/drawing/2014/main" id="{C931BEA8-C1CE-43BE-99C9-0B9075A147C4}"/>
              </a:ext>
            </a:extLst>
          </p:cNvPr>
          <p:cNvSpPr/>
          <p:nvPr/>
        </p:nvSpPr>
        <p:spPr>
          <a:xfrm>
            <a:off x="6816721" y="1739863"/>
            <a:ext cx="4211211" cy="4211211"/>
          </a:xfrm>
          <a:prstGeom prst="circularArrow">
            <a:avLst>
              <a:gd name="adj1" fmla="val 5195"/>
              <a:gd name="adj2" fmla="val 335545"/>
              <a:gd name="adj3" fmla="val 8212447"/>
              <a:gd name="adj4" fmla="val 6448204"/>
              <a:gd name="adj5" fmla="val 6061"/>
            </a:avLst>
          </a:pr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a:lstStyle/>
          <a:p>
            <a:endParaRPr lang="en-US"/>
          </a:p>
        </p:txBody>
      </p:sp>
      <p:sp>
        <p:nvSpPr>
          <p:cNvPr id="13" name="Freeform: Shape 12">
            <a:extLst>
              <a:ext uri="{FF2B5EF4-FFF2-40B4-BE49-F238E27FC236}">
                <a16:creationId xmlns:a16="http://schemas.microsoft.com/office/drawing/2014/main" id="{9BE4E709-E8FE-42BF-9A12-BAC75E3F3204}"/>
              </a:ext>
            </a:extLst>
          </p:cNvPr>
          <p:cNvSpPr/>
          <p:nvPr/>
        </p:nvSpPr>
        <p:spPr>
          <a:xfrm>
            <a:off x="6584218" y="3861930"/>
            <a:ext cx="1121934"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Test</a:t>
            </a:r>
          </a:p>
        </p:txBody>
      </p:sp>
      <p:sp>
        <p:nvSpPr>
          <p:cNvPr id="14" name="Arrow: Circular 13">
            <a:extLst>
              <a:ext uri="{FF2B5EF4-FFF2-40B4-BE49-F238E27FC236}">
                <a16:creationId xmlns:a16="http://schemas.microsoft.com/office/drawing/2014/main" id="{47013EBC-A85E-48D7-8336-E5CDFC1C699E}"/>
              </a:ext>
            </a:extLst>
          </p:cNvPr>
          <p:cNvSpPr/>
          <p:nvPr/>
        </p:nvSpPr>
        <p:spPr>
          <a:xfrm>
            <a:off x="6816721" y="1739863"/>
            <a:ext cx="4211211" cy="4211211"/>
          </a:xfrm>
          <a:prstGeom prst="circularArrow">
            <a:avLst>
              <a:gd name="adj1" fmla="val 5195"/>
              <a:gd name="adj2" fmla="val 335545"/>
              <a:gd name="adj3" fmla="val 12299528"/>
              <a:gd name="adj4" fmla="val 10769715"/>
              <a:gd name="adj5" fmla="val 6061"/>
            </a:avLst>
          </a:pr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a:lstStyle/>
          <a:p>
            <a:endParaRPr lang="en-US"/>
          </a:p>
        </p:txBody>
      </p:sp>
      <p:sp>
        <p:nvSpPr>
          <p:cNvPr id="15" name="Freeform: Shape 14">
            <a:extLst>
              <a:ext uri="{FF2B5EF4-FFF2-40B4-BE49-F238E27FC236}">
                <a16:creationId xmlns:a16="http://schemas.microsoft.com/office/drawing/2014/main" id="{96326257-6A8B-4AB8-8439-45A9D8B1EABF}"/>
              </a:ext>
            </a:extLst>
          </p:cNvPr>
          <p:cNvSpPr/>
          <p:nvPr/>
        </p:nvSpPr>
        <p:spPr>
          <a:xfrm>
            <a:off x="7263026" y="1772775"/>
            <a:ext cx="1121934" cy="1121934"/>
          </a:xfrm>
          <a:custGeom>
            <a:avLst/>
            <a:gdLst>
              <a:gd name="connsiteX0" fmla="*/ 0 w 1121934"/>
              <a:gd name="connsiteY0" fmla="*/ 0 h 1121934"/>
              <a:gd name="connsiteX1" fmla="*/ 1121934 w 1121934"/>
              <a:gd name="connsiteY1" fmla="*/ 0 h 1121934"/>
              <a:gd name="connsiteX2" fmla="*/ 1121934 w 1121934"/>
              <a:gd name="connsiteY2" fmla="*/ 1121934 h 1121934"/>
              <a:gd name="connsiteX3" fmla="*/ 0 w 1121934"/>
              <a:gd name="connsiteY3" fmla="*/ 1121934 h 1121934"/>
              <a:gd name="connsiteX4" fmla="*/ 0 w 1121934"/>
              <a:gd name="connsiteY4" fmla="*/ 0 h 112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934" h="1121934">
                <a:moveTo>
                  <a:pt x="0" y="0"/>
                </a:moveTo>
                <a:lnTo>
                  <a:pt x="1121934" y="0"/>
                </a:lnTo>
                <a:lnTo>
                  <a:pt x="1121934" y="1121934"/>
                </a:lnTo>
                <a:lnTo>
                  <a:pt x="0" y="1121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Analyze</a:t>
            </a:r>
          </a:p>
        </p:txBody>
      </p:sp>
      <p:sp>
        <p:nvSpPr>
          <p:cNvPr id="16" name="Arrow: Circular 15">
            <a:extLst>
              <a:ext uri="{FF2B5EF4-FFF2-40B4-BE49-F238E27FC236}">
                <a16:creationId xmlns:a16="http://schemas.microsoft.com/office/drawing/2014/main" id="{50551519-CF1E-4B63-9553-87B5FFC66262}"/>
              </a:ext>
            </a:extLst>
          </p:cNvPr>
          <p:cNvSpPr/>
          <p:nvPr/>
        </p:nvSpPr>
        <p:spPr>
          <a:xfrm>
            <a:off x="6816721" y="1739863"/>
            <a:ext cx="4211211" cy="4211211"/>
          </a:xfrm>
          <a:prstGeom prst="circularArrow">
            <a:avLst>
              <a:gd name="adj1" fmla="val 5195"/>
              <a:gd name="adj2" fmla="val 335545"/>
              <a:gd name="adj3" fmla="val 16867234"/>
              <a:gd name="adj4" fmla="val 15197221"/>
              <a:gd name="adj5" fmla="val 6061"/>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US"/>
          </a:p>
        </p:txBody>
      </p:sp>
      <p:sp>
        <p:nvSpPr>
          <p:cNvPr id="3" name="Title 2">
            <a:extLst>
              <a:ext uri="{FF2B5EF4-FFF2-40B4-BE49-F238E27FC236}">
                <a16:creationId xmlns:a16="http://schemas.microsoft.com/office/drawing/2014/main" id="{7E10ADDA-0E25-4979-8B77-C5E21DA7DDCB}"/>
              </a:ext>
            </a:extLst>
          </p:cNvPr>
          <p:cNvSpPr>
            <a:spLocks noGrp="1"/>
          </p:cNvSpPr>
          <p:nvPr>
            <p:ph type="title"/>
          </p:nvPr>
        </p:nvSpPr>
        <p:spPr/>
        <p:txBody>
          <a:bodyPr/>
          <a:lstStyle/>
          <a:p>
            <a:r>
              <a:rPr lang="en-US" dirty="0"/>
              <a:t>Code Design Cycle</a:t>
            </a:r>
          </a:p>
        </p:txBody>
      </p:sp>
      <p:sp>
        <p:nvSpPr>
          <p:cNvPr id="5" name="Content Placeholder 4">
            <a:extLst>
              <a:ext uri="{FF2B5EF4-FFF2-40B4-BE49-F238E27FC236}">
                <a16:creationId xmlns:a16="http://schemas.microsoft.com/office/drawing/2014/main" id="{142253C1-B65B-42B2-AFA4-DAFC9177DC5C}"/>
              </a:ext>
            </a:extLst>
          </p:cNvPr>
          <p:cNvSpPr txBox="1">
            <a:spLocks/>
          </p:cNvSpPr>
          <p:nvPr/>
        </p:nvSpPr>
        <p:spPr>
          <a:xfrm>
            <a:off x="609601" y="1628799"/>
            <a:ext cx="6082748" cy="4536505"/>
          </a:xfrm>
          <a:prstGeom prst="rect">
            <a:avLst/>
          </a:prstGeom>
        </p:spPr>
        <p:txBody>
          <a:bodyPr vert="horz" lIns="0" tIns="0" rIns="0" bIns="0" rtlCol="0">
            <a:normAutofit/>
          </a:bodyPr>
          <a:lstStyle>
            <a:lvl1pPr marL="269875" indent="-269875" algn="l" defTabSz="457200" rtl="0" eaLnBrk="1" latinLnBrk="0" hangingPunct="1">
              <a:lnSpc>
                <a:spcPct val="120000"/>
              </a:lnSpc>
              <a:spcBef>
                <a:spcPts val="0"/>
              </a:spcBef>
              <a:buClr>
                <a:srgbClr val="0A2D50"/>
              </a:buClr>
              <a:buFont typeface="Arial"/>
              <a:buChar char="•"/>
              <a:defRPr sz="2400" kern="1200">
                <a:solidFill>
                  <a:schemeClr val="tx1"/>
                </a:solidFill>
                <a:latin typeface="Georgia"/>
                <a:ea typeface="+mn-ea"/>
                <a:cs typeface="Georgia"/>
              </a:defRPr>
            </a:lvl1pPr>
            <a:lvl2pPr marL="539750"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2pPr>
            <a:lvl3pPr marL="809625"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3pPr>
            <a:lvl4pPr marL="1079500"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4pPr>
            <a:lvl5pPr marL="1341438" indent="-261938"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fontAlgn="auto">
              <a:spcAft>
                <a:spcPts val="0"/>
              </a:spcAft>
            </a:pPr>
            <a:r>
              <a:rPr lang="en-US" dirty="0"/>
              <a:t>Implement</a:t>
            </a:r>
          </a:p>
          <a:p>
            <a:pPr lvl="1" fontAlgn="auto">
              <a:spcAft>
                <a:spcPts val="0"/>
              </a:spcAft>
            </a:pPr>
            <a:r>
              <a:rPr lang="en-US" dirty="0"/>
              <a:t>Translate Pseudo-Code to actual code</a:t>
            </a:r>
          </a:p>
          <a:p>
            <a:pPr marL="269875" lvl="1" indent="0" fontAlgn="auto">
              <a:spcAft>
                <a:spcPts val="0"/>
              </a:spcAft>
              <a:buNone/>
            </a:pPr>
            <a:endParaRPr lang="en-US" dirty="0"/>
          </a:p>
          <a:p>
            <a:pPr fontAlgn="auto">
              <a:spcAft>
                <a:spcPts val="0"/>
              </a:spcAft>
            </a:pPr>
            <a:r>
              <a:rPr lang="en-US" dirty="0"/>
              <a:t>Key here is to start small and build up</a:t>
            </a:r>
          </a:p>
          <a:p>
            <a:pPr lvl="1" fontAlgn="auto">
              <a:spcAft>
                <a:spcPts val="0"/>
              </a:spcAft>
            </a:pPr>
            <a:r>
              <a:rPr lang="en-US" dirty="0"/>
              <a:t>Now we only have to finish up the things we don’t know how to do</a:t>
            </a:r>
          </a:p>
          <a:p>
            <a:pPr lvl="1" fontAlgn="auto">
              <a:spcAft>
                <a:spcPts val="0"/>
              </a:spcAft>
            </a:pPr>
            <a:endParaRPr lang="en-US" dirty="0"/>
          </a:p>
          <a:p>
            <a:pPr lvl="1" fontAlgn="auto">
              <a:spcAft>
                <a:spcPts val="0"/>
              </a:spcAft>
            </a:pPr>
            <a:endParaRPr lang="en-US" dirty="0"/>
          </a:p>
          <a:p>
            <a:pPr lvl="1" fontAlgn="auto">
              <a:spcAft>
                <a:spcPts val="0"/>
              </a:spcAft>
            </a:pPr>
            <a:endParaRPr lang="en-US" dirty="0"/>
          </a:p>
        </p:txBody>
      </p:sp>
    </p:spTree>
    <p:extLst>
      <p:ext uri="{BB962C8B-B14F-4D97-AF65-F5344CB8AC3E}">
        <p14:creationId xmlns:p14="http://schemas.microsoft.com/office/powerpoint/2010/main" val="38795892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DDB10EDD-CED2-41C0-8DD3-41E65CA05DE6}"/>
              </a:ext>
            </a:extLst>
          </p:cNvPr>
          <p:cNvSpPr txBox="1"/>
          <p:nvPr/>
        </p:nvSpPr>
        <p:spPr>
          <a:xfrm>
            <a:off x="1030100" y="4245308"/>
            <a:ext cx="2003115" cy="369332"/>
          </a:xfrm>
          <a:prstGeom prst="rect">
            <a:avLst/>
          </a:prstGeom>
          <a:solidFill>
            <a:schemeClr val="bg1"/>
          </a:solidFill>
        </p:spPr>
        <p:txBody>
          <a:bodyPr wrap="square" rtlCol="0">
            <a:spAutoFit/>
          </a:bodyPr>
          <a:lstStyle/>
          <a:p>
            <a:r>
              <a:rPr lang="en-US" dirty="0"/>
              <a:t>Structure (Image)</a:t>
            </a:r>
          </a:p>
        </p:txBody>
      </p:sp>
      <p:sp>
        <p:nvSpPr>
          <p:cNvPr id="3" name="Title 2">
            <a:extLst>
              <a:ext uri="{FF2B5EF4-FFF2-40B4-BE49-F238E27FC236}">
                <a16:creationId xmlns:a16="http://schemas.microsoft.com/office/drawing/2014/main" id="{7E10ADDA-0E25-4979-8B77-C5E21DA7DDCB}"/>
              </a:ext>
            </a:extLst>
          </p:cNvPr>
          <p:cNvSpPr>
            <a:spLocks noGrp="1"/>
          </p:cNvSpPr>
          <p:nvPr>
            <p:ph type="title"/>
          </p:nvPr>
        </p:nvSpPr>
        <p:spPr/>
        <p:txBody>
          <a:bodyPr/>
          <a:lstStyle/>
          <a:p>
            <a:r>
              <a:rPr lang="en-US" dirty="0"/>
              <a:t>Code Design Cycle</a:t>
            </a:r>
          </a:p>
        </p:txBody>
      </p:sp>
      <p:sp>
        <p:nvSpPr>
          <p:cNvPr id="5" name="Content Placeholder 4">
            <a:extLst>
              <a:ext uri="{FF2B5EF4-FFF2-40B4-BE49-F238E27FC236}">
                <a16:creationId xmlns:a16="http://schemas.microsoft.com/office/drawing/2014/main" id="{142253C1-B65B-42B2-AFA4-DAFC9177DC5C}"/>
              </a:ext>
            </a:extLst>
          </p:cNvPr>
          <p:cNvSpPr txBox="1">
            <a:spLocks/>
          </p:cNvSpPr>
          <p:nvPr/>
        </p:nvSpPr>
        <p:spPr>
          <a:xfrm>
            <a:off x="609600" y="1628799"/>
            <a:ext cx="10349753" cy="4536505"/>
          </a:xfrm>
          <a:prstGeom prst="rect">
            <a:avLst/>
          </a:prstGeom>
        </p:spPr>
        <p:txBody>
          <a:bodyPr vert="horz" lIns="0" tIns="0" rIns="0" bIns="0" rtlCol="0">
            <a:normAutofit/>
          </a:bodyPr>
          <a:lstStyle>
            <a:lvl1pPr marL="269875" indent="-269875" algn="l" defTabSz="457200" rtl="0" eaLnBrk="1" latinLnBrk="0" hangingPunct="1">
              <a:lnSpc>
                <a:spcPct val="120000"/>
              </a:lnSpc>
              <a:spcBef>
                <a:spcPts val="0"/>
              </a:spcBef>
              <a:buClr>
                <a:srgbClr val="0A2D50"/>
              </a:buClr>
              <a:buFont typeface="Arial"/>
              <a:buChar char="•"/>
              <a:defRPr sz="2400" kern="1200">
                <a:solidFill>
                  <a:schemeClr val="tx1"/>
                </a:solidFill>
                <a:latin typeface="Georgia"/>
                <a:ea typeface="+mn-ea"/>
                <a:cs typeface="Georgia"/>
              </a:defRPr>
            </a:lvl1pPr>
            <a:lvl2pPr marL="539750"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2pPr>
            <a:lvl3pPr marL="809625"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3pPr>
            <a:lvl4pPr marL="1079500"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4pPr>
            <a:lvl5pPr marL="1341438" indent="-261938"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fontAlgn="auto">
              <a:spcAft>
                <a:spcPts val="0"/>
              </a:spcAft>
            </a:pPr>
            <a:r>
              <a:rPr lang="en-US" dirty="0"/>
              <a:t>Implement</a:t>
            </a:r>
          </a:p>
          <a:p>
            <a:pPr lvl="1" fontAlgn="auto">
              <a:spcAft>
                <a:spcPts val="0"/>
              </a:spcAft>
            </a:pPr>
            <a:r>
              <a:rPr lang="en-US" dirty="0"/>
              <a:t>We need </a:t>
            </a:r>
            <a:r>
              <a:rPr lang="en-US" dirty="0" err="1"/>
              <a:t>pixelValue</a:t>
            </a:r>
            <a:r>
              <a:rPr lang="en-US" dirty="0"/>
              <a:t> from our </a:t>
            </a:r>
            <a:r>
              <a:rPr lang="en-US" dirty="0" err="1"/>
              <a:t>vtkDataImage</a:t>
            </a:r>
            <a:endParaRPr lang="en-US" dirty="0"/>
          </a:p>
          <a:p>
            <a:pPr lvl="1" fontAlgn="auto">
              <a:spcAft>
                <a:spcPts val="0"/>
              </a:spcAft>
            </a:pPr>
            <a:endParaRPr lang="en-US" dirty="0"/>
          </a:p>
          <a:p>
            <a:pPr lvl="1" fontAlgn="auto">
              <a:spcAft>
                <a:spcPts val="0"/>
              </a:spcAft>
            </a:pPr>
            <a:endParaRPr lang="en-US" dirty="0"/>
          </a:p>
        </p:txBody>
      </p:sp>
      <p:sp>
        <p:nvSpPr>
          <p:cNvPr id="2" name="Rectangle: Rounded Corners 1">
            <a:extLst>
              <a:ext uri="{FF2B5EF4-FFF2-40B4-BE49-F238E27FC236}">
                <a16:creationId xmlns:a16="http://schemas.microsoft.com/office/drawing/2014/main" id="{42754339-E6F7-45DF-AF29-52A07C7D7097}"/>
              </a:ext>
            </a:extLst>
          </p:cNvPr>
          <p:cNvSpPr/>
          <p:nvPr/>
        </p:nvSpPr>
        <p:spPr>
          <a:xfrm>
            <a:off x="3180021" y="3437857"/>
            <a:ext cx="5759244" cy="2731589"/>
          </a:xfrm>
          <a:prstGeom prst="roundRect">
            <a:avLst/>
          </a:prstGeom>
          <a:ln/>
        </p:spPr>
        <p:style>
          <a:lnRef idx="2">
            <a:schemeClr val="dk1"/>
          </a:lnRef>
          <a:fillRef idx="1">
            <a:schemeClr val="lt1"/>
          </a:fillRef>
          <a:effectRef idx="0">
            <a:schemeClr val="dk1"/>
          </a:effectRef>
          <a:fontRef idx="minor">
            <a:schemeClr val="dk1"/>
          </a:fontRef>
        </p:style>
        <p:txBody>
          <a:bodyPr rtlCol="0" anchor="t"/>
          <a:lstStyle/>
          <a:p>
            <a:pPr algn="ctr"/>
            <a:r>
              <a:rPr lang="en-US" dirty="0"/>
              <a:t>MY PROGRAM</a:t>
            </a:r>
          </a:p>
        </p:txBody>
      </p:sp>
      <p:cxnSp>
        <p:nvCxnSpPr>
          <p:cNvPr id="6" name="Straight Arrow Connector 5">
            <a:extLst>
              <a:ext uri="{FF2B5EF4-FFF2-40B4-BE49-F238E27FC236}">
                <a16:creationId xmlns:a16="http://schemas.microsoft.com/office/drawing/2014/main" id="{7BB5DB76-CE97-43CD-BF9A-BFDA738BFFA2}"/>
              </a:ext>
            </a:extLst>
          </p:cNvPr>
          <p:cNvCxnSpPr/>
          <p:nvPr/>
        </p:nvCxnSpPr>
        <p:spPr>
          <a:xfrm>
            <a:off x="1743514" y="4155284"/>
            <a:ext cx="126829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358B00B1-DBFC-4A3F-9162-3C9BB96C9382}"/>
              </a:ext>
            </a:extLst>
          </p:cNvPr>
          <p:cNvSpPr txBox="1"/>
          <p:nvPr/>
        </p:nvSpPr>
        <p:spPr>
          <a:xfrm>
            <a:off x="1370664" y="3774430"/>
            <a:ext cx="1484081" cy="369332"/>
          </a:xfrm>
          <a:prstGeom prst="rect">
            <a:avLst/>
          </a:prstGeom>
          <a:noFill/>
        </p:spPr>
        <p:txBody>
          <a:bodyPr wrap="square" rtlCol="0">
            <a:spAutoFit/>
          </a:bodyPr>
          <a:lstStyle/>
          <a:p>
            <a:r>
              <a:rPr lang="en-US" dirty="0"/>
              <a:t>List of points</a:t>
            </a:r>
          </a:p>
        </p:txBody>
      </p:sp>
      <p:cxnSp>
        <p:nvCxnSpPr>
          <p:cNvPr id="20" name="Straight Arrow Connector 19">
            <a:extLst>
              <a:ext uri="{FF2B5EF4-FFF2-40B4-BE49-F238E27FC236}">
                <a16:creationId xmlns:a16="http://schemas.microsoft.com/office/drawing/2014/main" id="{E4A36FF8-323B-4378-BEEC-E41EC6E8E409}"/>
              </a:ext>
            </a:extLst>
          </p:cNvPr>
          <p:cNvCxnSpPr/>
          <p:nvPr/>
        </p:nvCxnSpPr>
        <p:spPr>
          <a:xfrm>
            <a:off x="1743514" y="4700815"/>
            <a:ext cx="126829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1CF01DD4-E871-4311-A84E-112FA70F8AC4}"/>
              </a:ext>
            </a:extLst>
          </p:cNvPr>
          <p:cNvCxnSpPr/>
          <p:nvPr/>
        </p:nvCxnSpPr>
        <p:spPr>
          <a:xfrm>
            <a:off x="9127196" y="4409755"/>
            <a:ext cx="126829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5F5493AD-521C-40D7-A965-52F3624BE35D}"/>
              </a:ext>
            </a:extLst>
          </p:cNvPr>
          <p:cNvSpPr txBox="1"/>
          <p:nvPr/>
        </p:nvSpPr>
        <p:spPr>
          <a:xfrm>
            <a:off x="9337255" y="3959096"/>
            <a:ext cx="1484081" cy="369332"/>
          </a:xfrm>
          <a:prstGeom prst="rect">
            <a:avLst/>
          </a:prstGeom>
          <a:noFill/>
        </p:spPr>
        <p:txBody>
          <a:bodyPr wrap="square" rtlCol="0">
            <a:spAutoFit/>
          </a:bodyPr>
          <a:lstStyle/>
          <a:p>
            <a:r>
              <a:rPr lang="en-US" dirty="0"/>
              <a:t>List of points</a:t>
            </a:r>
          </a:p>
        </p:txBody>
      </p:sp>
      <p:sp>
        <p:nvSpPr>
          <p:cNvPr id="24" name="TextBox 23">
            <a:extLst>
              <a:ext uri="{FF2B5EF4-FFF2-40B4-BE49-F238E27FC236}">
                <a16:creationId xmlns:a16="http://schemas.microsoft.com/office/drawing/2014/main" id="{27926F51-50A0-4194-8B56-458F55990079}"/>
              </a:ext>
            </a:extLst>
          </p:cNvPr>
          <p:cNvSpPr txBox="1"/>
          <p:nvPr/>
        </p:nvSpPr>
        <p:spPr>
          <a:xfrm>
            <a:off x="3252735" y="3942745"/>
            <a:ext cx="5357682" cy="2031325"/>
          </a:xfrm>
          <a:prstGeom prst="rect">
            <a:avLst/>
          </a:prstGeom>
          <a:noFill/>
        </p:spPr>
        <p:txBody>
          <a:bodyPr wrap="square" rtlCol="0">
            <a:spAutoFit/>
          </a:bodyPr>
          <a:lstStyle/>
          <a:p>
            <a:r>
              <a:rPr lang="en-US" dirty="0"/>
              <a:t>Iterate over points</a:t>
            </a:r>
          </a:p>
          <a:p>
            <a:pPr lvl="1"/>
            <a:endParaRPr lang="en-US" dirty="0"/>
          </a:p>
          <a:p>
            <a:pPr lvl="1"/>
            <a:endParaRPr lang="en-US" dirty="0"/>
          </a:p>
          <a:p>
            <a:pPr lvl="1"/>
            <a:r>
              <a:rPr lang="en-US" dirty="0">
                <a:solidFill>
                  <a:srgbClr val="FF0000"/>
                </a:solidFill>
              </a:rPr>
              <a:t>For each point find corresponding point in image</a:t>
            </a:r>
          </a:p>
          <a:p>
            <a:pPr lvl="1"/>
            <a:r>
              <a:rPr lang="en-US" dirty="0"/>
              <a:t>	Check if image value at point is correct</a:t>
            </a:r>
          </a:p>
          <a:p>
            <a:pPr lvl="1"/>
            <a:r>
              <a:rPr lang="en-US" dirty="0"/>
              <a:t>		place point into new list	</a:t>
            </a:r>
          </a:p>
        </p:txBody>
      </p:sp>
      <p:sp>
        <p:nvSpPr>
          <p:cNvPr id="12" name="TextBox 11">
            <a:extLst>
              <a:ext uri="{FF2B5EF4-FFF2-40B4-BE49-F238E27FC236}">
                <a16:creationId xmlns:a16="http://schemas.microsoft.com/office/drawing/2014/main" id="{46BDD4D6-E999-41D8-B6DA-B13A1D720E0B}"/>
              </a:ext>
            </a:extLst>
          </p:cNvPr>
          <p:cNvSpPr txBox="1"/>
          <p:nvPr/>
        </p:nvSpPr>
        <p:spPr>
          <a:xfrm>
            <a:off x="800914" y="3447122"/>
            <a:ext cx="2099254" cy="646331"/>
          </a:xfrm>
          <a:prstGeom prst="rect">
            <a:avLst/>
          </a:prstGeom>
          <a:solidFill>
            <a:schemeClr val="bg1"/>
          </a:solidFill>
        </p:spPr>
        <p:txBody>
          <a:bodyPr wrap="square" rtlCol="0">
            <a:spAutoFit/>
          </a:bodyPr>
          <a:lstStyle/>
          <a:p>
            <a:pPr algn="ctr"/>
            <a:r>
              <a:rPr lang="en-US" dirty="0" err="1"/>
              <a:t>vtkMRMLMarkupsFiducialNode</a:t>
            </a:r>
            <a:endParaRPr lang="en-US" dirty="0"/>
          </a:p>
        </p:txBody>
      </p:sp>
      <p:sp>
        <p:nvSpPr>
          <p:cNvPr id="13" name="TextBox 12">
            <a:extLst>
              <a:ext uri="{FF2B5EF4-FFF2-40B4-BE49-F238E27FC236}">
                <a16:creationId xmlns:a16="http://schemas.microsoft.com/office/drawing/2014/main" id="{1468A674-426B-4B8F-95C5-36A2A52702A0}"/>
              </a:ext>
            </a:extLst>
          </p:cNvPr>
          <p:cNvSpPr txBox="1"/>
          <p:nvPr/>
        </p:nvSpPr>
        <p:spPr>
          <a:xfrm>
            <a:off x="9029668" y="3669563"/>
            <a:ext cx="2099254" cy="646331"/>
          </a:xfrm>
          <a:prstGeom prst="rect">
            <a:avLst/>
          </a:prstGeom>
          <a:solidFill>
            <a:schemeClr val="bg1"/>
          </a:solidFill>
        </p:spPr>
        <p:txBody>
          <a:bodyPr wrap="square" rtlCol="0">
            <a:spAutoFit/>
          </a:bodyPr>
          <a:lstStyle/>
          <a:p>
            <a:pPr algn="ctr"/>
            <a:r>
              <a:rPr lang="en-US" dirty="0" err="1"/>
              <a:t>vtkMRMLMarkupsFiducialNode</a:t>
            </a:r>
            <a:endParaRPr lang="en-US" dirty="0"/>
          </a:p>
        </p:txBody>
      </p:sp>
      <p:sp>
        <p:nvSpPr>
          <p:cNvPr id="14" name="TextBox 13">
            <a:extLst>
              <a:ext uri="{FF2B5EF4-FFF2-40B4-BE49-F238E27FC236}">
                <a16:creationId xmlns:a16="http://schemas.microsoft.com/office/drawing/2014/main" id="{52956AA1-0A8D-4DD5-ADB8-658F81141896}"/>
              </a:ext>
            </a:extLst>
          </p:cNvPr>
          <p:cNvSpPr txBox="1"/>
          <p:nvPr/>
        </p:nvSpPr>
        <p:spPr>
          <a:xfrm>
            <a:off x="805657" y="4256831"/>
            <a:ext cx="2099254" cy="369332"/>
          </a:xfrm>
          <a:prstGeom prst="rect">
            <a:avLst/>
          </a:prstGeom>
          <a:solidFill>
            <a:schemeClr val="bg1"/>
          </a:solidFill>
        </p:spPr>
        <p:txBody>
          <a:bodyPr wrap="square" rtlCol="0">
            <a:spAutoFit/>
          </a:bodyPr>
          <a:lstStyle/>
          <a:p>
            <a:pPr algn="ctr"/>
            <a:r>
              <a:rPr lang="en-US" dirty="0" err="1"/>
              <a:t>vtkImageData</a:t>
            </a:r>
            <a:endParaRPr lang="en-US" dirty="0"/>
          </a:p>
        </p:txBody>
      </p:sp>
      <p:sp>
        <p:nvSpPr>
          <p:cNvPr id="15" name="TextBox 14">
            <a:extLst>
              <a:ext uri="{FF2B5EF4-FFF2-40B4-BE49-F238E27FC236}">
                <a16:creationId xmlns:a16="http://schemas.microsoft.com/office/drawing/2014/main" id="{EB45C9B7-0758-4349-B466-087173D6AA94}"/>
              </a:ext>
            </a:extLst>
          </p:cNvPr>
          <p:cNvSpPr txBox="1"/>
          <p:nvPr/>
        </p:nvSpPr>
        <p:spPr>
          <a:xfrm>
            <a:off x="3257658" y="3948090"/>
            <a:ext cx="5409808" cy="923330"/>
          </a:xfrm>
          <a:prstGeom prst="rect">
            <a:avLst/>
          </a:prstGeom>
          <a:solidFill>
            <a:schemeClr val="bg1"/>
          </a:solidFill>
        </p:spPr>
        <p:txBody>
          <a:bodyPr wrap="square" rtlCol="0">
            <a:spAutoFit/>
          </a:bodyPr>
          <a:lstStyle/>
          <a:p>
            <a:r>
              <a:rPr lang="en-US" dirty="0"/>
              <a:t>For x in range (0, </a:t>
            </a:r>
            <a:r>
              <a:rPr lang="en-US" dirty="0" err="1"/>
              <a:t>input.GetNumberOfFiducials</a:t>
            </a:r>
            <a:r>
              <a:rPr lang="en-US" dirty="0"/>
              <a:t>()) :                              </a:t>
            </a:r>
          </a:p>
          <a:p>
            <a:pPr lvl="1"/>
            <a:r>
              <a:rPr lang="en-US" dirty="0"/>
              <a:t>pos = [0,0,0]</a:t>
            </a:r>
          </a:p>
          <a:p>
            <a:pPr lvl="1"/>
            <a:r>
              <a:rPr lang="en-US" dirty="0" err="1"/>
              <a:t>inputFiducials.GetNthFiducialPosition</a:t>
            </a:r>
            <a:r>
              <a:rPr lang="en-US" dirty="0"/>
              <a:t>(x, pos)</a:t>
            </a:r>
          </a:p>
        </p:txBody>
      </p:sp>
      <p:sp>
        <p:nvSpPr>
          <p:cNvPr id="25" name="TextBox 24">
            <a:extLst>
              <a:ext uri="{FF2B5EF4-FFF2-40B4-BE49-F238E27FC236}">
                <a16:creationId xmlns:a16="http://schemas.microsoft.com/office/drawing/2014/main" id="{76F04151-B09D-4C01-B6F5-0F6E96A2E3C8}"/>
              </a:ext>
            </a:extLst>
          </p:cNvPr>
          <p:cNvSpPr txBox="1"/>
          <p:nvPr/>
        </p:nvSpPr>
        <p:spPr>
          <a:xfrm>
            <a:off x="3737308" y="4810644"/>
            <a:ext cx="4450507" cy="646331"/>
          </a:xfrm>
          <a:prstGeom prst="rect">
            <a:avLst/>
          </a:prstGeom>
          <a:solidFill>
            <a:schemeClr val="bg1"/>
          </a:solidFill>
        </p:spPr>
        <p:txBody>
          <a:bodyPr wrap="square" rtlCol="0">
            <a:spAutoFit/>
          </a:bodyPr>
          <a:lstStyle/>
          <a:p>
            <a:r>
              <a:rPr lang="en-US" dirty="0" err="1">
                <a:solidFill>
                  <a:srgbClr val="FF0000"/>
                </a:solidFill>
              </a:rPr>
              <a:t>pixelValue</a:t>
            </a:r>
            <a:r>
              <a:rPr lang="en-US" dirty="0">
                <a:solidFill>
                  <a:srgbClr val="FF0000"/>
                </a:solidFill>
              </a:rPr>
              <a:t> = </a:t>
            </a:r>
            <a:r>
              <a:rPr lang="en-US" dirty="0" err="1">
                <a:solidFill>
                  <a:srgbClr val="FF0000"/>
                </a:solidFill>
              </a:rPr>
              <a:t>random.random</a:t>
            </a:r>
            <a:r>
              <a:rPr lang="en-US" dirty="0">
                <a:solidFill>
                  <a:srgbClr val="FF0000"/>
                </a:solidFill>
              </a:rPr>
              <a:t>()</a:t>
            </a:r>
          </a:p>
          <a:p>
            <a:pPr algn="ctr"/>
            <a:endParaRPr lang="en-US" dirty="0">
              <a:solidFill>
                <a:srgbClr val="FF0000"/>
              </a:solidFill>
            </a:endParaRPr>
          </a:p>
        </p:txBody>
      </p:sp>
      <p:sp>
        <p:nvSpPr>
          <p:cNvPr id="26" name="TextBox 25">
            <a:extLst>
              <a:ext uri="{FF2B5EF4-FFF2-40B4-BE49-F238E27FC236}">
                <a16:creationId xmlns:a16="http://schemas.microsoft.com/office/drawing/2014/main" id="{4EFC688B-BA30-475C-B11A-4097BC4A3D84}"/>
              </a:ext>
            </a:extLst>
          </p:cNvPr>
          <p:cNvSpPr txBox="1"/>
          <p:nvPr/>
        </p:nvSpPr>
        <p:spPr>
          <a:xfrm>
            <a:off x="3792072" y="5429592"/>
            <a:ext cx="4518210" cy="369332"/>
          </a:xfrm>
          <a:prstGeom prst="rect">
            <a:avLst/>
          </a:prstGeom>
          <a:solidFill>
            <a:schemeClr val="bg1"/>
          </a:solidFill>
        </p:spPr>
        <p:txBody>
          <a:bodyPr wrap="square" rtlCol="0">
            <a:spAutoFit/>
          </a:bodyPr>
          <a:lstStyle/>
          <a:p>
            <a:r>
              <a:rPr lang="en-US" dirty="0"/>
              <a:t>if (</a:t>
            </a:r>
            <a:r>
              <a:rPr lang="en-US" dirty="0" err="1"/>
              <a:t>pixelValue</a:t>
            </a:r>
            <a:r>
              <a:rPr lang="en-US" dirty="0"/>
              <a:t> == 1):</a:t>
            </a:r>
          </a:p>
        </p:txBody>
      </p:sp>
      <p:sp>
        <p:nvSpPr>
          <p:cNvPr id="29" name="TextBox 28">
            <a:extLst>
              <a:ext uri="{FF2B5EF4-FFF2-40B4-BE49-F238E27FC236}">
                <a16:creationId xmlns:a16="http://schemas.microsoft.com/office/drawing/2014/main" id="{806D94FA-3C6C-4C36-8814-99D776B6659C}"/>
              </a:ext>
            </a:extLst>
          </p:cNvPr>
          <p:cNvSpPr txBox="1"/>
          <p:nvPr/>
        </p:nvSpPr>
        <p:spPr>
          <a:xfrm>
            <a:off x="7997963" y="4791877"/>
            <a:ext cx="1023414" cy="369332"/>
          </a:xfrm>
          <a:prstGeom prst="rect">
            <a:avLst/>
          </a:prstGeom>
          <a:noFill/>
        </p:spPr>
        <p:txBody>
          <a:bodyPr wrap="square" rtlCol="0">
            <a:spAutoFit/>
          </a:bodyPr>
          <a:lstStyle/>
          <a:p>
            <a:pPr algn="ctr"/>
            <a:r>
              <a:rPr lang="en-US" dirty="0">
                <a:solidFill>
                  <a:srgbClr val="00B050"/>
                </a:solidFill>
              </a:rPr>
              <a:t># ignore</a:t>
            </a:r>
          </a:p>
        </p:txBody>
      </p:sp>
      <p:sp>
        <p:nvSpPr>
          <p:cNvPr id="28" name="TextBox 27">
            <a:extLst>
              <a:ext uri="{FF2B5EF4-FFF2-40B4-BE49-F238E27FC236}">
                <a16:creationId xmlns:a16="http://schemas.microsoft.com/office/drawing/2014/main" id="{9792C3F0-B891-4254-B7C6-3B657A3B85CF}"/>
              </a:ext>
            </a:extLst>
          </p:cNvPr>
          <p:cNvSpPr txBox="1"/>
          <p:nvPr/>
        </p:nvSpPr>
        <p:spPr>
          <a:xfrm>
            <a:off x="3792073" y="5759930"/>
            <a:ext cx="4693022" cy="369332"/>
          </a:xfrm>
          <a:prstGeom prst="rect">
            <a:avLst/>
          </a:prstGeom>
          <a:solidFill>
            <a:schemeClr val="bg1"/>
          </a:solidFill>
        </p:spPr>
        <p:txBody>
          <a:bodyPr wrap="square" rtlCol="0">
            <a:spAutoFit/>
          </a:bodyPr>
          <a:lstStyle/>
          <a:p>
            <a:r>
              <a:rPr lang="en-US" dirty="0"/>
              <a:t>     </a:t>
            </a:r>
            <a:r>
              <a:rPr lang="en-US" dirty="0" err="1"/>
              <a:t>output.AddFiducial</a:t>
            </a:r>
            <a:r>
              <a:rPr lang="en-US" dirty="0"/>
              <a:t>(pos[0], pos[1], pos[2])</a:t>
            </a:r>
          </a:p>
        </p:txBody>
      </p:sp>
    </p:spTree>
    <p:extLst>
      <p:ext uri="{BB962C8B-B14F-4D97-AF65-F5344CB8AC3E}">
        <p14:creationId xmlns:p14="http://schemas.microsoft.com/office/powerpoint/2010/main" val="3689830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B8D34EE-0807-4A47-9F10-DD1C29900464}"/>
              </a:ext>
            </a:extLst>
          </p:cNvPr>
          <p:cNvSpPr>
            <a:spLocks noGrp="1"/>
          </p:cNvSpPr>
          <p:nvPr>
            <p:ph sz="quarter" idx="13"/>
          </p:nvPr>
        </p:nvSpPr>
        <p:spPr/>
        <p:txBody>
          <a:bodyPr/>
          <a:lstStyle/>
          <a:p>
            <a:pPr marL="0" indent="0">
              <a:buNone/>
            </a:pPr>
            <a:r>
              <a:rPr lang="en-US" dirty="0"/>
              <a:t>There are many ways to do this</a:t>
            </a:r>
          </a:p>
          <a:p>
            <a:pPr lvl="1"/>
            <a:r>
              <a:rPr lang="en-US" dirty="0"/>
              <a:t>Documentation: </a:t>
            </a:r>
            <a:r>
              <a:rPr lang="en-US" dirty="0">
                <a:hlinkClick r:id="rId3"/>
              </a:rPr>
              <a:t>https://vtk.org/doc/nightly/html/classvtkImageData.html</a:t>
            </a:r>
            <a:endParaRPr lang="en-US" dirty="0"/>
          </a:p>
          <a:p>
            <a:pPr lvl="1"/>
            <a:r>
              <a:rPr lang="en-US" dirty="0"/>
              <a:t>Inline help </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r>
              <a:rPr lang="en-US" dirty="0"/>
              <a:t>Tab complete to list functions</a:t>
            </a:r>
          </a:p>
        </p:txBody>
      </p:sp>
      <p:sp>
        <p:nvSpPr>
          <p:cNvPr id="3" name="Title 2">
            <a:extLst>
              <a:ext uri="{FF2B5EF4-FFF2-40B4-BE49-F238E27FC236}">
                <a16:creationId xmlns:a16="http://schemas.microsoft.com/office/drawing/2014/main" id="{423B120E-6B97-48A5-90E4-FF07384FDC99}"/>
              </a:ext>
            </a:extLst>
          </p:cNvPr>
          <p:cNvSpPr>
            <a:spLocks noGrp="1"/>
          </p:cNvSpPr>
          <p:nvPr>
            <p:ph type="title"/>
          </p:nvPr>
        </p:nvSpPr>
        <p:spPr/>
        <p:txBody>
          <a:bodyPr/>
          <a:lstStyle/>
          <a:p>
            <a:r>
              <a:rPr lang="en-US" dirty="0" err="1"/>
              <a:t>vtkImageData</a:t>
            </a:r>
            <a:endParaRPr lang="en-US" dirty="0"/>
          </a:p>
        </p:txBody>
      </p:sp>
      <p:pic>
        <p:nvPicPr>
          <p:cNvPr id="4" name="Picture 3">
            <a:extLst>
              <a:ext uri="{FF2B5EF4-FFF2-40B4-BE49-F238E27FC236}">
                <a16:creationId xmlns:a16="http://schemas.microsoft.com/office/drawing/2014/main" id="{E8D3364E-F33D-46A2-B6A2-3A1DF4B905D4}"/>
              </a:ext>
            </a:extLst>
          </p:cNvPr>
          <p:cNvPicPr>
            <a:picLocks noChangeAspect="1"/>
          </p:cNvPicPr>
          <p:nvPr/>
        </p:nvPicPr>
        <p:blipFill>
          <a:blip r:embed="rId4"/>
          <a:stretch>
            <a:fillRect/>
          </a:stretch>
        </p:blipFill>
        <p:spPr>
          <a:xfrm>
            <a:off x="2882153" y="2551580"/>
            <a:ext cx="5943600" cy="1943100"/>
          </a:xfrm>
          <a:prstGeom prst="rect">
            <a:avLst/>
          </a:prstGeom>
        </p:spPr>
      </p:pic>
      <p:pic>
        <p:nvPicPr>
          <p:cNvPr id="5" name="Picture 4">
            <a:extLst>
              <a:ext uri="{FF2B5EF4-FFF2-40B4-BE49-F238E27FC236}">
                <a16:creationId xmlns:a16="http://schemas.microsoft.com/office/drawing/2014/main" id="{79C28665-9CA1-4147-8B59-3FD731571412}"/>
              </a:ext>
            </a:extLst>
          </p:cNvPr>
          <p:cNvPicPr>
            <a:picLocks noChangeAspect="1"/>
          </p:cNvPicPr>
          <p:nvPr/>
        </p:nvPicPr>
        <p:blipFill>
          <a:blip r:embed="rId5"/>
          <a:stretch>
            <a:fillRect/>
          </a:stretch>
        </p:blipFill>
        <p:spPr>
          <a:xfrm>
            <a:off x="4299697" y="5550272"/>
            <a:ext cx="4076700" cy="1028700"/>
          </a:xfrm>
          <a:prstGeom prst="rect">
            <a:avLst/>
          </a:prstGeom>
        </p:spPr>
      </p:pic>
    </p:spTree>
    <p:extLst>
      <p:ext uri="{BB962C8B-B14F-4D97-AF65-F5344CB8AC3E}">
        <p14:creationId xmlns:p14="http://schemas.microsoft.com/office/powerpoint/2010/main" val="1615016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B8D34EE-0807-4A47-9F10-DD1C29900464}"/>
              </a:ext>
            </a:extLst>
          </p:cNvPr>
          <p:cNvSpPr>
            <a:spLocks noGrp="1"/>
          </p:cNvSpPr>
          <p:nvPr>
            <p:ph sz="quarter" idx="13"/>
          </p:nvPr>
        </p:nvSpPr>
        <p:spPr/>
        <p:txBody>
          <a:bodyPr/>
          <a:lstStyle/>
          <a:p>
            <a:pPr marL="0" indent="0">
              <a:buNone/>
            </a:pPr>
            <a:r>
              <a:rPr lang="en-US" dirty="0"/>
              <a:t>There are many ways to do this</a:t>
            </a:r>
          </a:p>
          <a:p>
            <a:pPr lvl="1"/>
            <a:r>
              <a:rPr lang="en-US" dirty="0"/>
              <a:t>Documentation: </a:t>
            </a:r>
            <a:r>
              <a:rPr lang="en-US" dirty="0">
                <a:hlinkClick r:id="rId3"/>
              </a:rPr>
              <a:t>https://vtk.org/doc/nightly/html/classvtkImageData.html</a:t>
            </a:r>
            <a:endParaRPr lang="en-US" dirty="0"/>
          </a:p>
          <a:p>
            <a:pPr lvl="1"/>
            <a:r>
              <a:rPr lang="en-US" dirty="0"/>
              <a:t>Inline help </a:t>
            </a:r>
          </a:p>
          <a:p>
            <a:pPr lvl="1"/>
            <a:r>
              <a:rPr lang="en-US" dirty="0"/>
              <a:t>Tab complete to list functions</a:t>
            </a:r>
          </a:p>
          <a:p>
            <a:pPr lvl="1"/>
            <a:r>
              <a:rPr lang="en-US" dirty="0"/>
              <a:t>Other online program forums: </a:t>
            </a:r>
            <a:r>
              <a:rPr lang="en-US" dirty="0">
                <a:hlinkClick r:id="rId4"/>
              </a:rPr>
              <a:t>https://programtalk.com/python-examples/vtk.vtkImageData/</a:t>
            </a:r>
            <a:r>
              <a:rPr lang="en-US" dirty="0"/>
              <a:t>; </a:t>
            </a:r>
            <a:r>
              <a:rPr lang="en-US" dirty="0">
                <a:hlinkClick r:id="rId5"/>
              </a:rPr>
              <a:t>https://stackoverflow.com/questions/tagged/vtk</a:t>
            </a:r>
            <a:r>
              <a:rPr lang="en-US" dirty="0"/>
              <a:t> </a:t>
            </a:r>
          </a:p>
          <a:p>
            <a:pPr marL="269875" lvl="1" indent="0">
              <a:buNone/>
            </a:pPr>
            <a:endParaRPr lang="en-US" dirty="0"/>
          </a:p>
          <a:p>
            <a:pPr marL="0" indent="0">
              <a:buNone/>
            </a:pPr>
            <a:r>
              <a:rPr lang="en-US" dirty="0"/>
              <a:t>We are still going to need a bit of reasoning/trial and error</a:t>
            </a:r>
          </a:p>
          <a:p>
            <a:pPr lvl="1"/>
            <a:r>
              <a:rPr lang="en-US" dirty="0"/>
              <a:t>Find/Get usually retrieve things</a:t>
            </a:r>
          </a:p>
          <a:p>
            <a:pPr lvl="1"/>
            <a:r>
              <a:rPr lang="en-US" dirty="0"/>
              <a:t>Set usually sets things</a:t>
            </a:r>
          </a:p>
        </p:txBody>
      </p:sp>
      <p:sp>
        <p:nvSpPr>
          <p:cNvPr id="3" name="Title 2">
            <a:extLst>
              <a:ext uri="{FF2B5EF4-FFF2-40B4-BE49-F238E27FC236}">
                <a16:creationId xmlns:a16="http://schemas.microsoft.com/office/drawing/2014/main" id="{423B120E-6B97-48A5-90E4-FF07384FDC99}"/>
              </a:ext>
            </a:extLst>
          </p:cNvPr>
          <p:cNvSpPr>
            <a:spLocks noGrp="1"/>
          </p:cNvSpPr>
          <p:nvPr>
            <p:ph type="title"/>
          </p:nvPr>
        </p:nvSpPr>
        <p:spPr/>
        <p:txBody>
          <a:bodyPr/>
          <a:lstStyle/>
          <a:p>
            <a:r>
              <a:rPr lang="en-US" dirty="0" err="1"/>
              <a:t>vtkImageData</a:t>
            </a:r>
            <a:endParaRPr lang="en-US" dirty="0"/>
          </a:p>
        </p:txBody>
      </p:sp>
    </p:spTree>
    <p:extLst>
      <p:ext uri="{BB962C8B-B14F-4D97-AF65-F5344CB8AC3E}">
        <p14:creationId xmlns:p14="http://schemas.microsoft.com/office/powerpoint/2010/main" val="1230664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B8D34EE-0807-4A47-9F10-DD1C29900464}"/>
              </a:ext>
            </a:extLst>
          </p:cNvPr>
          <p:cNvSpPr>
            <a:spLocks noGrp="1"/>
          </p:cNvSpPr>
          <p:nvPr>
            <p:ph sz="quarter" idx="13"/>
          </p:nvPr>
        </p:nvSpPr>
        <p:spPr/>
        <p:txBody>
          <a:bodyPr/>
          <a:lstStyle/>
          <a:p>
            <a:pPr marL="0" indent="0">
              <a:buNone/>
            </a:pPr>
            <a:r>
              <a:rPr lang="en-US" dirty="0"/>
              <a:t>Read to identify likely candidates</a:t>
            </a:r>
          </a:p>
          <a:p>
            <a:pPr marL="0" indent="0">
              <a:buNone/>
            </a:pPr>
            <a:endParaRPr lang="en-US" dirty="0"/>
          </a:p>
        </p:txBody>
      </p:sp>
      <p:sp>
        <p:nvSpPr>
          <p:cNvPr id="3" name="Title 2">
            <a:extLst>
              <a:ext uri="{FF2B5EF4-FFF2-40B4-BE49-F238E27FC236}">
                <a16:creationId xmlns:a16="http://schemas.microsoft.com/office/drawing/2014/main" id="{423B120E-6B97-48A5-90E4-FF07384FDC99}"/>
              </a:ext>
            </a:extLst>
          </p:cNvPr>
          <p:cNvSpPr>
            <a:spLocks noGrp="1"/>
          </p:cNvSpPr>
          <p:nvPr>
            <p:ph type="title"/>
          </p:nvPr>
        </p:nvSpPr>
        <p:spPr/>
        <p:txBody>
          <a:bodyPr/>
          <a:lstStyle/>
          <a:p>
            <a:r>
              <a:rPr lang="en-US" dirty="0" err="1"/>
              <a:t>vtkImageData</a:t>
            </a:r>
            <a:endParaRPr lang="en-US" dirty="0"/>
          </a:p>
        </p:txBody>
      </p:sp>
      <p:sp>
        <p:nvSpPr>
          <p:cNvPr id="4" name="Rectangle 3">
            <a:extLst>
              <a:ext uri="{FF2B5EF4-FFF2-40B4-BE49-F238E27FC236}">
                <a16:creationId xmlns:a16="http://schemas.microsoft.com/office/drawing/2014/main" id="{B21E39B6-A6CD-4AC1-8EBF-C384F3AC9CDC}"/>
              </a:ext>
            </a:extLst>
          </p:cNvPr>
          <p:cNvSpPr/>
          <p:nvPr/>
        </p:nvSpPr>
        <p:spPr>
          <a:xfrm>
            <a:off x="352232" y="2547524"/>
            <a:ext cx="6096000" cy="3970318"/>
          </a:xfrm>
          <a:prstGeom prst="rect">
            <a:avLst/>
          </a:prstGeom>
        </p:spPr>
        <p:txBody>
          <a:bodyPr>
            <a:spAutoFit/>
          </a:bodyPr>
          <a:lstStyle/>
          <a:p>
            <a:r>
              <a:rPr lang="en-US" dirty="0">
                <a:solidFill>
                  <a:srgbClr val="000000"/>
                </a:solidFill>
                <a:latin typeface="Courier"/>
              </a:rPr>
              <a:t>&gt;&gt;&gt; </a:t>
            </a:r>
            <a:r>
              <a:rPr lang="en-US" dirty="0">
                <a:solidFill>
                  <a:srgbClr val="000096"/>
                </a:solidFill>
                <a:latin typeface="Courier"/>
              </a:rPr>
              <a:t>help(</a:t>
            </a:r>
            <a:r>
              <a:rPr lang="en-US" dirty="0" err="1">
                <a:solidFill>
                  <a:srgbClr val="000096"/>
                </a:solidFill>
                <a:latin typeface="Courier"/>
              </a:rPr>
              <a:t>vtk.vtkImageData</a:t>
            </a:r>
            <a:r>
              <a:rPr lang="en-US" dirty="0">
                <a:solidFill>
                  <a:srgbClr val="000096"/>
                </a:solidFill>
                <a:latin typeface="Courier"/>
              </a:rPr>
              <a:t>().</a:t>
            </a:r>
            <a:r>
              <a:rPr lang="en-US" dirty="0" err="1">
                <a:solidFill>
                  <a:srgbClr val="000096"/>
                </a:solidFill>
                <a:latin typeface="Courier"/>
              </a:rPr>
              <a:t>FindPoint</a:t>
            </a:r>
            <a:r>
              <a:rPr lang="en-US" dirty="0">
                <a:solidFill>
                  <a:srgbClr val="000096"/>
                </a:solidFill>
                <a:latin typeface="Courier"/>
              </a:rPr>
              <a:t>)</a:t>
            </a:r>
            <a:endParaRPr lang="en-US" dirty="0"/>
          </a:p>
          <a:p>
            <a:r>
              <a:rPr lang="en-US" dirty="0">
                <a:solidFill>
                  <a:srgbClr val="009600"/>
                </a:solidFill>
                <a:latin typeface="Courier"/>
              </a:rPr>
              <a:t>Help on built-in function </a:t>
            </a:r>
            <a:r>
              <a:rPr lang="en-US" dirty="0" err="1">
                <a:solidFill>
                  <a:srgbClr val="009600"/>
                </a:solidFill>
                <a:latin typeface="Courier"/>
              </a:rPr>
              <a:t>FindPoint</a:t>
            </a:r>
            <a:r>
              <a:rPr lang="en-US" dirty="0">
                <a:solidFill>
                  <a:srgbClr val="009600"/>
                </a:solidFill>
                <a:latin typeface="Courier"/>
              </a:rPr>
              <a:t>:</a:t>
            </a:r>
            <a:endParaRPr lang="en-US" dirty="0"/>
          </a:p>
          <a:p>
            <a:br>
              <a:rPr lang="en-US" dirty="0">
                <a:solidFill>
                  <a:srgbClr val="009600"/>
                </a:solidFill>
                <a:latin typeface="Courier"/>
              </a:rPr>
            </a:br>
            <a:endParaRPr lang="en-US" dirty="0">
              <a:solidFill>
                <a:srgbClr val="009600"/>
              </a:solidFill>
              <a:latin typeface="Courier"/>
            </a:endParaRPr>
          </a:p>
          <a:p>
            <a:r>
              <a:rPr lang="en-US" dirty="0" err="1">
                <a:solidFill>
                  <a:srgbClr val="009600"/>
                </a:solidFill>
                <a:latin typeface="Courier"/>
              </a:rPr>
              <a:t>FindPoint</a:t>
            </a:r>
            <a:r>
              <a:rPr lang="en-US" dirty="0">
                <a:solidFill>
                  <a:srgbClr val="009600"/>
                </a:solidFill>
                <a:latin typeface="Courier"/>
              </a:rPr>
              <a:t>(...)</a:t>
            </a:r>
            <a:endParaRPr lang="en-US" dirty="0"/>
          </a:p>
          <a:p>
            <a:r>
              <a:rPr lang="en-US" dirty="0" err="1">
                <a:solidFill>
                  <a:srgbClr val="009600"/>
                </a:solidFill>
                <a:latin typeface="Courier"/>
              </a:rPr>
              <a:t>V.FindPoint</a:t>
            </a:r>
            <a:r>
              <a:rPr lang="en-US" dirty="0">
                <a:solidFill>
                  <a:srgbClr val="009600"/>
                </a:solidFill>
                <a:latin typeface="Courier"/>
              </a:rPr>
              <a:t>(float, float, float) -&gt; int</a:t>
            </a:r>
            <a:endParaRPr lang="en-US" dirty="0"/>
          </a:p>
          <a:p>
            <a:r>
              <a:rPr lang="en-US" dirty="0">
                <a:solidFill>
                  <a:srgbClr val="009600"/>
                </a:solidFill>
                <a:latin typeface="Courier"/>
              </a:rPr>
              <a:t>C++: virtual </a:t>
            </a:r>
            <a:r>
              <a:rPr lang="en-US" dirty="0" err="1">
                <a:solidFill>
                  <a:srgbClr val="009600"/>
                </a:solidFill>
                <a:latin typeface="Courier"/>
              </a:rPr>
              <a:t>vtkIdType</a:t>
            </a:r>
            <a:r>
              <a:rPr lang="en-US" dirty="0">
                <a:solidFill>
                  <a:srgbClr val="009600"/>
                </a:solidFill>
                <a:latin typeface="Courier"/>
              </a:rPr>
              <a:t> </a:t>
            </a:r>
            <a:r>
              <a:rPr lang="en-US" dirty="0" err="1">
                <a:solidFill>
                  <a:srgbClr val="009600"/>
                </a:solidFill>
                <a:latin typeface="Courier"/>
              </a:rPr>
              <a:t>FindPoint</a:t>
            </a:r>
            <a:r>
              <a:rPr lang="en-US" dirty="0">
                <a:solidFill>
                  <a:srgbClr val="009600"/>
                </a:solidFill>
                <a:latin typeface="Courier"/>
              </a:rPr>
              <a:t>(double x, double y, double z)</a:t>
            </a:r>
            <a:endParaRPr lang="en-US" dirty="0"/>
          </a:p>
          <a:p>
            <a:r>
              <a:rPr lang="en-US" dirty="0" err="1">
                <a:solidFill>
                  <a:srgbClr val="009600"/>
                </a:solidFill>
                <a:latin typeface="Courier"/>
              </a:rPr>
              <a:t>V.FindPoint</a:t>
            </a:r>
            <a:r>
              <a:rPr lang="en-US" dirty="0">
                <a:solidFill>
                  <a:srgbClr val="009600"/>
                </a:solidFill>
                <a:latin typeface="Courier"/>
              </a:rPr>
              <a:t>([float, float, float]) -&gt; int</a:t>
            </a:r>
            <a:endParaRPr lang="en-US" dirty="0"/>
          </a:p>
          <a:p>
            <a:r>
              <a:rPr lang="en-US" dirty="0">
                <a:solidFill>
                  <a:srgbClr val="009600"/>
                </a:solidFill>
                <a:latin typeface="Courier"/>
              </a:rPr>
              <a:t>C++: </a:t>
            </a:r>
            <a:r>
              <a:rPr lang="en-US" dirty="0" err="1">
                <a:solidFill>
                  <a:srgbClr val="009600"/>
                </a:solidFill>
                <a:latin typeface="Courier"/>
              </a:rPr>
              <a:t>vtkIdType</a:t>
            </a:r>
            <a:r>
              <a:rPr lang="en-US" dirty="0">
                <a:solidFill>
                  <a:srgbClr val="009600"/>
                </a:solidFill>
                <a:latin typeface="Courier"/>
              </a:rPr>
              <a:t> </a:t>
            </a:r>
            <a:r>
              <a:rPr lang="en-US" dirty="0" err="1">
                <a:solidFill>
                  <a:srgbClr val="009600"/>
                </a:solidFill>
                <a:latin typeface="Courier"/>
              </a:rPr>
              <a:t>FindPoint</a:t>
            </a:r>
            <a:r>
              <a:rPr lang="en-US" dirty="0">
                <a:solidFill>
                  <a:srgbClr val="009600"/>
                </a:solidFill>
                <a:latin typeface="Courier"/>
              </a:rPr>
              <a:t>(double x[3]) override;</a:t>
            </a:r>
            <a:endParaRPr lang="en-US" dirty="0"/>
          </a:p>
          <a:p>
            <a:r>
              <a:rPr lang="en-US" dirty="0">
                <a:solidFill>
                  <a:srgbClr val="009600"/>
                </a:solidFill>
                <a:latin typeface="Courier"/>
              </a:rPr>
              <a:t>Standard </a:t>
            </a:r>
            <a:r>
              <a:rPr lang="en-US" dirty="0" err="1">
                <a:solidFill>
                  <a:srgbClr val="009600"/>
                </a:solidFill>
                <a:latin typeface="Courier"/>
              </a:rPr>
              <a:t>vtkDataSet</a:t>
            </a:r>
            <a:r>
              <a:rPr lang="en-US" dirty="0">
                <a:solidFill>
                  <a:srgbClr val="009600"/>
                </a:solidFill>
                <a:latin typeface="Courier"/>
              </a:rPr>
              <a:t> API methods. See </a:t>
            </a:r>
            <a:r>
              <a:rPr lang="en-US" dirty="0" err="1">
                <a:solidFill>
                  <a:srgbClr val="009600"/>
                </a:solidFill>
                <a:latin typeface="Courier"/>
              </a:rPr>
              <a:t>vtkDataSet</a:t>
            </a:r>
            <a:r>
              <a:rPr lang="en-US" dirty="0">
                <a:solidFill>
                  <a:srgbClr val="009600"/>
                </a:solidFill>
                <a:latin typeface="Courier"/>
              </a:rPr>
              <a:t> for more</a:t>
            </a:r>
            <a:endParaRPr lang="en-US" dirty="0"/>
          </a:p>
          <a:p>
            <a:r>
              <a:rPr lang="en-US" dirty="0">
                <a:solidFill>
                  <a:srgbClr val="009600"/>
                </a:solidFill>
                <a:latin typeface="Courier"/>
              </a:rPr>
              <a:t>information.</a:t>
            </a:r>
            <a:endParaRPr lang="en-US" dirty="0"/>
          </a:p>
        </p:txBody>
      </p:sp>
      <p:sp>
        <p:nvSpPr>
          <p:cNvPr id="5" name="Rectangle 4">
            <a:extLst>
              <a:ext uri="{FF2B5EF4-FFF2-40B4-BE49-F238E27FC236}">
                <a16:creationId xmlns:a16="http://schemas.microsoft.com/office/drawing/2014/main" id="{4F4716C2-DA64-4C98-A152-A40929333B86}"/>
              </a:ext>
            </a:extLst>
          </p:cNvPr>
          <p:cNvSpPr/>
          <p:nvPr/>
        </p:nvSpPr>
        <p:spPr>
          <a:xfrm>
            <a:off x="6096000" y="2547524"/>
            <a:ext cx="6096000" cy="3970318"/>
          </a:xfrm>
          <a:prstGeom prst="rect">
            <a:avLst/>
          </a:prstGeom>
        </p:spPr>
        <p:txBody>
          <a:bodyPr>
            <a:spAutoFit/>
          </a:bodyPr>
          <a:lstStyle/>
          <a:p>
            <a:r>
              <a:rPr lang="en-US" dirty="0">
                <a:solidFill>
                  <a:srgbClr val="000000"/>
                </a:solidFill>
                <a:latin typeface="Courier"/>
              </a:rPr>
              <a:t>&gt;&gt;&gt; </a:t>
            </a:r>
            <a:r>
              <a:rPr lang="en-US" dirty="0">
                <a:solidFill>
                  <a:srgbClr val="000096"/>
                </a:solidFill>
                <a:latin typeface="Courier"/>
              </a:rPr>
              <a:t>help(</a:t>
            </a:r>
            <a:r>
              <a:rPr lang="en-US" dirty="0" err="1">
                <a:solidFill>
                  <a:srgbClr val="000096"/>
                </a:solidFill>
                <a:latin typeface="Courier"/>
              </a:rPr>
              <a:t>vtk.vtkImageData</a:t>
            </a:r>
            <a:r>
              <a:rPr lang="en-US" dirty="0">
                <a:solidFill>
                  <a:srgbClr val="000096"/>
                </a:solidFill>
                <a:latin typeface="Courier"/>
              </a:rPr>
              <a:t>().</a:t>
            </a:r>
            <a:r>
              <a:rPr lang="en-US" dirty="0" err="1">
                <a:solidFill>
                  <a:srgbClr val="000096"/>
                </a:solidFill>
                <a:latin typeface="Courier"/>
              </a:rPr>
              <a:t>GetPoint</a:t>
            </a:r>
            <a:r>
              <a:rPr lang="en-US" dirty="0">
                <a:solidFill>
                  <a:srgbClr val="000096"/>
                </a:solidFill>
                <a:latin typeface="Courier"/>
              </a:rPr>
              <a:t>)</a:t>
            </a:r>
            <a:endParaRPr lang="en-US" dirty="0"/>
          </a:p>
          <a:p>
            <a:r>
              <a:rPr lang="en-US" dirty="0">
                <a:solidFill>
                  <a:srgbClr val="009600"/>
                </a:solidFill>
                <a:latin typeface="Courier"/>
              </a:rPr>
              <a:t>Help on built-in function </a:t>
            </a:r>
            <a:r>
              <a:rPr lang="en-US" dirty="0" err="1">
                <a:solidFill>
                  <a:srgbClr val="009600"/>
                </a:solidFill>
                <a:latin typeface="Courier"/>
              </a:rPr>
              <a:t>GetPoint</a:t>
            </a:r>
            <a:r>
              <a:rPr lang="en-US" dirty="0">
                <a:solidFill>
                  <a:srgbClr val="009600"/>
                </a:solidFill>
                <a:latin typeface="Courier"/>
              </a:rPr>
              <a:t>:</a:t>
            </a:r>
            <a:endParaRPr lang="en-US" dirty="0"/>
          </a:p>
          <a:p>
            <a:br>
              <a:rPr lang="en-US" dirty="0">
                <a:solidFill>
                  <a:srgbClr val="009600"/>
                </a:solidFill>
                <a:latin typeface="Courier"/>
              </a:rPr>
            </a:br>
            <a:endParaRPr lang="en-US" dirty="0">
              <a:solidFill>
                <a:srgbClr val="009600"/>
              </a:solidFill>
              <a:latin typeface="Courier"/>
            </a:endParaRPr>
          </a:p>
          <a:p>
            <a:r>
              <a:rPr lang="en-US" dirty="0" err="1">
                <a:solidFill>
                  <a:srgbClr val="009600"/>
                </a:solidFill>
                <a:latin typeface="Courier"/>
              </a:rPr>
              <a:t>GetPoint</a:t>
            </a:r>
            <a:r>
              <a:rPr lang="en-US" dirty="0">
                <a:solidFill>
                  <a:srgbClr val="009600"/>
                </a:solidFill>
                <a:latin typeface="Courier"/>
              </a:rPr>
              <a:t>(...)</a:t>
            </a:r>
            <a:endParaRPr lang="en-US" dirty="0"/>
          </a:p>
          <a:p>
            <a:r>
              <a:rPr lang="en-US" dirty="0" err="1">
                <a:solidFill>
                  <a:srgbClr val="009600"/>
                </a:solidFill>
                <a:latin typeface="Courier"/>
              </a:rPr>
              <a:t>V.GetPoint</a:t>
            </a:r>
            <a:r>
              <a:rPr lang="en-US" dirty="0">
                <a:solidFill>
                  <a:srgbClr val="009600"/>
                </a:solidFill>
                <a:latin typeface="Courier"/>
              </a:rPr>
              <a:t>(int) -&gt; (float, float, float)</a:t>
            </a:r>
            <a:endParaRPr lang="en-US" dirty="0"/>
          </a:p>
          <a:p>
            <a:r>
              <a:rPr lang="en-US" dirty="0">
                <a:solidFill>
                  <a:srgbClr val="009600"/>
                </a:solidFill>
                <a:latin typeface="Courier"/>
              </a:rPr>
              <a:t>C++: double *</a:t>
            </a:r>
            <a:r>
              <a:rPr lang="en-US" dirty="0" err="1">
                <a:solidFill>
                  <a:srgbClr val="009600"/>
                </a:solidFill>
                <a:latin typeface="Courier"/>
              </a:rPr>
              <a:t>GetPoint</a:t>
            </a:r>
            <a:r>
              <a:rPr lang="en-US" dirty="0">
                <a:solidFill>
                  <a:srgbClr val="009600"/>
                </a:solidFill>
                <a:latin typeface="Courier"/>
              </a:rPr>
              <a:t>(</a:t>
            </a:r>
            <a:r>
              <a:rPr lang="en-US" dirty="0" err="1">
                <a:solidFill>
                  <a:srgbClr val="009600"/>
                </a:solidFill>
                <a:latin typeface="Courier"/>
              </a:rPr>
              <a:t>vtkIdType</a:t>
            </a:r>
            <a:r>
              <a:rPr lang="en-US" dirty="0">
                <a:solidFill>
                  <a:srgbClr val="009600"/>
                </a:solidFill>
                <a:latin typeface="Courier"/>
              </a:rPr>
              <a:t> </a:t>
            </a:r>
            <a:r>
              <a:rPr lang="en-US" dirty="0" err="1">
                <a:solidFill>
                  <a:srgbClr val="009600"/>
                </a:solidFill>
                <a:latin typeface="Courier"/>
              </a:rPr>
              <a:t>ptId</a:t>
            </a:r>
            <a:r>
              <a:rPr lang="en-US" dirty="0">
                <a:solidFill>
                  <a:srgbClr val="009600"/>
                </a:solidFill>
                <a:latin typeface="Courier"/>
              </a:rPr>
              <a:t>) override;</a:t>
            </a:r>
            <a:endParaRPr lang="en-US" dirty="0"/>
          </a:p>
          <a:p>
            <a:r>
              <a:rPr lang="en-US" dirty="0" err="1">
                <a:solidFill>
                  <a:srgbClr val="009600"/>
                </a:solidFill>
                <a:latin typeface="Courier"/>
              </a:rPr>
              <a:t>V.GetPoint</a:t>
            </a:r>
            <a:r>
              <a:rPr lang="en-US" dirty="0">
                <a:solidFill>
                  <a:srgbClr val="009600"/>
                </a:solidFill>
                <a:latin typeface="Courier"/>
              </a:rPr>
              <a:t>(int, [float, float, float])</a:t>
            </a:r>
            <a:endParaRPr lang="en-US" dirty="0"/>
          </a:p>
          <a:p>
            <a:r>
              <a:rPr lang="en-US" dirty="0">
                <a:solidFill>
                  <a:srgbClr val="009600"/>
                </a:solidFill>
                <a:latin typeface="Courier"/>
              </a:rPr>
              <a:t>C++: void </a:t>
            </a:r>
            <a:r>
              <a:rPr lang="en-US" dirty="0" err="1">
                <a:solidFill>
                  <a:srgbClr val="009600"/>
                </a:solidFill>
                <a:latin typeface="Courier"/>
              </a:rPr>
              <a:t>GetPoint</a:t>
            </a:r>
            <a:r>
              <a:rPr lang="en-US" dirty="0">
                <a:solidFill>
                  <a:srgbClr val="009600"/>
                </a:solidFill>
                <a:latin typeface="Courier"/>
              </a:rPr>
              <a:t>(</a:t>
            </a:r>
            <a:r>
              <a:rPr lang="en-US" dirty="0" err="1">
                <a:solidFill>
                  <a:srgbClr val="009600"/>
                </a:solidFill>
                <a:latin typeface="Courier"/>
              </a:rPr>
              <a:t>vtkIdType</a:t>
            </a:r>
            <a:r>
              <a:rPr lang="en-US" dirty="0">
                <a:solidFill>
                  <a:srgbClr val="009600"/>
                </a:solidFill>
                <a:latin typeface="Courier"/>
              </a:rPr>
              <a:t> id, double x[3]) override;</a:t>
            </a:r>
            <a:endParaRPr lang="en-US" dirty="0"/>
          </a:p>
          <a:p>
            <a:r>
              <a:rPr lang="en-US" dirty="0">
                <a:solidFill>
                  <a:srgbClr val="009600"/>
                </a:solidFill>
                <a:latin typeface="Courier"/>
              </a:rPr>
              <a:t>Standard </a:t>
            </a:r>
            <a:r>
              <a:rPr lang="en-US" dirty="0" err="1">
                <a:solidFill>
                  <a:srgbClr val="009600"/>
                </a:solidFill>
                <a:latin typeface="Courier"/>
              </a:rPr>
              <a:t>vtkDataSet</a:t>
            </a:r>
            <a:r>
              <a:rPr lang="en-US" dirty="0">
                <a:solidFill>
                  <a:srgbClr val="009600"/>
                </a:solidFill>
                <a:latin typeface="Courier"/>
              </a:rPr>
              <a:t> API methods. See </a:t>
            </a:r>
            <a:r>
              <a:rPr lang="en-US" dirty="0" err="1">
                <a:solidFill>
                  <a:srgbClr val="009600"/>
                </a:solidFill>
                <a:latin typeface="Courier"/>
              </a:rPr>
              <a:t>vtkDataSet</a:t>
            </a:r>
            <a:r>
              <a:rPr lang="en-US" dirty="0">
                <a:solidFill>
                  <a:srgbClr val="009600"/>
                </a:solidFill>
                <a:latin typeface="Courier"/>
              </a:rPr>
              <a:t> for more</a:t>
            </a:r>
            <a:endParaRPr lang="en-US" dirty="0"/>
          </a:p>
          <a:p>
            <a:r>
              <a:rPr lang="en-US" dirty="0">
                <a:solidFill>
                  <a:srgbClr val="009600"/>
                </a:solidFill>
                <a:latin typeface="Courier"/>
              </a:rPr>
              <a:t>information.</a:t>
            </a:r>
            <a:endParaRPr lang="en-US" dirty="0"/>
          </a:p>
        </p:txBody>
      </p:sp>
    </p:spTree>
    <p:extLst>
      <p:ext uri="{BB962C8B-B14F-4D97-AF65-F5344CB8AC3E}">
        <p14:creationId xmlns:p14="http://schemas.microsoft.com/office/powerpoint/2010/main" val="37789425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DDB10EDD-CED2-41C0-8DD3-41E65CA05DE6}"/>
              </a:ext>
            </a:extLst>
          </p:cNvPr>
          <p:cNvSpPr txBox="1"/>
          <p:nvPr/>
        </p:nvSpPr>
        <p:spPr>
          <a:xfrm>
            <a:off x="1030100" y="4245308"/>
            <a:ext cx="2003115" cy="369332"/>
          </a:xfrm>
          <a:prstGeom prst="rect">
            <a:avLst/>
          </a:prstGeom>
          <a:solidFill>
            <a:schemeClr val="bg1"/>
          </a:solidFill>
        </p:spPr>
        <p:txBody>
          <a:bodyPr wrap="square" rtlCol="0">
            <a:spAutoFit/>
          </a:bodyPr>
          <a:lstStyle/>
          <a:p>
            <a:r>
              <a:rPr lang="en-US" dirty="0"/>
              <a:t>Structure (Image)</a:t>
            </a:r>
          </a:p>
        </p:txBody>
      </p:sp>
      <p:sp>
        <p:nvSpPr>
          <p:cNvPr id="3" name="Title 2">
            <a:extLst>
              <a:ext uri="{FF2B5EF4-FFF2-40B4-BE49-F238E27FC236}">
                <a16:creationId xmlns:a16="http://schemas.microsoft.com/office/drawing/2014/main" id="{7E10ADDA-0E25-4979-8B77-C5E21DA7DDCB}"/>
              </a:ext>
            </a:extLst>
          </p:cNvPr>
          <p:cNvSpPr>
            <a:spLocks noGrp="1"/>
          </p:cNvSpPr>
          <p:nvPr>
            <p:ph type="title"/>
          </p:nvPr>
        </p:nvSpPr>
        <p:spPr/>
        <p:txBody>
          <a:bodyPr/>
          <a:lstStyle/>
          <a:p>
            <a:r>
              <a:rPr lang="en-US" dirty="0"/>
              <a:t>Code Design Cycle</a:t>
            </a:r>
          </a:p>
        </p:txBody>
      </p:sp>
      <p:sp>
        <p:nvSpPr>
          <p:cNvPr id="5" name="Content Placeholder 4">
            <a:extLst>
              <a:ext uri="{FF2B5EF4-FFF2-40B4-BE49-F238E27FC236}">
                <a16:creationId xmlns:a16="http://schemas.microsoft.com/office/drawing/2014/main" id="{142253C1-B65B-42B2-AFA4-DAFC9177DC5C}"/>
              </a:ext>
            </a:extLst>
          </p:cNvPr>
          <p:cNvSpPr txBox="1">
            <a:spLocks/>
          </p:cNvSpPr>
          <p:nvPr/>
        </p:nvSpPr>
        <p:spPr>
          <a:xfrm>
            <a:off x="609600" y="1628799"/>
            <a:ext cx="10349753" cy="4536505"/>
          </a:xfrm>
          <a:prstGeom prst="rect">
            <a:avLst/>
          </a:prstGeom>
        </p:spPr>
        <p:txBody>
          <a:bodyPr vert="horz" lIns="0" tIns="0" rIns="0" bIns="0" rtlCol="0">
            <a:normAutofit/>
          </a:bodyPr>
          <a:lstStyle>
            <a:lvl1pPr marL="269875" indent="-269875" algn="l" defTabSz="457200" rtl="0" eaLnBrk="1" latinLnBrk="0" hangingPunct="1">
              <a:lnSpc>
                <a:spcPct val="120000"/>
              </a:lnSpc>
              <a:spcBef>
                <a:spcPts val="0"/>
              </a:spcBef>
              <a:buClr>
                <a:srgbClr val="0A2D50"/>
              </a:buClr>
              <a:buFont typeface="Arial"/>
              <a:buChar char="•"/>
              <a:defRPr sz="2400" kern="1200">
                <a:solidFill>
                  <a:schemeClr val="tx1"/>
                </a:solidFill>
                <a:latin typeface="Georgia"/>
                <a:ea typeface="+mn-ea"/>
                <a:cs typeface="Georgia"/>
              </a:defRPr>
            </a:lvl1pPr>
            <a:lvl2pPr marL="539750"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2pPr>
            <a:lvl3pPr marL="809625"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3pPr>
            <a:lvl4pPr marL="1079500" indent="-269875"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4pPr>
            <a:lvl5pPr marL="1341438" indent="-261938" algn="l" defTabSz="457200" rtl="0" eaLnBrk="1" latinLnBrk="0" hangingPunct="1">
              <a:lnSpc>
                <a:spcPct val="120000"/>
              </a:lnSpc>
              <a:spcBef>
                <a:spcPts val="0"/>
              </a:spcBef>
              <a:buClr>
                <a:srgbClr val="0A2D50"/>
              </a:buClr>
              <a:buFont typeface="Arial"/>
              <a:buChar char="•"/>
              <a:defRPr sz="20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fontAlgn="auto">
              <a:spcAft>
                <a:spcPts val="0"/>
              </a:spcAft>
            </a:pPr>
            <a:r>
              <a:rPr lang="en-US" dirty="0"/>
              <a:t>Implement</a:t>
            </a:r>
          </a:p>
          <a:p>
            <a:pPr lvl="1" fontAlgn="auto">
              <a:spcAft>
                <a:spcPts val="0"/>
              </a:spcAft>
            </a:pPr>
            <a:r>
              <a:rPr lang="en-US" dirty="0"/>
              <a:t>We need </a:t>
            </a:r>
            <a:r>
              <a:rPr lang="en-US" dirty="0" err="1"/>
              <a:t>pixelValue</a:t>
            </a:r>
            <a:r>
              <a:rPr lang="en-US" dirty="0"/>
              <a:t> from our </a:t>
            </a:r>
            <a:r>
              <a:rPr lang="en-US" dirty="0" err="1"/>
              <a:t>vtkDataImage</a:t>
            </a:r>
            <a:endParaRPr lang="en-US" dirty="0"/>
          </a:p>
          <a:p>
            <a:pPr lvl="1" fontAlgn="auto">
              <a:spcAft>
                <a:spcPts val="0"/>
              </a:spcAft>
            </a:pPr>
            <a:endParaRPr lang="en-US" dirty="0"/>
          </a:p>
          <a:p>
            <a:pPr lvl="1" fontAlgn="auto">
              <a:spcAft>
                <a:spcPts val="0"/>
              </a:spcAft>
            </a:pPr>
            <a:endParaRPr lang="en-US" dirty="0"/>
          </a:p>
        </p:txBody>
      </p:sp>
      <p:sp>
        <p:nvSpPr>
          <p:cNvPr id="2" name="Rectangle: Rounded Corners 1">
            <a:extLst>
              <a:ext uri="{FF2B5EF4-FFF2-40B4-BE49-F238E27FC236}">
                <a16:creationId xmlns:a16="http://schemas.microsoft.com/office/drawing/2014/main" id="{42754339-E6F7-45DF-AF29-52A07C7D7097}"/>
              </a:ext>
            </a:extLst>
          </p:cNvPr>
          <p:cNvSpPr/>
          <p:nvPr/>
        </p:nvSpPr>
        <p:spPr>
          <a:xfrm>
            <a:off x="3180021" y="3437857"/>
            <a:ext cx="5759244" cy="2731589"/>
          </a:xfrm>
          <a:prstGeom prst="roundRect">
            <a:avLst/>
          </a:prstGeom>
          <a:ln/>
        </p:spPr>
        <p:style>
          <a:lnRef idx="2">
            <a:schemeClr val="dk1"/>
          </a:lnRef>
          <a:fillRef idx="1">
            <a:schemeClr val="lt1"/>
          </a:fillRef>
          <a:effectRef idx="0">
            <a:schemeClr val="dk1"/>
          </a:effectRef>
          <a:fontRef idx="minor">
            <a:schemeClr val="dk1"/>
          </a:fontRef>
        </p:style>
        <p:txBody>
          <a:bodyPr rtlCol="0" anchor="t"/>
          <a:lstStyle/>
          <a:p>
            <a:pPr algn="ctr"/>
            <a:r>
              <a:rPr lang="en-US" dirty="0"/>
              <a:t>MY PROGRAM</a:t>
            </a:r>
          </a:p>
        </p:txBody>
      </p:sp>
      <p:cxnSp>
        <p:nvCxnSpPr>
          <p:cNvPr id="6" name="Straight Arrow Connector 5">
            <a:extLst>
              <a:ext uri="{FF2B5EF4-FFF2-40B4-BE49-F238E27FC236}">
                <a16:creationId xmlns:a16="http://schemas.microsoft.com/office/drawing/2014/main" id="{7BB5DB76-CE97-43CD-BF9A-BFDA738BFFA2}"/>
              </a:ext>
            </a:extLst>
          </p:cNvPr>
          <p:cNvCxnSpPr/>
          <p:nvPr/>
        </p:nvCxnSpPr>
        <p:spPr>
          <a:xfrm>
            <a:off x="1743514" y="4155284"/>
            <a:ext cx="126829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358B00B1-DBFC-4A3F-9162-3C9BB96C9382}"/>
              </a:ext>
            </a:extLst>
          </p:cNvPr>
          <p:cNvSpPr txBox="1"/>
          <p:nvPr/>
        </p:nvSpPr>
        <p:spPr>
          <a:xfrm>
            <a:off x="1370664" y="3774430"/>
            <a:ext cx="1484081" cy="369332"/>
          </a:xfrm>
          <a:prstGeom prst="rect">
            <a:avLst/>
          </a:prstGeom>
          <a:noFill/>
        </p:spPr>
        <p:txBody>
          <a:bodyPr wrap="square" rtlCol="0">
            <a:spAutoFit/>
          </a:bodyPr>
          <a:lstStyle/>
          <a:p>
            <a:r>
              <a:rPr lang="en-US" dirty="0"/>
              <a:t>List of points</a:t>
            </a:r>
          </a:p>
        </p:txBody>
      </p:sp>
      <p:cxnSp>
        <p:nvCxnSpPr>
          <p:cNvPr id="20" name="Straight Arrow Connector 19">
            <a:extLst>
              <a:ext uri="{FF2B5EF4-FFF2-40B4-BE49-F238E27FC236}">
                <a16:creationId xmlns:a16="http://schemas.microsoft.com/office/drawing/2014/main" id="{E4A36FF8-323B-4378-BEEC-E41EC6E8E409}"/>
              </a:ext>
            </a:extLst>
          </p:cNvPr>
          <p:cNvCxnSpPr/>
          <p:nvPr/>
        </p:nvCxnSpPr>
        <p:spPr>
          <a:xfrm>
            <a:off x="1743514" y="4700815"/>
            <a:ext cx="126829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1CF01DD4-E871-4311-A84E-112FA70F8AC4}"/>
              </a:ext>
            </a:extLst>
          </p:cNvPr>
          <p:cNvCxnSpPr/>
          <p:nvPr/>
        </p:nvCxnSpPr>
        <p:spPr>
          <a:xfrm>
            <a:off x="9127196" y="4409755"/>
            <a:ext cx="126829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5F5493AD-521C-40D7-A965-52F3624BE35D}"/>
              </a:ext>
            </a:extLst>
          </p:cNvPr>
          <p:cNvSpPr txBox="1"/>
          <p:nvPr/>
        </p:nvSpPr>
        <p:spPr>
          <a:xfrm>
            <a:off x="9337255" y="3959096"/>
            <a:ext cx="1484081" cy="369332"/>
          </a:xfrm>
          <a:prstGeom prst="rect">
            <a:avLst/>
          </a:prstGeom>
          <a:noFill/>
        </p:spPr>
        <p:txBody>
          <a:bodyPr wrap="square" rtlCol="0">
            <a:spAutoFit/>
          </a:bodyPr>
          <a:lstStyle/>
          <a:p>
            <a:r>
              <a:rPr lang="en-US" dirty="0"/>
              <a:t>List of points</a:t>
            </a:r>
          </a:p>
        </p:txBody>
      </p:sp>
      <p:sp>
        <p:nvSpPr>
          <p:cNvPr id="24" name="TextBox 23">
            <a:extLst>
              <a:ext uri="{FF2B5EF4-FFF2-40B4-BE49-F238E27FC236}">
                <a16:creationId xmlns:a16="http://schemas.microsoft.com/office/drawing/2014/main" id="{27926F51-50A0-4194-8B56-458F55990079}"/>
              </a:ext>
            </a:extLst>
          </p:cNvPr>
          <p:cNvSpPr txBox="1"/>
          <p:nvPr/>
        </p:nvSpPr>
        <p:spPr>
          <a:xfrm>
            <a:off x="3252735" y="3942745"/>
            <a:ext cx="5357682" cy="2031325"/>
          </a:xfrm>
          <a:prstGeom prst="rect">
            <a:avLst/>
          </a:prstGeom>
          <a:noFill/>
        </p:spPr>
        <p:txBody>
          <a:bodyPr wrap="square" rtlCol="0">
            <a:spAutoFit/>
          </a:bodyPr>
          <a:lstStyle/>
          <a:p>
            <a:r>
              <a:rPr lang="en-US" dirty="0"/>
              <a:t>Iterate over points</a:t>
            </a:r>
          </a:p>
          <a:p>
            <a:pPr lvl="1"/>
            <a:endParaRPr lang="en-US" dirty="0"/>
          </a:p>
          <a:p>
            <a:pPr lvl="1"/>
            <a:endParaRPr lang="en-US" dirty="0"/>
          </a:p>
          <a:p>
            <a:pPr lvl="1"/>
            <a:r>
              <a:rPr lang="en-US" dirty="0">
                <a:solidFill>
                  <a:srgbClr val="FF0000"/>
                </a:solidFill>
              </a:rPr>
              <a:t>For each point find corresponding point in image</a:t>
            </a:r>
          </a:p>
          <a:p>
            <a:pPr lvl="1"/>
            <a:r>
              <a:rPr lang="en-US" dirty="0"/>
              <a:t>	Check if image value at point is correct</a:t>
            </a:r>
          </a:p>
          <a:p>
            <a:pPr lvl="1"/>
            <a:r>
              <a:rPr lang="en-US" dirty="0"/>
              <a:t>		place point into new list	</a:t>
            </a:r>
          </a:p>
        </p:txBody>
      </p:sp>
      <p:sp>
        <p:nvSpPr>
          <p:cNvPr id="12" name="TextBox 11">
            <a:extLst>
              <a:ext uri="{FF2B5EF4-FFF2-40B4-BE49-F238E27FC236}">
                <a16:creationId xmlns:a16="http://schemas.microsoft.com/office/drawing/2014/main" id="{46BDD4D6-E999-41D8-B6DA-B13A1D720E0B}"/>
              </a:ext>
            </a:extLst>
          </p:cNvPr>
          <p:cNvSpPr txBox="1"/>
          <p:nvPr/>
        </p:nvSpPr>
        <p:spPr>
          <a:xfrm>
            <a:off x="800914" y="3447122"/>
            <a:ext cx="2099254" cy="646331"/>
          </a:xfrm>
          <a:prstGeom prst="rect">
            <a:avLst/>
          </a:prstGeom>
          <a:solidFill>
            <a:schemeClr val="bg1"/>
          </a:solidFill>
        </p:spPr>
        <p:txBody>
          <a:bodyPr wrap="square" rtlCol="0">
            <a:spAutoFit/>
          </a:bodyPr>
          <a:lstStyle/>
          <a:p>
            <a:pPr algn="ctr"/>
            <a:r>
              <a:rPr lang="en-US" dirty="0" err="1"/>
              <a:t>vtkMRMLMarkupsFiducialNode</a:t>
            </a:r>
            <a:endParaRPr lang="en-US" dirty="0"/>
          </a:p>
        </p:txBody>
      </p:sp>
      <p:sp>
        <p:nvSpPr>
          <p:cNvPr id="13" name="TextBox 12">
            <a:extLst>
              <a:ext uri="{FF2B5EF4-FFF2-40B4-BE49-F238E27FC236}">
                <a16:creationId xmlns:a16="http://schemas.microsoft.com/office/drawing/2014/main" id="{1468A674-426B-4B8F-95C5-36A2A52702A0}"/>
              </a:ext>
            </a:extLst>
          </p:cNvPr>
          <p:cNvSpPr txBox="1"/>
          <p:nvPr/>
        </p:nvSpPr>
        <p:spPr>
          <a:xfrm>
            <a:off x="9029668" y="3669563"/>
            <a:ext cx="2099254" cy="646331"/>
          </a:xfrm>
          <a:prstGeom prst="rect">
            <a:avLst/>
          </a:prstGeom>
          <a:solidFill>
            <a:schemeClr val="bg1"/>
          </a:solidFill>
        </p:spPr>
        <p:txBody>
          <a:bodyPr wrap="square" rtlCol="0">
            <a:spAutoFit/>
          </a:bodyPr>
          <a:lstStyle/>
          <a:p>
            <a:pPr algn="ctr"/>
            <a:r>
              <a:rPr lang="en-US" dirty="0" err="1"/>
              <a:t>vtkMRMLMarkupsFiducialNode</a:t>
            </a:r>
            <a:endParaRPr lang="en-US" dirty="0"/>
          </a:p>
        </p:txBody>
      </p:sp>
      <p:sp>
        <p:nvSpPr>
          <p:cNvPr id="14" name="TextBox 13">
            <a:extLst>
              <a:ext uri="{FF2B5EF4-FFF2-40B4-BE49-F238E27FC236}">
                <a16:creationId xmlns:a16="http://schemas.microsoft.com/office/drawing/2014/main" id="{52956AA1-0A8D-4DD5-ADB8-658F81141896}"/>
              </a:ext>
            </a:extLst>
          </p:cNvPr>
          <p:cNvSpPr txBox="1"/>
          <p:nvPr/>
        </p:nvSpPr>
        <p:spPr>
          <a:xfrm>
            <a:off x="805657" y="4256831"/>
            <a:ext cx="2099254" cy="369332"/>
          </a:xfrm>
          <a:prstGeom prst="rect">
            <a:avLst/>
          </a:prstGeom>
          <a:solidFill>
            <a:schemeClr val="bg1"/>
          </a:solidFill>
        </p:spPr>
        <p:txBody>
          <a:bodyPr wrap="square" rtlCol="0">
            <a:spAutoFit/>
          </a:bodyPr>
          <a:lstStyle/>
          <a:p>
            <a:pPr algn="ctr"/>
            <a:r>
              <a:rPr lang="en-US" dirty="0" err="1"/>
              <a:t>vtkImageData</a:t>
            </a:r>
            <a:endParaRPr lang="en-US" dirty="0"/>
          </a:p>
        </p:txBody>
      </p:sp>
      <p:sp>
        <p:nvSpPr>
          <p:cNvPr id="15" name="TextBox 14">
            <a:extLst>
              <a:ext uri="{FF2B5EF4-FFF2-40B4-BE49-F238E27FC236}">
                <a16:creationId xmlns:a16="http://schemas.microsoft.com/office/drawing/2014/main" id="{EB45C9B7-0758-4349-B466-087173D6AA94}"/>
              </a:ext>
            </a:extLst>
          </p:cNvPr>
          <p:cNvSpPr txBox="1"/>
          <p:nvPr/>
        </p:nvSpPr>
        <p:spPr>
          <a:xfrm>
            <a:off x="3257658" y="3948090"/>
            <a:ext cx="5409808" cy="923330"/>
          </a:xfrm>
          <a:prstGeom prst="rect">
            <a:avLst/>
          </a:prstGeom>
          <a:solidFill>
            <a:schemeClr val="bg1"/>
          </a:solidFill>
        </p:spPr>
        <p:txBody>
          <a:bodyPr wrap="square" rtlCol="0">
            <a:spAutoFit/>
          </a:bodyPr>
          <a:lstStyle/>
          <a:p>
            <a:r>
              <a:rPr lang="en-US" dirty="0"/>
              <a:t>For x in range (0, </a:t>
            </a:r>
            <a:r>
              <a:rPr lang="en-US" dirty="0" err="1"/>
              <a:t>input.GetNumberOfFiducials</a:t>
            </a:r>
            <a:r>
              <a:rPr lang="en-US" dirty="0"/>
              <a:t>()) :                              </a:t>
            </a:r>
          </a:p>
          <a:p>
            <a:pPr lvl="1"/>
            <a:r>
              <a:rPr lang="en-US" dirty="0"/>
              <a:t>pos = [0,0,0]</a:t>
            </a:r>
          </a:p>
          <a:p>
            <a:pPr lvl="1"/>
            <a:r>
              <a:rPr lang="en-US" dirty="0" err="1"/>
              <a:t>inputFiducials.GetNthFiducialPosition</a:t>
            </a:r>
            <a:r>
              <a:rPr lang="en-US" dirty="0"/>
              <a:t>(x, pos)</a:t>
            </a:r>
          </a:p>
        </p:txBody>
      </p:sp>
      <p:sp>
        <p:nvSpPr>
          <p:cNvPr id="25" name="TextBox 24">
            <a:extLst>
              <a:ext uri="{FF2B5EF4-FFF2-40B4-BE49-F238E27FC236}">
                <a16:creationId xmlns:a16="http://schemas.microsoft.com/office/drawing/2014/main" id="{76F04151-B09D-4C01-B6F5-0F6E96A2E3C8}"/>
              </a:ext>
            </a:extLst>
          </p:cNvPr>
          <p:cNvSpPr txBox="1"/>
          <p:nvPr/>
        </p:nvSpPr>
        <p:spPr>
          <a:xfrm>
            <a:off x="3737308" y="4810644"/>
            <a:ext cx="4450507" cy="646331"/>
          </a:xfrm>
          <a:prstGeom prst="rect">
            <a:avLst/>
          </a:prstGeom>
          <a:solidFill>
            <a:schemeClr val="bg1"/>
          </a:solidFill>
        </p:spPr>
        <p:txBody>
          <a:bodyPr wrap="square" rtlCol="0">
            <a:spAutoFit/>
          </a:bodyPr>
          <a:lstStyle/>
          <a:p>
            <a:r>
              <a:rPr lang="en-US" dirty="0" err="1">
                <a:solidFill>
                  <a:srgbClr val="FF0000"/>
                </a:solidFill>
              </a:rPr>
              <a:t>pixelValue</a:t>
            </a:r>
            <a:r>
              <a:rPr lang="en-US" dirty="0">
                <a:solidFill>
                  <a:srgbClr val="FF0000"/>
                </a:solidFill>
              </a:rPr>
              <a:t> = </a:t>
            </a:r>
            <a:r>
              <a:rPr lang="en-US" dirty="0" err="1">
                <a:solidFill>
                  <a:srgbClr val="FF0000"/>
                </a:solidFill>
              </a:rPr>
              <a:t>random.random</a:t>
            </a:r>
            <a:r>
              <a:rPr lang="en-US" dirty="0">
                <a:solidFill>
                  <a:srgbClr val="FF0000"/>
                </a:solidFill>
              </a:rPr>
              <a:t>()</a:t>
            </a:r>
          </a:p>
          <a:p>
            <a:pPr algn="ctr"/>
            <a:endParaRPr lang="en-US" dirty="0">
              <a:solidFill>
                <a:srgbClr val="FF0000"/>
              </a:solidFill>
            </a:endParaRPr>
          </a:p>
        </p:txBody>
      </p:sp>
      <p:sp>
        <p:nvSpPr>
          <p:cNvPr id="26" name="TextBox 25">
            <a:extLst>
              <a:ext uri="{FF2B5EF4-FFF2-40B4-BE49-F238E27FC236}">
                <a16:creationId xmlns:a16="http://schemas.microsoft.com/office/drawing/2014/main" id="{4EFC688B-BA30-475C-B11A-4097BC4A3D84}"/>
              </a:ext>
            </a:extLst>
          </p:cNvPr>
          <p:cNvSpPr txBox="1"/>
          <p:nvPr/>
        </p:nvSpPr>
        <p:spPr>
          <a:xfrm>
            <a:off x="3792072" y="5429592"/>
            <a:ext cx="4518210" cy="369332"/>
          </a:xfrm>
          <a:prstGeom prst="rect">
            <a:avLst/>
          </a:prstGeom>
          <a:solidFill>
            <a:schemeClr val="bg1"/>
          </a:solidFill>
        </p:spPr>
        <p:txBody>
          <a:bodyPr wrap="square" rtlCol="0">
            <a:spAutoFit/>
          </a:bodyPr>
          <a:lstStyle/>
          <a:p>
            <a:r>
              <a:rPr lang="en-US" dirty="0"/>
              <a:t>if (</a:t>
            </a:r>
            <a:r>
              <a:rPr lang="en-US" dirty="0" err="1"/>
              <a:t>pixelValue</a:t>
            </a:r>
            <a:r>
              <a:rPr lang="en-US" dirty="0"/>
              <a:t> == 1)</a:t>
            </a:r>
          </a:p>
        </p:txBody>
      </p:sp>
      <p:sp>
        <p:nvSpPr>
          <p:cNvPr id="29" name="TextBox 28">
            <a:extLst>
              <a:ext uri="{FF2B5EF4-FFF2-40B4-BE49-F238E27FC236}">
                <a16:creationId xmlns:a16="http://schemas.microsoft.com/office/drawing/2014/main" id="{806D94FA-3C6C-4C36-8814-99D776B6659C}"/>
              </a:ext>
            </a:extLst>
          </p:cNvPr>
          <p:cNvSpPr txBox="1"/>
          <p:nvPr/>
        </p:nvSpPr>
        <p:spPr>
          <a:xfrm>
            <a:off x="7997963" y="4791877"/>
            <a:ext cx="1023414" cy="369332"/>
          </a:xfrm>
          <a:prstGeom prst="rect">
            <a:avLst/>
          </a:prstGeom>
          <a:noFill/>
        </p:spPr>
        <p:txBody>
          <a:bodyPr wrap="square" rtlCol="0">
            <a:spAutoFit/>
          </a:bodyPr>
          <a:lstStyle/>
          <a:p>
            <a:pPr algn="ctr"/>
            <a:r>
              <a:rPr lang="en-US" dirty="0">
                <a:solidFill>
                  <a:srgbClr val="00B050"/>
                </a:solidFill>
              </a:rPr>
              <a:t># ignore</a:t>
            </a:r>
          </a:p>
        </p:txBody>
      </p:sp>
      <p:sp>
        <p:nvSpPr>
          <p:cNvPr id="28" name="TextBox 27">
            <a:extLst>
              <a:ext uri="{FF2B5EF4-FFF2-40B4-BE49-F238E27FC236}">
                <a16:creationId xmlns:a16="http://schemas.microsoft.com/office/drawing/2014/main" id="{9792C3F0-B891-4254-B7C6-3B657A3B85CF}"/>
              </a:ext>
            </a:extLst>
          </p:cNvPr>
          <p:cNvSpPr txBox="1"/>
          <p:nvPr/>
        </p:nvSpPr>
        <p:spPr>
          <a:xfrm>
            <a:off x="3792073" y="5759930"/>
            <a:ext cx="4693022" cy="369332"/>
          </a:xfrm>
          <a:prstGeom prst="rect">
            <a:avLst/>
          </a:prstGeom>
          <a:solidFill>
            <a:schemeClr val="bg1"/>
          </a:solidFill>
        </p:spPr>
        <p:txBody>
          <a:bodyPr wrap="square" rtlCol="0">
            <a:spAutoFit/>
          </a:bodyPr>
          <a:lstStyle/>
          <a:p>
            <a:r>
              <a:rPr lang="en-US" dirty="0"/>
              <a:t>     </a:t>
            </a:r>
            <a:r>
              <a:rPr lang="en-US" dirty="0" err="1"/>
              <a:t>output.AddFiducial</a:t>
            </a:r>
            <a:r>
              <a:rPr lang="en-US" dirty="0"/>
              <a:t>(pos[0], pos[1], pos[2])</a:t>
            </a:r>
          </a:p>
        </p:txBody>
      </p:sp>
      <p:sp>
        <p:nvSpPr>
          <p:cNvPr id="27" name="TextBox 26">
            <a:extLst>
              <a:ext uri="{FF2B5EF4-FFF2-40B4-BE49-F238E27FC236}">
                <a16:creationId xmlns:a16="http://schemas.microsoft.com/office/drawing/2014/main" id="{A3EDC90C-DFDB-4D94-B961-5E55EC5188A7}"/>
              </a:ext>
            </a:extLst>
          </p:cNvPr>
          <p:cNvSpPr txBox="1"/>
          <p:nvPr/>
        </p:nvSpPr>
        <p:spPr>
          <a:xfrm>
            <a:off x="609600" y="3056318"/>
            <a:ext cx="10349753" cy="2031325"/>
          </a:xfrm>
          <a:prstGeom prst="rect">
            <a:avLst/>
          </a:prstGeom>
          <a:solidFill>
            <a:schemeClr val="bg1"/>
          </a:solidFill>
        </p:spPr>
        <p:txBody>
          <a:bodyPr wrap="square" rtlCol="0">
            <a:spAutoFit/>
          </a:bodyPr>
          <a:lstStyle/>
          <a:p>
            <a:r>
              <a:rPr lang="en-US" dirty="0" err="1"/>
              <a:t>ind</a:t>
            </a:r>
            <a:r>
              <a:rPr lang="en-US" dirty="0"/>
              <a:t> = </a:t>
            </a:r>
            <a:r>
              <a:rPr lang="en-US" dirty="0" err="1"/>
              <a:t>inputVolume.GetImageData</a:t>
            </a:r>
            <a:r>
              <a:rPr lang="en-US" dirty="0"/>
              <a:t>().</a:t>
            </a:r>
            <a:r>
              <a:rPr lang="en-US" dirty="0" err="1"/>
              <a:t>FindPoint</a:t>
            </a:r>
            <a:r>
              <a:rPr lang="en-US" dirty="0"/>
              <a:t>(pos)</a:t>
            </a:r>
          </a:p>
          <a:p>
            <a:r>
              <a:rPr lang="en-US" dirty="0"/>
              <a:t># a bit of math to transform the </a:t>
            </a:r>
            <a:r>
              <a:rPr lang="en-US" dirty="0" err="1"/>
              <a:t>ind</a:t>
            </a:r>
            <a:r>
              <a:rPr lang="en-US" dirty="0"/>
              <a:t> into </a:t>
            </a:r>
            <a:r>
              <a:rPr lang="en-US" dirty="0" err="1"/>
              <a:t>i,j,k</a:t>
            </a:r>
            <a:r>
              <a:rPr lang="en-US" dirty="0"/>
              <a:t> position</a:t>
            </a:r>
          </a:p>
          <a:p>
            <a:r>
              <a:rPr lang="en-US" dirty="0"/>
              <a:t>dim = </a:t>
            </a:r>
            <a:r>
              <a:rPr lang="en-US" dirty="0" err="1"/>
              <a:t>inputVolume.GetImageData</a:t>
            </a:r>
            <a:r>
              <a:rPr lang="en-US" dirty="0"/>
              <a:t>().</a:t>
            </a:r>
            <a:r>
              <a:rPr lang="en-US" dirty="0" err="1"/>
              <a:t>GetDimensions</a:t>
            </a:r>
            <a:r>
              <a:rPr lang="en-US" dirty="0"/>
              <a:t>()</a:t>
            </a:r>
          </a:p>
          <a:p>
            <a:r>
              <a:rPr lang="en-US" dirty="0" err="1"/>
              <a:t>xInd</a:t>
            </a:r>
            <a:r>
              <a:rPr lang="en-US" dirty="0"/>
              <a:t> = </a:t>
            </a:r>
            <a:r>
              <a:rPr lang="en-US" dirty="0" err="1"/>
              <a:t>ind</a:t>
            </a:r>
            <a:r>
              <a:rPr lang="en-US" dirty="0"/>
              <a:t> % dim[0] </a:t>
            </a:r>
          </a:p>
          <a:p>
            <a:r>
              <a:rPr lang="en-US" dirty="0" err="1"/>
              <a:t>yInd</a:t>
            </a:r>
            <a:r>
              <a:rPr lang="en-US" dirty="0"/>
              <a:t> = (</a:t>
            </a:r>
            <a:r>
              <a:rPr lang="en-US" dirty="0" err="1"/>
              <a:t>ind</a:t>
            </a:r>
            <a:r>
              <a:rPr lang="en-US" dirty="0"/>
              <a:t> % (dim[0] * dim[1]) ) / dim[0]</a:t>
            </a:r>
          </a:p>
          <a:p>
            <a:r>
              <a:rPr lang="en-US" dirty="0" err="1"/>
              <a:t>zInd</a:t>
            </a:r>
            <a:r>
              <a:rPr lang="en-US" dirty="0"/>
              <a:t> = </a:t>
            </a:r>
            <a:r>
              <a:rPr lang="en-US" dirty="0" err="1"/>
              <a:t>ind</a:t>
            </a:r>
            <a:r>
              <a:rPr lang="en-US" dirty="0"/>
              <a:t> / (dim[0] * dim[1])</a:t>
            </a:r>
          </a:p>
          <a:p>
            <a:r>
              <a:rPr lang="en-US" dirty="0"/>
              <a:t> </a:t>
            </a:r>
            <a:r>
              <a:rPr lang="en-US" dirty="0" err="1"/>
              <a:t>pixelValue</a:t>
            </a:r>
            <a:r>
              <a:rPr lang="en-US" dirty="0"/>
              <a:t> = </a:t>
            </a:r>
            <a:r>
              <a:rPr lang="en-US" dirty="0" err="1"/>
              <a:t>inputVolume.GetImageData</a:t>
            </a:r>
            <a:r>
              <a:rPr lang="en-US" dirty="0"/>
              <a:t>().</a:t>
            </a:r>
            <a:r>
              <a:rPr lang="en-US" dirty="0" err="1"/>
              <a:t>GetScalarComponentAsDouble</a:t>
            </a:r>
            <a:r>
              <a:rPr lang="en-US" dirty="0"/>
              <a:t> (xInd,yInd,zInd,0)</a:t>
            </a:r>
          </a:p>
        </p:txBody>
      </p:sp>
    </p:spTree>
    <p:extLst>
      <p:ext uri="{BB962C8B-B14F-4D97-AF65-F5344CB8AC3E}">
        <p14:creationId xmlns:p14="http://schemas.microsoft.com/office/powerpoint/2010/main" val="3066078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xit"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2"/>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6"/>
                                        </p:tgtEl>
                                        <p:attrNameLst>
                                          <p:attrName>style.visibility</p:attrName>
                                        </p:attrNameLst>
                                      </p:cBhvr>
                                      <p:to>
                                        <p:strVal val="hidden"/>
                                      </p:to>
                                    </p:set>
                                  </p:childTnLst>
                                </p:cTn>
                              </p:par>
                              <p:par>
                                <p:cTn id="13" presetID="1" presetClass="exit"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20"/>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21"/>
                                        </p:tgtEl>
                                        <p:attrNameLst>
                                          <p:attrName>style.visibility</p:attrName>
                                        </p:attrNameLst>
                                      </p:cBhvr>
                                      <p:to>
                                        <p:strVal val="hidden"/>
                                      </p:to>
                                    </p:set>
                                  </p:childTnLst>
                                </p:cTn>
                              </p:par>
                              <p:par>
                                <p:cTn id="19" presetID="1" presetClass="exit"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hidden"/>
                                      </p:to>
                                    </p:set>
                                  </p:childTnLst>
                                </p:cTn>
                              </p:par>
                              <p:par>
                                <p:cTn id="21" presetID="1" presetClass="exit" presetSubtype="0" fill="hold" grpId="0" nodeType="withEffect">
                                  <p:stCondLst>
                                    <p:cond delay="0"/>
                                  </p:stCondLst>
                                  <p:childTnLst>
                                    <p:set>
                                      <p:cBhvr>
                                        <p:cTn id="22" dur="1" fill="hold">
                                          <p:stCondLst>
                                            <p:cond delay="0"/>
                                          </p:stCondLst>
                                        </p:cTn>
                                        <p:tgtEl>
                                          <p:spTgt spid="24"/>
                                        </p:tgtEl>
                                        <p:attrNameLst>
                                          <p:attrName>style.visibility</p:attrName>
                                        </p:attrNameLst>
                                      </p:cBhvr>
                                      <p:to>
                                        <p:strVal val="hidden"/>
                                      </p:to>
                                    </p:set>
                                  </p:childTnLst>
                                </p:cTn>
                              </p:par>
                              <p:par>
                                <p:cTn id="23" presetID="1" presetClass="exit"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hidden"/>
                                      </p:to>
                                    </p:set>
                                  </p:childTnLst>
                                </p:cTn>
                              </p:par>
                              <p:par>
                                <p:cTn id="25" presetID="1" presetClass="exit"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hidden"/>
                                      </p:to>
                                    </p:set>
                                  </p:childTnLst>
                                </p:cTn>
                              </p:par>
                              <p:par>
                                <p:cTn id="27" presetID="1" presetClass="exit"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hidden"/>
                                      </p:to>
                                    </p:set>
                                  </p:childTnLst>
                                </p:cTn>
                              </p:par>
                              <p:par>
                                <p:cTn id="29" presetID="1" presetClass="exit"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hidden"/>
                                      </p:to>
                                    </p:set>
                                  </p:childTnLst>
                                </p:cTn>
                              </p:par>
                              <p:par>
                                <p:cTn id="31" presetID="1" presetClass="exit" presetSubtype="0" fill="hold" grpId="0" nodeType="withEffect">
                                  <p:stCondLst>
                                    <p:cond delay="0"/>
                                  </p:stCondLst>
                                  <p:childTnLst>
                                    <p:set>
                                      <p:cBhvr>
                                        <p:cTn id="32" dur="1" fill="hold">
                                          <p:stCondLst>
                                            <p:cond delay="0"/>
                                          </p:stCondLst>
                                        </p:cTn>
                                        <p:tgtEl>
                                          <p:spTgt spid="25"/>
                                        </p:tgtEl>
                                        <p:attrNameLst>
                                          <p:attrName>style.visibility</p:attrName>
                                        </p:attrNameLst>
                                      </p:cBhvr>
                                      <p:to>
                                        <p:strVal val="hidden"/>
                                      </p:to>
                                    </p:set>
                                  </p:childTnLst>
                                </p:cTn>
                              </p:par>
                              <p:par>
                                <p:cTn id="33" presetID="1" presetClass="exit" presetSubtype="0" fill="hold" grpId="0" nodeType="withEffect">
                                  <p:stCondLst>
                                    <p:cond delay="0"/>
                                  </p:stCondLst>
                                  <p:childTnLst>
                                    <p:set>
                                      <p:cBhvr>
                                        <p:cTn id="34" dur="1" fill="hold">
                                          <p:stCondLst>
                                            <p:cond delay="0"/>
                                          </p:stCondLst>
                                        </p:cTn>
                                        <p:tgtEl>
                                          <p:spTgt spid="26"/>
                                        </p:tgtEl>
                                        <p:attrNameLst>
                                          <p:attrName>style.visibility</p:attrName>
                                        </p:attrNameLst>
                                      </p:cBhvr>
                                      <p:to>
                                        <p:strVal val="hidden"/>
                                      </p:to>
                                    </p:set>
                                  </p:childTnLst>
                                </p:cTn>
                              </p:par>
                              <p:par>
                                <p:cTn id="35" presetID="1" presetClass="exit" presetSubtype="0" fill="hold" grpId="0" nodeType="withEffect">
                                  <p:stCondLst>
                                    <p:cond delay="0"/>
                                  </p:stCondLst>
                                  <p:childTnLst>
                                    <p:set>
                                      <p:cBhvr>
                                        <p:cTn id="36" dur="1" fill="hold">
                                          <p:stCondLst>
                                            <p:cond delay="0"/>
                                          </p:stCondLst>
                                        </p:cTn>
                                        <p:tgtEl>
                                          <p:spTgt spid="29"/>
                                        </p:tgtEl>
                                        <p:attrNameLst>
                                          <p:attrName>style.visibility</p:attrName>
                                        </p:attrNameLst>
                                      </p:cBhvr>
                                      <p:to>
                                        <p:strVal val="hidden"/>
                                      </p:to>
                                    </p:set>
                                  </p:childTnLst>
                                </p:cTn>
                              </p:par>
                              <p:par>
                                <p:cTn id="37" presetID="1" presetClass="exit" presetSubtype="0" fill="hold" grpId="0" nodeType="withEffect">
                                  <p:stCondLst>
                                    <p:cond delay="0"/>
                                  </p:stCondLst>
                                  <p:childTnLst>
                                    <p:set>
                                      <p:cBhvr>
                                        <p:cTn id="38" dur="1" fill="hold">
                                          <p:stCondLst>
                                            <p:cond delay="0"/>
                                          </p:stCondLst>
                                        </p:cTn>
                                        <p:tgtEl>
                                          <p:spTgt spid="2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 grpId="0" animBg="1"/>
      <p:bldP spid="17" grpId="0"/>
      <p:bldP spid="22" grpId="0"/>
      <p:bldP spid="24" grpId="0"/>
      <p:bldP spid="12" grpId="0" animBg="1"/>
      <p:bldP spid="13" grpId="0" animBg="1"/>
      <p:bldP spid="14" grpId="0" animBg="1"/>
      <p:bldP spid="15" grpId="0" animBg="1"/>
      <p:bldP spid="25" grpId="0" animBg="1"/>
      <p:bldP spid="26" grpId="0" animBg="1"/>
      <p:bldP spid="29" grpId="0"/>
      <p:bldP spid="28" grpId="0" animBg="1"/>
      <p:bldP spid="2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1ACA0EA-FE68-4A55-925D-CEF3FAF0EC9F}"/>
              </a:ext>
            </a:extLst>
          </p:cNvPr>
          <p:cNvSpPr>
            <a:spLocks noGrp="1"/>
          </p:cNvSpPr>
          <p:nvPr>
            <p:ph sz="quarter" idx="13"/>
          </p:nvPr>
        </p:nvSpPr>
        <p:spPr/>
        <p:txBody>
          <a:bodyPr/>
          <a:lstStyle/>
          <a:p>
            <a:pPr marL="0" indent="0">
              <a:buNone/>
            </a:pPr>
            <a:r>
              <a:rPr lang="en-US" dirty="0"/>
              <a:t>In general define classes where possible to</a:t>
            </a:r>
          </a:p>
          <a:p>
            <a:pPr lvl="1"/>
            <a:r>
              <a:rPr lang="en-US" dirty="0"/>
              <a:t>More closely follow the pseudo code flow charts</a:t>
            </a:r>
          </a:p>
          <a:p>
            <a:pPr lvl="1"/>
            <a:r>
              <a:rPr lang="en-US" dirty="0"/>
              <a:t>Help isolate code logic into classes – when you reuse it you do not need to remember implementation details every time</a:t>
            </a:r>
          </a:p>
          <a:p>
            <a:pPr lvl="1"/>
            <a:r>
              <a:rPr lang="en-US" dirty="0"/>
              <a:t>Allows easier testing – test function not every single call</a:t>
            </a:r>
          </a:p>
          <a:p>
            <a:pPr lvl="1"/>
            <a:r>
              <a:rPr lang="en-US" dirty="0"/>
              <a:t>Remember to document the point of classes</a:t>
            </a:r>
          </a:p>
          <a:p>
            <a:pPr marL="0" indent="0">
              <a:buNone/>
            </a:pPr>
            <a:r>
              <a:rPr lang="en-US" dirty="0"/>
              <a:t>Knowing how to break code into classes involves a bit of practice</a:t>
            </a:r>
          </a:p>
          <a:p>
            <a:pPr lvl="1"/>
            <a:r>
              <a:rPr lang="en-US" dirty="0"/>
              <a:t>If you find you are constantly creating new classes with minor variations consider trying to make the function more general</a:t>
            </a:r>
          </a:p>
          <a:p>
            <a:pPr lvl="1"/>
            <a:r>
              <a:rPr lang="en-US" dirty="0"/>
              <a:t>If you find multiple classes have the same documentation for many classes consider consolidating</a:t>
            </a:r>
          </a:p>
          <a:p>
            <a:pPr lvl="1"/>
            <a:r>
              <a:rPr lang="en-US" dirty="0"/>
              <a:t>If your class is only called once consider removing </a:t>
            </a:r>
          </a:p>
        </p:txBody>
      </p:sp>
      <p:sp>
        <p:nvSpPr>
          <p:cNvPr id="3" name="Title 2">
            <a:extLst>
              <a:ext uri="{FF2B5EF4-FFF2-40B4-BE49-F238E27FC236}">
                <a16:creationId xmlns:a16="http://schemas.microsoft.com/office/drawing/2014/main" id="{020D96EA-A4DD-49F2-82C8-025B88676A38}"/>
              </a:ext>
            </a:extLst>
          </p:cNvPr>
          <p:cNvSpPr>
            <a:spLocks noGrp="1"/>
          </p:cNvSpPr>
          <p:nvPr>
            <p:ph type="title"/>
          </p:nvPr>
        </p:nvSpPr>
        <p:spPr/>
        <p:txBody>
          <a:bodyPr/>
          <a:lstStyle/>
          <a:p>
            <a:r>
              <a:rPr lang="en-US" dirty="0"/>
              <a:t>Class Design</a:t>
            </a:r>
          </a:p>
        </p:txBody>
      </p:sp>
    </p:spTree>
    <p:extLst>
      <p:ext uri="{BB962C8B-B14F-4D97-AF65-F5344CB8AC3E}">
        <p14:creationId xmlns:p14="http://schemas.microsoft.com/office/powerpoint/2010/main" val="2596377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6E6B88E-E168-498C-B389-93C0880C04B3}"/>
              </a:ext>
            </a:extLst>
          </p:cNvPr>
          <p:cNvSpPr>
            <a:spLocks noGrp="1"/>
          </p:cNvSpPr>
          <p:nvPr>
            <p:ph sz="quarter" idx="13"/>
          </p:nvPr>
        </p:nvSpPr>
        <p:spPr/>
        <p:txBody>
          <a:bodyPr/>
          <a:lstStyle/>
          <a:p>
            <a:pPr marL="0" indent="0">
              <a:buNone/>
            </a:pPr>
            <a:r>
              <a:rPr lang="en-US" dirty="0"/>
              <a:t>Don’t be afraid to rewrite code.</a:t>
            </a:r>
          </a:p>
          <a:p>
            <a:pPr lvl="1"/>
            <a:r>
              <a:rPr lang="en-US" dirty="0"/>
              <a:t>Once you have implemented your entire algorithm you may </a:t>
            </a:r>
            <a:r>
              <a:rPr lang="en-US" dirty="0" err="1"/>
              <a:t>realise</a:t>
            </a:r>
            <a:r>
              <a:rPr lang="en-US" dirty="0"/>
              <a:t> there are unnecessary calls or multiple similar lines of code</a:t>
            </a:r>
          </a:p>
          <a:p>
            <a:pPr lvl="1"/>
            <a:r>
              <a:rPr lang="en-US" dirty="0"/>
              <a:t>Similar code may indicate you need to create a class</a:t>
            </a:r>
          </a:p>
          <a:p>
            <a:pPr lvl="1"/>
            <a:r>
              <a:rPr lang="en-US" dirty="0"/>
              <a:t>If after implementation you think you have a simpler way to achieve the same results try it</a:t>
            </a:r>
          </a:p>
          <a:p>
            <a:pPr lvl="2"/>
            <a:r>
              <a:rPr lang="en-US" dirty="0"/>
              <a:t>Fewer lines of code can be easier to debug</a:t>
            </a:r>
          </a:p>
          <a:p>
            <a:pPr lvl="2"/>
            <a:r>
              <a:rPr lang="en-US" dirty="0"/>
              <a:t>More readable code can be easier to use and debug later</a:t>
            </a:r>
          </a:p>
        </p:txBody>
      </p:sp>
      <p:sp>
        <p:nvSpPr>
          <p:cNvPr id="3" name="Title 2">
            <a:extLst>
              <a:ext uri="{FF2B5EF4-FFF2-40B4-BE49-F238E27FC236}">
                <a16:creationId xmlns:a16="http://schemas.microsoft.com/office/drawing/2014/main" id="{5417D75C-A8BB-444D-BBFA-02F06DCC575D}"/>
              </a:ext>
            </a:extLst>
          </p:cNvPr>
          <p:cNvSpPr>
            <a:spLocks noGrp="1"/>
          </p:cNvSpPr>
          <p:nvPr>
            <p:ph type="title"/>
          </p:nvPr>
        </p:nvSpPr>
        <p:spPr/>
        <p:txBody>
          <a:bodyPr/>
          <a:lstStyle/>
          <a:p>
            <a:r>
              <a:rPr lang="en-US" dirty="0"/>
              <a:t>Code Refactoring</a:t>
            </a:r>
          </a:p>
        </p:txBody>
      </p:sp>
    </p:spTree>
    <p:extLst>
      <p:ext uri="{BB962C8B-B14F-4D97-AF65-F5344CB8AC3E}">
        <p14:creationId xmlns:p14="http://schemas.microsoft.com/office/powerpoint/2010/main" val="3496594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KCL UPDATE v4 4x3">
  <a:themeElements>
    <a:clrScheme name="KCL">
      <a:dk1>
        <a:sysClr val="windowText" lastClr="000000"/>
      </a:dk1>
      <a:lt1>
        <a:sysClr val="window" lastClr="FFFFFF"/>
      </a:lt1>
      <a:dk2>
        <a:srgbClr val="0A2D50"/>
      </a:dk2>
      <a:lt2>
        <a:srgbClr val="CDD7DC"/>
      </a:lt2>
      <a:accent1>
        <a:srgbClr val="E2231A"/>
      </a:accent1>
      <a:accent2>
        <a:srgbClr val="FF5F05"/>
      </a:accent2>
      <a:accent3>
        <a:srgbClr val="F5B90F"/>
      </a:accent3>
      <a:accent4>
        <a:srgbClr val="C8E128"/>
      </a:accent4>
      <a:accent5>
        <a:srgbClr val="009EA0"/>
      </a:accent5>
      <a:accent6>
        <a:srgbClr val="005AD2"/>
      </a:accent6>
      <a:hlink>
        <a:srgbClr val="E2231A"/>
      </a:hlink>
      <a:folHlink>
        <a:srgbClr val="E2231A"/>
      </a:folHlink>
    </a:clrScheme>
    <a:fontScheme name="KCL-fonts">
      <a:majorFont>
        <a:latin typeface="Impact"/>
        <a:ea typeface=""/>
        <a:cs typeface=""/>
      </a:majorFont>
      <a:minorFont>
        <a:latin typeface="Georg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D80815"/>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07MRI007_ImageSeg</Template>
  <TotalTime>2382</TotalTime>
  <Words>2580</Words>
  <Application>Microsoft Office PowerPoint</Application>
  <PresentationFormat>Widescreen</PresentationFormat>
  <Paragraphs>466</Paragraphs>
  <Slides>28</Slides>
  <Notes>24</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KCL UPDATE v4 4x3</vt:lpstr>
      <vt:lpstr>PowerPoint Presentation</vt:lpstr>
      <vt:lpstr>Code Design</vt:lpstr>
      <vt:lpstr>Code Design Cycle</vt:lpstr>
      <vt:lpstr>Code Design Cycle</vt:lpstr>
      <vt:lpstr>Code Design Cycle</vt:lpstr>
      <vt:lpstr>Code Design Cycle</vt:lpstr>
      <vt:lpstr>Code Design Cycle</vt:lpstr>
      <vt:lpstr>Code Design Cycle</vt:lpstr>
      <vt:lpstr>Code Design Cycle</vt:lpstr>
      <vt:lpstr>Code Design Cycle</vt:lpstr>
      <vt:lpstr>Code Design Cycle</vt:lpstr>
      <vt:lpstr>Code Design Cycle</vt:lpstr>
      <vt:lpstr>Code Design Cycle</vt:lpstr>
      <vt:lpstr>Code Design Cycle</vt:lpstr>
      <vt:lpstr>Code Design Cycle</vt:lpstr>
      <vt:lpstr>Code Design Cycle</vt:lpstr>
      <vt:lpstr>Code Design Cycle</vt:lpstr>
      <vt:lpstr>Code Design Cycle</vt:lpstr>
      <vt:lpstr>Code Design Cycle</vt:lpstr>
      <vt:lpstr>Code Design Cycle</vt:lpstr>
      <vt:lpstr>Code Design Cycle</vt:lpstr>
      <vt:lpstr>Code Design Cycle</vt:lpstr>
      <vt:lpstr>vtkImageData</vt:lpstr>
      <vt:lpstr>vtkImageData</vt:lpstr>
      <vt:lpstr>vtkImageData</vt:lpstr>
      <vt:lpstr>Code Design Cycle</vt:lpstr>
      <vt:lpstr>Class Design</vt:lpstr>
      <vt:lpstr>Code Refactoring</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rachel.e.sparks</dc:creator>
  <cp:lastModifiedBy>Sparks, Rachel</cp:lastModifiedBy>
  <cp:revision>157</cp:revision>
  <dcterms:created xsi:type="dcterms:W3CDTF">2020-01-17T10:23:04Z</dcterms:created>
  <dcterms:modified xsi:type="dcterms:W3CDTF">2024-01-20T12:11:31Z</dcterms:modified>
</cp:coreProperties>
</file>