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363" r:id="rId2"/>
    <p:sldId id="257" r:id="rId3"/>
    <p:sldId id="291" r:id="rId4"/>
    <p:sldId id="365" r:id="rId5"/>
    <p:sldId id="366" r:id="rId6"/>
    <p:sldId id="367" r:id="rId7"/>
    <p:sldId id="377" r:id="rId8"/>
    <p:sldId id="368" r:id="rId9"/>
    <p:sldId id="378" r:id="rId10"/>
    <p:sldId id="371" r:id="rId11"/>
    <p:sldId id="372" r:id="rId12"/>
    <p:sldId id="380" r:id="rId13"/>
    <p:sldId id="381" r:id="rId14"/>
    <p:sldId id="373" r:id="rId15"/>
    <p:sldId id="382" r:id="rId16"/>
    <p:sldId id="379" r:id="rId17"/>
    <p:sldId id="383" r:id="rId18"/>
    <p:sldId id="384" r:id="rId19"/>
    <p:sldId id="374" r:id="rId20"/>
    <p:sldId id="385" r:id="rId21"/>
    <p:sldId id="386" r:id="rId22"/>
    <p:sldId id="387" r:id="rId23"/>
    <p:sldId id="375" r:id="rId24"/>
    <p:sldId id="376" r:id="rId25"/>
    <p:sldId id="388" r:id="rId26"/>
    <p:sldId id="390" r:id="rId27"/>
    <p:sldId id="389" r:id="rId2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71586" autoAdjust="0"/>
  </p:normalViewPr>
  <p:slideViewPr>
    <p:cSldViewPr snapToGrid="0">
      <p:cViewPr varScale="1">
        <p:scale>
          <a:sx n="87" d="100"/>
          <a:sy n="87" d="100"/>
        </p:scale>
        <p:origin x="183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6FD43-D0B8-4ECA-AFA5-4404F5D02AD1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5CDF32-C324-4F7D-82A3-3DF158B3C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267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5CDF32-C324-4F7D-82A3-3DF158B3C1E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099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5CDF32-C324-4F7D-82A3-3DF158B3C1E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412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practive</a:t>
            </a:r>
            <a:r>
              <a:rPr lang="en-US" dirty="0"/>
              <a:t> integral control only is not an appropriate feedback controller but….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5CDF32-C324-4F7D-82A3-3DF158B3C1E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436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5CDF32-C324-4F7D-82A3-3DF158B3C1E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138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5CDF32-C324-4F7D-82A3-3DF158B3C1E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0742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in practice combined with Proportional controller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5CDF32-C324-4F7D-82A3-3DF158B3C1E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7012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K_i</a:t>
            </a:r>
            <a:r>
              <a:rPr lang="en-US" dirty="0"/>
              <a:t> in both integral and derivative controls are not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5CDF32-C324-4F7D-82A3-3DF158B3C1E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9603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5CDF32-C324-4F7D-82A3-3DF158B3C1E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05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Users/mac1/Desktop/KCL%20LOGO%20WOB.png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Volumes/Day1_Data/WORK%20ARCHIVE/%20K/KING'S/11143%20KCL%20POWERPOINT%20UPDATE/BUILD/IMAGES/_DSC8361-rs.jpg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file://localhost/Users/mac1/Desktop/KCL_box_red_485_rgb.png" TargetMode="Externa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Users/mac1/Desktop/KCL_box_red_485_rgb.png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K 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CL-LOGO-INTERNATIONAL.png"/>
          <p:cNvPicPr>
            <a:picLocks noChangeAspect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959" y="1397958"/>
            <a:ext cx="7814084" cy="4062084"/>
          </a:xfrm>
          <a:prstGeom prst="rect">
            <a:avLst/>
          </a:prstGeom>
        </p:spPr>
      </p:pic>
      <p:pic>
        <p:nvPicPr>
          <p:cNvPr id="3" name="KCL-LOGO-INTERNATIONAL.png">
            <a:extLst>
              <a:ext uri="{FF2B5EF4-FFF2-40B4-BE49-F238E27FC236}">
                <a16:creationId xmlns:a16="http://schemas.microsoft.com/office/drawing/2014/main" id="{A61FE7CD-4546-435A-A96D-97C618522529}"/>
              </a:ext>
            </a:extLst>
          </p:cNvPr>
          <p:cNvPicPr>
            <a:picLocks noChangeAspect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9799" y="1397958"/>
            <a:ext cx="5832403" cy="405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658118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joint - a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_DSC1517.jpg"/>
          <p:cNvPicPr>
            <a:picLocks noChangeAspect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45" r="4990" b="23836"/>
          <a:stretch>
            <a:fillRect/>
          </a:stretch>
        </p:blipFill>
        <p:spPr>
          <a:xfrm>
            <a:off x="0" y="4"/>
            <a:ext cx="12192000" cy="555497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0"/>
            <a:ext cx="12192000" cy="339725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0000"/>
                </a:schemeClr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180001"/>
            <a:ext cx="11232000" cy="1080000"/>
          </a:xfrm>
        </p:spPr>
        <p:txBody>
          <a:bodyPr anchor="b" anchorCtr="0"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1440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480484" y="5733722"/>
            <a:ext cx="8995856" cy="94428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0" name="KCL-LOGO-UK-1.png"/>
          <p:cNvPicPr>
            <a:picLocks noChangeAspect="1"/>
          </p:cNvPicPr>
          <p:nvPr/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000" y="5555734"/>
            <a:ext cx="2280000" cy="1302285"/>
          </a:xfrm>
          <a:prstGeom prst="rect">
            <a:avLst/>
          </a:prstGeom>
        </p:spPr>
      </p:pic>
      <p:pic>
        <p:nvPicPr>
          <p:cNvPr id="8" name="_DSC1517.jpg">
            <a:extLst>
              <a:ext uri="{FF2B5EF4-FFF2-40B4-BE49-F238E27FC236}">
                <a16:creationId xmlns:a16="http://schemas.microsoft.com/office/drawing/2014/main" id="{19BF7EEB-C570-46DE-881E-FA9C14D65473}"/>
              </a:ext>
            </a:extLst>
          </p:cNvPr>
          <p:cNvPicPr>
            <a:picLocks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7" t="9156" r="1840" b="25188"/>
          <a:stretch>
            <a:fillRect/>
          </a:stretch>
        </p:blipFill>
        <p:spPr>
          <a:xfrm>
            <a:off x="0" y="-1"/>
            <a:ext cx="12205554" cy="555497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79655CA-2B88-4BF3-BC81-659401D756A5}"/>
              </a:ext>
            </a:extLst>
          </p:cNvPr>
          <p:cNvSpPr/>
          <p:nvPr/>
        </p:nvSpPr>
        <p:spPr>
          <a:xfrm>
            <a:off x="0" y="0"/>
            <a:ext cx="12192000" cy="339725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0000"/>
                </a:schemeClr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049" tIns="45524" rIns="91049" bIns="4552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792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498FD76-9E78-477B-8302-08E6A0526714}"/>
              </a:ext>
            </a:extLst>
          </p:cNvPr>
          <p:cNvGrpSpPr>
            <a:grpSpLocks noChangeAspect="1"/>
          </p:cNvGrpSpPr>
          <p:nvPr/>
        </p:nvGrpSpPr>
        <p:grpSpPr>
          <a:xfrm>
            <a:off x="10489316" y="5554980"/>
            <a:ext cx="1702684" cy="1303021"/>
            <a:chOff x="7949775" y="1"/>
            <a:chExt cx="1194225" cy="910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F36ADC7-6D02-48EE-AB32-077D6B630975}"/>
                </a:ext>
              </a:extLst>
            </p:cNvPr>
            <p:cNvSpPr/>
            <p:nvPr userDrawn="1"/>
          </p:nvSpPr>
          <p:spPr>
            <a:xfrm>
              <a:off x="7949775" y="1"/>
              <a:ext cx="1194225" cy="91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2"/>
            </a:p>
          </p:txBody>
        </p:sp>
        <p:pic>
          <p:nvPicPr>
            <p:cNvPr id="15" name="KCL-LOGO-UK-1.png">
              <a:extLst>
                <a:ext uri="{FF2B5EF4-FFF2-40B4-BE49-F238E27FC236}">
                  <a16:creationId xmlns:a16="http://schemas.microsoft.com/office/drawing/2014/main" id="{E30E8B65-6DDB-4461-AA4D-7B99D0C528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r:link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9775" y="258"/>
              <a:ext cx="1194225" cy="909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77019052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99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10800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0252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lim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99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592243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99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99287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sea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99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74781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text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buNone/>
              <a:defRPr sz="2000">
                <a:latin typeface="Georgia"/>
                <a:cs typeface="Georgia"/>
              </a:defRPr>
            </a:lvl2pPr>
            <a:lvl3pPr marL="269875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3pPr>
            <a:lvl4pPr marL="539750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4pPr>
            <a:lvl5pPr marL="809625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fld id="{2D49BF34-AD55-4EB9-B4C6-7EF71A56AF81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52000" y="6498000"/>
            <a:ext cx="960000" cy="360000"/>
          </a:xfrm>
        </p:spPr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fld id="{5AD0C887-3D84-4CE3-95D9-D83FBE050FA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rgbClr val="C2B6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832E3D0-4E21-4229-BDC0-8D902BA1AA9E}"/>
              </a:ext>
            </a:extLst>
          </p:cNvPr>
          <p:cNvCxnSpPr/>
          <p:nvPr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22597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-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69875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1pPr>
            <a:lvl2pPr marL="539750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2pPr>
            <a:lvl3pPr marL="809625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3pPr>
            <a:lvl4pPr marL="1079500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4pPr>
            <a:lvl5pPr marL="1341438" indent="-261938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fld id="{2D49BF34-AD55-4EB9-B4C6-7EF71A56AF81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52000" y="6498000"/>
            <a:ext cx="960000" cy="360000"/>
          </a:xfrm>
        </p:spPr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fld id="{5AD0C887-3D84-4CE3-95D9-D83FBE050FA2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1639FF-247C-48E3-AB2C-E21FBF239F0D}"/>
              </a:ext>
            </a:extLst>
          </p:cNvPr>
          <p:cNvCxnSpPr/>
          <p:nvPr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832064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 - text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buNone/>
              <a:defRPr sz="2000"/>
            </a:lvl2pPr>
            <a:lvl3pPr marL="269875" indent="-269875">
              <a:defRPr sz="2000"/>
            </a:lvl3pPr>
            <a:lvl4pPr marL="539750" indent="-269875">
              <a:defRPr sz="2000"/>
            </a:lvl4pPr>
            <a:lvl5pPr marL="809625" indent="-269875"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buNone/>
              <a:defRPr sz="2000"/>
            </a:lvl2pPr>
            <a:lvl3pPr marL="269875" indent="-269875">
              <a:defRPr sz="2000"/>
            </a:lvl3pPr>
            <a:lvl4pPr marL="539750" indent="-269875">
              <a:defRPr sz="2000"/>
            </a:lvl4pPr>
            <a:lvl5pPr marL="809625" indent="-269875"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9BF34-AD55-4EB9-B4C6-7EF71A56AF81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C887-3D84-4CE3-95D9-D83FBE050FA2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2E6559-B504-438B-BD79-4178C54796D6}"/>
              </a:ext>
            </a:extLst>
          </p:cNvPr>
          <p:cNvCxnSpPr/>
          <p:nvPr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5423220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 - bullet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9BF34-AD55-4EB9-B4C6-7EF71A56AF81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C887-3D84-4CE3-95D9-D83FBE050FA2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68C09D-57F4-48A8-8AF4-2C0F799A0DF1}"/>
              </a:ext>
            </a:extLst>
          </p:cNvPr>
          <p:cNvCxnSpPr/>
          <p:nvPr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9566398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x1 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0000" y="1088723"/>
            <a:ext cx="11232000" cy="46805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00" y="5949280"/>
            <a:ext cx="11232000" cy="5487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9BF34-AD55-4EB9-B4C6-7EF71A56AF81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C887-3D84-4CE3-95D9-D83FBE050FA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A6A9053-5249-41F9-8719-0487C8352EBB}"/>
              </a:ext>
            </a:extLst>
          </p:cNvPr>
          <p:cNvCxnSpPr/>
          <p:nvPr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7842888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x 6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0003" y="1088720"/>
            <a:ext cx="3600028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00" y="5949280"/>
            <a:ext cx="11232000" cy="5487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9BF34-AD55-4EB9-B4C6-7EF71A56AF81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C887-3D84-4CE3-95D9-D83FBE050FA2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/>
          </p:nvPr>
        </p:nvSpPr>
        <p:spPr>
          <a:xfrm>
            <a:off x="480003" y="3519000"/>
            <a:ext cx="3600028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/>
          </p:nvPr>
        </p:nvSpPr>
        <p:spPr>
          <a:xfrm>
            <a:off x="8111971" y="1088720"/>
            <a:ext cx="3603072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5"/>
          </p:nvPr>
        </p:nvSpPr>
        <p:spPr>
          <a:xfrm>
            <a:off x="8111971" y="3519000"/>
            <a:ext cx="3603072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Picture Placeholder 2"/>
          <p:cNvSpPr>
            <a:spLocks noGrp="1"/>
          </p:cNvSpPr>
          <p:nvPr>
            <p:ph type="pic" idx="16"/>
          </p:nvPr>
        </p:nvSpPr>
        <p:spPr>
          <a:xfrm>
            <a:off x="4295985" y="1088720"/>
            <a:ext cx="3603072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"/>
          <p:cNvSpPr>
            <a:spLocks noGrp="1"/>
          </p:cNvSpPr>
          <p:nvPr>
            <p:ph type="pic" idx="17"/>
          </p:nvPr>
        </p:nvSpPr>
        <p:spPr>
          <a:xfrm>
            <a:off x="4295985" y="3519000"/>
            <a:ext cx="3603072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9735384-096B-4F85-B6F5-600DFCA3AF47}"/>
              </a:ext>
            </a:extLst>
          </p:cNvPr>
          <p:cNvCxnSpPr/>
          <p:nvPr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5687105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x 4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0000" y="1088720"/>
            <a:ext cx="5496000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00" y="5949280"/>
            <a:ext cx="11232000" cy="5487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9BF34-AD55-4EB9-B4C6-7EF71A56AF81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C887-3D84-4CE3-95D9-D83FBE050FA2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/>
          </p:nvPr>
        </p:nvSpPr>
        <p:spPr>
          <a:xfrm>
            <a:off x="480000" y="3519000"/>
            <a:ext cx="5496000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/>
          </p:nvPr>
        </p:nvSpPr>
        <p:spPr>
          <a:xfrm>
            <a:off x="6216001" y="1088720"/>
            <a:ext cx="5499043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5"/>
          </p:nvPr>
        </p:nvSpPr>
        <p:spPr>
          <a:xfrm>
            <a:off x="6216001" y="3519000"/>
            <a:ext cx="5499043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862E50-2AA2-41B9-B8EB-9FB13CA7A5D3}"/>
              </a:ext>
            </a:extLst>
          </p:cNvPr>
          <p:cNvCxnSpPr/>
          <p:nvPr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9877144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bullets and image - a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9BF34-AD55-4EB9-B4C6-7EF71A56AF81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C887-3D84-4CE3-95D9-D83FBE050FA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339903" y="1089025"/>
            <a:ext cx="5372100" cy="4860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F199C02-0484-4DBC-9F4B-B9A51760630C}"/>
              </a:ext>
            </a:extLst>
          </p:cNvPr>
          <p:cNvCxnSpPr/>
          <p:nvPr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015187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bullets and image - a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9BF34-AD55-4EB9-B4C6-7EF71A56AF81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C887-3D84-4CE3-95D9-D83FBE050FA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80003" y="1089025"/>
            <a:ext cx="5372100" cy="4860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7B1449A-736D-4EDA-88BA-CA32854C8892}"/>
              </a:ext>
            </a:extLst>
          </p:cNvPr>
          <p:cNvCxnSpPr/>
          <p:nvPr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4928273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- text/bullets and image - a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buNone/>
              <a:defRPr sz="2000"/>
            </a:lvl2pPr>
            <a:lvl3pPr marL="269875" indent="-269875">
              <a:defRPr sz="2000"/>
            </a:lvl3pPr>
            <a:lvl4pPr marL="539750" indent="-269875">
              <a:defRPr sz="2000"/>
            </a:lvl4pPr>
            <a:lvl5pPr marL="809625" indent="-269875"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9BF34-AD55-4EB9-B4C6-7EF71A56AF81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C887-3D84-4CE3-95D9-D83FBE050FA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6335668" y="1089025"/>
            <a:ext cx="5376333" cy="4860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FB0771-44B3-4139-A745-7D9FA88CC539}"/>
              </a:ext>
            </a:extLst>
          </p:cNvPr>
          <p:cNvCxnSpPr/>
          <p:nvPr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4842931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- text/bullets and image - a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buNone/>
              <a:defRPr sz="2000"/>
            </a:lvl2pPr>
            <a:lvl3pPr marL="269875" indent="-269875">
              <a:defRPr sz="2000"/>
            </a:lvl3pPr>
            <a:lvl4pPr marL="539750" indent="-269875">
              <a:defRPr sz="2000"/>
            </a:lvl4pPr>
            <a:lvl5pPr marL="809625" indent="-269875"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9BF34-AD55-4EB9-B4C6-7EF71A56AF81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C887-3D84-4CE3-95D9-D83FBE050FA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480000" y="1088356"/>
            <a:ext cx="5376333" cy="4860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E34FD6-CCBB-4D22-91F7-4CE715206C42}"/>
              </a:ext>
            </a:extLst>
          </p:cNvPr>
          <p:cNvCxnSpPr/>
          <p:nvPr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7952500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00" y="3420000"/>
            <a:ext cx="11232000" cy="2520000"/>
          </a:xfrm>
        </p:spPr>
        <p:txBody>
          <a:bodyPr anchor="b" anchorCtr="0">
            <a:normAutofit/>
          </a:bodyPr>
          <a:lstStyle>
            <a:lvl1pPr>
              <a:defRPr sz="1600" b="0" baseline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00" y="6120019"/>
            <a:ext cx="11232000" cy="358407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2757563-1F2A-4F9B-A5BB-ACC50ED6178F}"/>
              </a:ext>
            </a:extLst>
          </p:cNvPr>
          <p:cNvGrpSpPr>
            <a:grpSpLocks noChangeAspect="1"/>
          </p:cNvGrpSpPr>
          <p:nvPr/>
        </p:nvGrpSpPr>
        <p:grpSpPr>
          <a:xfrm>
            <a:off x="10489316" y="1"/>
            <a:ext cx="1702684" cy="1303021"/>
            <a:chOff x="7949775" y="1"/>
            <a:chExt cx="1194225" cy="910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37FBACC-4A3A-40EE-BABC-CC0A09DC0FAD}"/>
                </a:ext>
              </a:extLst>
            </p:cNvPr>
            <p:cNvSpPr/>
            <p:nvPr userDrawn="1"/>
          </p:nvSpPr>
          <p:spPr>
            <a:xfrm>
              <a:off x="7949775" y="1"/>
              <a:ext cx="1194225" cy="91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2"/>
            </a:p>
          </p:txBody>
        </p:sp>
        <p:pic>
          <p:nvPicPr>
            <p:cNvPr id="9" name="KCL-LOGO-UK-1.png">
              <a:extLst>
                <a:ext uri="{FF2B5EF4-FFF2-40B4-BE49-F238E27FC236}">
                  <a16:creationId xmlns:a16="http://schemas.microsoft.com/office/drawing/2014/main" id="{4B79824D-B628-4B33-B3A0-849D603281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r:link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9775" y="258"/>
              <a:ext cx="1194225" cy="909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82293908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56793"/>
            <a:ext cx="5384800" cy="426946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130"/>
            </a:lvl2pPr>
            <a:lvl3pPr>
              <a:defRPr sz="1870"/>
            </a:lvl3pPr>
            <a:lvl4pPr>
              <a:defRPr sz="2133"/>
            </a:lvl4pPr>
            <a:lvl5pPr>
              <a:defRPr sz="2133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7276534-D227-482D-AC62-73FA3EB83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D49BF34-AD55-4EB9-B4C6-7EF71A56AF81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9FEEBE0-EE3E-44CA-9D29-BE798CB79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1" y="6356351"/>
            <a:ext cx="3860800" cy="36618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646E212-76A5-422F-A842-EDE34BF20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D0C887-3D84-4CE3-95D9-D83FBE050FA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5"/>
          <p:cNvSpPr>
            <a:spLocks noGrp="1"/>
          </p:cNvSpPr>
          <p:nvPr>
            <p:ph type="title"/>
          </p:nvPr>
        </p:nvSpPr>
        <p:spPr>
          <a:xfrm>
            <a:off x="609600" y="793378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88250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5"/>
          <p:cNvSpPr>
            <a:spLocks noGrp="1"/>
          </p:cNvSpPr>
          <p:nvPr>
            <p:ph sz="quarter" idx="13"/>
          </p:nvPr>
        </p:nvSpPr>
        <p:spPr>
          <a:xfrm>
            <a:off x="609601" y="1628799"/>
            <a:ext cx="10972800" cy="453650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algn="r">
              <a:defRPr/>
            </a:lvl1pPr>
          </a:lstStyle>
          <a:p>
            <a:fld id="{2D49BF34-AD55-4EB9-B4C6-7EF71A56AF81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AD0C887-3D84-4CE3-95D9-D83FBE050FA2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itle 5"/>
          <p:cNvSpPr>
            <a:spLocks noGrp="1"/>
          </p:cNvSpPr>
          <p:nvPr>
            <p:ph type="title"/>
          </p:nvPr>
        </p:nvSpPr>
        <p:spPr>
          <a:xfrm>
            <a:off x="609600" y="793378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97718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rategy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5"/>
          <p:cNvSpPr>
            <a:spLocks noGrp="1"/>
          </p:cNvSpPr>
          <p:nvPr>
            <p:ph sz="quarter" idx="13"/>
          </p:nvPr>
        </p:nvSpPr>
        <p:spPr>
          <a:xfrm>
            <a:off x="609601" y="1628799"/>
            <a:ext cx="10972800" cy="453650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algn="r">
              <a:defRPr/>
            </a:lvl1pPr>
          </a:lstStyle>
          <a:p>
            <a:fld id="{2D49BF34-AD55-4EB9-B4C6-7EF71A56AF81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AD0C887-3D84-4CE3-95D9-D83FBE050FA2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itle 5"/>
          <p:cNvSpPr>
            <a:spLocks noGrp="1"/>
          </p:cNvSpPr>
          <p:nvPr>
            <p:ph type="title"/>
          </p:nvPr>
        </p:nvSpPr>
        <p:spPr>
          <a:xfrm>
            <a:off x="609600" y="793378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49364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91C3AB7-B446-4F72-ABF4-5CD8EB436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D49BF34-AD55-4EB9-B4C6-7EF71A56AF81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A30E2C6-999F-4EDE-95E6-51D642113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D0C887-3D84-4CE3-95D9-D83FBE050FA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2A6D1-940A-4FE1-91A1-99304940D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1" y="6356351"/>
            <a:ext cx="3860800" cy="36618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1672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/>
          <p:cNvSpPr>
            <a:spLocks noGrp="1"/>
          </p:cNvSpPr>
          <p:nvPr>
            <p:ph sz="quarter" idx="13"/>
          </p:nvPr>
        </p:nvSpPr>
        <p:spPr>
          <a:xfrm>
            <a:off x="440267" y="1402385"/>
            <a:ext cx="11319933" cy="5034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9BF34-AD55-4EB9-B4C6-7EF71A56AF81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C887-3D84-4CE3-95D9-D83FBE050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041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Imanova_Brandmark_RGB_150dpi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8556" y="66316"/>
            <a:ext cx="916825" cy="68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291929" y="817124"/>
            <a:ext cx="11584713" cy="48945"/>
          </a:xfrm>
          <a:prstGeom prst="rect">
            <a:avLst/>
          </a:prstGeom>
          <a:solidFill>
            <a:srgbClr val="191851"/>
          </a:solidFill>
          <a:ln w="9525">
            <a:noFill/>
            <a:round/>
            <a:headEnd/>
            <a:tailEnd/>
          </a:ln>
        </p:spPr>
        <p:txBody>
          <a:bodyPr lIns="83119" tIns="41559" rIns="83119" bIns="41559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200">
              <a:solidFill>
                <a:prstClr val="black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8" name="Text Box 16"/>
          <p:cNvSpPr txBox="1">
            <a:spLocks noChangeArrowheads="1"/>
          </p:cNvSpPr>
          <p:nvPr/>
        </p:nvSpPr>
        <p:spPr bwMode="auto">
          <a:xfrm>
            <a:off x="306537" y="6400226"/>
            <a:ext cx="11584713" cy="244723"/>
          </a:xfrm>
          <a:prstGeom prst="rect">
            <a:avLst/>
          </a:prstGeom>
          <a:solidFill>
            <a:srgbClr val="1E1D54"/>
          </a:solidFill>
          <a:ln>
            <a:noFill/>
          </a:ln>
        </p:spPr>
        <p:txBody>
          <a:bodyPr lIns="98172" tIns="49086" rIns="91423" bIns="45712"/>
          <a:lstStyle>
            <a:lvl1pPr defTabSz="10064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10064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>
                <a:srgbClr val="800080"/>
              </a:buClr>
              <a:buFont typeface="Times" charset="0"/>
              <a:buNone/>
              <a:defRPr/>
            </a:pPr>
            <a:endParaRPr lang="en-GB" sz="900" dirty="0">
              <a:solidFill>
                <a:prstClr val="white"/>
              </a:solidFill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306537" y="1025858"/>
            <a:ext cx="11584713" cy="5308148"/>
          </a:xfrm>
          <a:prstGeom prst="rect">
            <a:avLst/>
          </a:prstGeom>
          <a:gradFill rotWithShape="1">
            <a:gsLst>
              <a:gs pos="0">
                <a:srgbClr val="0092D2"/>
              </a:gs>
              <a:gs pos="100000">
                <a:srgbClr val="191851"/>
              </a:gs>
            </a:gsLst>
            <a:lin ang="5400000"/>
          </a:gradFill>
          <a:ln w="9525">
            <a:noFill/>
            <a:round/>
            <a:headEnd/>
            <a:tailEnd/>
          </a:ln>
        </p:spPr>
        <p:txBody>
          <a:bodyPr lIns="83119" tIns="41559" rIns="83119" bIns="41559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200">
              <a:solidFill>
                <a:prstClr val="white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99005" y="122277"/>
            <a:ext cx="3847715" cy="600831"/>
          </a:xfrm>
          <a:prstGeom prst="rect">
            <a:avLst/>
          </a:prstGeom>
        </p:spPr>
        <p:txBody>
          <a:bodyPr vert="horz" lIns="83119" tIns="41559" rIns="83119" bIns="41559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499326" y="1141024"/>
            <a:ext cx="11193351" cy="5030314"/>
          </a:xfrm>
          <a:prstGeom prst="rect">
            <a:avLst/>
          </a:prstGeom>
        </p:spPr>
        <p:txBody>
          <a:bodyPr vert="horz" lIns="0" tIns="0" rIns="0" bIns="41559"/>
          <a:lstStyle>
            <a:lvl1pPr>
              <a:defRPr sz="29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183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0000" y="180000"/>
            <a:ext cx="11232000" cy="720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00" y="1089220"/>
            <a:ext cx="11232000" cy="4856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0000" y="6498000"/>
            <a:ext cx="960000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>
                <a:solidFill>
                  <a:schemeClr val="tx2"/>
                </a:solidFill>
                <a:latin typeface="Georgia"/>
                <a:cs typeface="Georgia"/>
              </a:defRPr>
            </a:lvl1pPr>
          </a:lstStyle>
          <a:p>
            <a:fld id="{2D49BF34-AD55-4EB9-B4C6-7EF71A56AF81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0000" y="6498000"/>
            <a:ext cx="9312000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>
                <a:solidFill>
                  <a:schemeClr val="tx2"/>
                </a:solidFill>
                <a:latin typeface="Georgia"/>
                <a:cs typeface="Georgia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2000" y="6498000"/>
            <a:ext cx="960000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lvl1pPr algn="r">
              <a:defRPr sz="1000">
                <a:solidFill>
                  <a:schemeClr val="tx2"/>
                </a:solidFill>
                <a:latin typeface="Georgia"/>
                <a:cs typeface="Georgia"/>
              </a:defRPr>
            </a:lvl1pPr>
          </a:lstStyle>
          <a:p>
            <a:fld id="{5AD0C887-3D84-4CE3-95D9-D83FBE050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231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transition>
    <p:fade/>
  </p:transition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rgbClr val="0A2D50"/>
          </a:solidFill>
          <a:latin typeface="Impact"/>
          <a:ea typeface="+mj-ea"/>
          <a:cs typeface="Impact"/>
        </a:defRPr>
      </a:lvl1pPr>
    </p:titleStyle>
    <p:bodyStyle>
      <a:lvl1pPr marL="269875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1pPr>
      <a:lvl2pPr marL="539750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2pPr>
      <a:lvl3pPr marL="809625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3pPr>
      <a:lvl4pPr marL="1079500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4pPr>
      <a:lvl5pPr marL="1341438" indent="-261938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C0BA1EB-1949-4708-884C-5B234C9A0A39}"/>
              </a:ext>
            </a:extLst>
          </p:cNvPr>
          <p:cNvSpPr txBox="1"/>
          <p:nvPr/>
        </p:nvSpPr>
        <p:spPr>
          <a:xfrm>
            <a:off x="0" y="150982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+mj-lt"/>
              </a:rPr>
              <a:t>Image-guide Navigation for Robotics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984BE8-D9D7-4702-AC20-1B3D92B8229D}"/>
              </a:ext>
            </a:extLst>
          </p:cNvPr>
          <p:cNvSpPr txBox="1"/>
          <p:nvPr/>
        </p:nvSpPr>
        <p:spPr>
          <a:xfrm>
            <a:off x="1488557" y="2340821"/>
            <a:ext cx="85804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Feedback Control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AD3EFD-E841-4D68-AF80-6B97B49976C1}"/>
              </a:ext>
            </a:extLst>
          </p:cNvPr>
          <p:cNvSpPr txBox="1"/>
          <p:nvPr/>
        </p:nvSpPr>
        <p:spPr>
          <a:xfrm>
            <a:off x="154709" y="4882490"/>
            <a:ext cx="70493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n-lt"/>
              </a:rPr>
              <a:t>Rachel Sparks, Ph.D.</a:t>
            </a:r>
          </a:p>
          <a:p>
            <a:r>
              <a:rPr lang="en-US" sz="2400" dirty="0">
                <a:latin typeface="+mn-lt"/>
              </a:rPr>
              <a:t>Rachel.sparks@kcl.ac.uk</a:t>
            </a:r>
          </a:p>
          <a:p>
            <a:r>
              <a:rPr lang="en-US" sz="2400" dirty="0">
                <a:latin typeface="+mj-lt"/>
              </a:rPr>
              <a:t>Lecturer in Surgical &amp; Interventional Engineering</a:t>
            </a:r>
          </a:p>
          <a:p>
            <a:r>
              <a:rPr lang="en-US" sz="2400" dirty="0">
                <a:latin typeface="+mj-lt"/>
              </a:rPr>
              <a:t>School of Biomedical Engineering &amp; Imaging Sciences</a:t>
            </a:r>
          </a:p>
        </p:txBody>
      </p:sp>
    </p:spTree>
    <p:extLst>
      <p:ext uri="{BB962C8B-B14F-4D97-AF65-F5344CB8AC3E}">
        <p14:creationId xmlns:p14="http://schemas.microsoft.com/office/powerpoint/2010/main" val="295441888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AF1C9F-F089-43A3-B1B6-EB01EF0E5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Robot Control Diagram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7996A0D-1E54-470A-87BE-B874AAFDB58F}"/>
              </a:ext>
            </a:extLst>
          </p:cNvPr>
          <p:cNvSpPr/>
          <p:nvPr/>
        </p:nvSpPr>
        <p:spPr>
          <a:xfrm>
            <a:off x="1170432" y="1210941"/>
            <a:ext cx="3005057" cy="1292492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is our goal?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action should the robot take to reach goal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79C5D23-3AB3-4858-81B3-7FE574032273}"/>
              </a:ext>
            </a:extLst>
          </p:cNvPr>
          <p:cNvSpPr/>
          <p:nvPr/>
        </p:nvSpPr>
        <p:spPr>
          <a:xfrm>
            <a:off x="1170433" y="4218994"/>
            <a:ext cx="2773074" cy="1563066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Sense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Where is the robot in the world?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is the state of the robot?</a:t>
            </a:r>
          </a:p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3908C8F-4766-46CA-BF0F-407A3C9EABBF}"/>
              </a:ext>
            </a:extLst>
          </p:cNvPr>
          <p:cNvSpPr/>
          <p:nvPr/>
        </p:nvSpPr>
        <p:spPr>
          <a:xfrm>
            <a:off x="6833936" y="2801073"/>
            <a:ext cx="2505137" cy="1294904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algn="ctr"/>
            <a:r>
              <a:rPr lang="en-US" dirty="0"/>
              <a:t>Alter state of the robot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1724D1AD-EFAD-41D4-A619-CD2ADC80E225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3943507" y="3448525"/>
            <a:ext cx="2890429" cy="155200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D4EE5C8A-B524-460F-A4F8-9F6D54F32DED}"/>
              </a:ext>
            </a:extLst>
          </p:cNvPr>
          <p:cNvCxnSpPr>
            <a:cxnSpLocks/>
            <a:stCxn id="2" idx="3"/>
            <a:endCxn id="7" idx="1"/>
          </p:cNvCxnSpPr>
          <p:nvPr/>
        </p:nvCxnSpPr>
        <p:spPr>
          <a:xfrm>
            <a:off x="4175489" y="1857187"/>
            <a:ext cx="2658447" cy="1591338"/>
          </a:xfrm>
          <a:prstGeom prst="bentConnector3">
            <a:avLst>
              <a:gd name="adj1" fmla="val 45434"/>
            </a:avLst>
          </a:prstGeom>
          <a:ln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C67DA64-D9BA-4779-96C3-358926D4AEAF}"/>
              </a:ext>
            </a:extLst>
          </p:cNvPr>
          <p:cNvSpPr/>
          <p:nvPr/>
        </p:nvSpPr>
        <p:spPr>
          <a:xfrm>
            <a:off x="743712" y="2625155"/>
            <a:ext cx="9595104" cy="3509686"/>
          </a:xfrm>
          <a:prstGeom prst="roundRect">
            <a:avLst/>
          </a:prstGeom>
          <a:noFill/>
          <a:ln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78DD5E1C-63AE-41A9-AAFE-91B0ACE6D9E1}"/>
              </a:ext>
            </a:extLst>
          </p:cNvPr>
          <p:cNvCxnSpPr>
            <a:cxnSpLocks/>
            <a:stCxn id="7" idx="2"/>
            <a:endCxn id="6" idx="2"/>
          </p:cNvCxnSpPr>
          <p:nvPr/>
        </p:nvCxnSpPr>
        <p:spPr>
          <a:xfrm rot="5400000">
            <a:off x="4478697" y="2174251"/>
            <a:ext cx="1686083" cy="5529535"/>
          </a:xfrm>
          <a:prstGeom prst="bentConnector3">
            <a:avLst>
              <a:gd name="adj1" fmla="val 113558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B796373-88D9-4F55-89BC-B10752824A9F}"/>
              </a:ext>
            </a:extLst>
          </p:cNvPr>
          <p:cNvSpPr txBox="1"/>
          <p:nvPr/>
        </p:nvSpPr>
        <p:spPr>
          <a:xfrm>
            <a:off x="1133857" y="2772798"/>
            <a:ext cx="2809650" cy="461665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+mn-lt"/>
              </a:rPr>
              <a:t>Robot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60F95E-6774-432C-8EC7-CF2F1797588F}"/>
              </a:ext>
            </a:extLst>
          </p:cNvPr>
          <p:cNvSpPr txBox="1"/>
          <p:nvPr/>
        </p:nvSpPr>
        <p:spPr>
          <a:xfrm>
            <a:off x="2616254" y="4769694"/>
            <a:ext cx="633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+mn-lt"/>
              </a:rPr>
              <a:t>*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6E08AF5-09C8-43DA-9047-759388327765}"/>
              </a:ext>
            </a:extLst>
          </p:cNvPr>
          <p:cNvSpPr txBox="1"/>
          <p:nvPr/>
        </p:nvSpPr>
        <p:spPr>
          <a:xfrm>
            <a:off x="5876544" y="6240516"/>
            <a:ext cx="5974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+mn-lt"/>
              </a:rPr>
              <a:t>*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Can be achieved through external sensors</a:t>
            </a:r>
          </a:p>
        </p:txBody>
      </p:sp>
    </p:spTree>
    <p:extLst>
      <p:ext uri="{BB962C8B-B14F-4D97-AF65-F5344CB8AC3E}">
        <p14:creationId xmlns:p14="http://schemas.microsoft.com/office/powerpoint/2010/main" val="32125555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allAtOnce" animBg="1"/>
      <p:bldP spid="6" grpId="0" uiExpand="1" build="allAtOnce" animBg="1"/>
      <p:bldP spid="7" grpId="0" uiExpand="1" build="allAtOnce" animBg="1"/>
      <p:bldP spid="32" grpId="0" animBg="1"/>
      <p:bldP spid="42" grpId="0" animBg="1"/>
      <p:bldP spid="43" grpId="0"/>
      <p:bldP spid="4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AF1C9F-F089-43A3-B1B6-EB01EF0E5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Robot Control Diagram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7996A0D-1E54-470A-87BE-B874AAFDB58F}"/>
              </a:ext>
            </a:extLst>
          </p:cNvPr>
          <p:cNvSpPr/>
          <p:nvPr/>
        </p:nvSpPr>
        <p:spPr>
          <a:xfrm>
            <a:off x="1170433" y="1210941"/>
            <a:ext cx="3316224" cy="1292492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is our goal?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action should the robot take to reach goal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79C5D23-3AB3-4858-81B3-7FE574032273}"/>
              </a:ext>
            </a:extLst>
          </p:cNvPr>
          <p:cNvSpPr/>
          <p:nvPr/>
        </p:nvSpPr>
        <p:spPr>
          <a:xfrm>
            <a:off x="1170433" y="4218994"/>
            <a:ext cx="3316224" cy="1563066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Sense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Where is the robot in the world?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is the state of the robot?</a:t>
            </a:r>
          </a:p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3908C8F-4766-46CA-BF0F-407A3C9EABBF}"/>
              </a:ext>
            </a:extLst>
          </p:cNvPr>
          <p:cNvSpPr/>
          <p:nvPr/>
        </p:nvSpPr>
        <p:spPr>
          <a:xfrm>
            <a:off x="6388610" y="2801073"/>
            <a:ext cx="2950464" cy="1294904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Alter state of the robot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1724D1AD-EFAD-41D4-A619-CD2ADC80E225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4486657" y="3448525"/>
            <a:ext cx="1901953" cy="155200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D4EE5C8A-B524-460F-A4F8-9F6D54F32DED}"/>
              </a:ext>
            </a:extLst>
          </p:cNvPr>
          <p:cNvCxnSpPr>
            <a:cxnSpLocks/>
            <a:stCxn id="2" idx="3"/>
            <a:endCxn id="7" idx="1"/>
          </p:cNvCxnSpPr>
          <p:nvPr/>
        </p:nvCxnSpPr>
        <p:spPr>
          <a:xfrm>
            <a:off x="4486657" y="1857187"/>
            <a:ext cx="1901953" cy="159133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C67DA64-D9BA-4779-96C3-358926D4AEAF}"/>
              </a:ext>
            </a:extLst>
          </p:cNvPr>
          <p:cNvSpPr/>
          <p:nvPr/>
        </p:nvSpPr>
        <p:spPr>
          <a:xfrm>
            <a:off x="743712" y="2625155"/>
            <a:ext cx="9595104" cy="3509686"/>
          </a:xfrm>
          <a:prstGeom prst="roundRect">
            <a:avLst/>
          </a:prstGeom>
          <a:noFill/>
          <a:ln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78DD5E1C-63AE-41A9-AAFE-91B0ACE6D9E1}"/>
              </a:ext>
            </a:extLst>
          </p:cNvPr>
          <p:cNvCxnSpPr>
            <a:cxnSpLocks/>
            <a:stCxn id="7" idx="2"/>
            <a:endCxn id="6" idx="2"/>
          </p:cNvCxnSpPr>
          <p:nvPr/>
        </p:nvCxnSpPr>
        <p:spPr>
          <a:xfrm rot="5400000">
            <a:off x="4503153" y="2421370"/>
            <a:ext cx="1686083" cy="5035297"/>
          </a:xfrm>
          <a:prstGeom prst="bentConnector3">
            <a:avLst>
              <a:gd name="adj1" fmla="val 113558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39D594A-D7C0-46A9-A644-50FF4E89191A}"/>
              </a:ext>
            </a:extLst>
          </p:cNvPr>
          <p:cNvSpPr txBox="1"/>
          <p:nvPr/>
        </p:nvSpPr>
        <p:spPr>
          <a:xfrm>
            <a:off x="6510528" y="3352800"/>
            <a:ext cx="25115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n-lt"/>
              </a:rPr>
              <a:t>Motor Controller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ED5384-32F4-48AC-9ED8-3A56928D870D}"/>
              </a:ext>
            </a:extLst>
          </p:cNvPr>
          <p:cNvSpPr txBox="1"/>
          <p:nvPr/>
        </p:nvSpPr>
        <p:spPr>
          <a:xfrm>
            <a:off x="1290098" y="1908415"/>
            <a:ext cx="294052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n-lt"/>
              </a:rPr>
              <a:t>Path Planning</a:t>
            </a:r>
          </a:p>
          <a:p>
            <a:pPr algn="ctr"/>
            <a:endParaRPr lang="en-US" sz="1000" dirty="0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B9955F-DE7A-4DFE-B3B9-C9EFDDC0B230}"/>
              </a:ext>
            </a:extLst>
          </p:cNvPr>
          <p:cNvSpPr txBox="1"/>
          <p:nvPr/>
        </p:nvSpPr>
        <p:spPr>
          <a:xfrm>
            <a:off x="1353315" y="4591468"/>
            <a:ext cx="287730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n-lt"/>
              </a:rPr>
              <a:t>Distance sensors</a:t>
            </a:r>
          </a:p>
          <a:p>
            <a:pPr algn="ctr"/>
            <a:r>
              <a:rPr lang="en-US" dirty="0">
                <a:latin typeface="+mn-lt"/>
              </a:rPr>
              <a:t>Cameras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4F34FC-61DA-4E32-8DD4-11CB985BC144}"/>
              </a:ext>
            </a:extLst>
          </p:cNvPr>
          <p:cNvSpPr txBox="1"/>
          <p:nvPr/>
        </p:nvSpPr>
        <p:spPr>
          <a:xfrm>
            <a:off x="1290098" y="5177005"/>
            <a:ext cx="2877308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n-lt"/>
              </a:rPr>
              <a:t>Position sensors</a:t>
            </a:r>
          </a:p>
          <a:p>
            <a:pPr algn="ctr"/>
            <a:endParaRPr lang="en-US" sz="1000" dirty="0"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7FC82A-8A5B-4240-A5AD-AFE5849BB5ED}"/>
              </a:ext>
            </a:extLst>
          </p:cNvPr>
          <p:cNvSpPr txBox="1"/>
          <p:nvPr/>
        </p:nvSpPr>
        <p:spPr>
          <a:xfrm>
            <a:off x="1133857" y="2772798"/>
            <a:ext cx="2809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+mn-lt"/>
              </a:rPr>
              <a:t>Robot</a:t>
            </a:r>
          </a:p>
        </p:txBody>
      </p:sp>
    </p:spTree>
    <p:extLst>
      <p:ext uri="{BB962C8B-B14F-4D97-AF65-F5344CB8AC3E}">
        <p14:creationId xmlns:p14="http://schemas.microsoft.com/office/powerpoint/2010/main" val="21680098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 animBg="1"/>
      <p:bldP spid="13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AF1C9F-F089-43A3-B1B6-EB01EF0E5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Robot?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7996A0D-1E54-470A-87BE-B874AAFDB58F}"/>
              </a:ext>
            </a:extLst>
          </p:cNvPr>
          <p:cNvSpPr/>
          <p:nvPr/>
        </p:nvSpPr>
        <p:spPr>
          <a:xfrm>
            <a:off x="1170433" y="1210941"/>
            <a:ext cx="3118346" cy="1292492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is our goal?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action should the robot take to reach goal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79C5D23-3AB3-4858-81B3-7FE574032273}"/>
              </a:ext>
            </a:extLst>
          </p:cNvPr>
          <p:cNvSpPr/>
          <p:nvPr/>
        </p:nvSpPr>
        <p:spPr>
          <a:xfrm>
            <a:off x="1170433" y="4218994"/>
            <a:ext cx="2773074" cy="1563066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Sense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Where is the robot in the world?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is the state of the robot?</a:t>
            </a:r>
          </a:p>
          <a:p>
            <a:pPr algn="ctr"/>
            <a:endParaRPr lang="en-US" dirty="0"/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1724D1AD-EFAD-41D4-A619-CD2ADC80E225}"/>
              </a:ext>
            </a:extLst>
          </p:cNvPr>
          <p:cNvCxnSpPr>
            <a:cxnSpLocks/>
            <a:stCxn id="6" idx="3"/>
            <a:endCxn id="21" idx="1"/>
          </p:cNvCxnSpPr>
          <p:nvPr/>
        </p:nvCxnSpPr>
        <p:spPr>
          <a:xfrm flipV="1">
            <a:off x="3943507" y="3571542"/>
            <a:ext cx="2647444" cy="142898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D4EE5C8A-B524-460F-A4F8-9F6D54F32DED}"/>
              </a:ext>
            </a:extLst>
          </p:cNvPr>
          <p:cNvCxnSpPr>
            <a:cxnSpLocks/>
            <a:stCxn id="2" idx="3"/>
            <a:endCxn id="13" idx="0"/>
          </p:cNvCxnSpPr>
          <p:nvPr/>
        </p:nvCxnSpPr>
        <p:spPr>
          <a:xfrm>
            <a:off x="4288779" y="1857187"/>
            <a:ext cx="5182516" cy="106690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C67DA64-D9BA-4779-96C3-358926D4AEAF}"/>
              </a:ext>
            </a:extLst>
          </p:cNvPr>
          <p:cNvSpPr/>
          <p:nvPr/>
        </p:nvSpPr>
        <p:spPr>
          <a:xfrm>
            <a:off x="743712" y="2625155"/>
            <a:ext cx="9595104" cy="3509686"/>
          </a:xfrm>
          <a:prstGeom prst="roundRect">
            <a:avLst/>
          </a:prstGeom>
          <a:noFill/>
          <a:ln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78DD5E1C-63AE-41A9-AAFE-91B0ACE6D9E1}"/>
              </a:ext>
            </a:extLst>
          </p:cNvPr>
          <p:cNvCxnSpPr>
            <a:cxnSpLocks/>
            <a:stCxn id="13" idx="2"/>
            <a:endCxn id="6" idx="2"/>
          </p:cNvCxnSpPr>
          <p:nvPr/>
        </p:nvCxnSpPr>
        <p:spPr>
          <a:xfrm rot="5400000">
            <a:off x="5232600" y="1543365"/>
            <a:ext cx="1563066" cy="6914325"/>
          </a:xfrm>
          <a:prstGeom prst="bentConnector3">
            <a:avLst>
              <a:gd name="adj1" fmla="val 114625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B796373-88D9-4F55-89BC-B10752824A9F}"/>
              </a:ext>
            </a:extLst>
          </p:cNvPr>
          <p:cNvSpPr txBox="1"/>
          <p:nvPr/>
        </p:nvSpPr>
        <p:spPr>
          <a:xfrm>
            <a:off x="1133857" y="2772798"/>
            <a:ext cx="2809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+mn-lt"/>
              </a:rPr>
              <a:t>Robot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6110FED-8A0B-4C9A-9F02-4BBC5899B267}"/>
              </a:ext>
            </a:extLst>
          </p:cNvPr>
          <p:cNvSpPr/>
          <p:nvPr/>
        </p:nvSpPr>
        <p:spPr>
          <a:xfrm>
            <a:off x="8724391" y="2924090"/>
            <a:ext cx="1493807" cy="1294904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Act</a:t>
            </a:r>
          </a:p>
          <a:p>
            <a:pPr algn="ctr"/>
            <a:endParaRPr lang="en-US" dirty="0"/>
          </a:p>
          <a:p>
            <a:r>
              <a:rPr lang="en-US" dirty="0"/>
              <a:t>Alter state of the robot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83672A3-7A32-4E9C-82AE-B676539664F0}"/>
              </a:ext>
            </a:extLst>
          </p:cNvPr>
          <p:cNvSpPr/>
          <p:nvPr/>
        </p:nvSpPr>
        <p:spPr>
          <a:xfrm>
            <a:off x="6590951" y="2924090"/>
            <a:ext cx="1493807" cy="1294904"/>
          </a:xfrm>
          <a:prstGeom prst="round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Revise Plan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Update the plan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C7785E1D-23F5-44D9-99C3-DD58CCFF35B8}"/>
              </a:ext>
            </a:extLst>
          </p:cNvPr>
          <p:cNvCxnSpPr>
            <a:cxnSpLocks/>
            <a:stCxn id="2" idx="3"/>
            <a:endCxn id="21" idx="1"/>
          </p:cNvCxnSpPr>
          <p:nvPr/>
        </p:nvCxnSpPr>
        <p:spPr>
          <a:xfrm>
            <a:off x="4288779" y="1857187"/>
            <a:ext cx="2302172" cy="1714355"/>
          </a:xfrm>
          <a:prstGeom prst="bentConnector3">
            <a:avLst>
              <a:gd name="adj1" fmla="val 4297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B3E6BDD-F05B-4328-AC94-B0F7A9859933}"/>
              </a:ext>
            </a:extLst>
          </p:cNvPr>
          <p:cNvCxnSpPr>
            <a:stCxn id="21" idx="3"/>
            <a:endCxn id="13" idx="1"/>
          </p:cNvCxnSpPr>
          <p:nvPr/>
        </p:nvCxnSpPr>
        <p:spPr>
          <a:xfrm>
            <a:off x="8084758" y="3571542"/>
            <a:ext cx="639633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68451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 animBg="1"/>
      <p:bldP spid="6" grpId="0" animBg="1"/>
      <p:bldP spid="13" grpId="0" uiExpand="1" build="allAtOnce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AF1C9F-F089-43A3-B1B6-EB01EF0E5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Robot?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7996A0D-1E54-470A-87BE-B874AAFDB58F}"/>
              </a:ext>
            </a:extLst>
          </p:cNvPr>
          <p:cNvSpPr/>
          <p:nvPr/>
        </p:nvSpPr>
        <p:spPr>
          <a:xfrm>
            <a:off x="1170433" y="1210941"/>
            <a:ext cx="2773074" cy="1292492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is our goal?</a:t>
            </a:r>
          </a:p>
          <a:p>
            <a:r>
              <a:rPr lang="en-US" dirty="0">
                <a:latin typeface="+mn-lt"/>
              </a:rPr>
              <a:t>Path Planning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79C5D23-3AB3-4858-81B3-7FE574032273}"/>
              </a:ext>
            </a:extLst>
          </p:cNvPr>
          <p:cNvSpPr/>
          <p:nvPr/>
        </p:nvSpPr>
        <p:spPr>
          <a:xfrm>
            <a:off x="1170433" y="4218994"/>
            <a:ext cx="2773074" cy="1563066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Sense</a:t>
            </a:r>
          </a:p>
          <a:p>
            <a:pPr algn="ctr"/>
            <a:r>
              <a:rPr lang="en-US" dirty="0">
                <a:latin typeface="+mn-lt"/>
              </a:rPr>
              <a:t>Distance sensors</a:t>
            </a:r>
          </a:p>
          <a:p>
            <a:pPr algn="ctr"/>
            <a:r>
              <a:rPr lang="en-US" dirty="0">
                <a:latin typeface="+mn-lt"/>
              </a:rPr>
              <a:t>Cameras</a:t>
            </a:r>
          </a:p>
          <a:p>
            <a:pPr algn="ctr"/>
            <a:r>
              <a:rPr lang="en-US" dirty="0">
                <a:latin typeface="+mn-lt"/>
              </a:rPr>
              <a:t>Position sensors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1724D1AD-EFAD-41D4-A619-CD2ADC80E225}"/>
              </a:ext>
            </a:extLst>
          </p:cNvPr>
          <p:cNvCxnSpPr>
            <a:cxnSpLocks/>
            <a:stCxn id="6" idx="3"/>
            <a:endCxn id="21" idx="1"/>
          </p:cNvCxnSpPr>
          <p:nvPr/>
        </p:nvCxnSpPr>
        <p:spPr>
          <a:xfrm flipV="1">
            <a:off x="3943507" y="3571542"/>
            <a:ext cx="2647444" cy="142898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C67DA64-D9BA-4779-96C3-358926D4AEAF}"/>
              </a:ext>
            </a:extLst>
          </p:cNvPr>
          <p:cNvSpPr/>
          <p:nvPr/>
        </p:nvSpPr>
        <p:spPr>
          <a:xfrm>
            <a:off x="743712" y="2625155"/>
            <a:ext cx="9595104" cy="3509686"/>
          </a:xfrm>
          <a:prstGeom prst="roundRect">
            <a:avLst/>
          </a:prstGeom>
          <a:noFill/>
          <a:ln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78DD5E1C-63AE-41A9-AAFE-91B0ACE6D9E1}"/>
              </a:ext>
            </a:extLst>
          </p:cNvPr>
          <p:cNvCxnSpPr>
            <a:cxnSpLocks/>
            <a:stCxn id="13" idx="2"/>
            <a:endCxn id="6" idx="2"/>
          </p:cNvCxnSpPr>
          <p:nvPr/>
        </p:nvCxnSpPr>
        <p:spPr>
          <a:xfrm rot="5400000">
            <a:off x="5232600" y="1543365"/>
            <a:ext cx="1563066" cy="6914325"/>
          </a:xfrm>
          <a:prstGeom prst="bentConnector3">
            <a:avLst>
              <a:gd name="adj1" fmla="val 114625"/>
            </a:avLst>
          </a:prstGeom>
          <a:ln>
            <a:solidFill>
              <a:srgbClr val="00B050">
                <a:alpha val="97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B796373-88D9-4F55-89BC-B10752824A9F}"/>
              </a:ext>
            </a:extLst>
          </p:cNvPr>
          <p:cNvSpPr txBox="1"/>
          <p:nvPr/>
        </p:nvSpPr>
        <p:spPr>
          <a:xfrm>
            <a:off x="1133857" y="2772798"/>
            <a:ext cx="2809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+mn-lt"/>
              </a:rPr>
              <a:t>Robot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6110FED-8A0B-4C9A-9F02-4BBC5899B267}"/>
              </a:ext>
            </a:extLst>
          </p:cNvPr>
          <p:cNvSpPr/>
          <p:nvPr/>
        </p:nvSpPr>
        <p:spPr>
          <a:xfrm>
            <a:off x="8724391" y="2924090"/>
            <a:ext cx="1493807" cy="1294904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Act</a:t>
            </a:r>
          </a:p>
          <a:p>
            <a:pPr algn="ctr"/>
            <a:endParaRPr lang="en-US" dirty="0"/>
          </a:p>
          <a:p>
            <a:pPr algn="ctr"/>
            <a:r>
              <a:rPr lang="en-US" dirty="0">
                <a:latin typeface="+mn-lt"/>
              </a:rPr>
              <a:t>Motor Controller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83672A3-7A32-4E9C-82AE-B676539664F0}"/>
              </a:ext>
            </a:extLst>
          </p:cNvPr>
          <p:cNvSpPr/>
          <p:nvPr/>
        </p:nvSpPr>
        <p:spPr>
          <a:xfrm>
            <a:off x="6590951" y="2924090"/>
            <a:ext cx="1493807" cy="1294904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Revise Plan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Feedback Control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C7785E1D-23F5-44D9-99C3-DD58CCFF35B8}"/>
              </a:ext>
            </a:extLst>
          </p:cNvPr>
          <p:cNvCxnSpPr>
            <a:cxnSpLocks/>
            <a:stCxn id="2" idx="3"/>
            <a:endCxn id="21" idx="1"/>
          </p:cNvCxnSpPr>
          <p:nvPr/>
        </p:nvCxnSpPr>
        <p:spPr>
          <a:xfrm>
            <a:off x="3943507" y="1857187"/>
            <a:ext cx="2647444" cy="1714355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B3E6BDD-F05B-4328-AC94-B0F7A9859933}"/>
              </a:ext>
            </a:extLst>
          </p:cNvPr>
          <p:cNvCxnSpPr>
            <a:stCxn id="21" idx="3"/>
            <a:endCxn id="13" idx="1"/>
          </p:cNvCxnSpPr>
          <p:nvPr/>
        </p:nvCxnSpPr>
        <p:spPr>
          <a:xfrm>
            <a:off x="8084758" y="3571542"/>
            <a:ext cx="639633" cy="0"/>
          </a:xfrm>
          <a:prstGeom prst="straightConnector1">
            <a:avLst/>
          </a:prstGeom>
          <a:ln w="25400">
            <a:solidFill>
              <a:srgbClr val="0070C0">
                <a:alpha val="97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61169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7D900-92A9-40B6-B536-62B343C60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E1DFA-1E80-4833-B698-BC16253DC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The aim of feedback control is to ensure the goal state is reached with</a:t>
            </a:r>
          </a:p>
          <a:p>
            <a:pPr lvl="3"/>
            <a:r>
              <a:rPr lang="en-US" dirty="0"/>
              <a:t>Minimal delay</a:t>
            </a:r>
          </a:p>
          <a:p>
            <a:pPr lvl="3"/>
            <a:r>
              <a:rPr lang="en-US" dirty="0"/>
              <a:t>Minimum steady state error</a:t>
            </a:r>
          </a:p>
          <a:p>
            <a:pPr lvl="3"/>
            <a:r>
              <a:rPr lang="en-US" dirty="0"/>
              <a:t>As quickly as possible</a:t>
            </a:r>
          </a:p>
          <a:p>
            <a:pPr lvl="3"/>
            <a:r>
              <a:rPr lang="en-US" dirty="0"/>
              <a:t>Stability – i.e. will converge to a final solution </a:t>
            </a:r>
          </a:p>
        </p:txBody>
      </p:sp>
    </p:spTree>
    <p:extLst>
      <p:ext uri="{BB962C8B-B14F-4D97-AF65-F5344CB8AC3E}">
        <p14:creationId xmlns:p14="http://schemas.microsoft.com/office/powerpoint/2010/main" val="18787536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7D900-92A9-40B6-B536-62B343C60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E1DFA-1E80-4833-B698-BC16253DC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Unlike in ROS2 where we can set a joint to a given state:</a:t>
            </a:r>
          </a:p>
          <a:p>
            <a:pPr marL="882650" lvl="3" indent="-342900">
              <a:buFont typeface="Arial" panose="020B0604020202020204" pitchFamily="34" charset="0"/>
              <a:buChar char="•"/>
            </a:pPr>
            <a:r>
              <a:rPr lang="en-US" dirty="0"/>
              <a:t>Motors apply force to move a joint – friction, damping, or external forces can all cause a joint motion to deviate from the desired state</a:t>
            </a:r>
          </a:p>
          <a:p>
            <a:pPr marL="882650" lvl="3" indent="-342900">
              <a:buFont typeface="Arial" panose="020B0604020202020204" pitchFamily="34" charset="0"/>
              <a:buChar char="•"/>
            </a:pPr>
            <a:r>
              <a:rPr lang="en-US" dirty="0"/>
              <a:t>Over time small errors tend to be multiplicative and cause drift that may need to be corrected</a:t>
            </a:r>
          </a:p>
          <a:p>
            <a:pPr marL="882650" lvl="3" indent="-342900">
              <a:buFont typeface="Arial" panose="020B0604020202020204" pitchFamily="34" charset="0"/>
              <a:buChar char="•"/>
            </a:pPr>
            <a:r>
              <a:rPr lang="en-US" dirty="0"/>
              <a:t>The state of the world can be dynamic – i.e. the world may change relative position or another state in response to the movement in the robot that may require updating the plan.</a:t>
            </a:r>
          </a:p>
          <a:p>
            <a:pPr marL="882650" lvl="3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3659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9E3B3-0193-410E-A5B8-F21E34FAC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 Block Diagram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AFC6B2-AB97-4757-A93C-A9ACD54AD7DD}"/>
              </a:ext>
            </a:extLst>
          </p:cNvPr>
          <p:cNvSpPr/>
          <p:nvPr/>
        </p:nvSpPr>
        <p:spPr>
          <a:xfrm>
            <a:off x="3979274" y="2346690"/>
            <a:ext cx="1828800" cy="84966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Controller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2553F6-80E6-4ADE-B849-441C7C9EE20F}"/>
              </a:ext>
            </a:extLst>
          </p:cNvPr>
          <p:cNvSpPr/>
          <p:nvPr/>
        </p:nvSpPr>
        <p:spPr>
          <a:xfrm>
            <a:off x="7222170" y="2338598"/>
            <a:ext cx="1828800" cy="84966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System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C10415-5F0D-456C-8DBC-42FD918E7B0A}"/>
              </a:ext>
            </a:extLst>
          </p:cNvPr>
          <p:cNvSpPr/>
          <p:nvPr/>
        </p:nvSpPr>
        <p:spPr>
          <a:xfrm>
            <a:off x="6771534" y="4163788"/>
            <a:ext cx="1828800" cy="8496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Sensor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2320E91-ED68-4119-B074-A99D7A2653C6}"/>
              </a:ext>
            </a:extLst>
          </p:cNvPr>
          <p:cNvSpPr/>
          <p:nvPr/>
        </p:nvSpPr>
        <p:spPr>
          <a:xfrm>
            <a:off x="2439752" y="2640386"/>
            <a:ext cx="250853" cy="250179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4F53C91-36D5-43BC-81CB-EEE7D40C1BFB}"/>
              </a:ext>
            </a:extLst>
          </p:cNvPr>
          <p:cNvCxnSpPr>
            <a:endCxn id="7" idx="2"/>
          </p:cNvCxnSpPr>
          <p:nvPr/>
        </p:nvCxnSpPr>
        <p:spPr>
          <a:xfrm>
            <a:off x="1258315" y="2765475"/>
            <a:ext cx="1181437" cy="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70972F2-5462-466D-B874-AE7D264AA02B}"/>
              </a:ext>
            </a:extLst>
          </p:cNvPr>
          <p:cNvSpPr txBox="1"/>
          <p:nvPr/>
        </p:nvSpPr>
        <p:spPr>
          <a:xfrm>
            <a:off x="866974" y="2354760"/>
            <a:ext cx="1370048" cy="369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5EF633-7483-4EAC-A401-DFE9248103E8}"/>
              </a:ext>
            </a:extLst>
          </p:cNvPr>
          <p:cNvSpPr txBox="1"/>
          <p:nvPr/>
        </p:nvSpPr>
        <p:spPr>
          <a:xfrm>
            <a:off x="912698" y="2788329"/>
            <a:ext cx="12786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(i.e. Plan)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DBCA9C-8AE1-497A-8E7B-280456C037F1}"/>
              </a:ext>
            </a:extLst>
          </p:cNvPr>
          <p:cNvSpPr txBox="1"/>
          <p:nvPr/>
        </p:nvSpPr>
        <p:spPr>
          <a:xfrm>
            <a:off x="5388305" y="4269096"/>
            <a:ext cx="12949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Measured Output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73F0C0A-027A-4924-803D-BB272C23F8DE}"/>
              </a:ext>
            </a:extLst>
          </p:cNvPr>
          <p:cNvCxnSpPr>
            <a:cxnSpLocks/>
            <a:stCxn id="7" idx="6"/>
            <a:endCxn id="4" idx="1"/>
          </p:cNvCxnSpPr>
          <p:nvPr/>
        </p:nvCxnSpPr>
        <p:spPr>
          <a:xfrm>
            <a:off x="2690605" y="2765476"/>
            <a:ext cx="1288669" cy="6046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07F2DF2-30CA-4C41-9C88-EB3E7831E48A}"/>
              </a:ext>
            </a:extLst>
          </p:cNvPr>
          <p:cNvSpPr txBox="1"/>
          <p:nvPr/>
        </p:nvSpPr>
        <p:spPr>
          <a:xfrm>
            <a:off x="2609289" y="2440264"/>
            <a:ext cx="1361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Measured Error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07D371B-10F7-4388-9952-1CEABEF10BB9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5808074" y="2763430"/>
            <a:ext cx="1414096" cy="8092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2A3DBCE-536F-43EE-BFA7-106C1A1AFDC4}"/>
              </a:ext>
            </a:extLst>
          </p:cNvPr>
          <p:cNvSpPr txBox="1"/>
          <p:nvPr/>
        </p:nvSpPr>
        <p:spPr>
          <a:xfrm>
            <a:off x="5929962" y="2426290"/>
            <a:ext cx="1126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System Input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08E7974-5606-4E70-9AC8-26782FCCF706}"/>
              </a:ext>
            </a:extLst>
          </p:cNvPr>
          <p:cNvCxnSpPr/>
          <p:nvPr/>
        </p:nvCxnSpPr>
        <p:spPr>
          <a:xfrm flipV="1">
            <a:off x="9066952" y="2763430"/>
            <a:ext cx="1414096" cy="8092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7C58449-AB5D-437D-8507-316F447A59CF}"/>
              </a:ext>
            </a:extLst>
          </p:cNvPr>
          <p:cNvSpPr txBox="1"/>
          <p:nvPr/>
        </p:nvSpPr>
        <p:spPr>
          <a:xfrm>
            <a:off x="9188840" y="2426290"/>
            <a:ext cx="1126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System Output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AFBDE49F-9337-4507-ADD0-45BE9CC7A0DA}"/>
              </a:ext>
            </a:extLst>
          </p:cNvPr>
          <p:cNvCxnSpPr>
            <a:cxnSpLocks/>
            <a:stCxn id="5" idx="3"/>
            <a:endCxn id="6" idx="3"/>
          </p:cNvCxnSpPr>
          <p:nvPr/>
        </p:nvCxnSpPr>
        <p:spPr>
          <a:xfrm flipH="1">
            <a:off x="8600334" y="2763430"/>
            <a:ext cx="450636" cy="1825190"/>
          </a:xfrm>
          <a:prstGeom prst="bentConnector3">
            <a:avLst>
              <a:gd name="adj1" fmla="val -50728"/>
            </a:avLst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8A46BF5D-5A27-40E4-8344-E38B65B1B4E9}"/>
              </a:ext>
            </a:extLst>
          </p:cNvPr>
          <p:cNvSpPr/>
          <p:nvPr/>
        </p:nvSpPr>
        <p:spPr>
          <a:xfrm>
            <a:off x="3476273" y="4163788"/>
            <a:ext cx="1828800" cy="8496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Feedback Controller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3A65843-41AA-413A-B398-6D8EE77CE7BF}"/>
              </a:ext>
            </a:extLst>
          </p:cNvPr>
          <p:cNvCxnSpPr>
            <a:cxnSpLocks/>
            <a:stCxn id="6" idx="1"/>
            <a:endCxn id="42" idx="3"/>
          </p:cNvCxnSpPr>
          <p:nvPr/>
        </p:nvCxnSpPr>
        <p:spPr>
          <a:xfrm flipH="1">
            <a:off x="5305073" y="4588620"/>
            <a:ext cx="1466461" cy="0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128E6F09-BE94-44BA-BAB9-D582380ABCAD}"/>
              </a:ext>
            </a:extLst>
          </p:cNvPr>
          <p:cNvCxnSpPr>
            <a:stCxn id="42" idx="1"/>
            <a:endCxn id="7" idx="4"/>
          </p:cNvCxnSpPr>
          <p:nvPr/>
        </p:nvCxnSpPr>
        <p:spPr>
          <a:xfrm rot="10800000">
            <a:off x="2565179" y="2890566"/>
            <a:ext cx="911094" cy="1698055"/>
          </a:xfrm>
          <a:prstGeom prst="bentConnector2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2CC9428-604C-451E-A541-E48E32A0DD22}"/>
              </a:ext>
            </a:extLst>
          </p:cNvPr>
          <p:cNvSpPr txBox="1"/>
          <p:nvPr/>
        </p:nvSpPr>
        <p:spPr>
          <a:xfrm>
            <a:off x="2135684" y="2437564"/>
            <a:ext cx="222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BF95DAB-8B35-443A-84EE-6145AA9648F3}"/>
              </a:ext>
            </a:extLst>
          </p:cNvPr>
          <p:cNvSpPr txBox="1"/>
          <p:nvPr/>
        </p:nvSpPr>
        <p:spPr>
          <a:xfrm>
            <a:off x="2579592" y="2845870"/>
            <a:ext cx="222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2032863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3" grpId="0"/>
      <p:bldP spid="15" grpId="0"/>
      <p:bldP spid="16" grpId="0"/>
      <p:bldP spid="25" grpId="0"/>
      <p:bldP spid="29" grpId="0"/>
      <p:bldP spid="31" grpId="0"/>
      <p:bldP spid="42" grpId="0" animBg="1"/>
      <p:bldP spid="48" grpId="0"/>
      <p:bldP spid="4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9E3B3-0193-410E-A5B8-F21E34FAC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 Block Diagram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AFC6B2-AB97-4757-A93C-A9ACD54AD7DD}"/>
              </a:ext>
            </a:extLst>
          </p:cNvPr>
          <p:cNvSpPr/>
          <p:nvPr/>
        </p:nvSpPr>
        <p:spPr>
          <a:xfrm>
            <a:off x="3979274" y="2346690"/>
            <a:ext cx="1828800" cy="84966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Controller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2553F6-80E6-4ADE-B849-441C7C9EE20F}"/>
              </a:ext>
            </a:extLst>
          </p:cNvPr>
          <p:cNvSpPr/>
          <p:nvPr/>
        </p:nvSpPr>
        <p:spPr>
          <a:xfrm>
            <a:off x="7222170" y="2338598"/>
            <a:ext cx="1828800" cy="84966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System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C10415-5F0D-456C-8DBC-42FD918E7B0A}"/>
              </a:ext>
            </a:extLst>
          </p:cNvPr>
          <p:cNvSpPr/>
          <p:nvPr/>
        </p:nvSpPr>
        <p:spPr>
          <a:xfrm>
            <a:off x="6771534" y="4163788"/>
            <a:ext cx="1828800" cy="8496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Sensor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2320E91-ED68-4119-B074-A99D7A2653C6}"/>
              </a:ext>
            </a:extLst>
          </p:cNvPr>
          <p:cNvSpPr/>
          <p:nvPr/>
        </p:nvSpPr>
        <p:spPr>
          <a:xfrm>
            <a:off x="2439752" y="2640386"/>
            <a:ext cx="250853" cy="250179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4F53C91-36D5-43BC-81CB-EEE7D40C1BFB}"/>
              </a:ext>
            </a:extLst>
          </p:cNvPr>
          <p:cNvCxnSpPr>
            <a:endCxn id="7" idx="2"/>
          </p:cNvCxnSpPr>
          <p:nvPr/>
        </p:nvCxnSpPr>
        <p:spPr>
          <a:xfrm>
            <a:off x="1258315" y="2765475"/>
            <a:ext cx="1181437" cy="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70972F2-5462-466D-B874-AE7D264AA02B}"/>
              </a:ext>
            </a:extLst>
          </p:cNvPr>
          <p:cNvSpPr txBox="1"/>
          <p:nvPr/>
        </p:nvSpPr>
        <p:spPr>
          <a:xfrm>
            <a:off x="866974" y="2354760"/>
            <a:ext cx="1370048" cy="369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5EF633-7483-4EAC-A401-DFE9248103E8}"/>
              </a:ext>
            </a:extLst>
          </p:cNvPr>
          <p:cNvSpPr txBox="1"/>
          <p:nvPr/>
        </p:nvSpPr>
        <p:spPr>
          <a:xfrm>
            <a:off x="912698" y="2788329"/>
            <a:ext cx="12786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(i.e. Plan)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DBCA9C-8AE1-497A-8E7B-280456C037F1}"/>
              </a:ext>
            </a:extLst>
          </p:cNvPr>
          <p:cNvSpPr txBox="1"/>
          <p:nvPr/>
        </p:nvSpPr>
        <p:spPr>
          <a:xfrm>
            <a:off x="5388305" y="4269096"/>
            <a:ext cx="12949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Measured Output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73F0C0A-027A-4924-803D-BB272C23F8DE}"/>
              </a:ext>
            </a:extLst>
          </p:cNvPr>
          <p:cNvCxnSpPr>
            <a:cxnSpLocks/>
            <a:stCxn id="7" idx="6"/>
            <a:endCxn id="4" idx="1"/>
          </p:cNvCxnSpPr>
          <p:nvPr/>
        </p:nvCxnSpPr>
        <p:spPr>
          <a:xfrm>
            <a:off x="2690605" y="2765476"/>
            <a:ext cx="1288669" cy="6046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07F2DF2-30CA-4C41-9C88-EB3E7831E48A}"/>
              </a:ext>
            </a:extLst>
          </p:cNvPr>
          <p:cNvSpPr txBox="1"/>
          <p:nvPr/>
        </p:nvSpPr>
        <p:spPr>
          <a:xfrm>
            <a:off x="2609289" y="2440264"/>
            <a:ext cx="1361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Measured Error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07D371B-10F7-4388-9952-1CEABEF10BB9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5808074" y="2763430"/>
            <a:ext cx="1414096" cy="8092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2A3DBCE-536F-43EE-BFA7-106C1A1AFDC4}"/>
              </a:ext>
            </a:extLst>
          </p:cNvPr>
          <p:cNvSpPr txBox="1"/>
          <p:nvPr/>
        </p:nvSpPr>
        <p:spPr>
          <a:xfrm>
            <a:off x="5929962" y="2426290"/>
            <a:ext cx="1126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System Input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08E7974-5606-4E70-9AC8-26782FCCF706}"/>
              </a:ext>
            </a:extLst>
          </p:cNvPr>
          <p:cNvCxnSpPr/>
          <p:nvPr/>
        </p:nvCxnSpPr>
        <p:spPr>
          <a:xfrm flipV="1">
            <a:off x="9066952" y="2763430"/>
            <a:ext cx="1414096" cy="8092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7C58449-AB5D-437D-8507-316F447A59CF}"/>
              </a:ext>
            </a:extLst>
          </p:cNvPr>
          <p:cNvSpPr txBox="1"/>
          <p:nvPr/>
        </p:nvSpPr>
        <p:spPr>
          <a:xfrm>
            <a:off x="9188840" y="2426290"/>
            <a:ext cx="1126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System Output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AFBDE49F-9337-4507-ADD0-45BE9CC7A0DA}"/>
              </a:ext>
            </a:extLst>
          </p:cNvPr>
          <p:cNvCxnSpPr>
            <a:cxnSpLocks/>
            <a:stCxn id="5" idx="3"/>
            <a:endCxn id="6" idx="3"/>
          </p:cNvCxnSpPr>
          <p:nvPr/>
        </p:nvCxnSpPr>
        <p:spPr>
          <a:xfrm flipH="1">
            <a:off x="8600334" y="2763430"/>
            <a:ext cx="450636" cy="1825190"/>
          </a:xfrm>
          <a:prstGeom prst="bentConnector3">
            <a:avLst>
              <a:gd name="adj1" fmla="val -50728"/>
            </a:avLst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8A46BF5D-5A27-40E4-8344-E38B65B1B4E9}"/>
              </a:ext>
            </a:extLst>
          </p:cNvPr>
          <p:cNvSpPr/>
          <p:nvPr/>
        </p:nvSpPr>
        <p:spPr>
          <a:xfrm>
            <a:off x="3476273" y="4163788"/>
            <a:ext cx="1828800" cy="8496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Feedback Controller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3A65843-41AA-413A-B398-6D8EE77CE7BF}"/>
              </a:ext>
            </a:extLst>
          </p:cNvPr>
          <p:cNvCxnSpPr>
            <a:cxnSpLocks/>
            <a:stCxn id="6" idx="1"/>
            <a:endCxn id="42" idx="3"/>
          </p:cNvCxnSpPr>
          <p:nvPr/>
        </p:nvCxnSpPr>
        <p:spPr>
          <a:xfrm flipH="1">
            <a:off x="5305073" y="4588620"/>
            <a:ext cx="1466461" cy="0"/>
          </a:xfrm>
          <a:prstGeom prst="straightConnector1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128E6F09-BE94-44BA-BAB9-D582380ABCAD}"/>
              </a:ext>
            </a:extLst>
          </p:cNvPr>
          <p:cNvCxnSpPr>
            <a:stCxn id="42" idx="1"/>
            <a:endCxn id="7" idx="4"/>
          </p:cNvCxnSpPr>
          <p:nvPr/>
        </p:nvCxnSpPr>
        <p:spPr>
          <a:xfrm rot="10800000">
            <a:off x="2565179" y="2890566"/>
            <a:ext cx="911094" cy="1698055"/>
          </a:xfrm>
          <a:prstGeom prst="bentConnector2">
            <a:avLst/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2CC9428-604C-451E-A541-E48E32A0DD22}"/>
              </a:ext>
            </a:extLst>
          </p:cNvPr>
          <p:cNvSpPr txBox="1"/>
          <p:nvPr/>
        </p:nvSpPr>
        <p:spPr>
          <a:xfrm>
            <a:off x="2135684" y="2437564"/>
            <a:ext cx="222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BF95DAB-8B35-443A-84EE-6145AA9648F3}"/>
              </a:ext>
            </a:extLst>
          </p:cNvPr>
          <p:cNvSpPr txBox="1"/>
          <p:nvPr/>
        </p:nvSpPr>
        <p:spPr>
          <a:xfrm>
            <a:off x="2579592" y="2845870"/>
            <a:ext cx="222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6E6BBF-07A6-475E-852E-E6D6FF37110A}"/>
              </a:ext>
            </a:extLst>
          </p:cNvPr>
          <p:cNvSpPr/>
          <p:nvPr/>
        </p:nvSpPr>
        <p:spPr>
          <a:xfrm>
            <a:off x="3849133" y="1617971"/>
            <a:ext cx="5338787" cy="1825189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C21F2D-A1A0-4911-A5CD-DFE58D115521}"/>
              </a:ext>
            </a:extLst>
          </p:cNvPr>
          <p:cNvSpPr txBox="1"/>
          <p:nvPr/>
        </p:nvSpPr>
        <p:spPr>
          <a:xfrm>
            <a:off x="4926055" y="1709605"/>
            <a:ext cx="3210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C(s)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0EB317-D868-4E39-A1C4-E1FD45181ACE}"/>
              </a:ext>
            </a:extLst>
          </p:cNvPr>
          <p:cNvSpPr/>
          <p:nvPr/>
        </p:nvSpPr>
        <p:spPr>
          <a:xfrm>
            <a:off x="3180170" y="3681876"/>
            <a:ext cx="5870800" cy="199545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7CC743-4C66-4B61-9538-1D1520E563C4}"/>
              </a:ext>
            </a:extLst>
          </p:cNvPr>
          <p:cNvSpPr txBox="1"/>
          <p:nvPr/>
        </p:nvSpPr>
        <p:spPr>
          <a:xfrm>
            <a:off x="4433045" y="5307997"/>
            <a:ext cx="3210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F(s)</a:t>
            </a:r>
          </a:p>
        </p:txBody>
      </p:sp>
    </p:spTree>
    <p:extLst>
      <p:ext uri="{BB962C8B-B14F-4D97-AF65-F5344CB8AC3E}">
        <p14:creationId xmlns:p14="http://schemas.microsoft.com/office/powerpoint/2010/main" val="139819937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  <p:bldP spid="26" grpId="0" animBg="1"/>
      <p:bldP spid="2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9E3B3-0193-410E-A5B8-F21E34FAC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31">
                <a:extLst>
                  <a:ext uri="{FF2B5EF4-FFF2-40B4-BE49-F238E27FC236}">
                    <a16:creationId xmlns:a16="http://schemas.microsoft.com/office/drawing/2014/main" id="{857A8251-C811-4D30-9A57-628F8FCECC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864808" cy="4351338"/>
              </a:xfrm>
            </p:spPr>
            <p:txBody>
              <a:bodyPr>
                <a:normAutofit/>
              </a:bodyPr>
              <a:lstStyle/>
              <a:p>
                <a:pPr lvl="2"/>
                <a:r>
                  <a:rPr lang="en-US" dirty="0"/>
                  <a:t>The goal is to pick an appropriate feedback function F(s) to appropriately alter the forward function C(s) and converge to a reference state R (i.e. minimize measurement error)</a:t>
                </a:r>
              </a:p>
              <a:p>
                <a:pPr lvl="2"/>
                <a:r>
                  <a:rPr lang="en-US" dirty="0"/>
                  <a:t>The entire system has a closed loop transfer function (Laplacian Space)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Content Placeholder 31">
                <a:extLst>
                  <a:ext uri="{FF2B5EF4-FFF2-40B4-BE49-F238E27FC236}">
                    <a16:creationId xmlns:a16="http://schemas.microsoft.com/office/drawing/2014/main" id="{857A8251-C811-4D30-9A57-628F8FCECC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864808" cy="4351338"/>
              </a:xfrm>
              <a:blipFill>
                <a:blip r:embed="rId2"/>
                <a:stretch>
                  <a:fillRect l="-2495" t="-1261" r="-1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72320E91-ED68-4119-B074-A99D7A2653C6}"/>
              </a:ext>
            </a:extLst>
          </p:cNvPr>
          <p:cNvSpPr/>
          <p:nvPr/>
        </p:nvSpPr>
        <p:spPr>
          <a:xfrm>
            <a:off x="8308283" y="2043104"/>
            <a:ext cx="250853" cy="2501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4F53C91-36D5-43BC-81CB-EEE7D40C1BFB}"/>
              </a:ext>
            </a:extLst>
          </p:cNvPr>
          <p:cNvCxnSpPr>
            <a:endCxn id="7" idx="2"/>
          </p:cNvCxnSpPr>
          <p:nvPr/>
        </p:nvCxnSpPr>
        <p:spPr>
          <a:xfrm>
            <a:off x="7126846" y="2168193"/>
            <a:ext cx="11814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70972F2-5462-466D-B874-AE7D264AA02B}"/>
              </a:ext>
            </a:extLst>
          </p:cNvPr>
          <p:cNvSpPr txBox="1"/>
          <p:nvPr/>
        </p:nvSpPr>
        <p:spPr>
          <a:xfrm>
            <a:off x="6937692" y="1766354"/>
            <a:ext cx="1266913" cy="369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5EF633-7483-4EAC-A401-DFE9248103E8}"/>
              </a:ext>
            </a:extLst>
          </p:cNvPr>
          <p:cNvSpPr txBox="1"/>
          <p:nvPr/>
        </p:nvSpPr>
        <p:spPr>
          <a:xfrm>
            <a:off x="6919476" y="2191047"/>
            <a:ext cx="1328324" cy="369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(i.e. Plan)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73F0C0A-027A-4924-803D-BB272C23F8DE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8559136" y="2168194"/>
            <a:ext cx="1288669" cy="6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07F2DF2-30CA-4C41-9C88-EB3E7831E48A}"/>
              </a:ext>
            </a:extLst>
          </p:cNvPr>
          <p:cNvSpPr txBox="1"/>
          <p:nvPr/>
        </p:nvSpPr>
        <p:spPr>
          <a:xfrm>
            <a:off x="8599101" y="1851059"/>
            <a:ext cx="1248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Measured Error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08E7974-5606-4E70-9AC8-26782FCCF706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10531610" y="2135638"/>
            <a:ext cx="14203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7C58449-AB5D-437D-8507-316F447A59CF}"/>
              </a:ext>
            </a:extLst>
          </p:cNvPr>
          <p:cNvSpPr txBox="1"/>
          <p:nvPr/>
        </p:nvSpPr>
        <p:spPr>
          <a:xfrm>
            <a:off x="10748078" y="1803395"/>
            <a:ext cx="1126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System Output</a:t>
            </a: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128E6F09-BE94-44BA-BAB9-D582380ABCAD}"/>
              </a:ext>
            </a:extLst>
          </p:cNvPr>
          <p:cNvCxnSpPr>
            <a:cxnSpLocks/>
            <a:stCxn id="3" idx="1"/>
            <a:endCxn id="7" idx="4"/>
          </p:cNvCxnSpPr>
          <p:nvPr/>
        </p:nvCxnSpPr>
        <p:spPr>
          <a:xfrm rot="10800000">
            <a:off x="8433711" y="2293284"/>
            <a:ext cx="1414093" cy="6581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2CC9428-604C-451E-A541-E48E32A0DD22}"/>
              </a:ext>
            </a:extLst>
          </p:cNvPr>
          <p:cNvSpPr txBox="1"/>
          <p:nvPr/>
        </p:nvSpPr>
        <p:spPr>
          <a:xfrm>
            <a:off x="8004215" y="1840282"/>
            <a:ext cx="222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BF95DAB-8B35-443A-84EE-6145AA9648F3}"/>
              </a:ext>
            </a:extLst>
          </p:cNvPr>
          <p:cNvSpPr txBox="1"/>
          <p:nvPr/>
        </p:nvSpPr>
        <p:spPr>
          <a:xfrm>
            <a:off x="8412151" y="2265060"/>
            <a:ext cx="222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BCEF7B-F8EF-4B7D-89E4-FC34DD329E00}"/>
              </a:ext>
            </a:extLst>
          </p:cNvPr>
          <p:cNvSpPr/>
          <p:nvPr/>
        </p:nvSpPr>
        <p:spPr>
          <a:xfrm>
            <a:off x="9847803" y="2726521"/>
            <a:ext cx="683805" cy="449874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F(s)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4362E77-7DF3-42F9-8B1E-DF70FF608736}"/>
              </a:ext>
            </a:extLst>
          </p:cNvPr>
          <p:cNvSpPr/>
          <p:nvPr/>
        </p:nvSpPr>
        <p:spPr>
          <a:xfrm>
            <a:off x="9847804" y="1914747"/>
            <a:ext cx="683806" cy="441782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C(s)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01FD25BA-1B0A-4156-A3A4-C1BC23443B70}"/>
              </a:ext>
            </a:extLst>
          </p:cNvPr>
          <p:cNvCxnSpPr>
            <a:stCxn id="26" idx="3"/>
            <a:endCxn id="3" idx="3"/>
          </p:cNvCxnSpPr>
          <p:nvPr/>
        </p:nvCxnSpPr>
        <p:spPr>
          <a:xfrm flipH="1">
            <a:off x="10531608" y="2135638"/>
            <a:ext cx="2" cy="815820"/>
          </a:xfrm>
          <a:prstGeom prst="bentConnector3">
            <a:avLst>
              <a:gd name="adj1" fmla="val -114300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7A7673C-2643-4697-AEEC-D2C962BFC211}"/>
              </a:ext>
            </a:extLst>
          </p:cNvPr>
          <p:cNvSpPr txBox="1"/>
          <p:nvPr/>
        </p:nvSpPr>
        <p:spPr>
          <a:xfrm>
            <a:off x="8412151" y="2622156"/>
            <a:ext cx="1348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Feedback</a:t>
            </a:r>
          </a:p>
          <a:p>
            <a:pPr algn="ctr"/>
            <a:r>
              <a:rPr lang="en-US" dirty="0"/>
              <a:t>Signal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96C90E6-6874-4902-8894-60326FE30E9A}"/>
              </a:ext>
            </a:extLst>
          </p:cNvPr>
          <p:cNvSpPr txBox="1"/>
          <p:nvPr/>
        </p:nvSpPr>
        <p:spPr>
          <a:xfrm>
            <a:off x="7313128" y="2513534"/>
            <a:ext cx="808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x(t)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2B0F4D-B16E-4947-9046-CA07CEF01DAF}"/>
              </a:ext>
            </a:extLst>
          </p:cNvPr>
          <p:cNvSpPr txBox="1"/>
          <p:nvPr/>
        </p:nvSpPr>
        <p:spPr>
          <a:xfrm>
            <a:off x="11066023" y="2375505"/>
            <a:ext cx="808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y(t)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C0F65F4-4E44-44C6-B082-2BC3C23577B4}"/>
              </a:ext>
            </a:extLst>
          </p:cNvPr>
          <p:cNvSpPr txBox="1"/>
          <p:nvPr/>
        </p:nvSpPr>
        <p:spPr>
          <a:xfrm>
            <a:off x="7166712" y="1429329"/>
            <a:ext cx="808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BDD50AD-D933-4712-B0B0-7459774DE8B7}"/>
              </a:ext>
            </a:extLst>
          </p:cNvPr>
          <p:cNvSpPr txBox="1"/>
          <p:nvPr/>
        </p:nvSpPr>
        <p:spPr>
          <a:xfrm>
            <a:off x="8799034" y="1506040"/>
            <a:ext cx="808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e(t)</a:t>
            </a:r>
          </a:p>
        </p:txBody>
      </p:sp>
    </p:spTree>
    <p:extLst>
      <p:ext uri="{BB962C8B-B14F-4D97-AF65-F5344CB8AC3E}">
        <p14:creationId xmlns:p14="http://schemas.microsoft.com/office/powerpoint/2010/main" val="3645164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44" grpId="0"/>
      <p:bldP spid="45" grpId="0"/>
      <p:bldP spid="4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9E3B3-0193-410E-A5B8-F21E34FAC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 Algorithm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31">
                <a:extLst>
                  <a:ext uri="{FF2B5EF4-FFF2-40B4-BE49-F238E27FC236}">
                    <a16:creationId xmlns:a16="http://schemas.microsoft.com/office/drawing/2014/main" id="{857A8251-C811-4D30-9A57-628F8FCECC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7936" y="1372779"/>
                <a:ext cx="10813870" cy="435133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r>
                  <a:rPr lang="en-US" dirty="0"/>
                  <a:t>Care must be taken to ensure H(s) is stable</a:t>
                </a:r>
              </a:p>
              <a:p>
                <a:pPr lvl="4"/>
                <a:r>
                  <a:rPr lang="en-US" dirty="0"/>
                  <a:t>Bounded input-bounded output (BIBO): for any input x(t) &lt; B the output will also be y(t) &lt; B</a:t>
                </a:r>
              </a:p>
              <a:p>
                <a:pPr lvl="4"/>
                <a:r>
                  <a:rPr lang="en-US" dirty="0"/>
                  <a:t>The poles of H(s) must have real negative values (Laplacian Transform/Bode Plot)</a:t>
                </a:r>
              </a:p>
            </p:txBody>
          </p:sp>
        </mc:Choice>
        <mc:Fallback xmlns="">
          <p:sp>
            <p:nvSpPr>
              <p:cNvPr id="32" name="Content Placeholder 31">
                <a:extLst>
                  <a:ext uri="{FF2B5EF4-FFF2-40B4-BE49-F238E27FC236}">
                    <a16:creationId xmlns:a16="http://schemas.microsoft.com/office/drawing/2014/main" id="{857A8251-C811-4D30-9A57-628F8FCECC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7936" y="1372779"/>
                <a:ext cx="10813870" cy="4351338"/>
              </a:xfrm>
              <a:blipFill>
                <a:blip r:embed="rId2"/>
                <a:stretch>
                  <a:fillRect l="-1353" r="-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54826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9B016-7922-432A-B6AD-727143F0E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Follower Robot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0FFC23-607F-455B-BFA6-ABC7262426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0000" y="1089220"/>
                <a:ext cx="6312686" cy="4856400"/>
              </a:xfrm>
            </p:spPr>
            <p:txBody>
              <a:bodyPr/>
              <a:lstStyle/>
              <a:p>
                <a:pPr lvl="1"/>
                <a:r>
                  <a:rPr lang="en-US" dirty="0"/>
                  <a:t>The goal is to keep R1 at a fixed distance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 from R2.</a:t>
                </a:r>
              </a:p>
              <a:p>
                <a:pPr marL="612775" lvl="2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R2 moves at a constant speed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pPr marL="612775" lvl="2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Input[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]: On-Off DC motor </a:t>
                </a:r>
              </a:p>
              <a:p>
                <a:pPr marL="612775" lvl="2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Output 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]:distance between R1 and R2</a:t>
                </a:r>
              </a:p>
              <a:p>
                <a:pPr marL="612775" lvl="2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612775" lvl="2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612775" lvl="2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lvl="2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𝑚𝑎𝑥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=0, 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0FFC23-607F-455B-BFA6-ABC7262426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0000" y="1089220"/>
                <a:ext cx="6312686" cy="4856400"/>
              </a:xfrm>
              <a:blipFill>
                <a:blip r:embed="rId2"/>
                <a:stretch>
                  <a:fillRect l="-2512" t="-11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8" name="Picture 57">
            <a:extLst>
              <a:ext uri="{FF2B5EF4-FFF2-40B4-BE49-F238E27FC236}">
                <a16:creationId xmlns:a16="http://schemas.microsoft.com/office/drawing/2014/main" id="{2BEF52F3-6B82-448D-A9B1-5FCE13B26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9299" y="1284026"/>
            <a:ext cx="4541156" cy="1668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79623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B3191-36B1-4143-853A-DA96554A9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Follower Robot – Feed forward Only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30402-05CF-4E7A-B094-A5B3508F4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8F1D206-C5D0-4901-BDA7-A4FD4E95F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47" y="1586163"/>
            <a:ext cx="10277475" cy="3514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917492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C8072-3A7B-41C6-B34F-CE903E37A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Proportional Control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CEBC46-0B81-4033-B8D0-0BF26151E1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0000" y="1089220"/>
                <a:ext cx="11111109" cy="4856400"/>
              </a:xfrm>
            </p:spPr>
            <p:txBody>
              <a:bodyPr/>
              <a:lstStyle/>
              <a:p>
                <a:pPr lvl="2"/>
                <a:r>
                  <a:rPr lang="en-US" dirty="0"/>
                  <a:t>Linear feedback control proportional to the measured error e(t)</a:t>
                </a:r>
              </a:p>
              <a:p>
                <a:pPr marL="539750" lvl="4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539750" lvl="4" indent="0">
                  <a:buNone/>
                </a:pPr>
                <a:endParaRPr lang="en-US" dirty="0"/>
              </a:p>
              <a:p>
                <a:pPr marL="269875" lvl="3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gain,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dirty="0"/>
                  <a:t> is the control output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is the control output when the reference R have been achieved</a:t>
                </a:r>
              </a:p>
              <a:p>
                <a:pPr marL="0" lvl="2" indent="0">
                  <a:buNone/>
                </a:pPr>
                <a:endParaRPr lang="en-US" dirty="0"/>
              </a:p>
              <a:p>
                <a:pPr lvl="2"/>
                <a:r>
                  <a:rPr lang="en-US" dirty="0"/>
                  <a:t>Advantage: easy to control and tune – small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will ensure error remains bounded</a:t>
                </a:r>
              </a:p>
              <a:p>
                <a:pPr lvl="2"/>
                <a:r>
                  <a:rPr lang="en-US" dirty="0"/>
                  <a:t>Disadvantages: </a:t>
                </a:r>
              </a:p>
              <a:p>
                <a:pPr lvl="4"/>
                <a:r>
                  <a:rPr lang="en-US" dirty="0"/>
                  <a:t>Slow to converge – as you near the goal the change in state gets smaller and smaller	</a:t>
                </a:r>
              </a:p>
              <a:p>
                <a:pPr lvl="4"/>
                <a:r>
                  <a:rPr lang="en-US" dirty="0"/>
                  <a:t>Must carefully select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to reduce overshooting and ensure convergence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CEBC46-0B81-4033-B8D0-0BF26151E1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0000" y="1089220"/>
                <a:ext cx="11111109" cy="4856400"/>
              </a:xfrm>
              <a:blipFill>
                <a:blip r:embed="rId3"/>
                <a:stretch>
                  <a:fillRect l="-1317" t="-1131" r="-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23930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597CE-C5D9-4404-BC3C-1A7EB3D78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Follower Robot – Proportional Control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793FB7-082B-4EB6-80DE-B39202EA4C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793FB7-082B-4EB6-80DE-B39202EA4C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93DE09EF-EA56-4B84-8DB5-284F7B295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1820478"/>
            <a:ext cx="10287000" cy="3524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6688382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597CE-C5D9-4404-BC3C-1A7EB3D78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Follower Robot – Proportional Control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793FB7-082B-4EB6-80DE-B39202EA4C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793FB7-082B-4EB6-80DE-B39202EA4C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2" name="Picture 4">
            <a:extLst>
              <a:ext uri="{FF2B5EF4-FFF2-40B4-BE49-F238E27FC236}">
                <a16:creationId xmlns:a16="http://schemas.microsoft.com/office/drawing/2014/main" id="{4425441D-5E19-4B48-90CC-6533176AB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1671638"/>
            <a:ext cx="10287000" cy="3514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6784706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597CE-C5D9-4404-BC3C-1A7EB3D78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Follower Robot – Proportional Control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793FB7-082B-4EB6-80DE-B39202EA4C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=2000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793FB7-082B-4EB6-80DE-B39202EA4C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>
            <a:extLst>
              <a:ext uri="{FF2B5EF4-FFF2-40B4-BE49-F238E27FC236}">
                <a16:creationId xmlns:a16="http://schemas.microsoft.com/office/drawing/2014/main" id="{DB072D9F-3C6C-40ED-B280-15BC2612F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1671638"/>
            <a:ext cx="10287000" cy="3514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482490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597CE-C5D9-4404-BC3C-1A7EB3D78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Follower Robot – Proportional Control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793FB7-082B-4EB6-80DE-B39202EA4C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=3000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793FB7-082B-4EB6-80DE-B39202EA4C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>
            <a:extLst>
              <a:ext uri="{FF2B5EF4-FFF2-40B4-BE49-F238E27FC236}">
                <a16:creationId xmlns:a16="http://schemas.microsoft.com/office/drawing/2014/main" id="{567EAA02-A594-4413-AFC5-3994C74B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38" y="1681163"/>
            <a:ext cx="10220325" cy="349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5545939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C8072-3A7B-41C6-B34F-CE903E37A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Integral Control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CEBC46-0B81-4033-B8D0-0BF26151E1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2"/>
                <a:r>
                  <a:rPr lang="en-US" dirty="0"/>
                  <a:t>Feedback control proportional to the integral of the measured error.</a:t>
                </a:r>
              </a:p>
              <a:p>
                <a:pPr marL="539750" lvl="4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539750" lvl="4" indent="0">
                  <a:buNone/>
                </a:pPr>
                <a:endParaRPr lang="en-US" dirty="0"/>
              </a:p>
              <a:p>
                <a:pPr marL="269875" lvl="3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the gain.</a:t>
                </a:r>
              </a:p>
              <a:p>
                <a:pPr marL="269875" lvl="3" indent="0">
                  <a:buNone/>
                </a:pPr>
                <a:endParaRPr lang="en-US" dirty="0"/>
              </a:p>
              <a:p>
                <a:pPr lvl="2" indent="-228600"/>
                <a:r>
                  <a:rPr lang="en-US" dirty="0"/>
                  <a:t>Over time the feedback will grow</a:t>
                </a:r>
              </a:p>
              <a:p>
                <a:pPr lvl="2" indent="-228600"/>
                <a:r>
                  <a:rPr lang="en-US" dirty="0"/>
                  <a:t>Advantage: Large steps after sufficient time has passed, </a:t>
                </a:r>
              </a:p>
              <a:p>
                <a:pPr lvl="2" indent="-228600"/>
                <a:r>
                  <a:rPr lang="en-US" dirty="0"/>
                  <a:t>Disadvantage: Unstable over long time scales.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→ ∞</m:t>
                    </m:r>
                  </m:oMath>
                </a14:m>
                <a:endParaRPr lang="en-US" dirty="0"/>
              </a:p>
              <a:p>
                <a:pPr marL="0" lvl="2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CEBC46-0B81-4033-B8D0-0BF26151E1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03" t="-11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>
            <a:extLst>
              <a:ext uri="{FF2B5EF4-FFF2-40B4-BE49-F238E27FC236}">
                <a16:creationId xmlns:a16="http://schemas.microsoft.com/office/drawing/2014/main" id="{EEF2430B-3C0C-4946-895C-0A7CEC7658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46" r="7248"/>
          <a:stretch/>
        </p:blipFill>
        <p:spPr bwMode="auto">
          <a:xfrm>
            <a:off x="8511695" y="992321"/>
            <a:ext cx="3331962" cy="2525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DF16FA2-A64F-4F3A-AC75-8FB8E7045C37}"/>
              </a:ext>
            </a:extLst>
          </p:cNvPr>
          <p:cNvCxnSpPr/>
          <p:nvPr/>
        </p:nvCxnSpPr>
        <p:spPr>
          <a:xfrm>
            <a:off x="9231086" y="2116183"/>
            <a:ext cx="248091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7069807-4602-4AA8-9397-59AA097AC333}"/>
              </a:ext>
            </a:extLst>
          </p:cNvPr>
          <p:cNvCxnSpPr>
            <a:cxnSpLocks/>
          </p:cNvCxnSpPr>
          <p:nvPr/>
        </p:nvCxnSpPr>
        <p:spPr>
          <a:xfrm flipV="1">
            <a:off x="9409611" y="1532156"/>
            <a:ext cx="396240" cy="5355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FA5C0F-D42F-44C4-91CE-6E3677A43E65}"/>
              </a:ext>
            </a:extLst>
          </p:cNvPr>
          <p:cNvCxnSpPr>
            <a:cxnSpLocks/>
          </p:cNvCxnSpPr>
          <p:nvPr/>
        </p:nvCxnSpPr>
        <p:spPr>
          <a:xfrm flipV="1">
            <a:off x="9626167" y="1532156"/>
            <a:ext cx="396240" cy="5355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9913288-C57D-4FD8-B7F0-19EFB616EE9A}"/>
              </a:ext>
            </a:extLst>
          </p:cNvPr>
          <p:cNvCxnSpPr>
            <a:cxnSpLocks/>
          </p:cNvCxnSpPr>
          <p:nvPr/>
        </p:nvCxnSpPr>
        <p:spPr>
          <a:xfrm flipV="1">
            <a:off x="9842723" y="1532156"/>
            <a:ext cx="396240" cy="5355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812B430-489A-4F15-9545-5294DDF6484B}"/>
              </a:ext>
            </a:extLst>
          </p:cNvPr>
          <p:cNvCxnSpPr>
            <a:cxnSpLocks/>
          </p:cNvCxnSpPr>
          <p:nvPr/>
        </p:nvCxnSpPr>
        <p:spPr>
          <a:xfrm flipV="1">
            <a:off x="10059279" y="1532156"/>
            <a:ext cx="396240" cy="5355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F613D02-8EDA-4BEA-B4BB-2B88AB329B96}"/>
              </a:ext>
            </a:extLst>
          </p:cNvPr>
          <p:cNvCxnSpPr>
            <a:cxnSpLocks/>
          </p:cNvCxnSpPr>
          <p:nvPr/>
        </p:nvCxnSpPr>
        <p:spPr>
          <a:xfrm flipV="1">
            <a:off x="10275833" y="1532156"/>
            <a:ext cx="396240" cy="5355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F5F846-A270-4CEA-AE10-C967AC147A17}"/>
              </a:ext>
            </a:extLst>
          </p:cNvPr>
          <p:cNvCxnSpPr>
            <a:cxnSpLocks/>
          </p:cNvCxnSpPr>
          <p:nvPr/>
        </p:nvCxnSpPr>
        <p:spPr>
          <a:xfrm flipV="1">
            <a:off x="10454481" y="1532156"/>
            <a:ext cx="396240" cy="5355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33A05E4-A3C6-44FE-9DCD-8111C908F319}"/>
              </a:ext>
            </a:extLst>
          </p:cNvPr>
          <p:cNvCxnSpPr>
            <a:cxnSpLocks/>
          </p:cNvCxnSpPr>
          <p:nvPr/>
        </p:nvCxnSpPr>
        <p:spPr>
          <a:xfrm flipV="1">
            <a:off x="10671037" y="1532156"/>
            <a:ext cx="396240" cy="5355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47FAC60-E71F-40FB-9A47-DAEA0DC59F31}"/>
              </a:ext>
            </a:extLst>
          </p:cNvPr>
          <p:cNvCxnSpPr>
            <a:cxnSpLocks/>
          </p:cNvCxnSpPr>
          <p:nvPr/>
        </p:nvCxnSpPr>
        <p:spPr>
          <a:xfrm flipV="1">
            <a:off x="10887593" y="1532156"/>
            <a:ext cx="396240" cy="5355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223236B-4E5D-4C82-AAB4-3104B7F212A6}"/>
              </a:ext>
            </a:extLst>
          </p:cNvPr>
          <p:cNvCxnSpPr>
            <a:cxnSpLocks/>
          </p:cNvCxnSpPr>
          <p:nvPr/>
        </p:nvCxnSpPr>
        <p:spPr>
          <a:xfrm flipV="1">
            <a:off x="11104149" y="1532156"/>
            <a:ext cx="396240" cy="5355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EAFA1E2-ECCF-4FE7-94AC-96B9FCD88FF7}"/>
              </a:ext>
            </a:extLst>
          </p:cNvPr>
          <p:cNvCxnSpPr>
            <a:cxnSpLocks/>
          </p:cNvCxnSpPr>
          <p:nvPr/>
        </p:nvCxnSpPr>
        <p:spPr>
          <a:xfrm flipV="1">
            <a:off x="11320703" y="1532156"/>
            <a:ext cx="396240" cy="5355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02697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C8072-3A7B-41C6-B34F-CE903E37A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Proportional Integral Control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CEBC46-0B81-4033-B8D0-0BF26151E1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2" indent="-228600"/>
                <a:r>
                  <a:rPr lang="en-US" dirty="0"/>
                  <a:t>Initially proportional control dominates, overtime integral control will dominate</a:t>
                </a:r>
              </a:p>
              <a:p>
                <a:pPr marL="539750" lvl="4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269875" lvl="3" indent="0">
                  <a:buNone/>
                </a:pPr>
                <a:endParaRPr lang="en-US" dirty="0"/>
              </a:p>
              <a:p>
                <a:pPr lvl="2" indent="-228600"/>
                <a:r>
                  <a:rPr lang="en-US" dirty="0"/>
                  <a:t>Advantages: converges to the desired solution</a:t>
                </a:r>
              </a:p>
              <a:p>
                <a:pPr lvl="2" indent="-228600"/>
                <a:r>
                  <a:rPr lang="en-US" dirty="0"/>
                  <a:t>Disadvantages: slow to converge, still prone to overshooting</a:t>
                </a:r>
              </a:p>
              <a:p>
                <a:pPr marL="0" lvl="2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CEBC46-0B81-4033-B8D0-0BF26151E1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t="-11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92109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2A1F8-0B9B-481E-96E5-511B3EA02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Follower Robot – PI Control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06B0B271-C01F-4474-93D6-F3FC130365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672" y="1991542"/>
            <a:ext cx="10153650" cy="346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D9F3068-AEBA-4BFE-B934-D85AB10E72F5}"/>
                  </a:ext>
                </a:extLst>
              </p:cNvPr>
              <p:cNvSpPr txBox="1"/>
              <p:nvPr/>
            </p:nvSpPr>
            <p:spPr>
              <a:xfrm>
                <a:off x="2377440" y="1297110"/>
                <a:ext cx="609600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=500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=800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D9F3068-AEBA-4BFE-B934-D85AB10E7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440" y="1297110"/>
                <a:ext cx="6096000" cy="390748"/>
              </a:xfrm>
              <a:prstGeom prst="rect">
                <a:avLst/>
              </a:prstGeom>
              <a:blipFill>
                <a:blip r:embed="rId4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8535908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2A1F8-0B9B-481E-96E5-511B3EA02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Follower Robot – PI Control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D9F3068-AEBA-4BFE-B934-D85AB10E72F5}"/>
                  </a:ext>
                </a:extLst>
              </p:cNvPr>
              <p:cNvSpPr txBox="1"/>
              <p:nvPr/>
            </p:nvSpPr>
            <p:spPr>
              <a:xfrm>
                <a:off x="2377440" y="1297110"/>
                <a:ext cx="609600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=500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=1600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D9F3068-AEBA-4BFE-B934-D85AB10E7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440" y="1297110"/>
                <a:ext cx="6096000" cy="390748"/>
              </a:xfrm>
              <a:prstGeom prst="rect">
                <a:avLst/>
              </a:prstGeom>
              <a:blipFill>
                <a:blip r:embed="rId3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94" name="Picture 2">
            <a:extLst>
              <a:ext uri="{FF2B5EF4-FFF2-40B4-BE49-F238E27FC236}">
                <a16:creationId xmlns:a16="http://schemas.microsoft.com/office/drawing/2014/main" id="{9F4247BE-A739-45A1-AE6C-B871527FC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175" y="1695450"/>
            <a:ext cx="10153650" cy="346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0533776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E2B2E-2DDC-4800-BAAE-A246C8E1F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Derivative Control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23C405-B92F-4428-BD85-91570741A5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1"/>
                <a:r>
                  <a:rPr lang="en-US" dirty="0"/>
                  <a:t>Responds to the change in error over time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marL="3429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Advantage: have a rapid response to changes in the system</a:t>
                </a:r>
              </a:p>
              <a:p>
                <a:pPr marL="3429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Disadvantages: sensitive to noise in sensors, unstable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23C405-B92F-4428-BD85-91570741A5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12" t="-11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9914228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40886-C578-4689-8810-CAA25C3C7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PID Controller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929394-3B64-4DAD-990F-B4D1F5676B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/>
                <a:r>
                  <a:rPr lang="en-US" dirty="0"/>
                  <a:t>Combines proportional, integral, and derivative control and has the best system response</a:t>
                </a:r>
              </a:p>
              <a:p>
                <a:pPr lvl="1"/>
                <a:endParaRPr lang="en-US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marL="3429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Advantages: rapid convergence, can be precisely tuned to precisely fit to a given problem</a:t>
                </a:r>
              </a:p>
              <a:p>
                <a:pPr marL="342900" lvl="1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Disadvantages: tuning the parameters between the three components can be difficult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929394-3B64-4DAD-990F-B4D1F5676B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12" t="-11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55844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68845-BE16-461E-B1B6-C8A39CEE1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Follower Robot – PID Control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79517A5B-246C-46AF-8A65-19E9CE715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663" y="1724025"/>
            <a:ext cx="9972675" cy="340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EB35A5D-2F09-4102-A8A1-DB47BF8F85B1}"/>
                  </a:ext>
                </a:extLst>
              </p:cNvPr>
              <p:cNvSpPr txBox="1"/>
              <p:nvPr/>
            </p:nvSpPr>
            <p:spPr>
              <a:xfrm>
                <a:off x="2377440" y="1297110"/>
                <a:ext cx="609600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=1000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=3000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EB35A5D-2F09-4102-A8A1-DB47BF8F85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440" y="1297110"/>
                <a:ext cx="6096000" cy="390748"/>
              </a:xfrm>
              <a:prstGeom prst="rect">
                <a:avLst/>
              </a:prstGeom>
              <a:blipFill>
                <a:blip r:embed="rId3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8638202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2F90B-10A2-49ED-8AEF-371B9469F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Transfer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B1EA88E0-F859-4141-A8C1-639D22BAC0C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821132254"/>
                  </p:ext>
                </p:extLst>
              </p:nvPr>
            </p:nvGraphicFramePr>
            <p:xfrm>
              <a:off x="2873828" y="2057764"/>
              <a:ext cx="6444344" cy="235470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222172">
                      <a:extLst>
                        <a:ext uri="{9D8B030D-6E8A-4147-A177-3AD203B41FA5}">
                          <a16:colId xmlns:a16="http://schemas.microsoft.com/office/drawing/2014/main" val="2691855446"/>
                        </a:ext>
                      </a:extLst>
                    </a:gridCol>
                    <a:gridCol w="3222172">
                      <a:extLst>
                        <a:ext uri="{9D8B030D-6E8A-4147-A177-3AD203B41FA5}">
                          <a16:colId xmlns:a16="http://schemas.microsoft.com/office/drawing/2014/main" val="856195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Feedback System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Transfer Function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65205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98285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21383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638093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PID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f>
                                      <m:f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𝐾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den>
                                    </m:f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44978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B1EA88E0-F859-4141-A8C1-639D22BAC0C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821132254"/>
                  </p:ext>
                </p:extLst>
              </p:nvPr>
            </p:nvGraphicFramePr>
            <p:xfrm>
              <a:off x="2873828" y="2057764"/>
              <a:ext cx="6444344" cy="235470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222172">
                      <a:extLst>
                        <a:ext uri="{9D8B030D-6E8A-4147-A177-3AD203B41FA5}">
                          <a16:colId xmlns:a16="http://schemas.microsoft.com/office/drawing/2014/main" val="2691855446"/>
                        </a:ext>
                      </a:extLst>
                    </a:gridCol>
                    <a:gridCol w="3222172">
                      <a:extLst>
                        <a:ext uri="{9D8B030D-6E8A-4147-A177-3AD203B41FA5}">
                          <a16:colId xmlns:a16="http://schemas.microsoft.com/office/drawing/2014/main" val="856195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Feedback System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Transfer Function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6520524"/>
                      </a:ext>
                    </a:extLst>
                  </a:tr>
                  <a:tr h="386969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89" t="-103125" r="-378" b="-41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9828576"/>
                      </a:ext>
                    </a:extLst>
                  </a:tr>
                  <a:tr h="60496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89" t="-131313" r="-378" b="-16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2138344"/>
                      </a:ext>
                    </a:extLst>
                  </a:tr>
                  <a:tr h="386969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89" t="-357813" r="-378" b="-1578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3809335"/>
                      </a:ext>
                    </a:extLst>
                  </a:tr>
                  <a:tr h="60496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PID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89" t="-295960" r="-378" b="-20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449787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63077433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55814-3BA2-4B3F-A49E-D959388E8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 Control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81283-1797-48B7-A977-AC58FE88E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Feedback control is needed in real world systems to</a:t>
            </a:r>
          </a:p>
          <a:p>
            <a:pPr marL="882650" lvl="3" indent="-342900">
              <a:buFont typeface="Arial" panose="020B0604020202020204" pitchFamily="34" charset="0"/>
              <a:buChar char="•"/>
            </a:pPr>
            <a:r>
              <a:rPr lang="en-US" dirty="0"/>
              <a:t>Remedy systemic issues — friction, manufacturer variability in parts, </a:t>
            </a:r>
          </a:p>
          <a:p>
            <a:pPr marL="882650" lvl="3" indent="-342900">
              <a:buFont typeface="Arial" panose="020B0604020202020204" pitchFamily="34" charset="0"/>
              <a:buChar char="•"/>
            </a:pPr>
            <a:r>
              <a:rPr lang="en-US" dirty="0"/>
              <a:t>Account for sensor error – noise in measurements, drift in localization</a:t>
            </a:r>
          </a:p>
          <a:p>
            <a:pPr marL="882650" lvl="3" indent="-342900">
              <a:buFont typeface="Arial" panose="020B0604020202020204" pitchFamily="34" charset="0"/>
              <a:buChar char="•"/>
            </a:pPr>
            <a:r>
              <a:rPr lang="en-US" dirty="0"/>
              <a:t>Correct for variability – applied effort for motors, external forces, change in object positions</a:t>
            </a:r>
          </a:p>
          <a:p>
            <a:pPr marL="882650" lvl="3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r>
              <a:rPr lang="en-US" dirty="0"/>
              <a:t>Feedback requires considering</a:t>
            </a:r>
          </a:p>
          <a:p>
            <a:pPr marL="882650" lvl="3" indent="-342900">
              <a:buFont typeface="Arial" panose="020B0604020202020204" pitchFamily="34" charset="0"/>
              <a:buChar char="•"/>
            </a:pPr>
            <a:r>
              <a:rPr lang="en-US" dirty="0"/>
              <a:t>What information (P,I,D) to consider for error measurements</a:t>
            </a:r>
          </a:p>
          <a:p>
            <a:pPr marL="882650" lvl="3" indent="-342900">
              <a:buFont typeface="Arial" panose="020B0604020202020204" pitchFamily="34" charset="0"/>
              <a:buChar char="•"/>
            </a:pPr>
            <a:r>
              <a:rPr lang="en-US" dirty="0"/>
              <a:t>What is the desired time response (fast or slow?, robust to noise?) </a:t>
            </a:r>
          </a:p>
          <a:p>
            <a:pPr marL="882650" lvl="3" indent="-342900">
              <a:buFont typeface="Arial" panose="020B0604020202020204" pitchFamily="34" charset="0"/>
              <a:buChar char="•"/>
            </a:pPr>
            <a:r>
              <a:rPr lang="en-US" dirty="0"/>
              <a:t>Stability of the Transfer function – really require full course on Control Theory.</a:t>
            </a:r>
          </a:p>
          <a:p>
            <a:pPr marL="882650" lvl="3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82650" lvl="3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lvl="3" indent="0">
              <a:buNone/>
            </a:pPr>
            <a:endParaRPr lang="en-US" dirty="0"/>
          </a:p>
          <a:p>
            <a:pPr marL="882650" lvl="3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27311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KCL UPDATE v4 4x3">
  <a:themeElements>
    <a:clrScheme name="KCL">
      <a:dk1>
        <a:sysClr val="windowText" lastClr="000000"/>
      </a:dk1>
      <a:lt1>
        <a:sysClr val="window" lastClr="FFFFFF"/>
      </a:lt1>
      <a:dk2>
        <a:srgbClr val="0A2D50"/>
      </a:dk2>
      <a:lt2>
        <a:srgbClr val="CDD7DC"/>
      </a:lt2>
      <a:accent1>
        <a:srgbClr val="E2231A"/>
      </a:accent1>
      <a:accent2>
        <a:srgbClr val="FF5F05"/>
      </a:accent2>
      <a:accent3>
        <a:srgbClr val="F5B90F"/>
      </a:accent3>
      <a:accent4>
        <a:srgbClr val="C8E128"/>
      </a:accent4>
      <a:accent5>
        <a:srgbClr val="009EA0"/>
      </a:accent5>
      <a:accent6>
        <a:srgbClr val="005AD2"/>
      </a:accent6>
      <a:hlink>
        <a:srgbClr val="E2231A"/>
      </a:hlink>
      <a:folHlink>
        <a:srgbClr val="E2231A"/>
      </a:folHlink>
    </a:clrScheme>
    <a:fontScheme name="KCL-fonts">
      <a:majorFont>
        <a:latin typeface="Impact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80815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07MRI700_All_Week7</Template>
  <TotalTime>230</TotalTime>
  <Words>1122</Words>
  <Application>Microsoft Office PowerPoint</Application>
  <PresentationFormat>Widescreen</PresentationFormat>
  <Paragraphs>227</Paragraphs>
  <Slides>27</Slides>
  <Notes>8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Calibri</vt:lpstr>
      <vt:lpstr>Cambria Math</vt:lpstr>
      <vt:lpstr>Georgia</vt:lpstr>
      <vt:lpstr>Impact</vt:lpstr>
      <vt:lpstr>Times</vt:lpstr>
      <vt:lpstr>Times New Roman</vt:lpstr>
      <vt:lpstr>KCL UPDATE v4 4x3</vt:lpstr>
      <vt:lpstr>PowerPoint Presentation</vt:lpstr>
      <vt:lpstr>Robot Control Diagram</vt:lpstr>
      <vt:lpstr>Robot Control Diagram</vt:lpstr>
      <vt:lpstr>What is a Robot?</vt:lpstr>
      <vt:lpstr>What is a Robot?</vt:lpstr>
      <vt:lpstr>Feedback Control</vt:lpstr>
      <vt:lpstr>Feedback Control</vt:lpstr>
      <vt:lpstr>Feedback Block Diagram</vt:lpstr>
      <vt:lpstr>Feedback Block Diagram</vt:lpstr>
      <vt:lpstr>Feedback Design</vt:lpstr>
      <vt:lpstr>Feedback Algorithm Design</vt:lpstr>
      <vt:lpstr>Follower Robot</vt:lpstr>
      <vt:lpstr>Follower Robot – Feed forward Only</vt:lpstr>
      <vt:lpstr>Proportional Control</vt:lpstr>
      <vt:lpstr>Follower Robot – Proportional Control</vt:lpstr>
      <vt:lpstr>Follower Robot – Proportional Control</vt:lpstr>
      <vt:lpstr>Follower Robot – Proportional Control</vt:lpstr>
      <vt:lpstr>Follower Robot – Proportional Control</vt:lpstr>
      <vt:lpstr>Integral Control</vt:lpstr>
      <vt:lpstr>Proportional Integral Control</vt:lpstr>
      <vt:lpstr>Follower Robot – PI Control</vt:lpstr>
      <vt:lpstr>Follower Robot – PI Control</vt:lpstr>
      <vt:lpstr>Derivative Control</vt:lpstr>
      <vt:lpstr>PID Controller</vt:lpstr>
      <vt:lpstr>Follower Robot – PID Control</vt:lpstr>
      <vt:lpstr>Transfer Functions</vt:lpstr>
      <vt:lpstr>Feedback Control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Sparks, Rachel</dc:creator>
  <cp:lastModifiedBy>Rachel Sparks</cp:lastModifiedBy>
  <cp:revision>27</cp:revision>
  <dcterms:created xsi:type="dcterms:W3CDTF">2021-03-14T18:47:44Z</dcterms:created>
  <dcterms:modified xsi:type="dcterms:W3CDTF">2025-03-03T08:53:51Z</dcterms:modified>
</cp:coreProperties>
</file>