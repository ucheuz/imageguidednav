
<file path=[Content_Types].xml><?xml version="1.0" encoding="utf-8"?>
<Types xmlns="http://schemas.openxmlformats.org/package/2006/content-types">
  <Default Extension="gif" ContentType="image/gif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289" r:id="rId2"/>
    <p:sldId id="290" r:id="rId3"/>
    <p:sldId id="294" r:id="rId4"/>
    <p:sldId id="291" r:id="rId5"/>
    <p:sldId id="297" r:id="rId6"/>
    <p:sldId id="296" r:id="rId7"/>
    <p:sldId id="292" r:id="rId8"/>
    <p:sldId id="295" r:id="rId9"/>
    <p:sldId id="293" r:id="rId10"/>
    <p:sldId id="298" r:id="rId11"/>
    <p:sldId id="304" r:id="rId12"/>
    <p:sldId id="310" r:id="rId13"/>
    <p:sldId id="303" r:id="rId14"/>
    <p:sldId id="305" r:id="rId15"/>
    <p:sldId id="311" r:id="rId16"/>
    <p:sldId id="306" r:id="rId17"/>
    <p:sldId id="307" r:id="rId18"/>
    <p:sldId id="308" r:id="rId19"/>
    <p:sldId id="309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327" r:id="rId28"/>
    <p:sldId id="328" r:id="rId29"/>
    <p:sldId id="329" r:id="rId30"/>
    <p:sldId id="330" r:id="rId31"/>
    <p:sldId id="331" r:id="rId32"/>
    <p:sldId id="332" r:id="rId33"/>
    <p:sldId id="333" r:id="rId34"/>
    <p:sldId id="334" r:id="rId35"/>
    <p:sldId id="320" r:id="rId36"/>
    <p:sldId id="319" r:id="rId37"/>
    <p:sldId id="321" r:id="rId38"/>
    <p:sldId id="322" r:id="rId39"/>
    <p:sldId id="323" r:id="rId40"/>
    <p:sldId id="324" r:id="rId41"/>
    <p:sldId id="325" r:id="rId42"/>
    <p:sldId id="326" r:id="rId4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E6585C06-9772-442B-B88C-6E0CCF885E26}">
          <p14:sldIdLst>
            <p14:sldId id="289"/>
            <p14:sldId id="290"/>
            <p14:sldId id="294"/>
          </p14:sldIdLst>
        </p14:section>
        <p14:section name="Functions" id="{EDAA7208-24E6-4D81-BC36-FE85BF90170D}">
          <p14:sldIdLst>
            <p14:sldId id="291"/>
            <p14:sldId id="297"/>
            <p14:sldId id="296"/>
            <p14:sldId id="292"/>
            <p14:sldId id="295"/>
          </p14:sldIdLst>
        </p14:section>
        <p14:section name="Signal/Slot" id="{49DFC5F3-B64C-4809-A411-98913B7EE70D}">
          <p14:sldIdLst>
            <p14:sldId id="293"/>
            <p14:sldId id="298"/>
            <p14:sldId id="304"/>
            <p14:sldId id="310"/>
            <p14:sldId id="303"/>
            <p14:sldId id="305"/>
            <p14:sldId id="311"/>
            <p14:sldId id="306"/>
            <p14:sldId id="307"/>
            <p14:sldId id="308"/>
            <p14:sldId id="309"/>
            <p14:sldId id="312"/>
            <p14:sldId id="313"/>
            <p14:sldId id="314"/>
            <p14:sldId id="315"/>
            <p14:sldId id="316"/>
            <p14:sldId id="317"/>
            <p14:sldId id="318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20"/>
          </p14:sldIdLst>
        </p14:section>
        <p14:section name="REST API" id="{2809673F-B915-481F-ADC7-B21D8FF76311}">
          <p14:sldIdLst>
            <p14:sldId id="319"/>
            <p14:sldId id="321"/>
            <p14:sldId id="322"/>
            <p14:sldId id="323"/>
            <p14:sldId id="324"/>
            <p14:sldId id="325"/>
            <p14:sldId id="3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4" autoAdjust="0"/>
    <p:restoredTop sz="77630" autoAdjust="0"/>
  </p:normalViewPr>
  <p:slideViewPr>
    <p:cSldViewPr snapToGrid="0">
      <p:cViewPr varScale="1">
        <p:scale>
          <a:sx n="74" d="100"/>
          <a:sy n="74" d="100"/>
        </p:scale>
        <p:origin x="8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009A5-4426-4B4A-BAE5-B27F6ED72B96}" type="datetimeFigureOut">
              <a:rPr lang="en-US" smtClean="0"/>
              <a:t>2/4/2024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566269-E0F6-4485-B5C2-D88F85B81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91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566269-E0F6-4485-B5C2-D88F85B8145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98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are the objects we use to create new widgets, control their layout and properties like names, </a:t>
            </a:r>
            <a:r>
              <a:rPr lang="en-US" dirty="0" err="1"/>
              <a:t>geometry,etc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566269-E0F6-4485-B5C2-D88F85B8145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14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are the objects we use to create new widgets, control their layout and properties like names, geometry,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566269-E0F6-4485-B5C2-D88F85B8145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46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are the objects we use to create new widgets, control their layout and properties like names, geometry,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566269-E0F6-4485-B5C2-D88F85B8145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21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are the objects we use to create new widgets, control their layout and properties like names, geometry,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566269-E0F6-4485-B5C2-D88F85B8145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13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Sender -&gt; the widget class</a:t>
            </a:r>
          </a:p>
          <a:p>
            <a:r>
              <a:rPr lang="en-US" dirty="0"/>
              <a:t>Signal whenever the scene is changed</a:t>
            </a:r>
          </a:p>
          <a:p>
            <a:r>
              <a:rPr lang="en-US" dirty="0" err="1"/>
              <a:t>Reciever</a:t>
            </a:r>
            <a:r>
              <a:rPr lang="en-US" dirty="0"/>
              <a:t>: each of the dropdown nodes</a:t>
            </a:r>
          </a:p>
          <a:p>
            <a:r>
              <a:rPr lang="en-US" dirty="0"/>
              <a:t>Call </a:t>
            </a:r>
            <a:r>
              <a:rPr lang="en-US" dirty="0" err="1"/>
              <a:t>setMRMLScene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566269-E0F6-4485-B5C2-D88F85B8145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00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there is something missing?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566269-E0F6-4485-B5C2-D88F85B8145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44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 open up the UI and .</a:t>
            </a:r>
            <a:r>
              <a:rPr lang="en-US" dirty="0" err="1"/>
              <a:t>py</a:t>
            </a:r>
            <a:r>
              <a:rPr lang="en-US" dirty="0"/>
              <a:t> files to describe items line by line getting students to answer questions/prompts.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566269-E0F6-4485-B5C2-D88F85B8145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51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%20LOGO%20WOB.png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Volumes/Day1_Data/WORK%20ARCHIVE/%20K/KING'S/11143%20KCL%20POWERPOINT%20UPDATE/BUILD/IMAGES/_DSC8361-rs.jpg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file://localhost/Users/mac1/Desktop/KCL_box_red_485_rgb.png" TargetMode="Externa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_box_red_485_rgb.png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K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CL-LOGO-INTERNATIONAL.png"/>
          <p:cNvPicPr>
            <a:picLocks noChangeAspect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959" y="1397958"/>
            <a:ext cx="7814084" cy="406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7500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_DSC1517.jpg"/>
          <p:cNvPicPr>
            <a:picLocks noChangeAspect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5" r="4990" b="23836"/>
          <a:stretch>
            <a:fillRect/>
          </a:stretch>
        </p:blipFill>
        <p:spPr>
          <a:xfrm>
            <a:off x="0" y="4"/>
            <a:ext cx="12192000" cy="555497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0"/>
            <a:ext cx="12192000" cy="339725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0000"/>
                </a:schemeClr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180001"/>
            <a:ext cx="11232000" cy="1080000"/>
          </a:xfrm>
        </p:spPr>
        <p:txBody>
          <a:bodyPr anchor="b" anchorCtr="0"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1440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480484" y="5733722"/>
            <a:ext cx="8995856" cy="94428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0" name="KCL-LOGO-UK-1.png"/>
          <p:cNvPicPr>
            <a:picLocks noChangeAspect="1"/>
          </p:cNvPicPr>
          <p:nvPr/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000" y="5555734"/>
            <a:ext cx="228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852332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10800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45003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lim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026412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670448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se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194267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text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buNone/>
              <a:defRPr sz="2000">
                <a:latin typeface="Georgia"/>
                <a:cs typeface="Georgia"/>
              </a:defRPr>
            </a:lvl2pPr>
            <a:lvl3pPr marL="26987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3pPr>
            <a:lvl4pPr marL="53975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4pPr>
            <a:lvl5pPr marL="80962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42BACF92-AEE7-41BA-9B4D-7151550B7140}" type="datetimeFigureOut">
              <a:rPr lang="en-US" smtClean="0"/>
              <a:t>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2000" y="6498000"/>
            <a:ext cx="960000" cy="360000"/>
          </a:xfrm>
        </p:spPr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rgbClr val="C2B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23520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-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6987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1pPr>
            <a:lvl2pPr marL="53975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2pPr>
            <a:lvl3pPr marL="80962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3pPr>
            <a:lvl4pPr marL="107950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4pPr>
            <a:lvl5pPr marL="1341438" indent="-261938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42BACF92-AEE7-41BA-9B4D-7151550B7140}" type="datetimeFigureOut">
              <a:rPr lang="en-US" smtClean="0"/>
              <a:t>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2000" y="6498000"/>
            <a:ext cx="960000" cy="360000"/>
          </a:xfrm>
        </p:spPr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82633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text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CF92-AEE7-41BA-9B4D-7151550B7140}" type="datetimeFigureOut">
              <a:rPr lang="en-US" smtClean="0"/>
              <a:t>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17181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bullet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CF92-AEE7-41BA-9B4D-7151550B7140}" type="datetimeFigureOut">
              <a:rPr lang="en-US" smtClean="0"/>
              <a:t>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22660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1 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0" y="1088723"/>
            <a:ext cx="11232000" cy="46805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CF92-AEE7-41BA-9B4D-7151550B7140}" type="datetimeFigureOut">
              <a:rPr lang="en-US" smtClean="0"/>
              <a:t>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68845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6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3" y="1088720"/>
            <a:ext cx="3600028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CF92-AEE7-41BA-9B4D-7151550B7140}" type="datetimeFigureOut">
              <a:rPr lang="en-US" smtClean="0"/>
              <a:t>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3" y="3519000"/>
            <a:ext cx="3600028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8111971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8111971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Picture Placeholder 2"/>
          <p:cNvSpPr>
            <a:spLocks noGrp="1"/>
          </p:cNvSpPr>
          <p:nvPr>
            <p:ph type="pic" idx="16"/>
          </p:nvPr>
        </p:nvSpPr>
        <p:spPr>
          <a:xfrm>
            <a:off x="4295985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idx="17"/>
          </p:nvPr>
        </p:nvSpPr>
        <p:spPr>
          <a:xfrm>
            <a:off x="4295985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65549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4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0" y="1088720"/>
            <a:ext cx="5496000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CF92-AEE7-41BA-9B4D-7151550B7140}" type="datetimeFigureOut">
              <a:rPr lang="en-US" smtClean="0"/>
              <a:t>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0" y="3519000"/>
            <a:ext cx="5496000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6216001" y="1088720"/>
            <a:ext cx="5499043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6216001" y="3519000"/>
            <a:ext cx="5499043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99973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bullets and image - a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CF92-AEE7-41BA-9B4D-7151550B7140}" type="datetimeFigureOut">
              <a:rPr lang="en-US" smtClean="0"/>
              <a:t>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339903" y="1089025"/>
            <a:ext cx="5372100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41483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bullets and image - a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CF92-AEE7-41BA-9B4D-7151550B7140}" type="datetimeFigureOut">
              <a:rPr lang="en-US" smtClean="0"/>
              <a:t>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0003" y="1089025"/>
            <a:ext cx="5372100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49210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- text/bullets and image - a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CF92-AEE7-41BA-9B4D-7151550B7140}" type="datetimeFigureOut">
              <a:rPr lang="en-US" smtClean="0"/>
              <a:t>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335668" y="1089025"/>
            <a:ext cx="5376333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55638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- text/bullets and image - a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CF92-AEE7-41BA-9B4D-7151550B7140}" type="datetimeFigureOut">
              <a:rPr lang="en-US" smtClean="0"/>
              <a:t>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0000" y="1088356"/>
            <a:ext cx="5376333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27484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00" y="3420000"/>
            <a:ext cx="11232000" cy="2520000"/>
          </a:xfrm>
        </p:spPr>
        <p:txBody>
          <a:bodyPr anchor="b" anchorCtr="0">
            <a:normAutofit/>
          </a:bodyPr>
          <a:lstStyle>
            <a:lvl1pPr>
              <a:defRPr sz="1600" b="0" baseline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00" y="6120019"/>
            <a:ext cx="11232000" cy="358407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12" name="Group 11"/>
          <p:cNvGrpSpPr>
            <a:grpSpLocks noChangeAspect="1"/>
          </p:cNvGrpSpPr>
          <p:nvPr/>
        </p:nvGrpSpPr>
        <p:grpSpPr>
          <a:xfrm>
            <a:off x="9912000" y="3"/>
            <a:ext cx="2280000" cy="1303021"/>
            <a:chOff x="7949775" y="1"/>
            <a:chExt cx="1194225" cy="910000"/>
          </a:xfrm>
        </p:grpSpPr>
        <p:sp>
          <p:nvSpPr>
            <p:cNvPr id="13" name="Rectangle 12"/>
            <p:cNvSpPr/>
            <p:nvPr userDrawn="1"/>
          </p:nvSpPr>
          <p:spPr>
            <a:xfrm>
              <a:off x="7949775" y="1"/>
              <a:ext cx="1194225" cy="91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pic>
          <p:nvPicPr>
            <p:cNvPr id="14" name="KCL-LOGO-UK-1.png"/>
            <p:cNvPicPr>
              <a:picLocks noChangeAspect="1"/>
            </p:cNvPicPr>
            <p:nvPr userDrawn="1"/>
          </p:nvPicPr>
          <p:blipFill>
            <a:blip r:embed="rId2" r:link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9775" y="258"/>
              <a:ext cx="1194225" cy="90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6729009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56793"/>
            <a:ext cx="5384800" cy="42694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130"/>
            </a:lvl2pPr>
            <a:lvl3pPr>
              <a:defRPr sz="1870"/>
            </a:lvl3pPr>
            <a:lvl4pPr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7276534-D227-482D-AC62-73FA3EB83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2BACF92-AEE7-41BA-9B4D-7151550B7140}" type="datetimeFigureOut">
              <a:rPr lang="en-US" smtClean="0"/>
              <a:t>2/4/2024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9FEEBE0-EE3E-44CA-9D29-BE798CB7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1" y="6356351"/>
            <a:ext cx="3860800" cy="36618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646E212-76A5-422F-A842-EDE34BF20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08483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5"/>
          <p:cNvSpPr>
            <a:spLocks noGrp="1"/>
          </p:cNvSpPr>
          <p:nvPr>
            <p:ph sz="quarter" idx="13"/>
          </p:nvPr>
        </p:nvSpPr>
        <p:spPr>
          <a:xfrm>
            <a:off x="609601" y="1628799"/>
            <a:ext cx="10972800" cy="453650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r">
              <a:defRPr/>
            </a:lvl1pPr>
          </a:lstStyle>
          <a:p>
            <a:fld id="{42BACF92-AEE7-41BA-9B4D-7151550B7140}" type="datetimeFigureOut">
              <a:rPr lang="en-US" smtClean="0"/>
              <a:t>2/4/2024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20916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rategy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5"/>
          <p:cNvSpPr>
            <a:spLocks noGrp="1"/>
          </p:cNvSpPr>
          <p:nvPr>
            <p:ph sz="quarter" idx="13"/>
          </p:nvPr>
        </p:nvSpPr>
        <p:spPr>
          <a:xfrm>
            <a:off x="609601" y="1628799"/>
            <a:ext cx="10972800" cy="453650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r">
              <a:defRPr/>
            </a:lvl1pPr>
          </a:lstStyle>
          <a:p>
            <a:fld id="{42BACF92-AEE7-41BA-9B4D-7151550B7140}" type="datetimeFigureOut">
              <a:rPr lang="en-US" smtClean="0"/>
              <a:t>2/4/2024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24257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91C3AB7-B446-4F72-ABF4-5CD8EB43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2BACF92-AEE7-41BA-9B4D-7151550B7140}" type="datetimeFigureOut">
              <a:rPr lang="en-US" smtClean="0"/>
              <a:t>2/4/2024</a:t>
            </a:fld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30E2C6-999F-4EDE-95E6-51D642113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2A6D1-940A-4FE1-91A1-99304940D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1" y="6356351"/>
            <a:ext cx="3860800" cy="36618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255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00" y="1089220"/>
            <a:ext cx="11232000" cy="4856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000" y="6498000"/>
            <a:ext cx="960000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fld id="{42BACF92-AEE7-41BA-9B4D-7151550B7140}" type="datetimeFigureOut">
              <a:rPr lang="en-US" smtClean="0"/>
              <a:t>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0000" y="6498000"/>
            <a:ext cx="9312000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2000" y="6498000"/>
            <a:ext cx="960000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lvl1pPr algn="r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92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0A2D50"/>
          </a:solidFill>
          <a:latin typeface="Impact"/>
          <a:ea typeface="+mj-ea"/>
          <a:cs typeface="Impact"/>
        </a:defRPr>
      </a:lvl1pPr>
    </p:titleStyle>
    <p:bodyStyle>
      <a:lvl1pPr marL="26987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1pPr>
      <a:lvl2pPr marL="53975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2pPr>
      <a:lvl3pPr marL="80962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3pPr>
      <a:lvl4pPr marL="107950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4pPr>
      <a:lvl5pPr marL="1341438" indent="-261938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fi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0BA1EB-1949-4708-884C-5B234C9A0A39}"/>
              </a:ext>
            </a:extLst>
          </p:cNvPr>
          <p:cNvSpPr txBox="1"/>
          <p:nvPr/>
        </p:nvSpPr>
        <p:spPr>
          <a:xfrm>
            <a:off x="0" y="150982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+mj-lt"/>
              </a:rPr>
              <a:t>Image-Guided Navigation for Robotics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984BE8-D9D7-4702-AC20-1B3D92B8229D}"/>
              </a:ext>
            </a:extLst>
          </p:cNvPr>
          <p:cNvSpPr txBox="1"/>
          <p:nvPr/>
        </p:nvSpPr>
        <p:spPr>
          <a:xfrm>
            <a:off x="1488557" y="2340821"/>
            <a:ext cx="85804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Communication Protocols: Pt. 1 API</a:t>
            </a:r>
          </a:p>
          <a:p>
            <a:pPr algn="ctr"/>
            <a:r>
              <a:rPr lang="en-US" sz="3200" dirty="0">
                <a:latin typeface="+mj-lt"/>
              </a:rPr>
              <a:t>aka what’s up with Qt?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796224-C4FA-4630-94A6-BA5E5072FA86}"/>
              </a:ext>
            </a:extLst>
          </p:cNvPr>
          <p:cNvSpPr txBox="1"/>
          <p:nvPr/>
        </p:nvSpPr>
        <p:spPr>
          <a:xfrm>
            <a:off x="154709" y="4882490"/>
            <a:ext cx="70493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</a:rPr>
              <a:t>Rachel Sparks, Ph.D.</a:t>
            </a:r>
          </a:p>
          <a:p>
            <a:r>
              <a:rPr lang="en-US" sz="2400" dirty="0">
                <a:latin typeface="+mn-lt"/>
              </a:rPr>
              <a:t>Rachel.sparks@kcl.ac.uk</a:t>
            </a:r>
          </a:p>
          <a:p>
            <a:r>
              <a:rPr lang="en-US" sz="2400" dirty="0">
                <a:latin typeface="+mj-lt"/>
              </a:rPr>
              <a:t>Lecturer in Surgical &amp; Interventional Engineering</a:t>
            </a:r>
          </a:p>
          <a:p>
            <a:r>
              <a:rPr lang="en-US" sz="2400" dirty="0">
                <a:latin typeface="+mj-lt"/>
              </a:rPr>
              <a:t>School of Biomedical Engineering &amp; Imaging Sciences</a:t>
            </a:r>
          </a:p>
        </p:txBody>
      </p:sp>
    </p:spTree>
    <p:extLst>
      <p:ext uri="{BB962C8B-B14F-4D97-AF65-F5344CB8AC3E}">
        <p14:creationId xmlns:p14="http://schemas.microsoft.com/office/powerpoint/2010/main" val="90249123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65D5D9-ABE2-4DDE-8E7A-033D7C1C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Programming Interface (API)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890CBE-A55D-4974-BB14-3A733A6C1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software intermediary that allows two pieces of software to communicate</a:t>
            </a:r>
          </a:p>
          <a:p>
            <a:pPr marL="539750" lvl="2" indent="0">
              <a:buNone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59C6B1-949A-474F-A9EE-E750D102443B}"/>
              </a:ext>
            </a:extLst>
          </p:cNvPr>
          <p:cNvSpPr txBox="1"/>
          <p:nvPr/>
        </p:nvSpPr>
        <p:spPr>
          <a:xfrm>
            <a:off x="6851904" y="3020324"/>
            <a:ext cx="3584448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Software 2</a:t>
            </a:r>
          </a:p>
          <a:p>
            <a:pPr algn="ctr"/>
            <a:endParaRPr lang="en-US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920F90B-9BFF-4D73-AA2E-7C00227D7ACC}"/>
              </a:ext>
            </a:extLst>
          </p:cNvPr>
          <p:cNvSpPr/>
          <p:nvPr/>
        </p:nvSpPr>
        <p:spPr>
          <a:xfrm>
            <a:off x="4791456" y="3020324"/>
            <a:ext cx="2060448" cy="438912"/>
          </a:xfrm>
          <a:prstGeom prst="right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Variable 1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F1DFDA3-41A8-472A-95FE-B20BBC08079F}"/>
              </a:ext>
            </a:extLst>
          </p:cNvPr>
          <p:cNvSpPr/>
          <p:nvPr/>
        </p:nvSpPr>
        <p:spPr>
          <a:xfrm>
            <a:off x="4791456" y="3429000"/>
            <a:ext cx="2060448" cy="438912"/>
          </a:xfrm>
          <a:prstGeom prst="right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Variable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28AC0B-329F-47E2-8D2E-AF09D33DC186}"/>
              </a:ext>
            </a:extLst>
          </p:cNvPr>
          <p:cNvSpPr txBox="1"/>
          <p:nvPr/>
        </p:nvSpPr>
        <p:spPr>
          <a:xfrm>
            <a:off x="1207008" y="2967335"/>
            <a:ext cx="3584448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Software 1</a:t>
            </a:r>
          </a:p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31B8BA-48F7-45C3-A82C-18C82E29BE27}"/>
              </a:ext>
            </a:extLst>
          </p:cNvPr>
          <p:cNvSpPr txBox="1"/>
          <p:nvPr/>
        </p:nvSpPr>
        <p:spPr>
          <a:xfrm>
            <a:off x="1207008" y="2967335"/>
            <a:ext cx="3584448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Class 1</a:t>
            </a:r>
          </a:p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C0C9A0-4AC3-4B0D-AFBD-4FFE5E9A0204}"/>
              </a:ext>
            </a:extLst>
          </p:cNvPr>
          <p:cNvSpPr txBox="1"/>
          <p:nvPr/>
        </p:nvSpPr>
        <p:spPr>
          <a:xfrm>
            <a:off x="6851904" y="3020324"/>
            <a:ext cx="3584448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Class 2</a:t>
            </a:r>
          </a:p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62E2E7-81AA-4BA6-A876-3DD749F06448}"/>
              </a:ext>
            </a:extLst>
          </p:cNvPr>
          <p:cNvSpPr txBox="1"/>
          <p:nvPr/>
        </p:nvSpPr>
        <p:spPr>
          <a:xfrm>
            <a:off x="1207008" y="2961453"/>
            <a:ext cx="3584448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Process1</a:t>
            </a:r>
          </a:p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BE01AC-232D-4121-8FB7-E4631CE64F5D}"/>
              </a:ext>
            </a:extLst>
          </p:cNvPr>
          <p:cNvSpPr txBox="1"/>
          <p:nvPr/>
        </p:nvSpPr>
        <p:spPr>
          <a:xfrm>
            <a:off x="6851904" y="3020324"/>
            <a:ext cx="3584448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Process2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072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65D5D9-ABE2-4DDE-8E7A-033D7C1C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Programming Interface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890CBE-A55D-4974-BB14-3A733A6C1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software intermediary that allows two pieces of software to communicate</a:t>
            </a:r>
          </a:p>
          <a:p>
            <a:pPr lvl="2"/>
            <a:r>
              <a:rPr lang="en-US" dirty="0"/>
              <a:t>Comes in many different </a:t>
            </a:r>
            <a:r>
              <a:rPr lang="en-US" dirty="0" err="1"/>
              <a:t>flavours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Any command line input, user interface or program you have written or called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99B3FE-41C4-40BF-B41C-8D0586EA3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07" y="3322364"/>
            <a:ext cx="2057687" cy="2267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6C5A07-6FA5-4159-9E63-DE34FE484C2E}"/>
              </a:ext>
            </a:extLst>
          </p:cNvPr>
          <p:cNvSpPr txBox="1"/>
          <p:nvPr/>
        </p:nvSpPr>
        <p:spPr>
          <a:xfrm>
            <a:off x="0" y="5552870"/>
            <a:ext cx="238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n-lt"/>
              </a:rPr>
              <a:t>USER INTERFACE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DFE35-A1A1-4372-AED6-29B892928B2B}"/>
              </a:ext>
            </a:extLst>
          </p:cNvPr>
          <p:cNvSpPr txBox="1"/>
          <p:nvPr/>
        </p:nvSpPr>
        <p:spPr>
          <a:xfrm>
            <a:off x="7691838" y="5552870"/>
            <a:ext cx="4929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n-lt"/>
              </a:rPr>
              <a:t>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614ACD-2319-4F6F-9DCA-6CD93926E58E}"/>
              </a:ext>
            </a:extLst>
          </p:cNvPr>
          <p:cNvSpPr txBox="1"/>
          <p:nvPr/>
        </p:nvSpPr>
        <p:spPr>
          <a:xfrm>
            <a:off x="7968065" y="3994332"/>
            <a:ext cx="43770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run(self, var1, var2):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9B468D-D50C-4890-AD9B-42D3D44B7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9300" y="4100858"/>
            <a:ext cx="5578764" cy="6735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19FBA67-83FB-4608-BA11-55B3613D097F}"/>
              </a:ext>
            </a:extLst>
          </p:cNvPr>
          <p:cNvSpPr txBox="1"/>
          <p:nvPr/>
        </p:nvSpPr>
        <p:spPr>
          <a:xfrm>
            <a:off x="2492936" y="5552870"/>
            <a:ext cx="4929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n-lt"/>
              </a:rPr>
              <a:t>COMMAND</a:t>
            </a:r>
          </a:p>
        </p:txBody>
      </p:sp>
    </p:spTree>
    <p:extLst>
      <p:ext uri="{BB962C8B-B14F-4D97-AF65-F5344CB8AC3E}">
        <p14:creationId xmlns:p14="http://schemas.microsoft.com/office/powerpoint/2010/main" val="28245489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31A5-25DE-421F-A405-6A56BDC0F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9CD2F-21EC-453A-83DB-EB5362328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already know how to use API for functions and classes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85CFC2-0EC7-4B2D-AC7D-F7F2FEF6276D}"/>
              </a:ext>
            </a:extLst>
          </p:cNvPr>
          <p:cNvSpPr txBox="1"/>
          <p:nvPr/>
        </p:nvSpPr>
        <p:spPr>
          <a:xfrm>
            <a:off x="7400544" y="3252138"/>
            <a:ext cx="4311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run(self, var1, var2):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16B67-B38D-446C-BA11-B04DCA4B6B1C}"/>
              </a:ext>
            </a:extLst>
          </p:cNvPr>
          <p:cNvSpPr txBox="1"/>
          <p:nvPr/>
        </p:nvSpPr>
        <p:spPr>
          <a:xfrm>
            <a:off x="737616" y="2082565"/>
            <a:ext cx="4311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F8FDAC-9A6B-4460-96AA-492E6EF13645}"/>
              </a:ext>
            </a:extLst>
          </p:cNvPr>
          <p:cNvSpPr txBox="1"/>
          <p:nvPr/>
        </p:nvSpPr>
        <p:spPr>
          <a:xfrm>
            <a:off x="737616" y="2641117"/>
            <a:ext cx="43114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HigherLevelClass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run(self):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…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x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x.run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(var1, var2)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…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45A700-42FB-4C8C-B3EC-F77EDE701A77}"/>
              </a:ext>
            </a:extLst>
          </p:cNvPr>
          <p:cNvSpPr/>
          <p:nvPr/>
        </p:nvSpPr>
        <p:spPr>
          <a:xfrm>
            <a:off x="1475232" y="3472674"/>
            <a:ext cx="3352800" cy="648222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3714EF0A-D8AC-465C-A82C-9BF6EBC21BCD}"/>
              </a:ext>
            </a:extLst>
          </p:cNvPr>
          <p:cNvSpPr/>
          <p:nvPr/>
        </p:nvSpPr>
        <p:spPr>
          <a:xfrm>
            <a:off x="4035552" y="4108639"/>
            <a:ext cx="377952" cy="542836"/>
          </a:xfrm>
          <a:prstGeom prst="down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AAABB8-DE1C-4935-8BF5-4E25581FE9A0}"/>
              </a:ext>
            </a:extLst>
          </p:cNvPr>
          <p:cNvSpPr txBox="1"/>
          <p:nvPr/>
        </p:nvSpPr>
        <p:spPr>
          <a:xfrm>
            <a:off x="3742944" y="4771554"/>
            <a:ext cx="4311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Need to know how to instantiate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What function to call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How to call function</a:t>
            </a:r>
          </a:p>
        </p:txBody>
      </p:sp>
    </p:spTree>
    <p:extLst>
      <p:ext uri="{BB962C8B-B14F-4D97-AF65-F5344CB8AC3E}">
        <p14:creationId xmlns:p14="http://schemas.microsoft.com/office/powerpoint/2010/main" val="37596109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31A5-25DE-421F-A405-6A56BDC0F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9CD2F-21EC-453A-83DB-EB5362328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already know how to use API for functions and classes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85CFC2-0EC7-4B2D-AC7D-F7F2FEF6276D}"/>
              </a:ext>
            </a:extLst>
          </p:cNvPr>
          <p:cNvSpPr txBox="1"/>
          <p:nvPr/>
        </p:nvSpPr>
        <p:spPr>
          <a:xfrm>
            <a:off x="7400544" y="3252138"/>
            <a:ext cx="4311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run(self, var1, var2):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16B67-B38D-446C-BA11-B04DCA4B6B1C}"/>
              </a:ext>
            </a:extLst>
          </p:cNvPr>
          <p:cNvSpPr txBox="1"/>
          <p:nvPr/>
        </p:nvSpPr>
        <p:spPr>
          <a:xfrm>
            <a:off x="737616" y="2082565"/>
            <a:ext cx="4311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F8FDAC-9A6B-4460-96AA-492E6EF13645}"/>
              </a:ext>
            </a:extLst>
          </p:cNvPr>
          <p:cNvSpPr txBox="1"/>
          <p:nvPr/>
        </p:nvSpPr>
        <p:spPr>
          <a:xfrm>
            <a:off x="737616" y="2641117"/>
            <a:ext cx="43114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HigherLevelClass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run(self):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…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x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x.run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(var1, var2)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…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45A700-42FB-4C8C-B3EC-F77EDE701A77}"/>
              </a:ext>
            </a:extLst>
          </p:cNvPr>
          <p:cNvSpPr/>
          <p:nvPr/>
        </p:nvSpPr>
        <p:spPr>
          <a:xfrm>
            <a:off x="737616" y="2063497"/>
            <a:ext cx="3102864" cy="369332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3714EF0A-D8AC-465C-A82C-9BF6EBC21BCD}"/>
              </a:ext>
            </a:extLst>
          </p:cNvPr>
          <p:cNvSpPr/>
          <p:nvPr/>
        </p:nvSpPr>
        <p:spPr>
          <a:xfrm rot="16200000">
            <a:off x="3922922" y="1976745"/>
            <a:ext cx="377952" cy="542836"/>
          </a:xfrm>
          <a:prstGeom prst="down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AAABB8-DE1C-4935-8BF5-4E25581FE9A0}"/>
              </a:ext>
            </a:extLst>
          </p:cNvPr>
          <p:cNvSpPr txBox="1"/>
          <p:nvPr/>
        </p:nvSpPr>
        <p:spPr>
          <a:xfrm>
            <a:off x="4481326" y="2063497"/>
            <a:ext cx="187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Load symbols</a:t>
            </a:r>
          </a:p>
        </p:txBody>
      </p:sp>
    </p:spTree>
    <p:extLst>
      <p:ext uri="{BB962C8B-B14F-4D97-AF65-F5344CB8AC3E}">
        <p14:creationId xmlns:p14="http://schemas.microsoft.com/office/powerpoint/2010/main" val="23327161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31A5-25DE-421F-A405-6A56BDC0F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9CD2F-21EC-453A-83DB-EB5362328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already know how to use API for functions and classes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85CFC2-0EC7-4B2D-AC7D-F7F2FEF6276D}"/>
              </a:ext>
            </a:extLst>
          </p:cNvPr>
          <p:cNvSpPr txBox="1"/>
          <p:nvPr/>
        </p:nvSpPr>
        <p:spPr>
          <a:xfrm>
            <a:off x="7400544" y="3252138"/>
            <a:ext cx="4311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run(self, var1, var2):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16B67-B38D-446C-BA11-B04DCA4B6B1C}"/>
              </a:ext>
            </a:extLst>
          </p:cNvPr>
          <p:cNvSpPr txBox="1"/>
          <p:nvPr/>
        </p:nvSpPr>
        <p:spPr>
          <a:xfrm>
            <a:off x="737616" y="2082565"/>
            <a:ext cx="4311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F8FDAC-9A6B-4460-96AA-492E6EF13645}"/>
              </a:ext>
            </a:extLst>
          </p:cNvPr>
          <p:cNvSpPr txBox="1"/>
          <p:nvPr/>
        </p:nvSpPr>
        <p:spPr>
          <a:xfrm>
            <a:off x="737616" y="2641117"/>
            <a:ext cx="43114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HigherLevelClass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run(self):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…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x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x.run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(var1, var2)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…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BB16F3-9B33-47B2-9CEF-357AC21AA585}"/>
              </a:ext>
            </a:extLst>
          </p:cNvPr>
          <p:cNvSpPr/>
          <p:nvPr/>
        </p:nvSpPr>
        <p:spPr>
          <a:xfrm>
            <a:off x="3035808" y="5023639"/>
            <a:ext cx="6010656" cy="90238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 err="1"/>
              <a:t>HigherLevelClass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163833-9DF1-4451-8BBD-97EFA88BC794}"/>
              </a:ext>
            </a:extLst>
          </p:cNvPr>
          <p:cNvSpPr/>
          <p:nvPr/>
        </p:nvSpPr>
        <p:spPr>
          <a:xfrm>
            <a:off x="4681532" y="5474511"/>
            <a:ext cx="2669256" cy="33099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MyAwesomeClass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D7F6E4-7B2D-434F-BA2F-4F17296DA93E}"/>
              </a:ext>
            </a:extLst>
          </p:cNvPr>
          <p:cNvSpPr/>
          <p:nvPr/>
        </p:nvSpPr>
        <p:spPr>
          <a:xfrm>
            <a:off x="3230880" y="5474511"/>
            <a:ext cx="937992" cy="33099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….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9D03CF-1C25-44F7-AFDB-5188BD64BE7F}"/>
              </a:ext>
            </a:extLst>
          </p:cNvPr>
          <p:cNvSpPr/>
          <p:nvPr/>
        </p:nvSpPr>
        <p:spPr>
          <a:xfrm>
            <a:off x="7863446" y="5474511"/>
            <a:ext cx="937992" cy="33099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….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D4E33FF-F247-47F5-B997-B7EE0BFFE0D5}"/>
              </a:ext>
            </a:extLst>
          </p:cNvPr>
          <p:cNvSpPr/>
          <p:nvPr/>
        </p:nvSpPr>
        <p:spPr>
          <a:xfrm>
            <a:off x="4193554" y="5551596"/>
            <a:ext cx="463296" cy="176828"/>
          </a:xfrm>
          <a:prstGeom prst="rightArrow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7105FA8-0497-4782-93FE-BA9C4F391334}"/>
              </a:ext>
            </a:extLst>
          </p:cNvPr>
          <p:cNvSpPr/>
          <p:nvPr/>
        </p:nvSpPr>
        <p:spPr>
          <a:xfrm>
            <a:off x="7375470" y="5551596"/>
            <a:ext cx="463296" cy="176828"/>
          </a:xfrm>
          <a:prstGeom prst="rightArrow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656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01425-4433-4A49-8D02-8814181AE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4D947-4836-4758-8DC1-A0D5E4710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Simple; easy to implement</a:t>
            </a:r>
          </a:p>
          <a:p>
            <a:r>
              <a:rPr lang="en-US" dirty="0"/>
              <a:t>Ensures a tight coupling and linear workflow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0E61C7-C212-4185-805B-60DACE423F69}"/>
              </a:ext>
            </a:extLst>
          </p:cNvPr>
          <p:cNvSpPr/>
          <p:nvPr/>
        </p:nvSpPr>
        <p:spPr>
          <a:xfrm>
            <a:off x="3035808" y="5023639"/>
            <a:ext cx="6010656" cy="90238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 err="1"/>
              <a:t>HigherLevelClass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C421FA-F1F2-49DA-B298-643AB64A2CD2}"/>
              </a:ext>
            </a:extLst>
          </p:cNvPr>
          <p:cNvSpPr/>
          <p:nvPr/>
        </p:nvSpPr>
        <p:spPr>
          <a:xfrm>
            <a:off x="4681532" y="5474511"/>
            <a:ext cx="2669256" cy="33099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MyAwesomeClass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AC70F4-4811-4B3F-82A5-D30B24DCB88E}"/>
              </a:ext>
            </a:extLst>
          </p:cNvPr>
          <p:cNvSpPr/>
          <p:nvPr/>
        </p:nvSpPr>
        <p:spPr>
          <a:xfrm>
            <a:off x="3230880" y="5474511"/>
            <a:ext cx="937992" cy="33099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….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DAEE39-6B26-488B-9ECF-C769326410A3}"/>
              </a:ext>
            </a:extLst>
          </p:cNvPr>
          <p:cNvSpPr/>
          <p:nvPr/>
        </p:nvSpPr>
        <p:spPr>
          <a:xfrm>
            <a:off x="7863446" y="5474511"/>
            <a:ext cx="937992" cy="33099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….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722BCA5-4084-488C-A847-B5AC6160C5FA}"/>
              </a:ext>
            </a:extLst>
          </p:cNvPr>
          <p:cNvSpPr/>
          <p:nvPr/>
        </p:nvSpPr>
        <p:spPr>
          <a:xfrm>
            <a:off x="4193554" y="5551596"/>
            <a:ext cx="463296" cy="176828"/>
          </a:xfrm>
          <a:prstGeom prst="rightArrow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33C5809-EB03-405A-B5C9-B3EA2CCB556B}"/>
              </a:ext>
            </a:extLst>
          </p:cNvPr>
          <p:cNvSpPr/>
          <p:nvPr/>
        </p:nvSpPr>
        <p:spPr>
          <a:xfrm>
            <a:off x="7375470" y="5551596"/>
            <a:ext cx="463296" cy="176828"/>
          </a:xfrm>
          <a:prstGeom prst="rightArrow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94F8175A-B925-4B66-B507-8F4B420097C9}"/>
              </a:ext>
            </a:extLst>
          </p:cNvPr>
          <p:cNvSpPr/>
          <p:nvPr/>
        </p:nvSpPr>
        <p:spPr>
          <a:xfrm>
            <a:off x="2511552" y="1840992"/>
            <a:ext cx="353568" cy="438912"/>
          </a:xfrm>
          <a:prstGeom prst="down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4961D5-206E-4970-BC32-92DC0864E32F}"/>
              </a:ext>
            </a:extLst>
          </p:cNvPr>
          <p:cNvSpPr txBox="1"/>
          <p:nvPr/>
        </p:nvSpPr>
        <p:spPr>
          <a:xfrm>
            <a:off x="853440" y="2469124"/>
            <a:ext cx="54985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If we change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latin typeface="+mn-lt"/>
              </a:rPr>
              <a:t> we may need to change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HigherLevelClass</a:t>
            </a: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Need to rewrite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HigherLevelClass</a:t>
            </a:r>
            <a:r>
              <a:rPr lang="en-US" dirty="0">
                <a:latin typeface="+mn-lt"/>
              </a:rPr>
              <a:t> to swap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latin typeface="+mn-lt"/>
              </a:rPr>
              <a:t> with a new class</a:t>
            </a:r>
          </a:p>
        </p:txBody>
      </p:sp>
    </p:spTree>
    <p:extLst>
      <p:ext uri="{BB962C8B-B14F-4D97-AF65-F5344CB8AC3E}">
        <p14:creationId xmlns:p14="http://schemas.microsoft.com/office/powerpoint/2010/main" val="40122824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01425-4433-4A49-8D02-8814181AE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4D947-4836-4758-8DC1-A0D5E4710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Simple; easy to implement</a:t>
            </a:r>
          </a:p>
          <a:p>
            <a:r>
              <a:rPr lang="en-US" dirty="0"/>
              <a:t>Ensures a tight coupling and linear workflow</a:t>
            </a:r>
          </a:p>
          <a:p>
            <a:pPr lvl="1"/>
            <a:r>
              <a:rPr lang="en-US" dirty="0"/>
              <a:t>Difficult to swap functions</a:t>
            </a:r>
          </a:p>
          <a:p>
            <a:pPr lvl="1"/>
            <a:r>
              <a:rPr lang="en-US" dirty="0"/>
              <a:t>Even more difficult to expand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HigherLevelClass</a:t>
            </a:r>
            <a:r>
              <a:rPr lang="en-US" dirty="0"/>
              <a:t> to call multiple functions at once</a:t>
            </a:r>
          </a:p>
          <a:p>
            <a:pPr lvl="1"/>
            <a:r>
              <a:rPr lang="en-US" dirty="0"/>
              <a:t>Even more difficult to link actions elsewhere in the program to calling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+mn-lt"/>
                <a:cs typeface="Courier New" panose="02070309020205020404" pitchFamily="49" charset="0"/>
              </a:rPr>
              <a:t>With out additional programming infrastructure we cannot instantiate multiple calls at the same time (one-to-one mapping)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0E61C7-C212-4185-805B-60DACE423F69}"/>
              </a:ext>
            </a:extLst>
          </p:cNvPr>
          <p:cNvSpPr/>
          <p:nvPr/>
        </p:nvSpPr>
        <p:spPr>
          <a:xfrm>
            <a:off x="3035808" y="5023639"/>
            <a:ext cx="6010656" cy="90238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 err="1"/>
              <a:t>HigherLevelClass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C421FA-F1F2-49DA-B298-643AB64A2CD2}"/>
              </a:ext>
            </a:extLst>
          </p:cNvPr>
          <p:cNvSpPr/>
          <p:nvPr/>
        </p:nvSpPr>
        <p:spPr>
          <a:xfrm>
            <a:off x="4681532" y="5474511"/>
            <a:ext cx="2669256" cy="33099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MyAwesomeClass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AC70F4-4811-4B3F-82A5-D30B24DCB88E}"/>
              </a:ext>
            </a:extLst>
          </p:cNvPr>
          <p:cNvSpPr/>
          <p:nvPr/>
        </p:nvSpPr>
        <p:spPr>
          <a:xfrm>
            <a:off x="3230880" y="5474511"/>
            <a:ext cx="937992" cy="33099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….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DAEE39-6B26-488B-9ECF-C769326410A3}"/>
              </a:ext>
            </a:extLst>
          </p:cNvPr>
          <p:cNvSpPr/>
          <p:nvPr/>
        </p:nvSpPr>
        <p:spPr>
          <a:xfrm>
            <a:off x="7863446" y="5474511"/>
            <a:ext cx="937992" cy="33099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….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722BCA5-4084-488C-A847-B5AC6160C5FA}"/>
              </a:ext>
            </a:extLst>
          </p:cNvPr>
          <p:cNvSpPr/>
          <p:nvPr/>
        </p:nvSpPr>
        <p:spPr>
          <a:xfrm>
            <a:off x="4193554" y="5551596"/>
            <a:ext cx="463296" cy="176828"/>
          </a:xfrm>
          <a:prstGeom prst="rightArrow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33C5809-EB03-405A-B5C9-B3EA2CCB556B}"/>
              </a:ext>
            </a:extLst>
          </p:cNvPr>
          <p:cNvSpPr/>
          <p:nvPr/>
        </p:nvSpPr>
        <p:spPr>
          <a:xfrm>
            <a:off x="7375470" y="5551596"/>
            <a:ext cx="463296" cy="176828"/>
          </a:xfrm>
          <a:prstGeom prst="rightArrow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7659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7927B-CEE8-4B3C-BC98-B09AC83C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091F-67B1-478F-8B72-8C8269EE5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 by the user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432934-B905-4763-9400-F564AE322609}"/>
              </a:ext>
            </a:extLst>
          </p:cNvPr>
          <p:cNvSpPr txBox="1"/>
          <p:nvPr/>
        </p:nvSpPr>
        <p:spPr>
          <a:xfrm>
            <a:off x="5827777" y="3384200"/>
            <a:ext cx="5103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run(self, var1, var2):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output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3799A12-FDF8-4FDD-A99F-14B4D28DFD93}"/>
              </a:ext>
            </a:extLst>
          </p:cNvPr>
          <p:cNvSpPr/>
          <p:nvPr/>
        </p:nvSpPr>
        <p:spPr>
          <a:xfrm>
            <a:off x="3866923" y="3705657"/>
            <a:ext cx="1899894" cy="280416"/>
          </a:xfrm>
          <a:prstGeom prst="rightArrow">
            <a:avLst/>
          </a:prstGeom>
          <a:solidFill>
            <a:srgbClr val="00B0F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87257A-2A57-4E48-A805-8EA4DB5A6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79" y="2712232"/>
            <a:ext cx="2057687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3646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7927B-CEE8-4B3C-BC98-B09AC83C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091F-67B1-478F-8B72-8C8269EE5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7F9AEA-790A-41D1-A712-7B0651690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79" y="2712232"/>
            <a:ext cx="2057687" cy="226726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7A1B0B-7085-4347-8498-ACBFF2CE66EE}"/>
              </a:ext>
            </a:extLst>
          </p:cNvPr>
          <p:cNvSpPr/>
          <p:nvPr/>
        </p:nvSpPr>
        <p:spPr>
          <a:xfrm>
            <a:off x="3996897" y="2785384"/>
            <a:ext cx="66690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MyUI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setup(self):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Apply Button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button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qt.QPushButton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(“Button")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DE167729-3A3D-439D-B310-75B784526A35}"/>
              </a:ext>
            </a:extLst>
          </p:cNvPr>
          <p:cNvSpPr/>
          <p:nvPr/>
        </p:nvSpPr>
        <p:spPr>
          <a:xfrm>
            <a:off x="3631137" y="2712232"/>
            <a:ext cx="731520" cy="216314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4993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7927B-CEE8-4B3C-BC98-B09AC83C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091F-67B1-478F-8B72-8C8269EE5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r>
              <a:rPr lang="en-US" dirty="0"/>
              <a:t>Once again tightly coupled </a:t>
            </a:r>
            <a:r>
              <a:rPr lang="en-US" dirty="0">
                <a:sym typeface="Wingdings" panose="05000000000000000000" pitchFamily="2" charset="2"/>
              </a:rPr>
              <a:t> will need to rewrite </a:t>
            </a:r>
            <a:r>
              <a:rPr lang="en-US" dirty="0" err="1">
                <a:sym typeface="Wingdings" panose="05000000000000000000" pitchFamily="2" charset="2"/>
              </a:rPr>
              <a:t>MyUI</a:t>
            </a:r>
            <a:r>
              <a:rPr lang="en-US" dirty="0">
                <a:sym typeface="Wingdings" panose="05000000000000000000" pitchFamily="2" charset="2"/>
              </a:rPr>
              <a:t> to remove, change or add functions</a:t>
            </a:r>
          </a:p>
          <a:p>
            <a:r>
              <a:rPr lang="en-US" dirty="0">
                <a:sym typeface="Wingdings" panose="05000000000000000000" pitchFamily="2" charset="2"/>
              </a:rPr>
              <a:t>Computationally will continue running unnecessarily due to while loop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7F9AEA-790A-41D1-A712-7B0651690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79" y="2712232"/>
            <a:ext cx="2057687" cy="226726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7A1B0B-7085-4347-8498-ACBFF2CE66EE}"/>
              </a:ext>
            </a:extLst>
          </p:cNvPr>
          <p:cNvSpPr/>
          <p:nvPr/>
        </p:nvSpPr>
        <p:spPr>
          <a:xfrm>
            <a:off x="3996897" y="2712232"/>
            <a:ext cx="66690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MyUI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setup(self):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Apply Button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button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qt.QPushButton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(“Button")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A258DF-F36E-4BFD-ABEF-D81F420A19E0}"/>
              </a:ext>
            </a:extLst>
          </p:cNvPr>
          <p:cNvSpPr/>
          <p:nvPr/>
        </p:nvSpPr>
        <p:spPr>
          <a:xfrm>
            <a:off x="3996897" y="3912561"/>
            <a:ext cx="666902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run(self):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while true: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(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self.applyButton.pressed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x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x.run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(var1, var2)  </a:t>
            </a:r>
          </a:p>
        </p:txBody>
      </p:sp>
    </p:spTree>
    <p:extLst>
      <p:ext uri="{BB962C8B-B14F-4D97-AF65-F5344CB8AC3E}">
        <p14:creationId xmlns:p14="http://schemas.microsoft.com/office/powerpoint/2010/main" val="25712526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7927B-CEE8-4B3C-BC98-B09AC83C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091F-67B1-478F-8B72-8C8269EE5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r>
              <a:rPr lang="en-US" dirty="0"/>
              <a:t>Once again tightly coupled </a:t>
            </a:r>
            <a:r>
              <a:rPr lang="en-US" dirty="0">
                <a:sym typeface="Wingdings" panose="05000000000000000000" pitchFamily="2" charset="2"/>
              </a:rPr>
              <a:t> will need to rewrite </a:t>
            </a:r>
            <a:r>
              <a:rPr lang="en-US" dirty="0" err="1">
                <a:sym typeface="Wingdings" panose="05000000000000000000" pitchFamily="2" charset="2"/>
              </a:rPr>
              <a:t>MyUI</a:t>
            </a:r>
            <a:r>
              <a:rPr lang="en-US" dirty="0">
                <a:sym typeface="Wingdings" panose="05000000000000000000" pitchFamily="2" charset="2"/>
              </a:rPr>
              <a:t> to remove, change or add functions</a:t>
            </a:r>
          </a:p>
          <a:p>
            <a:r>
              <a:rPr lang="en-US" dirty="0">
                <a:sym typeface="Wingdings" panose="05000000000000000000" pitchFamily="2" charset="2"/>
              </a:rPr>
              <a:t>Computationally will continue running unnecessarily due to while loop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7F9AEA-790A-41D1-A712-7B0651690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79" y="2712232"/>
            <a:ext cx="2057687" cy="226726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7A1B0B-7085-4347-8498-ACBFF2CE66EE}"/>
              </a:ext>
            </a:extLst>
          </p:cNvPr>
          <p:cNvSpPr/>
          <p:nvPr/>
        </p:nvSpPr>
        <p:spPr>
          <a:xfrm>
            <a:off x="3996897" y="2712232"/>
            <a:ext cx="66690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MyUI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setup(self):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Apply Button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button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qt.QPushButton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(“Button")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A258DF-F36E-4BFD-ABEF-D81F420A19E0}"/>
              </a:ext>
            </a:extLst>
          </p:cNvPr>
          <p:cNvSpPr/>
          <p:nvPr/>
        </p:nvSpPr>
        <p:spPr>
          <a:xfrm>
            <a:off x="3996897" y="3912561"/>
            <a:ext cx="666902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run(self):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while true: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(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self.applyButton.pressed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x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x.run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(var1, var2)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8F5807-4D03-4A2E-B379-375D4DE26DDD}"/>
              </a:ext>
            </a:extLst>
          </p:cNvPr>
          <p:cNvSpPr/>
          <p:nvPr/>
        </p:nvSpPr>
        <p:spPr>
          <a:xfrm>
            <a:off x="973281" y="5494425"/>
            <a:ext cx="3023616" cy="90238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 err="1"/>
              <a:t>MyUI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250A4-5833-439D-BF5C-3B828D31F552}"/>
              </a:ext>
            </a:extLst>
          </p:cNvPr>
          <p:cNvSpPr/>
          <p:nvPr/>
        </p:nvSpPr>
        <p:spPr>
          <a:xfrm>
            <a:off x="1174253" y="5945297"/>
            <a:ext cx="2669256" cy="33099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MyAwesomeClass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71616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091F-67B1-478F-8B72-8C8269EE5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r>
              <a:rPr lang="en-US" dirty="0"/>
              <a:t>Once again tightly coupled </a:t>
            </a:r>
            <a:r>
              <a:rPr lang="en-US" dirty="0">
                <a:sym typeface="Wingdings" panose="05000000000000000000" pitchFamily="2" charset="2"/>
              </a:rPr>
              <a:t> will need to rewrite </a:t>
            </a:r>
            <a:r>
              <a:rPr lang="en-US" dirty="0" err="1">
                <a:sym typeface="Wingdings" panose="05000000000000000000" pitchFamily="2" charset="2"/>
              </a:rPr>
              <a:t>MyUI</a:t>
            </a:r>
            <a:r>
              <a:rPr lang="en-US" dirty="0">
                <a:sym typeface="Wingdings" panose="05000000000000000000" pitchFamily="2" charset="2"/>
              </a:rPr>
              <a:t> to remove, change or add functions</a:t>
            </a:r>
          </a:p>
          <a:p>
            <a:r>
              <a:rPr lang="en-US" dirty="0">
                <a:sym typeface="Wingdings" panose="05000000000000000000" pitchFamily="2" charset="2"/>
              </a:rPr>
              <a:t>Computationally will continue running unnecessarily due to while loop</a:t>
            </a:r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7927B-CEE8-4B3C-BC98-B09AC83C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671166D-523E-485E-824C-932EAC87FABF}"/>
              </a:ext>
            </a:extLst>
          </p:cNvPr>
          <p:cNvSpPr txBox="1">
            <a:spLocks/>
          </p:cNvSpPr>
          <p:nvPr/>
        </p:nvSpPr>
        <p:spPr>
          <a:xfrm>
            <a:off x="480000" y="1089220"/>
            <a:ext cx="11232000" cy="48564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rmAutofit/>
          </a:bodyPr>
          <a:lstStyle>
            <a:lvl1pPr marL="26987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53975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80962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07950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341438" indent="-261938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Once again tightly coupled </a:t>
            </a:r>
            <a:r>
              <a:rPr lang="en-US" dirty="0">
                <a:sym typeface="Wingdings" panose="05000000000000000000" pitchFamily="2" charset="2"/>
              </a:rPr>
              <a:t> will need to rewrite </a:t>
            </a:r>
            <a:r>
              <a:rPr lang="en-US" dirty="0" err="1">
                <a:sym typeface="Wingdings" panose="05000000000000000000" pitchFamily="2" charset="2"/>
              </a:rPr>
              <a:t>MyUI</a:t>
            </a:r>
            <a:r>
              <a:rPr lang="en-US" dirty="0">
                <a:sym typeface="Wingdings" panose="05000000000000000000" pitchFamily="2" charset="2"/>
              </a:rPr>
              <a:t> to remove, change or add functions</a:t>
            </a:r>
          </a:p>
          <a:p>
            <a:pPr fontAlgn="auto">
              <a:spcAft>
                <a:spcPts val="0"/>
              </a:spcAft>
            </a:pPr>
            <a:r>
              <a:rPr lang="en-US" strike="sngStrike" dirty="0">
                <a:solidFill>
                  <a:schemeClr val="accent1"/>
                </a:solidFill>
                <a:sym typeface="Wingdings" panose="05000000000000000000" pitchFamily="2" charset="2"/>
              </a:rPr>
              <a:t>Computationally will continue running unnecessarily due to while loop</a:t>
            </a:r>
            <a:endParaRPr lang="en-US" strike="sngStrike" dirty="0">
              <a:solidFill>
                <a:schemeClr val="accent1"/>
              </a:solidFill>
            </a:endParaRPr>
          </a:p>
          <a:p>
            <a:pPr fontAlgn="auto">
              <a:spcAft>
                <a:spcPts val="0"/>
              </a:spcAft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7F9AEA-790A-41D1-A712-7B0651690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79" y="2712232"/>
            <a:ext cx="2057687" cy="226726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033E187-A71A-4ADB-9A8C-9A81947AECAD}"/>
              </a:ext>
            </a:extLst>
          </p:cNvPr>
          <p:cNvSpPr/>
          <p:nvPr/>
        </p:nvSpPr>
        <p:spPr>
          <a:xfrm>
            <a:off x="3996897" y="2712232"/>
            <a:ext cx="66690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MyUI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setup(self):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Apply Button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button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qt.QPushButton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(“Button")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C1CC83-D2FA-4FF6-9632-919602F29183}"/>
              </a:ext>
            </a:extLst>
          </p:cNvPr>
          <p:cNvSpPr/>
          <p:nvPr/>
        </p:nvSpPr>
        <p:spPr>
          <a:xfrm>
            <a:off x="3996897" y="3912561"/>
            <a:ext cx="666902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OnPushButton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trike="sngStrike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true:</a:t>
            </a:r>
          </a:p>
          <a:p>
            <a:r>
              <a:rPr lang="en-US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trike="sngStrike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trike="sngStrike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self.applyButton.pressed</a:t>
            </a:r>
            <a:r>
              <a:rPr lang="en-US" strike="sngStrike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x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x.run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(var1, var2)  </a:t>
            </a:r>
          </a:p>
        </p:txBody>
      </p:sp>
    </p:spTree>
    <p:extLst>
      <p:ext uri="{BB962C8B-B14F-4D97-AF65-F5344CB8AC3E}">
        <p14:creationId xmlns:p14="http://schemas.microsoft.com/office/powerpoint/2010/main" val="103261059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091F-67B1-478F-8B72-8C8269EE5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r>
              <a:rPr lang="en-US" dirty="0"/>
              <a:t>Once again tightly coupled </a:t>
            </a:r>
            <a:r>
              <a:rPr lang="en-US" dirty="0">
                <a:sym typeface="Wingdings" panose="05000000000000000000" pitchFamily="2" charset="2"/>
              </a:rPr>
              <a:t> will need to rewrite </a:t>
            </a:r>
            <a:r>
              <a:rPr lang="en-US" dirty="0" err="1">
                <a:sym typeface="Wingdings" panose="05000000000000000000" pitchFamily="2" charset="2"/>
              </a:rPr>
              <a:t>MyUI</a:t>
            </a:r>
            <a:r>
              <a:rPr lang="en-US" dirty="0">
                <a:sym typeface="Wingdings" panose="05000000000000000000" pitchFamily="2" charset="2"/>
              </a:rPr>
              <a:t> to remove, change or add functions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60A4E9-021A-4772-BB34-667C1730CDD5}"/>
              </a:ext>
            </a:extLst>
          </p:cNvPr>
          <p:cNvSpPr txBox="1">
            <a:spLocks/>
          </p:cNvSpPr>
          <p:nvPr/>
        </p:nvSpPr>
        <p:spPr>
          <a:xfrm>
            <a:off x="480000" y="1089220"/>
            <a:ext cx="11232000" cy="48564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rmAutofit/>
          </a:bodyPr>
          <a:lstStyle>
            <a:lvl1pPr marL="26987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53975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80962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07950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341438" indent="-261938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Once again tightly coupled </a:t>
            </a:r>
            <a:r>
              <a:rPr lang="en-US" dirty="0">
                <a:sym typeface="Wingdings" panose="05000000000000000000" pitchFamily="2" charset="2"/>
              </a:rPr>
              <a:t> will need to rewrite </a:t>
            </a:r>
            <a:r>
              <a:rPr lang="en-US" dirty="0" err="1">
                <a:sym typeface="Wingdings" panose="05000000000000000000" pitchFamily="2" charset="2"/>
              </a:rPr>
              <a:t>MyUI</a:t>
            </a:r>
            <a:r>
              <a:rPr lang="en-US" dirty="0">
                <a:sym typeface="Wingdings" panose="05000000000000000000" pitchFamily="2" charset="2"/>
              </a:rPr>
              <a:t> to remove, </a:t>
            </a:r>
            <a:r>
              <a:rPr lang="en-US" strike="sngStrike" dirty="0">
                <a:solidFill>
                  <a:schemeClr val="accent1"/>
                </a:solidFill>
                <a:sym typeface="Wingdings" panose="05000000000000000000" pitchFamily="2" charset="2"/>
              </a:rPr>
              <a:t>change</a:t>
            </a:r>
            <a:r>
              <a:rPr lang="en-US" dirty="0">
                <a:sym typeface="Wingdings" panose="05000000000000000000" pitchFamily="2" charset="2"/>
              </a:rPr>
              <a:t> or add functions</a:t>
            </a:r>
          </a:p>
          <a:p>
            <a:pPr fontAlgn="auto">
              <a:spcAft>
                <a:spcPts val="0"/>
              </a:spcAft>
            </a:pPr>
            <a:r>
              <a:rPr lang="en-US" dirty="0">
                <a:sym typeface="Wingdings" panose="05000000000000000000" pitchFamily="2" charset="2"/>
              </a:rPr>
              <a:t>Requires know what the type of </a:t>
            </a:r>
            <a:r>
              <a:rPr lang="en-US" dirty="0" err="1">
                <a:sym typeface="Wingdings" panose="05000000000000000000" pitchFamily="2" charset="2"/>
              </a:rPr>
              <a:t>myClass</a:t>
            </a:r>
            <a:r>
              <a:rPr lang="en-US" dirty="0">
                <a:sym typeface="Wingdings" panose="05000000000000000000" pitchFamily="2" charset="2"/>
              </a:rPr>
              <a:t> before UI design</a:t>
            </a:r>
          </a:p>
          <a:p>
            <a:pPr fontAlgn="auto">
              <a:spcAft>
                <a:spcPts val="0"/>
              </a:spcAft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7927B-CEE8-4B3C-BC98-B09AC83C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– Callbacks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7F9AEA-790A-41D1-A712-7B0651690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79" y="2712232"/>
            <a:ext cx="2057687" cy="226726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033E187-A71A-4ADB-9A8C-9A81947AECAD}"/>
              </a:ext>
            </a:extLst>
          </p:cNvPr>
          <p:cNvSpPr/>
          <p:nvPr/>
        </p:nvSpPr>
        <p:spPr>
          <a:xfrm>
            <a:off x="3996897" y="2712232"/>
            <a:ext cx="66690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MyUI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setup(self):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Apply Button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button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qt.QPushButton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(“Button")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C1CC83-D2FA-4FF6-9632-919602F29183}"/>
              </a:ext>
            </a:extLst>
          </p:cNvPr>
          <p:cNvSpPr/>
          <p:nvPr/>
        </p:nvSpPr>
        <p:spPr>
          <a:xfrm>
            <a:off x="3996897" y="3912561"/>
            <a:ext cx="66690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OnPushButton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(self, </a:t>
            </a:r>
            <a:r>
              <a:rPr lang="en-US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trike="sngStrike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trike="sngStrike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strike="sngStrike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.run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(var1, var2)  </a:t>
            </a:r>
          </a:p>
        </p:txBody>
      </p:sp>
    </p:spTree>
    <p:extLst>
      <p:ext uri="{BB962C8B-B14F-4D97-AF65-F5344CB8AC3E}">
        <p14:creationId xmlns:p14="http://schemas.microsoft.com/office/powerpoint/2010/main" val="9519282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091F-67B1-478F-8B72-8C8269EE5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r>
              <a:rPr lang="en-US" dirty="0"/>
              <a:t>Once again tightly coupled </a:t>
            </a:r>
            <a:r>
              <a:rPr lang="en-US" dirty="0">
                <a:sym typeface="Wingdings" panose="05000000000000000000" pitchFamily="2" charset="2"/>
              </a:rPr>
              <a:t> will need to rewrite </a:t>
            </a:r>
            <a:r>
              <a:rPr lang="en-US" dirty="0" err="1">
                <a:sym typeface="Wingdings" panose="05000000000000000000" pitchFamily="2" charset="2"/>
              </a:rPr>
              <a:t>MyUI</a:t>
            </a:r>
            <a:r>
              <a:rPr lang="en-US" dirty="0">
                <a:sym typeface="Wingdings" panose="05000000000000000000" pitchFamily="2" charset="2"/>
              </a:rPr>
              <a:t> to remove, change or add functions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60A4E9-021A-4772-BB34-667C1730CDD5}"/>
              </a:ext>
            </a:extLst>
          </p:cNvPr>
          <p:cNvSpPr txBox="1">
            <a:spLocks/>
          </p:cNvSpPr>
          <p:nvPr/>
        </p:nvSpPr>
        <p:spPr>
          <a:xfrm>
            <a:off x="480000" y="1089220"/>
            <a:ext cx="11232000" cy="48564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rmAutofit/>
          </a:bodyPr>
          <a:lstStyle>
            <a:lvl1pPr marL="26987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53975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80962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07950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341438" indent="-261938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Once again tightly coupled </a:t>
            </a:r>
            <a:r>
              <a:rPr lang="en-US" dirty="0">
                <a:sym typeface="Wingdings" panose="05000000000000000000" pitchFamily="2" charset="2"/>
              </a:rPr>
              <a:t> will need to rewrite </a:t>
            </a:r>
            <a:r>
              <a:rPr lang="en-US" dirty="0" err="1">
                <a:sym typeface="Wingdings" panose="05000000000000000000" pitchFamily="2" charset="2"/>
              </a:rPr>
              <a:t>MyUI</a:t>
            </a:r>
            <a:r>
              <a:rPr lang="en-US" dirty="0">
                <a:sym typeface="Wingdings" panose="05000000000000000000" pitchFamily="2" charset="2"/>
              </a:rPr>
              <a:t> to remove, </a:t>
            </a:r>
            <a:r>
              <a:rPr lang="en-US" strike="sngStrike" dirty="0">
                <a:solidFill>
                  <a:schemeClr val="accent1"/>
                </a:solidFill>
                <a:sym typeface="Wingdings" panose="05000000000000000000" pitchFamily="2" charset="2"/>
              </a:rPr>
              <a:t>change</a:t>
            </a:r>
            <a:r>
              <a:rPr lang="en-US" dirty="0">
                <a:sym typeface="Wingdings" panose="05000000000000000000" pitchFamily="2" charset="2"/>
              </a:rPr>
              <a:t> or add functions</a:t>
            </a:r>
          </a:p>
          <a:p>
            <a:pPr fontAlgn="auto">
              <a:spcAft>
                <a:spcPts val="0"/>
              </a:spcAft>
            </a:pPr>
            <a:r>
              <a:rPr lang="en-US" dirty="0">
                <a:sym typeface="Wingdings" panose="05000000000000000000" pitchFamily="2" charset="2"/>
              </a:rPr>
              <a:t>Requires know the type of </a:t>
            </a:r>
            <a:r>
              <a:rPr lang="en-US" dirty="0" err="1">
                <a:sym typeface="Wingdings" panose="05000000000000000000" pitchFamily="2" charset="2"/>
              </a:rPr>
              <a:t>myClass</a:t>
            </a:r>
            <a:r>
              <a:rPr lang="en-US" dirty="0">
                <a:sym typeface="Wingdings" panose="05000000000000000000" pitchFamily="2" charset="2"/>
              </a:rPr>
              <a:t> before UI design</a:t>
            </a:r>
          </a:p>
          <a:p>
            <a:pPr fontAlgn="auto">
              <a:spcAft>
                <a:spcPts val="0"/>
              </a:spcAft>
            </a:pPr>
            <a:r>
              <a:rPr lang="en-US" dirty="0">
                <a:sym typeface="Wingdings" panose="05000000000000000000" pitchFamily="2" charset="2"/>
              </a:rPr>
              <a:t>Required all types of </a:t>
            </a:r>
            <a:r>
              <a:rPr lang="en-US" dirty="0" err="1">
                <a:sym typeface="Wingdings" panose="05000000000000000000" pitchFamily="2" charset="2"/>
              </a:rPr>
              <a:t>myClass</a:t>
            </a:r>
            <a:r>
              <a:rPr lang="en-US" dirty="0">
                <a:sym typeface="Wingdings" panose="05000000000000000000" pitchFamily="2" charset="2"/>
              </a:rPr>
              <a:t> be consistent</a:t>
            </a:r>
          </a:p>
          <a:p>
            <a:pPr fontAlgn="auto">
              <a:spcAft>
                <a:spcPts val="0"/>
              </a:spcAft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7927B-CEE8-4B3C-BC98-B09AC83C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– Callbacks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7F9AEA-790A-41D1-A712-7B0651690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79" y="2712232"/>
            <a:ext cx="2057687" cy="226726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033E187-A71A-4ADB-9A8C-9A81947AECAD}"/>
              </a:ext>
            </a:extLst>
          </p:cNvPr>
          <p:cNvSpPr/>
          <p:nvPr/>
        </p:nvSpPr>
        <p:spPr>
          <a:xfrm>
            <a:off x="3996897" y="2712232"/>
            <a:ext cx="66690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MyUI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setup(self):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Apply Button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button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qt.QPushButton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(“Button")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C1CC83-D2FA-4FF6-9632-919602F29183}"/>
              </a:ext>
            </a:extLst>
          </p:cNvPr>
          <p:cNvSpPr/>
          <p:nvPr/>
        </p:nvSpPr>
        <p:spPr>
          <a:xfrm>
            <a:off x="3996897" y="3912561"/>
            <a:ext cx="66690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OnPushButton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(self, </a:t>
            </a:r>
            <a:r>
              <a:rPr lang="en-US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trike="sngStrike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trike="sngStrike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strike="sngStrike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.run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(var1, var2)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0FB2DC-76DC-487B-B6B3-63E328BE79A3}"/>
              </a:ext>
            </a:extLst>
          </p:cNvPr>
          <p:cNvSpPr/>
          <p:nvPr/>
        </p:nvSpPr>
        <p:spPr>
          <a:xfrm>
            <a:off x="973281" y="5494425"/>
            <a:ext cx="3023616" cy="90238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 err="1"/>
              <a:t>MyUI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250161-E2CB-4FB7-9582-1981D4BF47D6}"/>
              </a:ext>
            </a:extLst>
          </p:cNvPr>
          <p:cNvSpPr/>
          <p:nvPr/>
        </p:nvSpPr>
        <p:spPr>
          <a:xfrm>
            <a:off x="1174253" y="5945297"/>
            <a:ext cx="2669256" cy="33099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MyAwesomeClass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5931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091F-67B1-478F-8B72-8C8269EE5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r>
              <a:rPr lang="en-US" dirty="0"/>
              <a:t>Once again tightly coupled </a:t>
            </a:r>
            <a:r>
              <a:rPr lang="en-US" dirty="0">
                <a:sym typeface="Wingdings" panose="05000000000000000000" pitchFamily="2" charset="2"/>
              </a:rPr>
              <a:t> will need to rewrite </a:t>
            </a:r>
            <a:r>
              <a:rPr lang="en-US" dirty="0" err="1">
                <a:sym typeface="Wingdings" panose="05000000000000000000" pitchFamily="2" charset="2"/>
              </a:rPr>
              <a:t>MyUI</a:t>
            </a:r>
            <a:r>
              <a:rPr lang="en-US" dirty="0">
                <a:sym typeface="Wingdings" panose="05000000000000000000" pitchFamily="2" charset="2"/>
              </a:rPr>
              <a:t> to remove, change or add functions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60A4E9-021A-4772-BB34-667C1730CDD5}"/>
              </a:ext>
            </a:extLst>
          </p:cNvPr>
          <p:cNvSpPr txBox="1">
            <a:spLocks/>
          </p:cNvSpPr>
          <p:nvPr/>
        </p:nvSpPr>
        <p:spPr>
          <a:xfrm>
            <a:off x="480000" y="1089220"/>
            <a:ext cx="11232000" cy="48564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rmAutofit/>
          </a:bodyPr>
          <a:lstStyle>
            <a:lvl1pPr marL="26987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53975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80962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07950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341438" indent="-261938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pPr fontAlgn="auto">
              <a:spcAft>
                <a:spcPts val="0"/>
              </a:spcAft>
            </a:pPr>
            <a:r>
              <a:rPr lang="en-US" strike="sngStrike" dirty="0">
                <a:solidFill>
                  <a:schemeClr val="accent1"/>
                </a:solidFill>
              </a:rPr>
              <a:t>Once again tightly coupled </a:t>
            </a:r>
            <a:r>
              <a:rPr lang="en-US" strike="sngStrike" dirty="0">
                <a:solidFill>
                  <a:schemeClr val="accent1"/>
                </a:solidFill>
                <a:sym typeface="Wingdings" panose="05000000000000000000" pitchFamily="2" charset="2"/>
              </a:rPr>
              <a:t> will need to rewrite </a:t>
            </a:r>
            <a:r>
              <a:rPr lang="en-US" strike="sngStrike" dirty="0" err="1">
                <a:solidFill>
                  <a:schemeClr val="accent1"/>
                </a:solidFill>
                <a:sym typeface="Wingdings" panose="05000000000000000000" pitchFamily="2" charset="2"/>
              </a:rPr>
              <a:t>MyUI</a:t>
            </a:r>
            <a:r>
              <a:rPr lang="en-US" strike="sngStrike" dirty="0">
                <a:solidFill>
                  <a:schemeClr val="accent1"/>
                </a:solidFill>
                <a:sym typeface="Wingdings" panose="05000000000000000000" pitchFamily="2" charset="2"/>
              </a:rPr>
              <a:t> to remove, change or add functions</a:t>
            </a:r>
          </a:p>
          <a:p>
            <a:pPr fontAlgn="auto">
              <a:spcAft>
                <a:spcPts val="0"/>
              </a:spcAft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7927B-CEE8-4B3C-BC98-B09AC83C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– Signal/Slot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7F9AEA-790A-41D1-A712-7B0651690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79" y="2712232"/>
            <a:ext cx="2057687" cy="226726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033E187-A71A-4ADB-9A8C-9A81947AECAD}"/>
              </a:ext>
            </a:extLst>
          </p:cNvPr>
          <p:cNvSpPr/>
          <p:nvPr/>
        </p:nvSpPr>
        <p:spPr>
          <a:xfrm>
            <a:off x="3996897" y="2712232"/>
            <a:ext cx="66690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MyUI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setup(self):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Apply Button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button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qt.QPushButton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(“Button")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C1CC83-D2FA-4FF6-9632-919602F29183}"/>
              </a:ext>
            </a:extLst>
          </p:cNvPr>
          <p:cNvSpPr/>
          <p:nvPr/>
        </p:nvSpPr>
        <p:spPr>
          <a:xfrm>
            <a:off x="3996897" y="3912561"/>
            <a:ext cx="6669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OnPushButton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latin typeface="+mn-lt"/>
                <a:cs typeface="Courier New" panose="02070309020205020404" pitchFamily="49" charset="0"/>
              </a:rPr>
              <a:t>emit Signal  </a:t>
            </a:r>
          </a:p>
        </p:txBody>
      </p:sp>
    </p:spTree>
    <p:extLst>
      <p:ext uri="{BB962C8B-B14F-4D97-AF65-F5344CB8AC3E}">
        <p14:creationId xmlns:p14="http://schemas.microsoft.com/office/powerpoint/2010/main" val="2556366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091F-67B1-478F-8B72-8C8269EE5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r>
              <a:rPr lang="en-US" dirty="0"/>
              <a:t>Once again tightly coupled </a:t>
            </a:r>
            <a:r>
              <a:rPr lang="en-US" dirty="0">
                <a:sym typeface="Wingdings" panose="05000000000000000000" pitchFamily="2" charset="2"/>
              </a:rPr>
              <a:t> will need to rewrite </a:t>
            </a:r>
            <a:r>
              <a:rPr lang="en-US" dirty="0" err="1">
                <a:sym typeface="Wingdings" panose="05000000000000000000" pitchFamily="2" charset="2"/>
              </a:rPr>
              <a:t>MyUI</a:t>
            </a:r>
            <a:r>
              <a:rPr lang="en-US" dirty="0">
                <a:sym typeface="Wingdings" panose="05000000000000000000" pitchFamily="2" charset="2"/>
              </a:rPr>
              <a:t> to remove, change or add functions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60A4E9-021A-4772-BB34-667C1730CDD5}"/>
              </a:ext>
            </a:extLst>
          </p:cNvPr>
          <p:cNvSpPr txBox="1">
            <a:spLocks/>
          </p:cNvSpPr>
          <p:nvPr/>
        </p:nvSpPr>
        <p:spPr>
          <a:xfrm>
            <a:off x="480000" y="1089220"/>
            <a:ext cx="11232000" cy="48564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rmAutofit/>
          </a:bodyPr>
          <a:lstStyle>
            <a:lvl1pPr marL="26987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53975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80962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07950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341438" indent="-261938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Now every time “Button” is pressed, we emit the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clicked</a:t>
            </a:r>
            <a:r>
              <a:rPr lang="en-US" dirty="0"/>
              <a:t> signal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7927B-CEE8-4B3C-BC98-B09AC83C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– Signal/Slot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7F9AEA-790A-41D1-A712-7B0651690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79" y="2712232"/>
            <a:ext cx="2057687" cy="226726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033E187-A71A-4ADB-9A8C-9A81947AECAD}"/>
              </a:ext>
            </a:extLst>
          </p:cNvPr>
          <p:cNvSpPr/>
          <p:nvPr/>
        </p:nvSpPr>
        <p:spPr>
          <a:xfrm>
            <a:off x="3996896" y="2702996"/>
            <a:ext cx="819510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MyUI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setup(self):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Apply Button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button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qt.QPushButton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(“Button")</a:t>
            </a:r>
          </a:p>
          <a:p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C1CC83-D2FA-4FF6-9632-919602F29183}"/>
              </a:ext>
            </a:extLst>
          </p:cNvPr>
          <p:cNvSpPr/>
          <p:nvPr/>
        </p:nvSpPr>
        <p:spPr>
          <a:xfrm>
            <a:off x="3996897" y="4281893"/>
            <a:ext cx="6669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OnPushButton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latin typeface="+mn-lt"/>
                <a:cs typeface="Courier New" panose="02070309020205020404" pitchFamily="49" charset="0"/>
              </a:rPr>
              <a:t>emit Signal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55E7B8-A6FB-44CB-A640-6F07B7C10EC8}"/>
              </a:ext>
            </a:extLst>
          </p:cNvPr>
          <p:cNvSpPr/>
          <p:nvPr/>
        </p:nvSpPr>
        <p:spPr>
          <a:xfrm>
            <a:off x="3996895" y="4056168"/>
            <a:ext cx="6352032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OnPushButton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self.clicked.emit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(true)</a:t>
            </a:r>
            <a:endParaRPr lang="en-US" b="1" dirty="0"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7324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091F-67B1-478F-8B72-8C8269EE5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r>
              <a:rPr lang="en-US" dirty="0"/>
              <a:t>Once again tightly coupled </a:t>
            </a:r>
            <a:r>
              <a:rPr lang="en-US" dirty="0">
                <a:sym typeface="Wingdings" panose="05000000000000000000" pitchFamily="2" charset="2"/>
              </a:rPr>
              <a:t> will need to rewrite </a:t>
            </a:r>
            <a:r>
              <a:rPr lang="en-US" dirty="0" err="1">
                <a:sym typeface="Wingdings" panose="05000000000000000000" pitchFamily="2" charset="2"/>
              </a:rPr>
              <a:t>MyUI</a:t>
            </a:r>
            <a:r>
              <a:rPr lang="en-US" dirty="0">
                <a:sym typeface="Wingdings" panose="05000000000000000000" pitchFamily="2" charset="2"/>
              </a:rPr>
              <a:t> to remove, change or add functions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60A4E9-021A-4772-BB34-667C1730CDD5}"/>
              </a:ext>
            </a:extLst>
          </p:cNvPr>
          <p:cNvSpPr txBox="1">
            <a:spLocks/>
          </p:cNvSpPr>
          <p:nvPr/>
        </p:nvSpPr>
        <p:spPr>
          <a:xfrm>
            <a:off x="480000" y="1089220"/>
            <a:ext cx="11232000" cy="48564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rmAutofit/>
          </a:bodyPr>
          <a:lstStyle>
            <a:lvl1pPr marL="26987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53975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80962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07950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341438" indent="-261938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Now every time “Button” is pressed, we emit the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clicked</a:t>
            </a:r>
            <a:r>
              <a:rPr lang="en-US" dirty="0"/>
              <a:t> signal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The signal must be connected to a slot to call a function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7927B-CEE8-4B3C-BC98-B09AC83C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– Signal/Slot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7F9AEA-790A-41D1-A712-7B0651690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79" y="2712232"/>
            <a:ext cx="2057687" cy="22672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655E7B8-A6FB-44CB-A640-6F07B7C10EC8}"/>
              </a:ext>
            </a:extLst>
          </p:cNvPr>
          <p:cNvSpPr/>
          <p:nvPr/>
        </p:nvSpPr>
        <p:spPr>
          <a:xfrm>
            <a:off x="3996896" y="4321408"/>
            <a:ext cx="6352032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OnPushButton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self.clicked.emit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(true)</a:t>
            </a:r>
            <a:endParaRPr lang="en-US" b="1" dirty="0">
              <a:cs typeface="Courier New" panose="020703090202050204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DA8F91-8FE3-40BA-A9B4-F4901688D319}"/>
              </a:ext>
            </a:extLst>
          </p:cNvPr>
          <p:cNvSpPr/>
          <p:nvPr/>
        </p:nvSpPr>
        <p:spPr>
          <a:xfrm>
            <a:off x="973281" y="5494425"/>
            <a:ext cx="3023616" cy="3147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 err="1"/>
              <a:t>MyUI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32126E-93F4-4CE9-853B-2C6141ECB83A}"/>
              </a:ext>
            </a:extLst>
          </p:cNvPr>
          <p:cNvSpPr/>
          <p:nvPr/>
        </p:nvSpPr>
        <p:spPr>
          <a:xfrm>
            <a:off x="4662153" y="5478157"/>
            <a:ext cx="2669256" cy="33099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MyAwesomeClass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A15A68-17C3-4EDA-9165-ABFF126C2D76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3996897" y="5643656"/>
            <a:ext cx="874648" cy="8135"/>
          </a:xfrm>
          <a:prstGeom prst="straightConnector1">
            <a:avLst/>
          </a:prstGeom>
          <a:ln w="50800">
            <a:headEnd type="none"/>
            <a:tailEnd type="diamond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710EC1A-A46A-46DC-8C62-0C2D3A0FAC02}"/>
              </a:ext>
            </a:extLst>
          </p:cNvPr>
          <p:cNvSpPr/>
          <p:nvPr/>
        </p:nvSpPr>
        <p:spPr>
          <a:xfrm>
            <a:off x="3996896" y="2702996"/>
            <a:ext cx="819510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MyUI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setup(self):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Apply Button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button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qt.QPushButton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(“Button")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self.button.connect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('clicked(bool)’,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self.runButton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1031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091F-67B1-478F-8B72-8C8269EE5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r>
              <a:rPr lang="en-US" dirty="0"/>
              <a:t>Once again tightly coupled </a:t>
            </a:r>
            <a:r>
              <a:rPr lang="en-US" dirty="0">
                <a:sym typeface="Wingdings" panose="05000000000000000000" pitchFamily="2" charset="2"/>
              </a:rPr>
              <a:t> will need to rewrite </a:t>
            </a:r>
            <a:r>
              <a:rPr lang="en-US" dirty="0" err="1">
                <a:sym typeface="Wingdings" panose="05000000000000000000" pitchFamily="2" charset="2"/>
              </a:rPr>
              <a:t>MyUI</a:t>
            </a:r>
            <a:r>
              <a:rPr lang="en-US" dirty="0">
                <a:sym typeface="Wingdings" panose="05000000000000000000" pitchFamily="2" charset="2"/>
              </a:rPr>
              <a:t> to remove, change or add functions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60A4E9-021A-4772-BB34-667C1730CDD5}"/>
              </a:ext>
            </a:extLst>
          </p:cNvPr>
          <p:cNvSpPr txBox="1">
            <a:spLocks/>
          </p:cNvSpPr>
          <p:nvPr/>
        </p:nvSpPr>
        <p:spPr>
          <a:xfrm>
            <a:off x="480000" y="1089220"/>
            <a:ext cx="11232000" cy="48564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rmAutofit/>
          </a:bodyPr>
          <a:lstStyle>
            <a:lvl1pPr marL="26987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53975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80962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07950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341438" indent="-261938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Now every time “Button” is pressed, we emit the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clicked</a:t>
            </a:r>
            <a:r>
              <a:rPr lang="en-US" dirty="0"/>
              <a:t> signal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The signal must be connected to a slot to call the function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7927B-CEE8-4B3C-BC98-B09AC83C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– Signal/Slot Interface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0064D7-92F2-41FF-AB08-A05C31BA0D3F}"/>
              </a:ext>
            </a:extLst>
          </p:cNvPr>
          <p:cNvSpPr/>
          <p:nvPr/>
        </p:nvSpPr>
        <p:spPr>
          <a:xfrm>
            <a:off x="1505712" y="3429000"/>
            <a:ext cx="918057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setup(self):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MyUI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Slots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self.button.connect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('clicked(bool)',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self.onApplyButton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onApplyButton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x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x.run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(var1, var2)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F2F0A8-5528-43B5-AFEF-59DC2170F9FD}"/>
              </a:ext>
            </a:extLst>
          </p:cNvPr>
          <p:cNvSpPr/>
          <p:nvPr/>
        </p:nvSpPr>
        <p:spPr>
          <a:xfrm>
            <a:off x="2060448" y="3998976"/>
            <a:ext cx="3547872" cy="365760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A8E12D-D3E0-4702-94DB-C060E8379C08}"/>
              </a:ext>
            </a:extLst>
          </p:cNvPr>
          <p:cNvSpPr txBox="1"/>
          <p:nvPr/>
        </p:nvSpPr>
        <p:spPr>
          <a:xfrm>
            <a:off x="6303264" y="4002548"/>
            <a:ext cx="2767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Class containing emitter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F1E8ED1-7045-496B-8CE0-4CB41DD044C6}"/>
              </a:ext>
            </a:extLst>
          </p:cNvPr>
          <p:cNvSpPr/>
          <p:nvPr/>
        </p:nvSpPr>
        <p:spPr>
          <a:xfrm>
            <a:off x="5608320" y="4090416"/>
            <a:ext cx="646176" cy="182880"/>
          </a:xfrm>
          <a:prstGeom prst="right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1547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091F-67B1-478F-8B72-8C8269EE5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r>
              <a:rPr lang="en-US" dirty="0"/>
              <a:t>Once again tightly coupled </a:t>
            </a:r>
            <a:r>
              <a:rPr lang="en-US" dirty="0">
                <a:sym typeface="Wingdings" panose="05000000000000000000" pitchFamily="2" charset="2"/>
              </a:rPr>
              <a:t> will need to rewrite </a:t>
            </a:r>
            <a:r>
              <a:rPr lang="en-US" dirty="0" err="1">
                <a:sym typeface="Wingdings" panose="05000000000000000000" pitchFamily="2" charset="2"/>
              </a:rPr>
              <a:t>MyUI</a:t>
            </a:r>
            <a:r>
              <a:rPr lang="en-US" dirty="0">
                <a:sym typeface="Wingdings" panose="05000000000000000000" pitchFamily="2" charset="2"/>
              </a:rPr>
              <a:t> to remove, change or add functions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60A4E9-021A-4772-BB34-667C1730CDD5}"/>
              </a:ext>
            </a:extLst>
          </p:cNvPr>
          <p:cNvSpPr txBox="1">
            <a:spLocks/>
          </p:cNvSpPr>
          <p:nvPr/>
        </p:nvSpPr>
        <p:spPr>
          <a:xfrm>
            <a:off x="480000" y="1089220"/>
            <a:ext cx="11232000" cy="48564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rmAutofit/>
          </a:bodyPr>
          <a:lstStyle>
            <a:lvl1pPr marL="26987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53975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80962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07950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341438" indent="-261938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Now every time “Button” is pressed, we emit the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clicked</a:t>
            </a:r>
            <a:r>
              <a:rPr lang="en-US" dirty="0"/>
              <a:t> signal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The signal must be connected to a slot to call the function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7927B-CEE8-4B3C-BC98-B09AC83C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– Signal/Slot Interface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0064D7-92F2-41FF-AB08-A05C31BA0D3F}"/>
              </a:ext>
            </a:extLst>
          </p:cNvPr>
          <p:cNvSpPr/>
          <p:nvPr/>
        </p:nvSpPr>
        <p:spPr>
          <a:xfrm>
            <a:off x="1505712" y="3429000"/>
            <a:ext cx="918057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setup(self):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self.applyButton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MyUI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Slots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self.applyButton.connect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('clicked(bool)',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self.onApplyButton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onApplyButton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x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x.run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(var1, var2)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F2F0A8-5528-43B5-AFEF-59DC2170F9FD}"/>
              </a:ext>
            </a:extLst>
          </p:cNvPr>
          <p:cNvSpPr/>
          <p:nvPr/>
        </p:nvSpPr>
        <p:spPr>
          <a:xfrm>
            <a:off x="2060448" y="4538781"/>
            <a:ext cx="3547872" cy="365760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A8E12D-D3E0-4702-94DB-C060E8379C08}"/>
              </a:ext>
            </a:extLst>
          </p:cNvPr>
          <p:cNvSpPr txBox="1"/>
          <p:nvPr/>
        </p:nvSpPr>
        <p:spPr>
          <a:xfrm>
            <a:off x="6303263" y="4002548"/>
            <a:ext cx="5053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Setting up the slot i.e. what object will emit the signal 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F1E8ED1-7045-496B-8CE0-4CB41DD044C6}"/>
              </a:ext>
            </a:extLst>
          </p:cNvPr>
          <p:cNvSpPr/>
          <p:nvPr/>
        </p:nvSpPr>
        <p:spPr>
          <a:xfrm rot="19970260">
            <a:off x="5614431" y="4280438"/>
            <a:ext cx="646176" cy="182880"/>
          </a:xfrm>
          <a:prstGeom prst="right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14618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091F-67B1-478F-8B72-8C8269EE5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r>
              <a:rPr lang="en-US" dirty="0"/>
              <a:t>Once again tightly coupled </a:t>
            </a:r>
            <a:r>
              <a:rPr lang="en-US" dirty="0">
                <a:sym typeface="Wingdings" panose="05000000000000000000" pitchFamily="2" charset="2"/>
              </a:rPr>
              <a:t> will need to rewrite </a:t>
            </a:r>
            <a:r>
              <a:rPr lang="en-US" dirty="0" err="1">
                <a:sym typeface="Wingdings" panose="05000000000000000000" pitchFamily="2" charset="2"/>
              </a:rPr>
              <a:t>MyUI</a:t>
            </a:r>
            <a:r>
              <a:rPr lang="en-US" dirty="0">
                <a:sym typeface="Wingdings" panose="05000000000000000000" pitchFamily="2" charset="2"/>
              </a:rPr>
              <a:t> to remove, change or add functions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60A4E9-021A-4772-BB34-667C1730CDD5}"/>
              </a:ext>
            </a:extLst>
          </p:cNvPr>
          <p:cNvSpPr txBox="1">
            <a:spLocks/>
          </p:cNvSpPr>
          <p:nvPr/>
        </p:nvSpPr>
        <p:spPr>
          <a:xfrm>
            <a:off x="480000" y="1089220"/>
            <a:ext cx="11232000" cy="48564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rmAutofit/>
          </a:bodyPr>
          <a:lstStyle>
            <a:lvl1pPr marL="26987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53975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80962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07950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341438" indent="-261938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Now every time “Button” is pressed, we emit the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clicked</a:t>
            </a:r>
            <a:r>
              <a:rPr lang="en-US" dirty="0"/>
              <a:t> signal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The signal must be connected to a slot to call the function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7927B-CEE8-4B3C-BC98-B09AC83C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– Signal/Slot Interface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0064D7-92F2-41FF-AB08-A05C31BA0D3F}"/>
              </a:ext>
            </a:extLst>
          </p:cNvPr>
          <p:cNvSpPr/>
          <p:nvPr/>
        </p:nvSpPr>
        <p:spPr>
          <a:xfrm>
            <a:off x="1505712" y="3429000"/>
            <a:ext cx="918057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setup(self):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self.applyButton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MyUI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Slots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self.applyButton.connect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('clicked(bool)',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self.onApplyButton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onApplyButton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x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x.run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(var1, var2)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F2F0A8-5528-43B5-AFEF-59DC2170F9FD}"/>
              </a:ext>
            </a:extLst>
          </p:cNvPr>
          <p:cNvSpPr/>
          <p:nvPr/>
        </p:nvSpPr>
        <p:spPr>
          <a:xfrm>
            <a:off x="5522976" y="4558641"/>
            <a:ext cx="2084832" cy="365760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A8E12D-D3E0-4702-94DB-C060E8379C08}"/>
              </a:ext>
            </a:extLst>
          </p:cNvPr>
          <p:cNvSpPr txBox="1"/>
          <p:nvPr/>
        </p:nvSpPr>
        <p:spPr>
          <a:xfrm>
            <a:off x="5888736" y="5447489"/>
            <a:ext cx="3486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What signal are we listening for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F1E8ED1-7045-496B-8CE0-4CB41DD044C6}"/>
              </a:ext>
            </a:extLst>
          </p:cNvPr>
          <p:cNvSpPr/>
          <p:nvPr/>
        </p:nvSpPr>
        <p:spPr>
          <a:xfrm rot="5400000">
            <a:off x="6276931" y="4951492"/>
            <a:ext cx="509851" cy="457185"/>
          </a:xfrm>
          <a:prstGeom prst="right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9169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091F-67B1-478F-8B72-8C8269EE5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r>
              <a:rPr lang="en-US" dirty="0"/>
              <a:t>Once again tightly coupled </a:t>
            </a:r>
            <a:r>
              <a:rPr lang="en-US" dirty="0">
                <a:sym typeface="Wingdings" panose="05000000000000000000" pitchFamily="2" charset="2"/>
              </a:rPr>
              <a:t> will need to rewrite </a:t>
            </a:r>
            <a:r>
              <a:rPr lang="en-US" dirty="0" err="1">
                <a:sym typeface="Wingdings" panose="05000000000000000000" pitchFamily="2" charset="2"/>
              </a:rPr>
              <a:t>MyUI</a:t>
            </a:r>
            <a:r>
              <a:rPr lang="en-US" dirty="0">
                <a:sym typeface="Wingdings" panose="05000000000000000000" pitchFamily="2" charset="2"/>
              </a:rPr>
              <a:t> to remove, change or add functions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60A4E9-021A-4772-BB34-667C1730CDD5}"/>
              </a:ext>
            </a:extLst>
          </p:cNvPr>
          <p:cNvSpPr txBox="1">
            <a:spLocks/>
          </p:cNvSpPr>
          <p:nvPr/>
        </p:nvSpPr>
        <p:spPr>
          <a:xfrm>
            <a:off x="480000" y="1089220"/>
            <a:ext cx="11232000" cy="48564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rmAutofit/>
          </a:bodyPr>
          <a:lstStyle>
            <a:lvl1pPr marL="26987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53975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80962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07950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341438" indent="-261938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Now every time “Button” is pressed, we emit the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clicked</a:t>
            </a:r>
            <a:r>
              <a:rPr lang="en-US" dirty="0"/>
              <a:t> signal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The signal must be connected to a slot to call the function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7927B-CEE8-4B3C-BC98-B09AC83C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– Signal/Slot Interface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0064D7-92F2-41FF-AB08-A05C31BA0D3F}"/>
              </a:ext>
            </a:extLst>
          </p:cNvPr>
          <p:cNvSpPr/>
          <p:nvPr/>
        </p:nvSpPr>
        <p:spPr>
          <a:xfrm>
            <a:off x="1505712" y="3429000"/>
            <a:ext cx="918057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setup(self):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self.applyButton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MyUI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Slots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self.applyButton.connect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('clicked(bool)',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self.onApplyButton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onApplyButton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x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x.run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(var1, var2)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F2F0A8-5528-43B5-AFEF-59DC2170F9FD}"/>
              </a:ext>
            </a:extLst>
          </p:cNvPr>
          <p:cNvSpPr/>
          <p:nvPr/>
        </p:nvSpPr>
        <p:spPr>
          <a:xfrm>
            <a:off x="7863840" y="4538781"/>
            <a:ext cx="2499360" cy="365760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A8E12D-D3E0-4702-94DB-C060E8379C08}"/>
              </a:ext>
            </a:extLst>
          </p:cNvPr>
          <p:cNvSpPr txBox="1"/>
          <p:nvPr/>
        </p:nvSpPr>
        <p:spPr>
          <a:xfrm>
            <a:off x="7510272" y="5453867"/>
            <a:ext cx="3486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What function to call when signal is sent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F1E8ED1-7045-496B-8CE0-4CB41DD044C6}"/>
              </a:ext>
            </a:extLst>
          </p:cNvPr>
          <p:cNvSpPr/>
          <p:nvPr/>
        </p:nvSpPr>
        <p:spPr>
          <a:xfrm rot="5400000">
            <a:off x="8858594" y="4963971"/>
            <a:ext cx="509851" cy="457185"/>
          </a:xfrm>
          <a:prstGeom prst="right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86963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091F-67B1-478F-8B72-8C8269EE5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r>
              <a:rPr lang="en-US" dirty="0"/>
              <a:t>Once again tightly coupled </a:t>
            </a:r>
            <a:r>
              <a:rPr lang="en-US" dirty="0">
                <a:sym typeface="Wingdings" panose="05000000000000000000" pitchFamily="2" charset="2"/>
              </a:rPr>
              <a:t> will need to rewrite </a:t>
            </a:r>
            <a:r>
              <a:rPr lang="en-US" dirty="0" err="1">
                <a:sym typeface="Wingdings" panose="05000000000000000000" pitchFamily="2" charset="2"/>
              </a:rPr>
              <a:t>MyUI</a:t>
            </a:r>
            <a:r>
              <a:rPr lang="en-US" dirty="0">
                <a:sym typeface="Wingdings" panose="05000000000000000000" pitchFamily="2" charset="2"/>
              </a:rPr>
              <a:t> to remove, change or add functions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60A4E9-021A-4772-BB34-667C1730CDD5}"/>
              </a:ext>
            </a:extLst>
          </p:cNvPr>
          <p:cNvSpPr txBox="1">
            <a:spLocks/>
          </p:cNvSpPr>
          <p:nvPr/>
        </p:nvSpPr>
        <p:spPr>
          <a:xfrm>
            <a:off x="480000" y="1089220"/>
            <a:ext cx="11232000" cy="48564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rmAutofit/>
          </a:bodyPr>
          <a:lstStyle>
            <a:lvl1pPr marL="26987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53975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80962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07950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341438" indent="-261938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Now every time “Button” is pressed, we emit the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clicked</a:t>
            </a:r>
            <a:r>
              <a:rPr lang="en-US" dirty="0"/>
              <a:t> signal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The signal must be connected to a slot to call the function</a:t>
            </a:r>
          </a:p>
          <a:p>
            <a:pPr lvl="2" fontAlgn="auto">
              <a:spcAft>
                <a:spcPts val="0"/>
              </a:spcAft>
            </a:pPr>
            <a:r>
              <a:rPr lang="en-US" dirty="0"/>
              <a:t>Can set up as many slots you like to any signal</a:t>
            </a:r>
          </a:p>
          <a:p>
            <a:pPr lvl="2" fontAlgn="auto">
              <a:spcAft>
                <a:spcPts val="0"/>
              </a:spcAft>
            </a:pPr>
            <a:r>
              <a:rPr lang="en-US" dirty="0"/>
              <a:t>Loose coupling – need only know about signal of class/object you want to listen 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7927B-CEE8-4B3C-BC98-B09AC83C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– Signal/Slot Interface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0064D7-92F2-41FF-AB08-A05C31BA0D3F}"/>
              </a:ext>
            </a:extLst>
          </p:cNvPr>
          <p:cNvSpPr/>
          <p:nvPr/>
        </p:nvSpPr>
        <p:spPr>
          <a:xfrm>
            <a:off x="1505712" y="3429000"/>
            <a:ext cx="918057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setup(self):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self.applyButton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MyUI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Slots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self.applyButton.connect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('clicked(bool)',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self.onApplyButton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onApplyButton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x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x.run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(var1, var2)  </a:t>
            </a:r>
          </a:p>
        </p:txBody>
      </p:sp>
    </p:spTree>
    <p:extLst>
      <p:ext uri="{BB962C8B-B14F-4D97-AF65-F5344CB8AC3E}">
        <p14:creationId xmlns:p14="http://schemas.microsoft.com/office/powerpoint/2010/main" val="16960944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091F-67B1-478F-8B72-8C8269EE5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r>
              <a:rPr lang="en-US" dirty="0"/>
              <a:t>Once again tightly coupled </a:t>
            </a:r>
            <a:r>
              <a:rPr lang="en-US" dirty="0">
                <a:sym typeface="Wingdings" panose="05000000000000000000" pitchFamily="2" charset="2"/>
              </a:rPr>
              <a:t> will need to rewrite </a:t>
            </a:r>
            <a:r>
              <a:rPr lang="en-US" dirty="0" err="1">
                <a:sym typeface="Wingdings" panose="05000000000000000000" pitchFamily="2" charset="2"/>
              </a:rPr>
              <a:t>MyUI</a:t>
            </a:r>
            <a:r>
              <a:rPr lang="en-US" dirty="0">
                <a:sym typeface="Wingdings" panose="05000000000000000000" pitchFamily="2" charset="2"/>
              </a:rPr>
              <a:t> to remove, change or add functions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60A4E9-021A-4772-BB34-667C1730CDD5}"/>
              </a:ext>
            </a:extLst>
          </p:cNvPr>
          <p:cNvSpPr txBox="1">
            <a:spLocks/>
          </p:cNvSpPr>
          <p:nvPr/>
        </p:nvSpPr>
        <p:spPr>
          <a:xfrm>
            <a:off x="480000" y="1089220"/>
            <a:ext cx="11232000" cy="48564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rmAutofit/>
          </a:bodyPr>
          <a:lstStyle>
            <a:lvl1pPr marL="26987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53975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80962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07950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341438" indent="-261938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Now every time “Button” is pressed, we emit the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clicked</a:t>
            </a:r>
            <a:r>
              <a:rPr lang="en-US" dirty="0"/>
              <a:t> signal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The signal must be connected to a slot to call the function</a:t>
            </a:r>
          </a:p>
          <a:p>
            <a:pPr lvl="2" fontAlgn="auto">
              <a:spcAft>
                <a:spcPts val="0"/>
              </a:spcAft>
            </a:pPr>
            <a:r>
              <a:rPr lang="en-US" dirty="0"/>
              <a:t>Can set up as many slots you like to any signal</a:t>
            </a:r>
          </a:p>
          <a:p>
            <a:pPr lvl="2" fontAlgn="auto">
              <a:spcAft>
                <a:spcPts val="0"/>
              </a:spcAft>
            </a:pPr>
            <a:r>
              <a:rPr lang="en-US" dirty="0"/>
              <a:t>Loose coupling – need only know about signal of classes you care about</a:t>
            </a:r>
          </a:p>
          <a:p>
            <a:pPr lvl="2" fontAlgn="auto">
              <a:spcAft>
                <a:spcPts val="0"/>
              </a:spcAft>
            </a:pPr>
            <a:r>
              <a:rPr lang="en-US" dirty="0"/>
              <a:t>Need to be careful when designing workflow to avoid circular referencing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7927B-CEE8-4B3C-BC98-B09AC83C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– Signal/Slot Interface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0064D7-92F2-41FF-AB08-A05C31BA0D3F}"/>
              </a:ext>
            </a:extLst>
          </p:cNvPr>
          <p:cNvSpPr/>
          <p:nvPr/>
        </p:nvSpPr>
        <p:spPr>
          <a:xfrm>
            <a:off x="345888" y="3736848"/>
            <a:ext cx="525024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ButtonClass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setup(self):</a:t>
            </a:r>
          </a:p>
          <a:p>
            <a:pPr lvl="1"/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self.applyCheckBox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CheckboxClass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Slots</a:t>
            </a:r>
          </a:p>
          <a:p>
            <a:pPr lvl="1"/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self.applyCheckBox.connect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(‘toggled(bool)’,        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self.onApplyButton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onApplyButton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self.applyButton.clicked.emit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(true)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084173-2A58-4798-953F-4C2CEE8D86D3}"/>
              </a:ext>
            </a:extLst>
          </p:cNvPr>
          <p:cNvSpPr/>
          <p:nvPr/>
        </p:nvSpPr>
        <p:spPr>
          <a:xfrm>
            <a:off x="6096000" y="3736848"/>
            <a:ext cx="525024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CheckboxClass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setup(self):</a:t>
            </a:r>
          </a:p>
          <a:p>
            <a:pPr lvl="1"/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self.applyButton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ButtonClass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Slots</a:t>
            </a:r>
          </a:p>
          <a:p>
            <a:pPr lvl="1"/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 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applyButton.connect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(‘clicked(bool)’,        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self.onApplyCheckBox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 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onApplyCheckBox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self.applyCheckBox.toggled.emit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(true)</a:t>
            </a:r>
          </a:p>
        </p:txBody>
      </p:sp>
      <p:sp>
        <p:nvSpPr>
          <p:cNvPr id="10" name="Arrow: Curved Right 9">
            <a:extLst>
              <a:ext uri="{FF2B5EF4-FFF2-40B4-BE49-F238E27FC236}">
                <a16:creationId xmlns:a16="http://schemas.microsoft.com/office/drawing/2014/main" id="{C327593D-AD05-402B-BA55-77AFA7A49EC9}"/>
              </a:ext>
            </a:extLst>
          </p:cNvPr>
          <p:cNvSpPr/>
          <p:nvPr/>
        </p:nvSpPr>
        <p:spPr>
          <a:xfrm rot="16200000">
            <a:off x="5504688" y="3457789"/>
            <a:ext cx="530352" cy="5309616"/>
          </a:xfrm>
          <a:prstGeom prst="curvedRightArrow">
            <a:avLst>
              <a:gd name="adj1" fmla="val 50000"/>
              <a:gd name="adj2" fmla="val 227164"/>
              <a:gd name="adj3" fmla="val 25000"/>
            </a:avLst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Curved Right 11">
            <a:extLst>
              <a:ext uri="{FF2B5EF4-FFF2-40B4-BE49-F238E27FC236}">
                <a16:creationId xmlns:a16="http://schemas.microsoft.com/office/drawing/2014/main" id="{4D46B161-8827-4AF2-9E5C-C796F01735D9}"/>
              </a:ext>
            </a:extLst>
          </p:cNvPr>
          <p:cNvSpPr/>
          <p:nvPr/>
        </p:nvSpPr>
        <p:spPr>
          <a:xfrm rot="5400000">
            <a:off x="5360640" y="2244685"/>
            <a:ext cx="530352" cy="5309616"/>
          </a:xfrm>
          <a:prstGeom prst="curvedRightArrow">
            <a:avLst>
              <a:gd name="adj1" fmla="val 50000"/>
              <a:gd name="adj2" fmla="val 227164"/>
              <a:gd name="adj3" fmla="val 25000"/>
            </a:avLst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34420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" grpId="0"/>
      <p:bldP spid="10" grpId="0" animBg="1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091F-67B1-478F-8B72-8C8269EE5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r>
              <a:rPr lang="en-US" dirty="0"/>
              <a:t>Once again tightly coupled </a:t>
            </a:r>
            <a:r>
              <a:rPr lang="en-US" dirty="0">
                <a:sym typeface="Wingdings" panose="05000000000000000000" pitchFamily="2" charset="2"/>
              </a:rPr>
              <a:t> will need to rewrite </a:t>
            </a:r>
            <a:r>
              <a:rPr lang="en-US" dirty="0" err="1">
                <a:sym typeface="Wingdings" panose="05000000000000000000" pitchFamily="2" charset="2"/>
              </a:rPr>
              <a:t>MyUI</a:t>
            </a:r>
            <a:r>
              <a:rPr lang="en-US" dirty="0">
                <a:sym typeface="Wingdings" panose="05000000000000000000" pitchFamily="2" charset="2"/>
              </a:rPr>
              <a:t> to remove, change or add functions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60A4E9-021A-4772-BB34-667C1730CDD5}"/>
              </a:ext>
            </a:extLst>
          </p:cNvPr>
          <p:cNvSpPr txBox="1">
            <a:spLocks/>
          </p:cNvSpPr>
          <p:nvPr/>
        </p:nvSpPr>
        <p:spPr>
          <a:xfrm>
            <a:off x="480000" y="1089220"/>
            <a:ext cx="11232000" cy="48564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rmAutofit/>
          </a:bodyPr>
          <a:lstStyle>
            <a:lvl1pPr marL="26987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53975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80962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07950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341438" indent="-261938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We only want to call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dirty="0"/>
              <a:t>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when “Button” is pressed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Now every time “Button” is pressed, we emit the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clicked</a:t>
            </a:r>
            <a:r>
              <a:rPr lang="en-US" dirty="0"/>
              <a:t> signal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The signal must be connected to a slot to call the function</a:t>
            </a:r>
          </a:p>
          <a:p>
            <a:pPr lvl="2" fontAlgn="auto">
              <a:spcAft>
                <a:spcPts val="0"/>
              </a:spcAft>
            </a:pPr>
            <a:r>
              <a:rPr lang="en-US" dirty="0"/>
              <a:t>Can set up as many slots you like to any signal</a:t>
            </a:r>
          </a:p>
          <a:p>
            <a:pPr lvl="2" fontAlgn="auto">
              <a:spcAft>
                <a:spcPts val="0"/>
              </a:spcAft>
            </a:pPr>
            <a:r>
              <a:rPr lang="en-US" dirty="0"/>
              <a:t>Loose coupling – need only know about signal of classes you care about</a:t>
            </a:r>
          </a:p>
          <a:p>
            <a:pPr lvl="2" fontAlgn="auto">
              <a:spcAft>
                <a:spcPts val="0"/>
              </a:spcAft>
            </a:pPr>
            <a:r>
              <a:rPr lang="en-US" dirty="0"/>
              <a:t>Need to be careful when designing workflow</a:t>
            </a:r>
          </a:p>
          <a:p>
            <a:pPr lvl="4" fontAlgn="auto">
              <a:spcAft>
                <a:spcPts val="0"/>
              </a:spcAft>
            </a:pPr>
            <a:r>
              <a:rPr lang="en-US" dirty="0"/>
              <a:t>Typically slots only take actions from</a:t>
            </a:r>
          </a:p>
          <a:p>
            <a:pPr marL="1079500" lvl="4" indent="0" fontAlgn="auto">
              <a:spcAft>
                <a:spcPts val="0"/>
              </a:spcAft>
              <a:buNone/>
            </a:pPr>
            <a:r>
              <a:rPr lang="en-US" dirty="0"/>
              <a:t>     signals</a:t>
            </a:r>
          </a:p>
          <a:p>
            <a:pPr lvl="4" fontAlgn="auto">
              <a:spcAft>
                <a:spcPts val="0"/>
              </a:spcAft>
            </a:pPr>
            <a:r>
              <a:rPr lang="en-US" dirty="0"/>
              <a:t>Signals only emit based on actions</a:t>
            </a:r>
          </a:p>
          <a:p>
            <a:pPr lvl="4" fontAlgn="auto">
              <a:spcAft>
                <a:spcPts val="0"/>
              </a:spcAft>
            </a:pPr>
            <a:r>
              <a:rPr lang="en-US" dirty="0"/>
              <a:t>Easy to end up with never ending loops if </a:t>
            </a:r>
          </a:p>
          <a:p>
            <a:pPr marL="1079500" lvl="4" indent="0" fontAlgn="auto">
              <a:spcAft>
                <a:spcPts val="0"/>
              </a:spcAft>
              <a:buNone/>
            </a:pPr>
            <a:r>
              <a:rPr lang="en-US" dirty="0"/>
              <a:t>     you are not careful with code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Helpful for closed applications – but not easy to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US" dirty="0"/>
              <a:t>    scale</a:t>
            </a:r>
          </a:p>
          <a:p>
            <a:pPr marL="539750" lvl="2" indent="0" fontAlgn="auto"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7927B-CEE8-4B3C-BC98-B09AC83C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– Signal/Slot Interface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97C496-4ACC-4F69-A8C7-A59C285AB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488" y="3328416"/>
            <a:ext cx="4889795" cy="320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884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7927B-CEE8-4B3C-BC98-B09AC83C6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</p:spPr>
        <p:txBody>
          <a:bodyPr/>
          <a:lstStyle/>
          <a:p>
            <a:r>
              <a:rPr lang="en-US" dirty="0"/>
              <a:t>Qt User Interface – The Hard Way (i.e. coding)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D9B1930-C41C-49C5-8843-D6212C9BB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20"/>
            <a:ext cx="11232000" cy="5445692"/>
          </a:xfrm>
        </p:spPr>
        <p:txBody>
          <a:bodyPr numCol="2"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PathPlannerWidget</a:t>
            </a:r>
            <a:r>
              <a:rPr lang="en-US" dirty="0"/>
              <a:t>(</a:t>
            </a:r>
            <a:r>
              <a:rPr lang="en-US" dirty="0" err="1"/>
              <a:t>ScriptedLoadableModuleWidget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def setup(self): </a:t>
            </a:r>
            <a:r>
              <a:rPr lang="en-US" dirty="0" err="1"/>
              <a:t>ScriptedLoadableModuleWidget.setup</a:t>
            </a:r>
            <a:r>
              <a:rPr lang="en-US" dirty="0"/>
              <a:t>(self)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# Parameters Area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parametersCollapsibleButton</a:t>
            </a:r>
            <a:r>
              <a:rPr lang="en-US" dirty="0"/>
              <a:t> = </a:t>
            </a:r>
            <a:r>
              <a:rPr lang="en-US" dirty="0" err="1"/>
              <a:t>ctk.ctkCollapsibleButton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parametersCollapsibleButton.text</a:t>
            </a:r>
            <a:r>
              <a:rPr lang="en-US" dirty="0"/>
              <a:t> = "Parameters"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self.layout.addWidget</a:t>
            </a:r>
            <a:r>
              <a:rPr lang="en-US" dirty="0"/>
              <a:t>(</a:t>
            </a:r>
            <a:r>
              <a:rPr lang="en-US" dirty="0" err="1"/>
              <a:t>parametersCollapsibleButton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# Layout within the dummy collapsible button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parametersFormLayout</a:t>
            </a:r>
            <a:r>
              <a:rPr lang="en-US" dirty="0"/>
              <a:t> =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qt.QFormLayout</a:t>
            </a:r>
            <a:r>
              <a:rPr lang="en-US" dirty="0"/>
              <a:t>(</a:t>
            </a:r>
            <a:r>
              <a:rPr lang="en-US" dirty="0" err="1"/>
              <a:t>parametersCollapsibleButton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# input volume selector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self.inputImageSelector</a:t>
            </a:r>
            <a:r>
              <a:rPr lang="en-US" dirty="0"/>
              <a:t> = </a:t>
            </a:r>
            <a:r>
              <a:rPr lang="en-US" dirty="0" err="1"/>
              <a:t>slicer.qMRMLNodeComboBox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self.inputImageSelector.nodeTypes</a:t>
            </a:r>
            <a:r>
              <a:rPr lang="en-US" dirty="0"/>
              <a:t> = </a:t>
            </a:r>
          </a:p>
          <a:p>
            <a:pPr marL="0" indent="0">
              <a:buNone/>
            </a:pPr>
            <a:r>
              <a:rPr lang="en-US" dirty="0"/>
              <a:t>        ["</a:t>
            </a:r>
            <a:r>
              <a:rPr lang="en-US" dirty="0" err="1"/>
              <a:t>vtkMRMLLabelMapVolumeNode</a:t>
            </a:r>
            <a:r>
              <a:rPr lang="en-US" dirty="0"/>
              <a:t>"]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self.inputImageSelector.selectNodeUponCreation</a:t>
            </a:r>
            <a:r>
              <a:rPr lang="en-US" dirty="0"/>
              <a:t> = True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self.inputImageSelector.addEnabled</a:t>
            </a:r>
            <a:r>
              <a:rPr lang="en-US" dirty="0"/>
              <a:t> = False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self.inputImageSelector.removeEnabled</a:t>
            </a:r>
            <a:r>
              <a:rPr lang="en-US" dirty="0"/>
              <a:t> = False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self.inputImageSelector.noneEnabled</a:t>
            </a:r>
            <a:r>
              <a:rPr lang="en-US" dirty="0"/>
              <a:t> = False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self.inputImageSelector.showHidden</a:t>
            </a:r>
            <a:r>
              <a:rPr lang="en-US" dirty="0"/>
              <a:t> = False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self.inputImageSelector.showChildNodeTypes</a:t>
            </a:r>
            <a:r>
              <a:rPr lang="en-US" dirty="0"/>
              <a:t> = False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self.inputImageSelector.setMRMLScene</a:t>
            </a:r>
            <a:r>
              <a:rPr lang="en-US" dirty="0"/>
              <a:t>( </a:t>
            </a:r>
            <a:r>
              <a:rPr lang="en-US" dirty="0" err="1"/>
              <a:t>slicer.mrmlScene</a:t>
            </a:r>
            <a:r>
              <a:rPr lang="en-US" dirty="0"/>
              <a:t> 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self.inputImageSelector.setToolTip</a:t>
            </a:r>
            <a:r>
              <a:rPr lang="en-US" dirty="0"/>
              <a:t>( "Pick the input to the </a:t>
            </a:r>
          </a:p>
          <a:p>
            <a:pPr marL="0" indent="0">
              <a:buNone/>
            </a:pPr>
            <a:r>
              <a:rPr lang="en-US" dirty="0"/>
              <a:t>        algorithm." 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parametersFormLayout.addRow</a:t>
            </a:r>
            <a:r>
              <a:rPr lang="en-US" dirty="0"/>
              <a:t>("Input Label Volume: ",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self.inputImageSelector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……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# Apply Button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self.applyButton</a:t>
            </a:r>
            <a:r>
              <a:rPr lang="en-US" dirty="0"/>
              <a:t> = </a:t>
            </a:r>
            <a:r>
              <a:rPr lang="en-US" dirty="0" err="1"/>
              <a:t>qt.QPushButton</a:t>
            </a:r>
            <a:r>
              <a:rPr lang="en-US" dirty="0"/>
              <a:t>("Apply")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self.applyButton.toolTip</a:t>
            </a:r>
            <a:r>
              <a:rPr lang="en-US" dirty="0"/>
              <a:t> = "Run the algorithm."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self.applyButton.enabled</a:t>
            </a:r>
            <a:r>
              <a:rPr lang="en-US" dirty="0"/>
              <a:t> = False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parametersFormLayout.addRow</a:t>
            </a:r>
            <a:r>
              <a:rPr lang="en-US" dirty="0"/>
              <a:t>(</a:t>
            </a:r>
            <a:r>
              <a:rPr lang="en-US" dirty="0" err="1"/>
              <a:t>self.applyButton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# connections</a:t>
            </a:r>
          </a:p>
          <a:p>
            <a:pPr marL="269875" lvl="1" indent="0">
              <a:buNone/>
            </a:pPr>
            <a:r>
              <a:rPr lang="en-US" dirty="0" err="1"/>
              <a:t>self.applyButton.connect</a:t>
            </a:r>
            <a:r>
              <a:rPr lang="en-US" dirty="0"/>
              <a:t>('clicked(bool)', </a:t>
            </a:r>
            <a:r>
              <a:rPr lang="en-US" dirty="0" err="1"/>
              <a:t>self.onApplyButton</a:t>
            </a:r>
            <a:r>
              <a:rPr lang="en-US" dirty="0"/>
              <a:t>)</a:t>
            </a:r>
          </a:p>
          <a:p>
            <a:pPr marL="269875" lvl="1" indent="0">
              <a:buNone/>
            </a:pPr>
            <a:r>
              <a:rPr lang="en-US" dirty="0" err="1"/>
              <a:t>self.inputImageSelector.connect</a:t>
            </a:r>
            <a:r>
              <a:rPr lang="en-US" dirty="0"/>
              <a:t>("</a:t>
            </a:r>
            <a:r>
              <a:rPr lang="en-US" dirty="0" err="1"/>
              <a:t>currentNodeChanged</a:t>
            </a:r>
            <a:r>
              <a:rPr lang="en-US" dirty="0"/>
              <a:t>(</a:t>
            </a:r>
            <a:r>
              <a:rPr lang="en-US" dirty="0" err="1"/>
              <a:t>vtkMRML</a:t>
            </a:r>
            <a:endParaRPr lang="en-US" dirty="0"/>
          </a:p>
          <a:p>
            <a:pPr marL="269875" lvl="1" indent="0">
              <a:buNone/>
            </a:pPr>
            <a:r>
              <a:rPr lang="en-US" dirty="0"/>
              <a:t>    Node* )",   </a:t>
            </a:r>
            <a:r>
              <a:rPr lang="en-US" dirty="0" err="1"/>
              <a:t>self.onSelect</a:t>
            </a:r>
            <a:r>
              <a:rPr lang="en-US" dirty="0"/>
              <a:t>)</a:t>
            </a:r>
          </a:p>
          <a:p>
            <a:pPr marL="269875" lvl="1" indent="0">
              <a:buNone/>
            </a:pPr>
            <a:r>
              <a:rPr lang="en-US" dirty="0" err="1"/>
              <a:t>self.outputSelector.connect</a:t>
            </a:r>
            <a:r>
              <a:rPr lang="en-US" dirty="0"/>
              <a:t>("</a:t>
            </a:r>
            <a:r>
              <a:rPr lang="en-US" dirty="0" err="1"/>
              <a:t>currentNodeChanged</a:t>
            </a:r>
            <a:r>
              <a:rPr lang="en-US" dirty="0"/>
              <a:t>(</a:t>
            </a:r>
            <a:r>
              <a:rPr lang="en-US" dirty="0" err="1"/>
              <a:t>vtkMRMLNode</a:t>
            </a:r>
            <a:r>
              <a:rPr lang="en-US" dirty="0"/>
              <a:t>*</a:t>
            </a:r>
          </a:p>
          <a:p>
            <a:pPr marL="269875" lvl="1" indent="0">
              <a:buNone/>
            </a:pPr>
            <a:r>
              <a:rPr lang="en-US" dirty="0"/>
              <a:t>    )",  </a:t>
            </a:r>
            <a:r>
              <a:rPr lang="en-US" dirty="0" err="1"/>
              <a:t>self.onSelect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16AC03-2C2C-6A11-748C-EEDDE6CD7BAA}"/>
              </a:ext>
            </a:extLst>
          </p:cNvPr>
          <p:cNvSpPr txBox="1"/>
          <p:nvPr/>
        </p:nvSpPr>
        <p:spPr>
          <a:xfrm>
            <a:off x="6006193" y="5259153"/>
            <a:ext cx="5616000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+mn-lt"/>
              </a:rPr>
              <a:t>Note when setting up a connection between your Widget and Logic class you must do it this way.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B3FD23-F4CC-B1C9-3AEC-723206EC1287}"/>
              </a:ext>
            </a:extLst>
          </p:cNvPr>
          <p:cNvSpPr/>
          <p:nvPr/>
        </p:nvSpPr>
        <p:spPr>
          <a:xfrm>
            <a:off x="6188529" y="3412673"/>
            <a:ext cx="5110842" cy="293914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71731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7965-881E-9D0E-51CA-90083431E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Qt User Interface – The “Easier” Way (i.e. Qt Designer)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8E9A1-67A3-08C2-88A1-A8ABAB918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20"/>
            <a:ext cx="3332875" cy="485640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Widget box, Object Inspector and  Property Editor should already be familiar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B31452-CF01-35C9-7D04-8C1C3FF05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958" y="900000"/>
            <a:ext cx="7790612" cy="438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443247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7965-881E-9D0E-51CA-90083431E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Qt User Interface – The “Easier” Way (i.e. Qt Designer)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8E9A1-67A3-08C2-88A1-A8ABAB918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20"/>
            <a:ext cx="3332875" cy="485640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Widget box, Object Inspector and  Property Editor should already be familiar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err="1"/>
              <a:t>SlicerParameterName</a:t>
            </a:r>
            <a:r>
              <a:rPr lang="en-GB" dirty="0"/>
              <a:t> linked to name in parameter list to associate </a:t>
            </a:r>
            <a:r>
              <a:rPr lang="en-GB" dirty="0" err="1"/>
              <a:t>qMRMLNodeComboBox</a:t>
            </a:r>
            <a:r>
              <a:rPr lang="en-GB" dirty="0"/>
              <a:t> with a parameter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C8FD3D-3227-91F4-552D-6CAE8E7D6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810" y="900000"/>
            <a:ext cx="8020649" cy="45116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FF15A55-285D-BE5B-854C-4CF6685EB5D8}"/>
              </a:ext>
            </a:extLst>
          </p:cNvPr>
          <p:cNvSpPr/>
          <p:nvPr/>
        </p:nvSpPr>
        <p:spPr>
          <a:xfrm>
            <a:off x="8824823" y="4477109"/>
            <a:ext cx="3036498" cy="19840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7CC621-06FF-7921-17FE-F0B7C9278F6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222" t="28176" r="34764" b="30691"/>
          <a:stretch/>
        </p:blipFill>
        <p:spPr>
          <a:xfrm>
            <a:off x="3900576" y="1854678"/>
            <a:ext cx="4390847" cy="282083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A96C5BC-303F-F1C9-636E-7AA3DB09480C}"/>
              </a:ext>
            </a:extLst>
          </p:cNvPr>
          <p:cNvSpPr/>
          <p:nvPr/>
        </p:nvSpPr>
        <p:spPr>
          <a:xfrm>
            <a:off x="3900576" y="3844505"/>
            <a:ext cx="2534730" cy="201284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6702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7965-881E-9D0E-51CA-90083431E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Qt User Interface – The “Easier” Way (i.e. Qt Designer)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8E9A1-67A3-08C2-88A1-A8ABAB918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19"/>
            <a:ext cx="3332875" cy="5188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Widget box, Object Inspector and  Property Editor should already be familiar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err="1"/>
              <a:t>SlicerParameterName</a:t>
            </a:r>
            <a:r>
              <a:rPr lang="en-GB" dirty="0"/>
              <a:t> linked to name in parameter list to associate </a:t>
            </a:r>
            <a:r>
              <a:rPr lang="en-GB" dirty="0" err="1"/>
              <a:t>qMRMLNodeComboBox</a:t>
            </a:r>
            <a:r>
              <a:rPr lang="en-GB" dirty="0"/>
              <a:t> with a parameter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Then can query self._</a:t>
            </a:r>
            <a:r>
              <a:rPr lang="en-GB" dirty="0" err="1"/>
              <a:t>parameterNode</a:t>
            </a:r>
            <a:r>
              <a:rPr lang="en-GB" dirty="0"/>
              <a:t> to reference the node in the Widget class.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E6C1E-E478-D188-6F28-847FE56DF7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071" t="10693" r="1651" b="12326"/>
          <a:stretch/>
        </p:blipFill>
        <p:spPr>
          <a:xfrm>
            <a:off x="3890514" y="999807"/>
            <a:ext cx="8180717" cy="518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380206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7965-881E-9D0E-51CA-90083431E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Qt User Interface – The “Easier” Way (i.e. Qt Designer)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8E9A1-67A3-08C2-88A1-A8ABAB918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19"/>
            <a:ext cx="4428430" cy="5188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Signals: open the Signal/Slot Editor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D532DB-F9A7-5704-1C4B-44C1FDBA80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5495" b="42390"/>
          <a:stretch/>
        </p:blipFill>
        <p:spPr>
          <a:xfrm>
            <a:off x="5874589" y="1276710"/>
            <a:ext cx="5426015" cy="395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530608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7965-881E-9D0E-51CA-90083431E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Qt User Interface – The “Easier” Way (i.e. Qt Designer)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8E9A1-67A3-08C2-88A1-A8ABAB918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19"/>
            <a:ext cx="6912838" cy="5188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Signals: open the Signal/Slot Editor</a:t>
            </a:r>
          </a:p>
          <a:p>
            <a:pPr lvl="1"/>
            <a:r>
              <a:rPr lang="en-GB" dirty="0"/>
              <a:t>Can add slot with “+”, remove with “-”</a:t>
            </a:r>
          </a:p>
          <a:p>
            <a:pPr lvl="1"/>
            <a:r>
              <a:rPr lang="en-GB" dirty="0"/>
              <a:t>Can change any object using drop down bars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C29DBC-0531-011A-B4F7-54B0A44F0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00" y="2366162"/>
            <a:ext cx="11102196" cy="289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7691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7965-881E-9D0E-51CA-90083431E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Qt User Interface – The “Easier” Way (i.e. Qt Designer)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8E9A1-67A3-08C2-88A1-A8ABAB918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19"/>
            <a:ext cx="6912838" cy="5188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Signals: open the Signal/Slot Editor</a:t>
            </a:r>
          </a:p>
          <a:p>
            <a:pPr lvl="1"/>
            <a:r>
              <a:rPr lang="en-GB" dirty="0"/>
              <a:t>Can add slot with “+”, remove with “-”</a:t>
            </a:r>
          </a:p>
          <a:p>
            <a:pPr lvl="1"/>
            <a:r>
              <a:rPr lang="en-GB" dirty="0"/>
              <a:t>Can change any object using drop down bars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A227F-59B3-4735-CDD9-2D5969927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60" y="2687339"/>
            <a:ext cx="11496340" cy="376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751035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15433-2F1A-4FFA-8ED8-98420B04F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Qt User Interface – The “Easier” Way (i.e. Qt Designer)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A9937-FF42-92AB-9BCC-86EAACBC6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20"/>
            <a:ext cx="4583706" cy="4856400"/>
          </a:xfrm>
        </p:spPr>
        <p:txBody>
          <a:bodyPr/>
          <a:lstStyle/>
          <a:p>
            <a:r>
              <a:rPr lang="en-US" dirty="0"/>
              <a:t>The UI file does not know about our logic class even when using the Designer your call to your logic class/apply must be set via 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97473A-5F03-A52C-E61E-EA7638FF5E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0368"/>
          <a:stretch/>
        </p:blipFill>
        <p:spPr>
          <a:xfrm>
            <a:off x="5477774" y="1089219"/>
            <a:ext cx="5952225" cy="550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308212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C4F51-6ED0-E471-E3F6-4F716D35B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Qt User Interface – The “Easier” Way (i.e. Qt Designer)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385EA-B5CD-4FBF-2D01-D7B3C50D3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Three main points: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ParameterNode</a:t>
            </a:r>
            <a:r>
              <a:rPr lang="en-US" dirty="0"/>
              <a:t>” associates a Slicer Parameter Name (set in Qt Designer) with a type and a Qt </a:t>
            </a:r>
            <a:r>
              <a:rPr lang="en-US" dirty="0" err="1"/>
              <a:t>qMRMLNodeComboBox</a:t>
            </a:r>
            <a:r>
              <a:rPr lang="en-US" dirty="0"/>
              <a:t>. Used to manage node/parameter associations</a:t>
            </a:r>
          </a:p>
          <a:p>
            <a:pPr lvl="1"/>
            <a:r>
              <a:rPr lang="en-US" dirty="0"/>
              <a:t>Qt Designer Signals and Slots to update objects/functions defined entirely in the UI</a:t>
            </a:r>
          </a:p>
          <a:p>
            <a:pPr lvl="1"/>
            <a:r>
              <a:rPr lang="en-US" dirty="0"/>
              <a:t>Widget class to call Logic class and link signals/slots defined in the .</a:t>
            </a:r>
            <a:r>
              <a:rPr lang="en-US" dirty="0" err="1"/>
              <a:t>py</a:t>
            </a:r>
            <a:r>
              <a:rPr lang="en-US" dirty="0"/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2574370799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7927B-CEE8-4B3C-BC98-B09AC83C6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</p:spPr>
        <p:txBody>
          <a:bodyPr/>
          <a:lstStyle/>
          <a:p>
            <a:r>
              <a:rPr lang="en-US" dirty="0"/>
              <a:t>User Interface – Signal/Slot Interface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D9B1930-C41C-49C5-8843-D6212C9BB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20"/>
            <a:ext cx="11232000" cy="5445692"/>
          </a:xfrm>
        </p:spPr>
        <p:txBody>
          <a:bodyPr numCol="1">
            <a:normAutofit/>
          </a:bodyPr>
          <a:lstStyle/>
          <a:p>
            <a:r>
              <a:rPr lang="en-US" dirty="0"/>
              <a:t>Qt calls this pattern Signal/Slot but there are other names</a:t>
            </a:r>
          </a:p>
          <a:p>
            <a:pPr lvl="2"/>
            <a:r>
              <a:rPr lang="en-US" dirty="0"/>
              <a:t>Emitter-&gt; Listener</a:t>
            </a:r>
          </a:p>
          <a:p>
            <a:pPr lvl="2"/>
            <a:r>
              <a:rPr lang="en-US" dirty="0"/>
              <a:t>Transmitter-&gt;Receiver</a:t>
            </a:r>
          </a:p>
          <a:p>
            <a:pPr lvl="2"/>
            <a:r>
              <a:rPr lang="en-US" dirty="0"/>
              <a:t>Subject-&gt;Observer</a:t>
            </a:r>
          </a:p>
          <a:p>
            <a:r>
              <a:rPr lang="en-US" dirty="0"/>
              <a:t>It requires the observer/slot objects to continually query the state of the subject/signal and update accordingly</a:t>
            </a:r>
          </a:p>
          <a:p>
            <a:r>
              <a:rPr lang="en-US" dirty="0"/>
              <a:t>It requires direct loading of symbols (i.e.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/>
              <a:t>) and recompilation of code</a:t>
            </a:r>
          </a:p>
          <a:p>
            <a:r>
              <a:rPr lang="en-US" dirty="0"/>
              <a:t>Has poor scaling behavior for </a:t>
            </a:r>
          </a:p>
          <a:p>
            <a:pPr lvl="2"/>
            <a:r>
              <a:rPr lang="en-US" dirty="0"/>
              <a:t>states with large data transmission</a:t>
            </a:r>
          </a:p>
          <a:p>
            <a:pPr lvl="2"/>
            <a:r>
              <a:rPr lang="en-US" dirty="0"/>
              <a:t>many subjects per observer </a:t>
            </a:r>
          </a:p>
          <a:p>
            <a:pPr lvl="2"/>
            <a:r>
              <a:rPr lang="en-US" dirty="0"/>
              <a:t>many observers per subject</a:t>
            </a:r>
          </a:p>
          <a:p>
            <a:r>
              <a:rPr lang="en-US" dirty="0"/>
              <a:t>Server -&gt; Client model helps to deal with some of these limitations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4501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C1B9-92AD-4FC3-98CB-C719D56C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Representational state transfer (REST)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AACDF-A8FF-4405-B828-E474C59CB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Representational state transfer (REST) API</a:t>
            </a:r>
          </a:p>
          <a:p>
            <a:pPr lvl="2"/>
            <a:r>
              <a:rPr lang="en-US" dirty="0"/>
              <a:t>A software architecture defining a set of constraints used for creating Web Services</a:t>
            </a:r>
          </a:p>
          <a:p>
            <a:pPr lvl="4"/>
            <a:r>
              <a:rPr lang="en-US" dirty="0"/>
              <a:t>Scalability  </a:t>
            </a:r>
          </a:p>
          <a:p>
            <a:pPr lvl="4"/>
            <a:r>
              <a:rPr lang="en-US" dirty="0"/>
              <a:t>Simplicity</a:t>
            </a:r>
          </a:p>
          <a:p>
            <a:pPr lvl="4"/>
            <a:r>
              <a:rPr lang="en-US" dirty="0"/>
              <a:t>Modifiability</a:t>
            </a:r>
          </a:p>
          <a:p>
            <a:pPr lvl="4"/>
            <a:r>
              <a:rPr lang="en-US" dirty="0"/>
              <a:t>Visibility</a:t>
            </a:r>
          </a:p>
          <a:p>
            <a:pPr lvl="4"/>
            <a:r>
              <a:rPr lang="en-US" dirty="0"/>
              <a:t>Portability</a:t>
            </a:r>
          </a:p>
          <a:p>
            <a:pPr lvl="4"/>
            <a:r>
              <a:rPr lang="en-US" dirty="0"/>
              <a:t>Reliability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CF6D2D-EB88-41FE-975C-FD37F349C55F}"/>
              </a:ext>
            </a:extLst>
          </p:cNvPr>
          <p:cNvSpPr/>
          <p:nvPr/>
        </p:nvSpPr>
        <p:spPr>
          <a:xfrm>
            <a:off x="3011424" y="1813483"/>
            <a:ext cx="5608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- able to support a large number of components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093971-A4FC-4D38-99D4-8E19666C19FD}"/>
              </a:ext>
            </a:extLst>
          </p:cNvPr>
          <p:cNvSpPr/>
          <p:nvPr/>
        </p:nvSpPr>
        <p:spPr>
          <a:xfrm>
            <a:off x="3011424" y="2202758"/>
            <a:ext cx="5608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- uniform interface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3BC15D-C15D-4A59-B47D-009BC701BA74}"/>
              </a:ext>
            </a:extLst>
          </p:cNvPr>
          <p:cNvSpPr/>
          <p:nvPr/>
        </p:nvSpPr>
        <p:spPr>
          <a:xfrm>
            <a:off x="3291840" y="2537746"/>
            <a:ext cx="5608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- can change components will application runs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0BAFCE-A777-4DEB-99A5-C17AF8554AD7}"/>
              </a:ext>
            </a:extLst>
          </p:cNvPr>
          <p:cNvSpPr/>
          <p:nvPr/>
        </p:nvSpPr>
        <p:spPr>
          <a:xfrm>
            <a:off x="2834640" y="2903911"/>
            <a:ext cx="5608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- components are knowable by all components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5CAFDC-3923-4215-B4D1-0FEA671E107D}"/>
              </a:ext>
            </a:extLst>
          </p:cNvPr>
          <p:cNvSpPr/>
          <p:nvPr/>
        </p:nvSpPr>
        <p:spPr>
          <a:xfrm>
            <a:off x="3011424" y="3272844"/>
            <a:ext cx="64617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- able to move components with data across computers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4FE1B8-1012-49AB-858E-F9E790766831}"/>
              </a:ext>
            </a:extLst>
          </p:cNvPr>
          <p:cNvSpPr/>
          <p:nvPr/>
        </p:nvSpPr>
        <p:spPr>
          <a:xfrm>
            <a:off x="3011424" y="3615274"/>
            <a:ext cx="64617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- main function will not fail if a component does</a:t>
            </a:r>
          </a:p>
        </p:txBody>
      </p:sp>
    </p:spTree>
    <p:extLst>
      <p:ext uri="{BB962C8B-B14F-4D97-AF65-F5344CB8AC3E}">
        <p14:creationId xmlns:p14="http://schemas.microsoft.com/office/powerpoint/2010/main" val="28135254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C1B9-92AD-4FC3-98CB-C719D56C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Representational state transfer (REST)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AACDF-A8FF-4405-B828-E474C59CB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Representational state transfer (REST) API</a:t>
            </a:r>
          </a:p>
          <a:p>
            <a:pPr lvl="2"/>
            <a:r>
              <a:rPr lang="en-US" dirty="0"/>
              <a:t>A software architecture defining a set of constraints used for creating Web Services</a:t>
            </a:r>
          </a:p>
          <a:p>
            <a:pPr lvl="2"/>
            <a:r>
              <a:rPr lang="en-US" dirty="0"/>
              <a:t>Six general guidelines</a:t>
            </a:r>
          </a:p>
          <a:p>
            <a:pPr lvl="4"/>
            <a:r>
              <a:rPr lang="en-US" dirty="0"/>
              <a:t>Client-server framework</a:t>
            </a:r>
          </a:p>
          <a:p>
            <a:pPr lvl="4"/>
            <a:r>
              <a:rPr lang="en-US" dirty="0"/>
              <a:t>Statelessness</a:t>
            </a:r>
          </a:p>
          <a:p>
            <a:pPr lvl="4"/>
            <a:r>
              <a:rPr lang="en-US" dirty="0" err="1"/>
              <a:t>Cacheability</a:t>
            </a:r>
            <a:endParaRPr lang="en-US" dirty="0"/>
          </a:p>
          <a:p>
            <a:pPr lvl="4"/>
            <a:r>
              <a:rPr lang="en-US" dirty="0"/>
              <a:t>Layered system</a:t>
            </a:r>
          </a:p>
          <a:p>
            <a:pPr lvl="4"/>
            <a:r>
              <a:rPr lang="en-US" dirty="0"/>
              <a:t>Uniform interface</a:t>
            </a:r>
          </a:p>
          <a:p>
            <a:pPr lvl="4"/>
            <a:r>
              <a:rPr lang="en-US" dirty="0"/>
              <a:t>Code on demand (optional)</a:t>
            </a:r>
          </a:p>
        </p:txBody>
      </p:sp>
    </p:spTree>
    <p:extLst>
      <p:ext uri="{BB962C8B-B14F-4D97-AF65-F5344CB8AC3E}">
        <p14:creationId xmlns:p14="http://schemas.microsoft.com/office/powerpoint/2010/main" val="11215717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C1B9-92AD-4FC3-98CB-C719D56C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Client-Server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AACDF-A8FF-4405-B828-E474C59CB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Server provides some computational resource</a:t>
            </a:r>
          </a:p>
          <a:p>
            <a:pPr lvl="2"/>
            <a:r>
              <a:rPr lang="en-US" dirty="0"/>
              <a:t>Assume server is eternal – always available</a:t>
            </a:r>
          </a:p>
          <a:p>
            <a:pPr lvl="2"/>
            <a:r>
              <a:rPr lang="en-US" dirty="0"/>
              <a:t>Must balance requests from clients</a:t>
            </a:r>
          </a:p>
          <a:p>
            <a:pPr lvl="2"/>
            <a:r>
              <a:rPr lang="en-US" dirty="0"/>
              <a:t>Responds to client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Many clients can request computation resource(s)</a:t>
            </a:r>
          </a:p>
          <a:p>
            <a:pPr lvl="2"/>
            <a:r>
              <a:rPr lang="en-US" dirty="0"/>
              <a:t>Clients can be transient</a:t>
            </a:r>
          </a:p>
          <a:p>
            <a:pPr lvl="2"/>
            <a:r>
              <a:rPr lang="en-US" dirty="0"/>
              <a:t>Clients know nothing about each other</a:t>
            </a:r>
          </a:p>
          <a:p>
            <a:pPr lvl="2"/>
            <a:r>
              <a:rPr lang="en-US" dirty="0"/>
              <a:t>Example: Article look up on Wikipedia</a:t>
            </a:r>
          </a:p>
          <a:p>
            <a:pPr marL="539750" lvl="2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Light weight queries to ensure the system is scalable </a:t>
            </a:r>
          </a:p>
          <a:p>
            <a:pPr marL="0" indent="0">
              <a:buNone/>
            </a:pPr>
            <a:r>
              <a:rPr lang="en-US" dirty="0"/>
              <a:t>to many queries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A953E-298E-43B4-83A4-9DC1B3399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896" y="2544707"/>
            <a:ext cx="2466975" cy="1847850"/>
          </a:xfrm>
          <a:prstGeom prst="rect">
            <a:avLst/>
          </a:prstGeom>
        </p:spPr>
      </p:pic>
      <p:pic>
        <p:nvPicPr>
          <p:cNvPr id="15362" name="Picture 2" descr="Image result for laptop icon">
            <a:extLst>
              <a:ext uri="{FF2B5EF4-FFF2-40B4-BE49-F238E27FC236}">
                <a16:creationId xmlns:a16="http://schemas.microsoft.com/office/drawing/2014/main" id="{BE69A610-5268-4DB5-B616-440ABDAC1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992" y="3532310"/>
            <a:ext cx="1963762" cy="1470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Image result for computer icon">
            <a:extLst>
              <a:ext uri="{FF2B5EF4-FFF2-40B4-BE49-F238E27FC236}">
                <a16:creationId xmlns:a16="http://schemas.microsoft.com/office/drawing/2014/main" id="{71C7EA7D-D3F0-4443-82C1-F094BA170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003" y="1857546"/>
            <a:ext cx="1522666" cy="152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mage result for computer icon">
            <a:extLst>
              <a:ext uri="{FF2B5EF4-FFF2-40B4-BE49-F238E27FC236}">
                <a16:creationId xmlns:a16="http://schemas.microsoft.com/office/drawing/2014/main" id="{BDBC303B-2EEA-4B94-AF21-6FFD8D862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3424" y="5155334"/>
            <a:ext cx="1522666" cy="152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5ECF9A4A-AFA0-4215-9C26-64162B997780}"/>
              </a:ext>
            </a:extLst>
          </p:cNvPr>
          <p:cNvSpPr/>
          <p:nvPr/>
        </p:nvSpPr>
        <p:spPr>
          <a:xfrm rot="669913">
            <a:off x="8112883" y="2828285"/>
            <a:ext cx="1963762" cy="484451"/>
          </a:xfrm>
          <a:prstGeom prst="leftRight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79A15705-F824-484E-8145-0E47D48AD9B6}"/>
              </a:ext>
            </a:extLst>
          </p:cNvPr>
          <p:cNvSpPr/>
          <p:nvPr/>
        </p:nvSpPr>
        <p:spPr>
          <a:xfrm rot="21058177">
            <a:off x="8323754" y="3821699"/>
            <a:ext cx="1749470" cy="484451"/>
          </a:xfrm>
          <a:prstGeom prst="leftRight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FC7E22FC-F72E-4CBD-9C62-4B0A151FA259}"/>
              </a:ext>
            </a:extLst>
          </p:cNvPr>
          <p:cNvSpPr/>
          <p:nvPr/>
        </p:nvSpPr>
        <p:spPr>
          <a:xfrm rot="18937576">
            <a:off x="8994063" y="4629031"/>
            <a:ext cx="1749470" cy="484451"/>
          </a:xfrm>
          <a:prstGeom prst="leftRight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4196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C1B9-92AD-4FC3-98CB-C719D56C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Stateless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AACDF-A8FF-4405-B828-E474C59CB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client contextual information is stored by the server</a:t>
            </a:r>
          </a:p>
          <a:p>
            <a:r>
              <a:rPr lang="en-US" dirty="0"/>
              <a:t>Each client message to server contains all necessary information to run algorithm</a:t>
            </a:r>
          </a:p>
          <a:p>
            <a:r>
              <a:rPr lang="en-US" dirty="0"/>
              <a:t>Each message can be treated independently</a:t>
            </a:r>
          </a:p>
          <a:p>
            <a:r>
              <a:rPr lang="en-US" dirty="0"/>
              <a:t>Examples</a:t>
            </a:r>
          </a:p>
          <a:p>
            <a:pPr lvl="2"/>
            <a:r>
              <a:rPr lang="en-US" dirty="0"/>
              <a:t>IP</a:t>
            </a:r>
          </a:p>
          <a:p>
            <a:pPr lvl="2"/>
            <a:r>
              <a:rPr lang="en-US" dirty="0"/>
              <a:t>HTTP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54577B-1A56-44CA-ACAB-841918AAA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071" y="3592954"/>
            <a:ext cx="9975858" cy="146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9970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C1B9-92AD-4FC3-98CB-C719D56C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Cacheability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AACDF-A8FF-4405-B828-E474C59CB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 temporary storying of information form server to increase speed and efficiency of queries</a:t>
            </a:r>
          </a:p>
          <a:p>
            <a:r>
              <a:rPr lang="en-US" dirty="0"/>
              <a:t>Evaluate cache correctness by</a:t>
            </a:r>
          </a:p>
          <a:p>
            <a:pPr lvl="2"/>
            <a:r>
              <a:rPr lang="en-US" dirty="0"/>
              <a:t>Freshness (date)</a:t>
            </a:r>
          </a:p>
          <a:p>
            <a:pPr lvl="2"/>
            <a:r>
              <a:rPr lang="en-US" dirty="0"/>
              <a:t>Validation (If Modified Since query)</a:t>
            </a:r>
          </a:p>
          <a:p>
            <a:pPr lvl="2"/>
            <a:r>
              <a:rPr lang="en-US" dirty="0"/>
              <a:t>Invalidation (PUSH, DELETE,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This is why when you refresh email you </a:t>
            </a:r>
          </a:p>
          <a:p>
            <a:pPr marL="0" indent="0">
              <a:buNone/>
            </a:pPr>
            <a:r>
              <a:rPr lang="en-US" dirty="0"/>
              <a:t>     only have to download new emails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F44E16-C583-45DB-BBFD-96652661B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936" y="1519622"/>
            <a:ext cx="6031801" cy="511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685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C1B9-92AD-4FC3-98CB-C719D56C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AACDF-A8FF-4405-B828-E474C59CB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Organize information flow in a hierarchical manner to reduce redundancy and limit data transfer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230994-711C-4951-9127-A7BAD6F5599B}"/>
              </a:ext>
            </a:extLst>
          </p:cNvPr>
          <p:cNvSpPr/>
          <p:nvPr/>
        </p:nvSpPr>
        <p:spPr>
          <a:xfrm>
            <a:off x="816864" y="3255292"/>
            <a:ext cx="1792224" cy="52425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65FDAE0-FC7B-42FB-B2DF-EB1A48B10DE2}"/>
              </a:ext>
            </a:extLst>
          </p:cNvPr>
          <p:cNvCxnSpPr>
            <a:stCxn id="4" idx="3"/>
          </p:cNvCxnSpPr>
          <p:nvPr/>
        </p:nvCxnSpPr>
        <p:spPr>
          <a:xfrm>
            <a:off x="2609088" y="3517420"/>
            <a:ext cx="19872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EBAE64-705B-433C-AC0C-613811B9F014}"/>
              </a:ext>
            </a:extLst>
          </p:cNvPr>
          <p:cNvSpPr txBox="1"/>
          <p:nvPr/>
        </p:nvSpPr>
        <p:spPr>
          <a:xfrm>
            <a:off x="2609088" y="3126257"/>
            <a:ext cx="1121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n-lt"/>
              </a:rPr>
              <a:t>Query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7A6998-D204-43FA-8159-82E4FA2D05EF}"/>
              </a:ext>
            </a:extLst>
          </p:cNvPr>
          <p:cNvCxnSpPr/>
          <p:nvPr/>
        </p:nvCxnSpPr>
        <p:spPr>
          <a:xfrm>
            <a:off x="3730752" y="1795305"/>
            <a:ext cx="0" cy="4360660"/>
          </a:xfrm>
          <a:prstGeom prst="line">
            <a:avLst/>
          </a:prstGeom>
          <a:ln>
            <a:prstDash val="lgDashDot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A7F3269-74D1-449C-B6D5-723184C32296}"/>
              </a:ext>
            </a:extLst>
          </p:cNvPr>
          <p:cNvSpPr/>
          <p:nvPr/>
        </p:nvSpPr>
        <p:spPr>
          <a:xfrm>
            <a:off x="4626864" y="3255292"/>
            <a:ext cx="1792224" cy="524256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Gateway Cache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145507-998D-4160-938C-7120597F601A}"/>
              </a:ext>
            </a:extLst>
          </p:cNvPr>
          <p:cNvCxnSpPr/>
          <p:nvPr/>
        </p:nvCxnSpPr>
        <p:spPr>
          <a:xfrm>
            <a:off x="7412736" y="1785137"/>
            <a:ext cx="0" cy="4360660"/>
          </a:xfrm>
          <a:prstGeom prst="line">
            <a:avLst/>
          </a:prstGeom>
          <a:ln>
            <a:prstDash val="lgDashDot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F7FFD11-4231-4355-ABF0-7F47BFC8FD2B}"/>
              </a:ext>
            </a:extLst>
          </p:cNvPr>
          <p:cNvCxnSpPr/>
          <p:nvPr/>
        </p:nvCxnSpPr>
        <p:spPr>
          <a:xfrm>
            <a:off x="6419088" y="4862584"/>
            <a:ext cx="19872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760441C-95F6-4566-9FED-5E2196247F60}"/>
              </a:ext>
            </a:extLst>
          </p:cNvPr>
          <p:cNvSpPr/>
          <p:nvPr/>
        </p:nvSpPr>
        <p:spPr>
          <a:xfrm>
            <a:off x="8437656" y="4600456"/>
            <a:ext cx="1792224" cy="52425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Database Server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86FF79-DF1D-499A-B9A4-E59BAC768BEC}"/>
              </a:ext>
            </a:extLst>
          </p:cNvPr>
          <p:cNvSpPr/>
          <p:nvPr/>
        </p:nvSpPr>
        <p:spPr>
          <a:xfrm>
            <a:off x="4626864" y="4600456"/>
            <a:ext cx="1792224" cy="524256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Load Balancer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4C2501-5BAD-4219-AE78-3B93332A5D51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5522976" y="3779548"/>
            <a:ext cx="0" cy="8209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9B83EE1-A453-4B6C-AA0E-45A15CC53549}"/>
              </a:ext>
            </a:extLst>
          </p:cNvPr>
          <p:cNvSpPr txBox="1"/>
          <p:nvPr/>
        </p:nvSpPr>
        <p:spPr>
          <a:xfrm>
            <a:off x="1152143" y="5632442"/>
            <a:ext cx="1261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n-lt"/>
              </a:rPr>
              <a:t>Computer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D7F46D-F07E-4536-AAD8-6F5831D4BCD5}"/>
              </a:ext>
            </a:extLst>
          </p:cNvPr>
          <p:cNvSpPr txBox="1"/>
          <p:nvPr/>
        </p:nvSpPr>
        <p:spPr>
          <a:xfrm>
            <a:off x="4683256" y="5632442"/>
            <a:ext cx="1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n-lt"/>
              </a:rPr>
              <a:t>Web container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D95F9D-971F-45A4-9D72-0FBF0FD80866}"/>
              </a:ext>
            </a:extLst>
          </p:cNvPr>
          <p:cNvSpPr txBox="1"/>
          <p:nvPr/>
        </p:nvSpPr>
        <p:spPr>
          <a:xfrm>
            <a:off x="8494048" y="5632442"/>
            <a:ext cx="167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n-lt"/>
              </a:rPr>
              <a:t>Database</a:t>
            </a:r>
          </a:p>
        </p:txBody>
      </p:sp>
    </p:spTree>
    <p:extLst>
      <p:ext uri="{BB962C8B-B14F-4D97-AF65-F5344CB8AC3E}">
        <p14:creationId xmlns:p14="http://schemas.microsoft.com/office/powerpoint/2010/main" val="26958850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3" grpId="0" animBg="1"/>
      <p:bldP spid="14" grpId="0" animBg="1"/>
      <p:bldP spid="18" grpId="0"/>
      <p:bldP spid="19" grpId="0"/>
      <p:bldP spid="2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C1B9-92AD-4FC3-98CB-C719D56C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Unified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AACDF-A8FF-4405-B828-E474C59CB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 methods allow to query external webservices</a:t>
            </a:r>
          </a:p>
          <a:p>
            <a:pPr lvl="2"/>
            <a:r>
              <a:rPr lang="en-US" dirty="0"/>
              <a:t>HTTP GET</a:t>
            </a:r>
          </a:p>
          <a:p>
            <a:pPr lvl="2"/>
            <a:r>
              <a:rPr lang="en-US" dirty="0"/>
              <a:t>HTTP POST</a:t>
            </a:r>
          </a:p>
          <a:p>
            <a:pPr lvl="2"/>
            <a:r>
              <a:rPr lang="en-US" dirty="0"/>
              <a:t>HTTP PUT</a:t>
            </a:r>
          </a:p>
          <a:p>
            <a:pPr lvl="2"/>
            <a:r>
              <a:rPr lang="en-US" dirty="0"/>
              <a:t>HTTP DELETE</a:t>
            </a:r>
          </a:p>
          <a:p>
            <a:pPr lvl="2"/>
            <a:r>
              <a:rPr lang="en-US" dirty="0"/>
              <a:t>HTTP PATCH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Return code corresponding to error</a:t>
            </a:r>
          </a:p>
          <a:p>
            <a:pPr lvl="2"/>
            <a:r>
              <a:rPr lang="en-US" dirty="0"/>
              <a:t>200 Found</a:t>
            </a:r>
          </a:p>
          <a:p>
            <a:pPr lvl="2"/>
            <a:r>
              <a:rPr lang="en-US" dirty="0"/>
              <a:t>201 Created</a:t>
            </a:r>
          </a:p>
          <a:p>
            <a:pPr lvl="2"/>
            <a:r>
              <a:rPr lang="en-US" dirty="0"/>
              <a:t>404 Not Found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892786-AFF0-479F-8DC6-5CDE6F91A5FE}"/>
              </a:ext>
            </a:extLst>
          </p:cNvPr>
          <p:cNvSpPr/>
          <p:nvPr/>
        </p:nvSpPr>
        <p:spPr>
          <a:xfrm>
            <a:off x="4089323" y="3517420"/>
            <a:ext cx="49648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n-lt"/>
              </a:rPr>
              <a:t>HTTP GET http://www.appdomain.com/users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CE7DD4-00C6-4B11-961D-AA257462690D}"/>
              </a:ext>
            </a:extLst>
          </p:cNvPr>
          <p:cNvSpPr/>
          <p:nvPr/>
        </p:nvSpPr>
        <p:spPr>
          <a:xfrm>
            <a:off x="2584704" y="1434168"/>
            <a:ext cx="10972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- Read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3A2BCE-759E-4CD1-831C-785C4AFAE395}"/>
              </a:ext>
            </a:extLst>
          </p:cNvPr>
          <p:cNvSpPr/>
          <p:nvPr/>
        </p:nvSpPr>
        <p:spPr>
          <a:xfrm>
            <a:off x="2700528" y="1779116"/>
            <a:ext cx="10972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- Create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3FA53B-1C58-407B-9748-2E001B29610C}"/>
              </a:ext>
            </a:extLst>
          </p:cNvPr>
          <p:cNvSpPr/>
          <p:nvPr/>
        </p:nvSpPr>
        <p:spPr>
          <a:xfrm>
            <a:off x="2584704" y="2148128"/>
            <a:ext cx="12131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- Update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657FF1-C323-4501-B74E-CEFCFC535EE6}"/>
              </a:ext>
            </a:extLst>
          </p:cNvPr>
          <p:cNvSpPr/>
          <p:nvPr/>
        </p:nvSpPr>
        <p:spPr>
          <a:xfrm>
            <a:off x="3075432" y="2537403"/>
            <a:ext cx="13258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- Remove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A67333-A4D5-4361-B155-72093109BE71}"/>
              </a:ext>
            </a:extLst>
          </p:cNvPr>
          <p:cNvSpPr/>
          <p:nvPr/>
        </p:nvSpPr>
        <p:spPr>
          <a:xfrm>
            <a:off x="2898648" y="2857459"/>
            <a:ext cx="20269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- Partial Update</a:t>
            </a:r>
          </a:p>
        </p:txBody>
      </p:sp>
    </p:spTree>
    <p:extLst>
      <p:ext uri="{BB962C8B-B14F-4D97-AF65-F5344CB8AC3E}">
        <p14:creationId xmlns:p14="http://schemas.microsoft.com/office/powerpoint/2010/main" val="4747981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8" grpId="0"/>
      <p:bldP spid="9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KCL UPDATE v4 4x3">
  <a:themeElements>
    <a:clrScheme name="KCL">
      <a:dk1>
        <a:sysClr val="windowText" lastClr="000000"/>
      </a:dk1>
      <a:lt1>
        <a:sysClr val="window" lastClr="FFFFFF"/>
      </a:lt1>
      <a:dk2>
        <a:srgbClr val="0A2D50"/>
      </a:dk2>
      <a:lt2>
        <a:srgbClr val="CDD7DC"/>
      </a:lt2>
      <a:accent1>
        <a:srgbClr val="E2231A"/>
      </a:accent1>
      <a:accent2>
        <a:srgbClr val="FF5F05"/>
      </a:accent2>
      <a:accent3>
        <a:srgbClr val="F5B90F"/>
      </a:accent3>
      <a:accent4>
        <a:srgbClr val="C8E128"/>
      </a:accent4>
      <a:accent5>
        <a:srgbClr val="009EA0"/>
      </a:accent5>
      <a:accent6>
        <a:srgbClr val="005AD2"/>
      </a:accent6>
      <a:hlink>
        <a:srgbClr val="E2231A"/>
      </a:hlink>
      <a:folHlink>
        <a:srgbClr val="E2231A"/>
      </a:folHlink>
    </a:clrScheme>
    <a:fontScheme name="KCL-fonts">
      <a:majorFont>
        <a:latin typeface="Impact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80815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07MRI007_SoftConstraints</Template>
  <TotalTime>2347</TotalTime>
  <Words>3759</Words>
  <Application>Microsoft Office PowerPoint</Application>
  <PresentationFormat>Widescreen</PresentationFormat>
  <Paragraphs>529</Paragraphs>
  <Slides>42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Calibri</vt:lpstr>
      <vt:lpstr>Courier New</vt:lpstr>
      <vt:lpstr>Georgia</vt:lpstr>
      <vt:lpstr>Impact</vt:lpstr>
      <vt:lpstr>Wingdings</vt:lpstr>
      <vt:lpstr>KCL UPDATE v4 4x3</vt:lpstr>
      <vt:lpstr>PowerPoint Presentation</vt:lpstr>
      <vt:lpstr>Application Programming Interface (API)</vt:lpstr>
      <vt:lpstr>Application Programming Interface</vt:lpstr>
      <vt:lpstr>Functions</vt:lpstr>
      <vt:lpstr>Functions</vt:lpstr>
      <vt:lpstr>Functions</vt:lpstr>
      <vt:lpstr>Functions</vt:lpstr>
      <vt:lpstr>Functions</vt:lpstr>
      <vt:lpstr>User Interface</vt:lpstr>
      <vt:lpstr>User Interface</vt:lpstr>
      <vt:lpstr>User Interface</vt:lpstr>
      <vt:lpstr>User Interface</vt:lpstr>
      <vt:lpstr>User Interface</vt:lpstr>
      <vt:lpstr>User Interface – Callbacks</vt:lpstr>
      <vt:lpstr>User Interface – Callbacks</vt:lpstr>
      <vt:lpstr>User Interface – Signal/Slot Interface</vt:lpstr>
      <vt:lpstr>User Interface – Signal/Slot Interface</vt:lpstr>
      <vt:lpstr>User Interface – Signal/Slot Interface</vt:lpstr>
      <vt:lpstr>User Interface – Signal/Slot Interface</vt:lpstr>
      <vt:lpstr>User Interface – Signal/Slot Interface</vt:lpstr>
      <vt:lpstr>User Interface – Signal/Slot Interface</vt:lpstr>
      <vt:lpstr>User Interface – Signal/Slot Interface</vt:lpstr>
      <vt:lpstr>User Interface – Signal/Slot Interface</vt:lpstr>
      <vt:lpstr>User Interface – Signal/Slot Interface</vt:lpstr>
      <vt:lpstr>User Interface – Signal/Slot Interface</vt:lpstr>
      <vt:lpstr>Qt User Interface – The Hard Way (i.e. coding)</vt:lpstr>
      <vt:lpstr>Qt User Interface – The “Easier” Way (i.e. Qt Designer)</vt:lpstr>
      <vt:lpstr>Qt User Interface – The “Easier” Way (i.e. Qt Designer)</vt:lpstr>
      <vt:lpstr>Qt User Interface – The “Easier” Way (i.e. Qt Designer)</vt:lpstr>
      <vt:lpstr>Qt User Interface – The “Easier” Way (i.e. Qt Designer)</vt:lpstr>
      <vt:lpstr>Qt User Interface – The “Easier” Way (i.e. Qt Designer)</vt:lpstr>
      <vt:lpstr>Qt User Interface – The “Easier” Way (i.e. Qt Designer)</vt:lpstr>
      <vt:lpstr>Qt User Interface – The “Easier” Way (i.e. Qt Designer)</vt:lpstr>
      <vt:lpstr>Qt User Interface – The “Easier” Way (i.e. Qt Designer)</vt:lpstr>
      <vt:lpstr>User Interface – Signal/Slot Interface</vt:lpstr>
      <vt:lpstr>Representational state transfer (REST) API</vt:lpstr>
      <vt:lpstr>Representational state transfer (REST) API</vt:lpstr>
      <vt:lpstr>Client-Server Framework</vt:lpstr>
      <vt:lpstr>Stateless</vt:lpstr>
      <vt:lpstr>Cacheability</vt:lpstr>
      <vt:lpstr>Layered System</vt:lpstr>
      <vt:lpstr>Unified Interface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Rachel Sparks</dc:creator>
  <cp:lastModifiedBy>Rachel Sparks</cp:lastModifiedBy>
  <cp:revision>129</cp:revision>
  <dcterms:created xsi:type="dcterms:W3CDTF">2020-02-02T13:28:13Z</dcterms:created>
  <dcterms:modified xsi:type="dcterms:W3CDTF">2024-02-04T12:14:30Z</dcterms:modified>
</cp:coreProperties>
</file>