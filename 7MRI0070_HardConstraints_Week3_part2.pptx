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89" r:id="rId2"/>
    <p:sldId id="309" r:id="rId3"/>
    <p:sldId id="329" r:id="rId4"/>
    <p:sldId id="263" r:id="rId5"/>
    <p:sldId id="310" r:id="rId6"/>
    <p:sldId id="311" r:id="rId7"/>
    <p:sldId id="312" r:id="rId8"/>
    <p:sldId id="330" r:id="rId9"/>
    <p:sldId id="273" r:id="rId10"/>
    <p:sldId id="315" r:id="rId11"/>
    <p:sldId id="313" r:id="rId12"/>
    <p:sldId id="314" r:id="rId13"/>
    <p:sldId id="316" r:id="rId14"/>
    <p:sldId id="318" r:id="rId15"/>
    <p:sldId id="317" r:id="rId16"/>
    <p:sldId id="328" r:id="rId17"/>
    <p:sldId id="269" r:id="rId18"/>
    <p:sldId id="267" r:id="rId19"/>
    <p:sldId id="321" r:id="rId20"/>
    <p:sldId id="268" r:id="rId21"/>
    <p:sldId id="319" r:id="rId22"/>
    <p:sldId id="320" r:id="rId23"/>
    <p:sldId id="270" r:id="rId24"/>
    <p:sldId id="322" r:id="rId25"/>
    <p:sldId id="323" r:id="rId26"/>
    <p:sldId id="324" r:id="rId27"/>
    <p:sldId id="325" r:id="rId28"/>
    <p:sldId id="326" r:id="rId29"/>
    <p:sldId id="327" r:id="rId3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94379069-B19A-4191-8371-FC13C2F1C406}">
          <p14:sldIdLst>
            <p14:sldId id="289"/>
            <p14:sldId id="309"/>
            <p14:sldId id="329"/>
          </p14:sldIdLst>
        </p14:section>
        <p14:section name="Data Representation" id="{8D92401B-D88C-4FA2-8567-B2B18702C3B7}">
          <p14:sldIdLst>
            <p14:sldId id="263"/>
            <p14:sldId id="310"/>
            <p14:sldId id="311"/>
            <p14:sldId id="312"/>
            <p14:sldId id="330"/>
            <p14:sldId id="273"/>
            <p14:sldId id="315"/>
            <p14:sldId id="313"/>
            <p14:sldId id="314"/>
            <p14:sldId id="316"/>
            <p14:sldId id="318"/>
            <p14:sldId id="317"/>
          </p14:sldIdLst>
        </p14:section>
        <p14:section name="Defining Robotic States" id="{D67FF7B4-EB6C-4CB6-AB52-4B3599268107}">
          <p14:sldIdLst>
            <p14:sldId id="328"/>
            <p14:sldId id="269"/>
            <p14:sldId id="267"/>
            <p14:sldId id="321"/>
            <p14:sldId id="268"/>
            <p14:sldId id="319"/>
            <p14:sldId id="320"/>
            <p14:sldId id="270"/>
            <p14:sldId id="322"/>
            <p14:sldId id="323"/>
          </p14:sldIdLst>
        </p14:section>
        <p14:section name="AccelerationTips&amp;Trick" id="{199BE772-BE15-49D6-B947-196D9AC74DD8}">
          <p14:sldIdLst>
            <p14:sldId id="324"/>
            <p14:sldId id="325"/>
            <p14:sldId id="326"/>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73261" autoAdjust="0"/>
  </p:normalViewPr>
  <p:slideViewPr>
    <p:cSldViewPr snapToGrid="0">
      <p:cViewPr varScale="1">
        <p:scale>
          <a:sx n="70" d="100"/>
          <a:sy n="70" d="100"/>
        </p:scale>
        <p:origin x="99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978F0-4EB1-47B4-94D6-63242AF9AE16}" type="datetimeFigureOut">
              <a:rPr lang="en-US" smtClean="0"/>
              <a:t>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9732A-81CA-47F6-B652-1634EDF27A67}" type="slidenum">
              <a:rPr lang="en-US" smtClean="0"/>
              <a:t>‹#›</a:t>
            </a:fld>
            <a:endParaRPr lang="en-US"/>
          </a:p>
        </p:txBody>
      </p:sp>
    </p:spTree>
    <p:extLst>
      <p:ext uri="{BB962C8B-B14F-4D97-AF65-F5344CB8AC3E}">
        <p14:creationId xmlns:p14="http://schemas.microsoft.com/office/powerpoint/2010/main" val="48979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i.org/10.1111/j.1467-8659.2004.00788.x"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i.org/10.1111/j.1467-8659.2004.00788.x"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i.org/10.1111/j.1467-8659.2004.00788.x"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i.org/10.1177/0278364906065388"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i.org/10.1177/0278364906065388"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elements to design – the robot and the images</a:t>
            </a:r>
          </a:p>
          <a:p>
            <a:r>
              <a:rPr lang="en-US" dirty="0"/>
              <a:t>Hence B is where we should focus our efforts as it is going to give us bigger gains.</a:t>
            </a:r>
          </a:p>
        </p:txBody>
      </p:sp>
      <p:sp>
        <p:nvSpPr>
          <p:cNvPr id="4" name="Slide Number Placeholder 3"/>
          <p:cNvSpPr>
            <a:spLocks noGrp="1"/>
          </p:cNvSpPr>
          <p:nvPr>
            <p:ph type="sldNum" sz="quarter" idx="5"/>
          </p:nvPr>
        </p:nvSpPr>
        <p:spPr/>
        <p:txBody>
          <a:bodyPr/>
          <a:lstStyle/>
          <a:p>
            <a:fld id="{5B076DC6-364D-4413-A04A-9EF1D45A7101}" type="slidenum">
              <a:rPr lang="en-GB" smtClean="0"/>
              <a:t>2</a:t>
            </a:fld>
            <a:endParaRPr lang="en-GB"/>
          </a:p>
        </p:txBody>
      </p:sp>
    </p:spTree>
    <p:extLst>
      <p:ext uri="{BB962C8B-B14F-4D97-AF65-F5344CB8AC3E}">
        <p14:creationId xmlns:p14="http://schemas.microsoft.com/office/powerpoint/2010/main" val="3949502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elements to design – the robot and the images</a:t>
            </a:r>
          </a:p>
          <a:p>
            <a:r>
              <a:rPr lang="en-US" dirty="0"/>
              <a:t>Hence B is where we should focus our efforts as it is going to give us bigger gains.</a:t>
            </a:r>
          </a:p>
        </p:txBody>
      </p:sp>
      <p:sp>
        <p:nvSpPr>
          <p:cNvPr id="4" name="Slide Number Placeholder 3"/>
          <p:cNvSpPr>
            <a:spLocks noGrp="1"/>
          </p:cNvSpPr>
          <p:nvPr>
            <p:ph type="sldNum" sz="quarter" idx="5"/>
          </p:nvPr>
        </p:nvSpPr>
        <p:spPr/>
        <p:txBody>
          <a:bodyPr/>
          <a:lstStyle/>
          <a:p>
            <a:fld id="{5B076DC6-364D-4413-A04A-9EF1D45A7101}" type="slidenum">
              <a:rPr lang="en-GB" smtClean="0"/>
              <a:t>3</a:t>
            </a:fld>
            <a:endParaRPr lang="en-GB"/>
          </a:p>
        </p:txBody>
      </p:sp>
    </p:spTree>
    <p:extLst>
      <p:ext uri="{BB962C8B-B14F-4D97-AF65-F5344CB8AC3E}">
        <p14:creationId xmlns:p14="http://schemas.microsoft.com/office/powerpoint/2010/main" val="1801086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Using images as a LUT directly</a:t>
            </a:r>
            <a:r>
              <a:rPr lang="en-GB" baseline="0" dirty="0"/>
              <a:t> is the simplest approach. However, be aware of the stair casing effect – where your scene representation is essential built up of “cubes” (voxels). This leads to inaccuracies in collision detection that can be on the order of +/- voxel size.  </a:t>
            </a:r>
            <a:endParaRPr lang="en-GB" dirty="0"/>
          </a:p>
        </p:txBody>
      </p:sp>
      <p:sp>
        <p:nvSpPr>
          <p:cNvPr id="4" name="Slide Number Placeholder 3"/>
          <p:cNvSpPr>
            <a:spLocks noGrp="1"/>
          </p:cNvSpPr>
          <p:nvPr>
            <p:ph type="sldNum" sz="quarter" idx="10"/>
          </p:nvPr>
        </p:nvSpPr>
        <p:spPr/>
        <p:txBody>
          <a:bodyPr/>
          <a:lstStyle/>
          <a:p>
            <a:fld id="{5B076DC6-364D-4413-A04A-9EF1D45A7101}" type="slidenum">
              <a:rPr lang="en-GB" smtClean="0"/>
              <a:t>4</a:t>
            </a:fld>
            <a:endParaRPr lang="en-GB"/>
          </a:p>
        </p:txBody>
      </p:sp>
    </p:spTree>
    <p:extLst>
      <p:ext uri="{BB962C8B-B14F-4D97-AF65-F5344CB8AC3E}">
        <p14:creationId xmlns:p14="http://schemas.microsoft.com/office/powerpoint/2010/main" val="3596331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 It might not be the case for very disperse objects like blood vessels so if you really want to pick the best options check with some use cases!</a:t>
            </a:r>
          </a:p>
        </p:txBody>
      </p:sp>
      <p:sp>
        <p:nvSpPr>
          <p:cNvPr id="4" name="Slide Number Placeholder 3"/>
          <p:cNvSpPr>
            <a:spLocks noGrp="1"/>
          </p:cNvSpPr>
          <p:nvPr>
            <p:ph type="sldNum" sz="quarter" idx="5"/>
          </p:nvPr>
        </p:nvSpPr>
        <p:spPr/>
        <p:txBody>
          <a:bodyPr/>
          <a:lstStyle/>
          <a:p>
            <a:fld id="{50D9732A-81CA-47F6-B652-1634EDF27A67}" type="slidenum">
              <a:rPr lang="en-US" smtClean="0"/>
              <a:t>5</a:t>
            </a:fld>
            <a:endParaRPr lang="en-US"/>
          </a:p>
        </p:txBody>
      </p:sp>
    </p:spTree>
    <p:extLst>
      <p:ext uri="{BB962C8B-B14F-4D97-AF65-F5344CB8AC3E}">
        <p14:creationId xmlns:p14="http://schemas.microsoft.com/office/powerpoint/2010/main" val="375776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note here if you look at the other types of tree I take you to the abstract base class. This is a class you cannot use directly but forces certain </a:t>
            </a:r>
            <a:r>
              <a:rPr lang="en-US" dirty="0" err="1"/>
              <a:t>behaviours</a:t>
            </a:r>
            <a:r>
              <a:rPr lang="en-US" dirty="0"/>
              <a:t> (i.e. FUNCTIONS) for all children classes.</a:t>
            </a:r>
          </a:p>
          <a:p>
            <a:endParaRPr lang="en-US" dirty="0"/>
          </a:p>
          <a:p>
            <a:r>
              <a:rPr lang="en-US" dirty="0"/>
              <a:t>Here we can the </a:t>
            </a:r>
            <a:r>
              <a:rPr lang="en-US" dirty="0" err="1"/>
              <a:t>abstractcelllocator</a:t>
            </a:r>
            <a:r>
              <a:rPr lang="en-US" dirty="0"/>
              <a:t> forces its children to define the idea of intersection, inside, etc. which are all the functions we want to use for our criteria in tutorial. You can always click on the individual children to see how each specific algorithm works and try them out for yourself.</a:t>
            </a:r>
          </a:p>
        </p:txBody>
      </p:sp>
      <p:sp>
        <p:nvSpPr>
          <p:cNvPr id="4" name="Slide Number Placeholder 3"/>
          <p:cNvSpPr>
            <a:spLocks noGrp="1"/>
          </p:cNvSpPr>
          <p:nvPr>
            <p:ph type="sldNum" sz="quarter" idx="5"/>
          </p:nvPr>
        </p:nvSpPr>
        <p:spPr/>
        <p:txBody>
          <a:bodyPr/>
          <a:lstStyle/>
          <a:p>
            <a:fld id="{50D9732A-81CA-47F6-B652-1634EDF27A67}" type="slidenum">
              <a:rPr lang="en-US" smtClean="0"/>
              <a:t>8</a:t>
            </a:fld>
            <a:endParaRPr lang="en-US"/>
          </a:p>
        </p:txBody>
      </p:sp>
    </p:spTree>
    <p:extLst>
      <p:ext uri="{BB962C8B-B14F-4D97-AF65-F5344CB8AC3E}">
        <p14:creationId xmlns:p14="http://schemas.microsoft.com/office/powerpoint/2010/main" val="1764079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Lightweight both in memory (only need to store points) and high in accuracy</a:t>
            </a:r>
            <a:r>
              <a:rPr lang="en-GB" baseline="0" dirty="0"/>
              <a:t> we can define “implicit” surfaces using sets of points to define an </a:t>
            </a:r>
            <a:r>
              <a:rPr lang="en-GB" baseline="0" dirty="0" err="1"/>
              <a:t>iso</a:t>
            </a:r>
            <a:r>
              <a:rPr lang="en-GB" baseline="0" dirty="0"/>
              <a:t> surface. The biggest downside is algorithmically this is challenging and can be computationally heavy to define an </a:t>
            </a:r>
            <a:r>
              <a:rPr lang="en-GB" baseline="0" dirty="0" err="1"/>
              <a:t>isosurface</a:t>
            </a:r>
            <a:r>
              <a:rPr lang="en-GB" baseline="0" dirty="0"/>
              <a:t> if you are using a large set of spline functions</a:t>
            </a:r>
          </a:p>
          <a:p>
            <a:endParaRPr lang="en-GB" baseline="0" dirty="0"/>
          </a:p>
          <a:p>
            <a:r>
              <a:rPr lang="en-GB" baseline="0" dirty="0"/>
              <a:t>NURBS collision detection: </a:t>
            </a:r>
            <a:r>
              <a:rPr lang="en-US" dirty="0"/>
              <a:t>F. Page and F. </a:t>
            </a:r>
            <a:r>
              <a:rPr lang="en-US" dirty="0" err="1"/>
              <a:t>Guibault</a:t>
            </a:r>
            <a:r>
              <a:rPr lang="en-US" dirty="0"/>
              <a:t>, "Collision detection algorithm for NURBS surfaces in interactive applications," </a:t>
            </a:r>
            <a:r>
              <a:rPr lang="en-US" i="1" dirty="0"/>
              <a:t>CCECE 2003 - Canadian Conference on Electrical and Computer Engineering. Toward a Caring and Humane Technology (Cat. No.03CH37436)</a:t>
            </a:r>
            <a:r>
              <a:rPr lang="en-US" dirty="0"/>
              <a:t>, Montreal, Quebec, Canada, 2003, pp. 1417-1420 vol.2.</a:t>
            </a:r>
          </a:p>
          <a:p>
            <a:endParaRPr lang="en-US" dirty="0"/>
          </a:p>
          <a:p>
            <a:r>
              <a:rPr lang="en-US" dirty="0"/>
              <a:t>T. </a:t>
            </a:r>
            <a:r>
              <a:rPr lang="en-US" dirty="0" err="1"/>
              <a:t>Sederberg</a:t>
            </a:r>
            <a:r>
              <a:rPr lang="en-US" dirty="0"/>
              <a:t> and R. </a:t>
            </a:r>
            <a:r>
              <a:rPr lang="en-US" dirty="0" err="1"/>
              <a:t>Farouki</a:t>
            </a:r>
            <a:r>
              <a:rPr lang="en-US" dirty="0"/>
              <a:t>, "Approximation by interval Bezier curves" in </a:t>
            </a:r>
            <a:r>
              <a:rPr lang="en-US" i="1" dirty="0"/>
              <a:t>IEEE Computer Graphics and Applications</a:t>
            </a:r>
            <a:r>
              <a:rPr lang="en-US" dirty="0"/>
              <a:t>, vol. 12, no. 05, pp. 87,88,89,90,91,92,93,94,95, 1992.</a:t>
            </a:r>
            <a:endParaRPr lang="en-GB" dirty="0"/>
          </a:p>
        </p:txBody>
      </p:sp>
      <p:sp>
        <p:nvSpPr>
          <p:cNvPr id="4" name="Slide Number Placeholder 3"/>
          <p:cNvSpPr>
            <a:spLocks noGrp="1"/>
          </p:cNvSpPr>
          <p:nvPr>
            <p:ph type="sldNum" sz="quarter" idx="10"/>
          </p:nvPr>
        </p:nvSpPr>
        <p:spPr/>
        <p:txBody>
          <a:bodyPr/>
          <a:lstStyle/>
          <a:p>
            <a:fld id="{5B076DC6-364D-4413-A04A-9EF1D45A7101}" type="slidenum">
              <a:rPr lang="en-GB" smtClean="0"/>
              <a:t>9</a:t>
            </a:fld>
            <a:endParaRPr lang="en-GB"/>
          </a:p>
        </p:txBody>
      </p:sp>
    </p:spTree>
    <p:extLst>
      <p:ext uri="{BB962C8B-B14F-4D97-AF65-F5344CB8AC3E}">
        <p14:creationId xmlns:p14="http://schemas.microsoft.com/office/powerpoint/2010/main" val="4133679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Lightweight both in memory (only need to store points) and high in accuracy</a:t>
            </a:r>
            <a:r>
              <a:rPr lang="en-GB" baseline="0" dirty="0"/>
              <a:t> we can define “implicit” surfaces using sets of points to define an </a:t>
            </a:r>
            <a:r>
              <a:rPr lang="en-GB" baseline="0" dirty="0" err="1"/>
              <a:t>iso</a:t>
            </a:r>
            <a:r>
              <a:rPr lang="en-GB" baseline="0" dirty="0"/>
              <a:t> surface. The biggest downside is algorithmically this is challenging and can be computationally heavy to define an </a:t>
            </a:r>
            <a:r>
              <a:rPr lang="en-GB" baseline="0" dirty="0" err="1"/>
              <a:t>isosurface</a:t>
            </a:r>
            <a:r>
              <a:rPr lang="en-GB" baseline="0" dirty="0"/>
              <a:t> if you are using a large set of spline functions</a:t>
            </a:r>
          </a:p>
          <a:p>
            <a:endParaRPr lang="en-GB" baseline="0" dirty="0"/>
          </a:p>
          <a:p>
            <a:r>
              <a:rPr lang="en-GB" baseline="0" dirty="0"/>
              <a:t>NURBS collision detection: </a:t>
            </a:r>
            <a:r>
              <a:rPr lang="en-US" dirty="0"/>
              <a:t>F. Page and F. </a:t>
            </a:r>
            <a:r>
              <a:rPr lang="en-US" dirty="0" err="1"/>
              <a:t>Guibault</a:t>
            </a:r>
            <a:r>
              <a:rPr lang="en-US" dirty="0"/>
              <a:t>, "Collision detection algorithm for NURBS surfaces in interactive applications," </a:t>
            </a:r>
            <a:r>
              <a:rPr lang="en-US" i="1" dirty="0"/>
              <a:t>CCECE 2003 - Canadian Conference on Electrical and Computer Engineering. Toward a Caring and Humane Technology (Cat. No.03CH37436)</a:t>
            </a:r>
            <a:r>
              <a:rPr lang="en-US" dirty="0"/>
              <a:t>, Montreal, Quebec, Canada, 2003, pp. 1417-1420 vol.2.</a:t>
            </a:r>
          </a:p>
          <a:p>
            <a:endParaRPr lang="en-US" dirty="0"/>
          </a:p>
          <a:p>
            <a:r>
              <a:rPr lang="en-US" dirty="0"/>
              <a:t>T. </a:t>
            </a:r>
            <a:r>
              <a:rPr lang="en-US" dirty="0" err="1"/>
              <a:t>Sederberg</a:t>
            </a:r>
            <a:r>
              <a:rPr lang="en-US" dirty="0"/>
              <a:t> and R. </a:t>
            </a:r>
            <a:r>
              <a:rPr lang="en-US" dirty="0" err="1"/>
              <a:t>Farouki</a:t>
            </a:r>
            <a:r>
              <a:rPr lang="en-US" dirty="0"/>
              <a:t>, "Approximation by interval Bezier curves" in </a:t>
            </a:r>
            <a:r>
              <a:rPr lang="en-US" i="1" dirty="0"/>
              <a:t>IEEE Computer Graphics and Applications</a:t>
            </a:r>
            <a:r>
              <a:rPr lang="en-US" dirty="0"/>
              <a:t>, vol. 12, no. 05, pp. 87,88,89,90,91,92,93,94,95, 1992.</a:t>
            </a:r>
            <a:endParaRPr lang="en-GB" dirty="0"/>
          </a:p>
        </p:txBody>
      </p:sp>
      <p:sp>
        <p:nvSpPr>
          <p:cNvPr id="4" name="Slide Number Placeholder 3"/>
          <p:cNvSpPr>
            <a:spLocks noGrp="1"/>
          </p:cNvSpPr>
          <p:nvPr>
            <p:ph type="sldNum" sz="quarter" idx="10"/>
          </p:nvPr>
        </p:nvSpPr>
        <p:spPr/>
        <p:txBody>
          <a:bodyPr/>
          <a:lstStyle/>
          <a:p>
            <a:fld id="{5B076DC6-364D-4413-A04A-9EF1D45A7101}" type="slidenum">
              <a:rPr lang="en-GB" smtClean="0"/>
              <a:t>10</a:t>
            </a:fld>
            <a:endParaRPr lang="en-GB"/>
          </a:p>
        </p:txBody>
      </p:sp>
    </p:spTree>
    <p:extLst>
      <p:ext uri="{BB962C8B-B14F-4D97-AF65-F5344CB8AC3E}">
        <p14:creationId xmlns:p14="http://schemas.microsoft.com/office/powerpoint/2010/main" val="498572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Wolfgang Boehm, Andreas Müller. On de </a:t>
            </a:r>
            <a:r>
              <a:rPr lang="en-US" dirty="0" err="1"/>
              <a:t>Casteljau's</a:t>
            </a:r>
            <a:r>
              <a:rPr lang="en-US" dirty="0"/>
              <a:t> algorithm. Computer Aided Geometric Design 16(7): 587-605, 1999.</a:t>
            </a:r>
          </a:p>
        </p:txBody>
      </p:sp>
      <p:sp>
        <p:nvSpPr>
          <p:cNvPr id="4" name="Slide Number Placeholder 3"/>
          <p:cNvSpPr>
            <a:spLocks noGrp="1"/>
          </p:cNvSpPr>
          <p:nvPr>
            <p:ph type="sldNum" sz="quarter" idx="5"/>
          </p:nvPr>
        </p:nvSpPr>
        <p:spPr/>
        <p:txBody>
          <a:bodyPr/>
          <a:lstStyle/>
          <a:p>
            <a:fld id="{5B076DC6-364D-4413-A04A-9EF1D45A7101}" type="slidenum">
              <a:rPr lang="en-GB" smtClean="0"/>
              <a:t>11</a:t>
            </a:fld>
            <a:endParaRPr lang="en-GB"/>
          </a:p>
        </p:txBody>
      </p:sp>
    </p:spTree>
    <p:extLst>
      <p:ext uri="{BB962C8B-B14F-4D97-AF65-F5344CB8AC3E}">
        <p14:creationId xmlns:p14="http://schemas.microsoft.com/office/powerpoint/2010/main" val="4191738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Klein, J. and </a:t>
            </a:r>
            <a:r>
              <a:rPr lang="en-US" dirty="0" err="1"/>
              <a:t>Zachmann</a:t>
            </a:r>
            <a:r>
              <a:rPr lang="en-US" dirty="0"/>
              <a:t>, G. (2004), Point Cloud Collision Detection. Computer Graphics Forum, 23: 567-576. doi:</a:t>
            </a:r>
            <a:r>
              <a:rPr lang="en-US" dirty="0">
                <a:hlinkClick r:id="rId3"/>
              </a:rPr>
              <a:t>10.1111/j.1467-8659.2004.00788.x</a:t>
            </a:r>
            <a:endParaRPr lang="en-US" dirty="0"/>
          </a:p>
          <a:p>
            <a:endParaRPr lang="en-US" dirty="0"/>
          </a:p>
        </p:txBody>
      </p:sp>
      <p:sp>
        <p:nvSpPr>
          <p:cNvPr id="4" name="Slide Number Placeholder 3"/>
          <p:cNvSpPr>
            <a:spLocks noGrp="1"/>
          </p:cNvSpPr>
          <p:nvPr>
            <p:ph type="sldNum" sz="quarter" idx="5"/>
          </p:nvPr>
        </p:nvSpPr>
        <p:spPr/>
        <p:txBody>
          <a:bodyPr/>
          <a:lstStyle/>
          <a:p>
            <a:fld id="{5B076DC6-364D-4413-A04A-9EF1D45A7101}" type="slidenum">
              <a:rPr lang="en-GB" smtClean="0"/>
              <a:t>12</a:t>
            </a:fld>
            <a:endParaRPr lang="en-GB"/>
          </a:p>
        </p:txBody>
      </p:sp>
    </p:spTree>
    <p:extLst>
      <p:ext uri="{BB962C8B-B14F-4D97-AF65-F5344CB8AC3E}">
        <p14:creationId xmlns:p14="http://schemas.microsoft.com/office/powerpoint/2010/main" val="1762729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Klein, J. and </a:t>
            </a:r>
            <a:r>
              <a:rPr lang="en-US" dirty="0" err="1"/>
              <a:t>Zachmann</a:t>
            </a:r>
            <a:r>
              <a:rPr lang="en-US" dirty="0"/>
              <a:t>, G. (2004), Point Cloud Collision Detection. Computer Graphics Forum, 23: 567-576. doi:</a:t>
            </a:r>
            <a:r>
              <a:rPr lang="en-US" dirty="0">
                <a:hlinkClick r:id="rId3"/>
              </a:rPr>
              <a:t>10.1111/j.1467-8659.2004.00788.x</a:t>
            </a:r>
            <a:endParaRPr lang="en-US" dirty="0"/>
          </a:p>
          <a:p>
            <a:endParaRPr lang="en-US" dirty="0"/>
          </a:p>
          <a:p>
            <a:r>
              <a:rPr lang="en-US" dirty="0"/>
              <a:t>Down side is based on your radius you will have some “error” where points very close to the surface i.e. with the radius will not be possible to distinguish from those on the surface.</a:t>
            </a:r>
          </a:p>
        </p:txBody>
      </p:sp>
      <p:sp>
        <p:nvSpPr>
          <p:cNvPr id="4" name="Slide Number Placeholder 3"/>
          <p:cNvSpPr>
            <a:spLocks noGrp="1"/>
          </p:cNvSpPr>
          <p:nvPr>
            <p:ph type="sldNum" sz="quarter" idx="5"/>
          </p:nvPr>
        </p:nvSpPr>
        <p:spPr/>
        <p:txBody>
          <a:bodyPr/>
          <a:lstStyle/>
          <a:p>
            <a:fld id="{5B076DC6-364D-4413-A04A-9EF1D45A7101}" type="slidenum">
              <a:rPr lang="en-GB" smtClean="0"/>
              <a:t>13</a:t>
            </a:fld>
            <a:endParaRPr lang="en-GB"/>
          </a:p>
        </p:txBody>
      </p:sp>
    </p:spTree>
    <p:extLst>
      <p:ext uri="{BB962C8B-B14F-4D97-AF65-F5344CB8AC3E}">
        <p14:creationId xmlns:p14="http://schemas.microsoft.com/office/powerpoint/2010/main" val="2828511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Klein, J. and </a:t>
            </a:r>
            <a:r>
              <a:rPr lang="en-US" dirty="0" err="1"/>
              <a:t>Zachmann</a:t>
            </a:r>
            <a:r>
              <a:rPr lang="en-US" dirty="0"/>
              <a:t>, G. (2004), Point Cloud Collision Detection. Computer Graphics Forum, 23: 567-576. doi:</a:t>
            </a:r>
            <a:r>
              <a:rPr lang="en-US" dirty="0">
                <a:hlinkClick r:id="rId3"/>
              </a:rPr>
              <a:t>10.1111/j.1467-8659.2004.00788.x</a:t>
            </a:r>
            <a:endParaRPr lang="en-US" dirty="0"/>
          </a:p>
          <a:p>
            <a:endParaRPr lang="en-US" dirty="0"/>
          </a:p>
        </p:txBody>
      </p:sp>
      <p:sp>
        <p:nvSpPr>
          <p:cNvPr id="4" name="Slide Number Placeholder 3"/>
          <p:cNvSpPr>
            <a:spLocks noGrp="1"/>
          </p:cNvSpPr>
          <p:nvPr>
            <p:ph type="sldNum" sz="quarter" idx="5"/>
          </p:nvPr>
        </p:nvSpPr>
        <p:spPr/>
        <p:txBody>
          <a:bodyPr/>
          <a:lstStyle/>
          <a:p>
            <a:fld id="{5B076DC6-364D-4413-A04A-9EF1D45A7101}" type="slidenum">
              <a:rPr lang="en-GB" smtClean="0"/>
              <a:t>15</a:t>
            </a:fld>
            <a:endParaRPr lang="en-GB"/>
          </a:p>
        </p:txBody>
      </p:sp>
    </p:spTree>
    <p:extLst>
      <p:ext uri="{BB962C8B-B14F-4D97-AF65-F5344CB8AC3E}">
        <p14:creationId xmlns:p14="http://schemas.microsoft.com/office/powerpoint/2010/main" val="3570805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elements to design – the robot and the images</a:t>
            </a:r>
          </a:p>
          <a:p>
            <a:r>
              <a:rPr lang="en-US" dirty="0"/>
              <a:t>Hence B is where we should focus our efforts as it is going to give us bigger gains.</a:t>
            </a:r>
          </a:p>
        </p:txBody>
      </p:sp>
      <p:sp>
        <p:nvSpPr>
          <p:cNvPr id="4" name="Slide Number Placeholder 3"/>
          <p:cNvSpPr>
            <a:spLocks noGrp="1"/>
          </p:cNvSpPr>
          <p:nvPr>
            <p:ph type="sldNum" sz="quarter" idx="5"/>
          </p:nvPr>
        </p:nvSpPr>
        <p:spPr/>
        <p:txBody>
          <a:bodyPr/>
          <a:lstStyle/>
          <a:p>
            <a:fld id="{5B076DC6-364D-4413-A04A-9EF1D45A7101}" type="slidenum">
              <a:rPr lang="en-GB" smtClean="0"/>
              <a:t>16</a:t>
            </a:fld>
            <a:endParaRPr lang="en-GB"/>
          </a:p>
        </p:txBody>
      </p:sp>
    </p:spTree>
    <p:extLst>
      <p:ext uri="{BB962C8B-B14F-4D97-AF65-F5344CB8AC3E}">
        <p14:creationId xmlns:p14="http://schemas.microsoft.com/office/powerpoint/2010/main" val="3513748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lines and surfaces can help make a problem easy for a path planning perspective but may obscure the relationship between how to control the robot and where the position of the robot should be</a:t>
            </a:r>
          </a:p>
        </p:txBody>
      </p:sp>
      <p:sp>
        <p:nvSpPr>
          <p:cNvPr id="4" name="Slide Number Placeholder 3"/>
          <p:cNvSpPr>
            <a:spLocks noGrp="1"/>
          </p:cNvSpPr>
          <p:nvPr>
            <p:ph type="sldNum" sz="quarter" idx="5"/>
          </p:nvPr>
        </p:nvSpPr>
        <p:spPr/>
        <p:txBody>
          <a:bodyPr/>
          <a:lstStyle/>
          <a:p>
            <a:fld id="{5B076DC6-364D-4413-A04A-9EF1D45A7101}" type="slidenum">
              <a:rPr lang="en-GB" smtClean="0"/>
              <a:t>17</a:t>
            </a:fld>
            <a:endParaRPr lang="en-GB"/>
          </a:p>
        </p:txBody>
      </p:sp>
    </p:spTree>
    <p:extLst>
      <p:ext uri="{BB962C8B-B14F-4D97-AF65-F5344CB8AC3E}">
        <p14:creationId xmlns:p14="http://schemas.microsoft.com/office/powerpoint/2010/main" val="3976765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depends on the previous state so discretizing along time can be a useful way to reduce the search space -&gt; basically find viable solutions at increments of t starting early to exclude infeasible trajectories early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Webster, R. J., Kim, J. S., Cowan, N. J., </a:t>
            </a:r>
            <a:r>
              <a:rPr lang="en-US" dirty="0" err="1"/>
              <a:t>Chirikjian</a:t>
            </a:r>
            <a:r>
              <a:rPr lang="en-US" dirty="0"/>
              <a:t>, G. S., &amp; Okamura, A. M. (2006). Nonholonomic Modeling of Needle Steering. </a:t>
            </a:r>
            <a:r>
              <a:rPr lang="en-US" i="1" dirty="0"/>
              <a:t>The International Journal of Robotics Research</a:t>
            </a:r>
            <a:r>
              <a:rPr lang="en-US" dirty="0"/>
              <a:t>, </a:t>
            </a:r>
            <a:r>
              <a:rPr lang="en-US" i="1" dirty="0"/>
              <a:t>25</a:t>
            </a:r>
            <a:r>
              <a:rPr lang="en-US" dirty="0"/>
              <a:t>(5–6), 509–525. </a:t>
            </a:r>
            <a:r>
              <a:rPr lang="en-US" dirty="0">
                <a:hlinkClick r:id="rId3"/>
              </a:rPr>
              <a:t>https://doi.org/10.1177/0278364906065388</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Patil, S., &amp; </a:t>
            </a:r>
            <a:r>
              <a:rPr lang="en-US" dirty="0" err="1"/>
              <a:t>Alterovitz</a:t>
            </a:r>
            <a:r>
              <a:rPr lang="en-US" dirty="0"/>
              <a:t>, R. (2010). Interactive Motion Planning for Steerable Needles in 3D Environments with Obstacles. </a:t>
            </a:r>
            <a:r>
              <a:rPr lang="en-US" i="1" dirty="0"/>
              <a:t>Proceedings of the ... IEEE/RAS-EMBS International Conference on Biomedical Robotics and </a:t>
            </a:r>
            <a:r>
              <a:rPr lang="en-US" i="1" dirty="0" err="1"/>
              <a:t>Biomechatronics</a:t>
            </a:r>
            <a:r>
              <a:rPr lang="en-US" i="1" dirty="0"/>
              <a:t>. IEEE/RAS-EMBS International Conference on Biomedical Robotics and </a:t>
            </a:r>
            <a:r>
              <a:rPr lang="en-US" i="1" dirty="0" err="1"/>
              <a:t>Biomechatronics</a:t>
            </a:r>
            <a:r>
              <a:rPr lang="en-US" dirty="0"/>
              <a:t>, 893–899. doi:10.1109/BIOROB.2010.5625965</a:t>
            </a:r>
          </a:p>
        </p:txBody>
      </p:sp>
      <p:sp>
        <p:nvSpPr>
          <p:cNvPr id="4" name="Slide Number Placeholder 3"/>
          <p:cNvSpPr>
            <a:spLocks noGrp="1"/>
          </p:cNvSpPr>
          <p:nvPr>
            <p:ph type="sldNum" sz="quarter" idx="5"/>
          </p:nvPr>
        </p:nvSpPr>
        <p:spPr/>
        <p:txBody>
          <a:bodyPr/>
          <a:lstStyle/>
          <a:p>
            <a:fld id="{5B076DC6-364D-4413-A04A-9EF1D45A7101}" type="slidenum">
              <a:rPr lang="en-GB" smtClean="0"/>
              <a:t>20</a:t>
            </a:fld>
            <a:endParaRPr lang="en-GB"/>
          </a:p>
        </p:txBody>
      </p:sp>
    </p:spTree>
    <p:extLst>
      <p:ext uri="{BB962C8B-B14F-4D97-AF65-F5344CB8AC3E}">
        <p14:creationId xmlns:p14="http://schemas.microsoft.com/office/powerpoint/2010/main" val="886809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three columns take into account material frame rotation and position</a:t>
            </a:r>
          </a:p>
        </p:txBody>
      </p:sp>
      <p:sp>
        <p:nvSpPr>
          <p:cNvPr id="4" name="Slide Number Placeholder 3"/>
          <p:cNvSpPr>
            <a:spLocks noGrp="1"/>
          </p:cNvSpPr>
          <p:nvPr>
            <p:ph type="sldNum" sz="quarter" idx="5"/>
          </p:nvPr>
        </p:nvSpPr>
        <p:spPr/>
        <p:txBody>
          <a:bodyPr/>
          <a:lstStyle/>
          <a:p>
            <a:fld id="{5B076DC6-364D-4413-A04A-9EF1D45A7101}" type="slidenum">
              <a:rPr lang="en-GB" smtClean="0"/>
              <a:t>21</a:t>
            </a:fld>
            <a:endParaRPr lang="en-GB"/>
          </a:p>
        </p:txBody>
      </p:sp>
    </p:spTree>
    <p:extLst>
      <p:ext uri="{BB962C8B-B14F-4D97-AF65-F5344CB8AC3E}">
        <p14:creationId xmlns:p14="http://schemas.microsoft.com/office/powerpoint/2010/main" val="3400287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depends on the previous state so discretizing along time can be a useful way to reduce the search space -&gt; basically find viable solutions at increments of t starting early to exclude infeasible trajectories early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Webster, R. J., Kim, J. S., Cowan, N. J., </a:t>
            </a:r>
            <a:r>
              <a:rPr lang="en-US" dirty="0" err="1"/>
              <a:t>Chirikjian</a:t>
            </a:r>
            <a:r>
              <a:rPr lang="en-US" dirty="0"/>
              <a:t>, G. S., &amp; Okamura, A. M. (2006). Nonholonomic Modeling of Needle Steering. </a:t>
            </a:r>
            <a:r>
              <a:rPr lang="en-US" i="1" dirty="0"/>
              <a:t>The International Journal of Robotics Research</a:t>
            </a:r>
            <a:r>
              <a:rPr lang="en-US" dirty="0"/>
              <a:t>, </a:t>
            </a:r>
            <a:r>
              <a:rPr lang="en-US" i="1" dirty="0"/>
              <a:t>25</a:t>
            </a:r>
            <a:r>
              <a:rPr lang="en-US" dirty="0"/>
              <a:t>(5–6), 509–525. </a:t>
            </a:r>
            <a:r>
              <a:rPr lang="en-US" dirty="0">
                <a:hlinkClick r:id="rId3"/>
              </a:rPr>
              <a:t>https://doi.org/10.1177/0278364906065388</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Patil, S., &amp; </a:t>
            </a:r>
            <a:r>
              <a:rPr lang="en-US" dirty="0" err="1"/>
              <a:t>Alterovitz</a:t>
            </a:r>
            <a:r>
              <a:rPr lang="en-US" dirty="0"/>
              <a:t>, R. (2010). Interactive Motion Planning for Steerable Needles in 3D Environments with Obstacles. </a:t>
            </a:r>
            <a:r>
              <a:rPr lang="en-US" i="1" dirty="0"/>
              <a:t>Proceedings of the ... IEEE/RAS-EMBS International Conference on Biomedical Robotics and </a:t>
            </a:r>
            <a:r>
              <a:rPr lang="en-US" i="1" dirty="0" err="1"/>
              <a:t>Biomechatronics</a:t>
            </a:r>
            <a:r>
              <a:rPr lang="en-US" i="1" dirty="0"/>
              <a:t>. IEEE/RAS-EMBS International Conference on Biomedical Robotics and </a:t>
            </a:r>
            <a:r>
              <a:rPr lang="en-US" i="1" dirty="0" err="1"/>
              <a:t>Biomechatronics</a:t>
            </a:r>
            <a:r>
              <a:rPr lang="en-US" dirty="0"/>
              <a:t>, 893–899. doi:10.1109/BIOROB.2010.5625965</a:t>
            </a:r>
          </a:p>
        </p:txBody>
      </p:sp>
      <p:sp>
        <p:nvSpPr>
          <p:cNvPr id="4" name="Slide Number Placeholder 3"/>
          <p:cNvSpPr>
            <a:spLocks noGrp="1"/>
          </p:cNvSpPr>
          <p:nvPr>
            <p:ph type="sldNum" sz="quarter" idx="5"/>
          </p:nvPr>
        </p:nvSpPr>
        <p:spPr/>
        <p:txBody>
          <a:bodyPr/>
          <a:lstStyle/>
          <a:p>
            <a:fld id="{5B076DC6-364D-4413-A04A-9EF1D45A7101}" type="slidenum">
              <a:rPr lang="en-GB" smtClean="0"/>
              <a:t>22</a:t>
            </a:fld>
            <a:endParaRPr lang="en-GB"/>
          </a:p>
        </p:txBody>
      </p:sp>
    </p:spTree>
    <p:extLst>
      <p:ext uri="{BB962C8B-B14F-4D97-AF65-F5344CB8AC3E}">
        <p14:creationId xmlns:p14="http://schemas.microsoft.com/office/powerpoint/2010/main" val="100442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can vary along the trajectory based on theta and phi!</a:t>
            </a:r>
          </a:p>
          <a:p>
            <a:r>
              <a:rPr lang="en-US" dirty="0"/>
              <a:t>At least it is a piecewise Bezier function (each segment can be solved independently)</a:t>
            </a:r>
          </a:p>
        </p:txBody>
      </p:sp>
      <p:sp>
        <p:nvSpPr>
          <p:cNvPr id="4" name="Slide Number Placeholder 3"/>
          <p:cNvSpPr>
            <a:spLocks noGrp="1"/>
          </p:cNvSpPr>
          <p:nvPr>
            <p:ph type="sldNum" sz="quarter" idx="5"/>
          </p:nvPr>
        </p:nvSpPr>
        <p:spPr/>
        <p:txBody>
          <a:bodyPr/>
          <a:lstStyle/>
          <a:p>
            <a:fld id="{5B076DC6-364D-4413-A04A-9EF1D45A7101}" type="slidenum">
              <a:rPr lang="en-GB" smtClean="0"/>
              <a:t>23</a:t>
            </a:fld>
            <a:endParaRPr lang="en-GB"/>
          </a:p>
        </p:txBody>
      </p:sp>
    </p:spTree>
    <p:extLst>
      <p:ext uri="{BB962C8B-B14F-4D97-AF65-F5344CB8AC3E}">
        <p14:creationId xmlns:p14="http://schemas.microsoft.com/office/powerpoint/2010/main" val="1372195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can vary along the trajectory based on theta and phi!</a:t>
            </a:r>
          </a:p>
          <a:p>
            <a:r>
              <a:rPr lang="en-US" dirty="0"/>
              <a:t>At least it is a piecewise Bezier function (each segment can be solved independently)</a:t>
            </a:r>
          </a:p>
          <a:p>
            <a:endParaRPr lang="en-US" dirty="0"/>
          </a:p>
          <a:p>
            <a:r>
              <a:rPr lang="en-US" dirty="0"/>
              <a:t>C. </a:t>
            </a:r>
            <a:r>
              <a:rPr lang="en-US" dirty="0" err="1"/>
              <a:t>Bergeles</a:t>
            </a:r>
            <a:r>
              <a:rPr lang="en-US" dirty="0"/>
              <a:t> and P. E. Dupont, "Planning stable paths for concentric tube robots," </a:t>
            </a:r>
            <a:r>
              <a:rPr lang="en-US" i="1" dirty="0"/>
              <a:t>2013 IEEE/RSJ International Conference on Intelligent Robots and Systems</a:t>
            </a:r>
            <a:r>
              <a:rPr lang="en-US" dirty="0"/>
              <a:t>, Tokyo, 2013, pp. 3077-3082.</a:t>
            </a:r>
          </a:p>
        </p:txBody>
      </p:sp>
      <p:sp>
        <p:nvSpPr>
          <p:cNvPr id="4" name="Slide Number Placeholder 3"/>
          <p:cNvSpPr>
            <a:spLocks noGrp="1"/>
          </p:cNvSpPr>
          <p:nvPr>
            <p:ph type="sldNum" sz="quarter" idx="5"/>
          </p:nvPr>
        </p:nvSpPr>
        <p:spPr/>
        <p:txBody>
          <a:bodyPr/>
          <a:lstStyle/>
          <a:p>
            <a:fld id="{5B076DC6-364D-4413-A04A-9EF1D45A7101}" type="slidenum">
              <a:rPr lang="en-GB" smtClean="0"/>
              <a:t>24</a:t>
            </a:fld>
            <a:endParaRPr lang="en-GB"/>
          </a:p>
        </p:txBody>
      </p:sp>
    </p:spTree>
    <p:extLst>
      <p:ext uri="{BB962C8B-B14F-4D97-AF65-F5344CB8AC3E}">
        <p14:creationId xmlns:p14="http://schemas.microsoft.com/office/powerpoint/2010/main" val="23783085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can vary along the trajectory based on theta and phi!</a:t>
            </a:r>
          </a:p>
          <a:p>
            <a:r>
              <a:rPr lang="en-US" dirty="0"/>
              <a:t>At least it is a piecewise Bezier function (each segment can be solved independently)</a:t>
            </a:r>
          </a:p>
          <a:p>
            <a:endParaRPr lang="en-US" dirty="0"/>
          </a:p>
          <a:p>
            <a:r>
              <a:rPr lang="en-US" dirty="0"/>
              <a:t>C. </a:t>
            </a:r>
            <a:r>
              <a:rPr lang="en-US" dirty="0" err="1"/>
              <a:t>Bergeles</a:t>
            </a:r>
            <a:r>
              <a:rPr lang="en-US" dirty="0"/>
              <a:t> and P. E. Dupont, "Planning stable paths for concentric tube robots," </a:t>
            </a:r>
            <a:r>
              <a:rPr lang="en-US" i="1" dirty="0"/>
              <a:t>2013 IEEE/RSJ International Conference on Intelligent Robots and Systems</a:t>
            </a:r>
            <a:r>
              <a:rPr lang="en-US" dirty="0"/>
              <a:t>, Tokyo, 2013, pp. 3077-3082.</a:t>
            </a:r>
          </a:p>
        </p:txBody>
      </p:sp>
      <p:sp>
        <p:nvSpPr>
          <p:cNvPr id="4" name="Slide Number Placeholder 3"/>
          <p:cNvSpPr>
            <a:spLocks noGrp="1"/>
          </p:cNvSpPr>
          <p:nvPr>
            <p:ph type="sldNum" sz="quarter" idx="5"/>
          </p:nvPr>
        </p:nvSpPr>
        <p:spPr/>
        <p:txBody>
          <a:bodyPr/>
          <a:lstStyle/>
          <a:p>
            <a:fld id="{5B076DC6-364D-4413-A04A-9EF1D45A7101}" type="slidenum">
              <a:rPr lang="en-GB" smtClean="0"/>
              <a:t>25</a:t>
            </a:fld>
            <a:endParaRPr lang="en-GB"/>
          </a:p>
        </p:txBody>
      </p:sp>
    </p:spTree>
    <p:extLst>
      <p:ext uri="{BB962C8B-B14F-4D97-AF65-F5344CB8AC3E}">
        <p14:creationId xmlns:p14="http://schemas.microsoft.com/office/powerpoint/2010/main" val="2634720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is from () showing run time to compute digits of pi for a large set of programming languages</a:t>
            </a:r>
          </a:p>
        </p:txBody>
      </p:sp>
      <p:sp>
        <p:nvSpPr>
          <p:cNvPr id="4" name="Slide Number Placeholder 3"/>
          <p:cNvSpPr>
            <a:spLocks noGrp="1"/>
          </p:cNvSpPr>
          <p:nvPr>
            <p:ph type="sldNum" sz="quarter" idx="5"/>
          </p:nvPr>
        </p:nvSpPr>
        <p:spPr/>
        <p:txBody>
          <a:bodyPr/>
          <a:lstStyle/>
          <a:p>
            <a:fld id="{5B076DC6-364D-4413-A04A-9EF1D45A7101}" type="slidenum">
              <a:rPr lang="en-GB" smtClean="0"/>
              <a:t>28</a:t>
            </a:fld>
            <a:endParaRPr lang="en-GB"/>
          </a:p>
        </p:txBody>
      </p:sp>
    </p:spTree>
    <p:extLst>
      <p:ext uri="{BB962C8B-B14F-4D97-AF65-F5344CB8AC3E}">
        <p14:creationId xmlns:p14="http://schemas.microsoft.com/office/powerpoint/2010/main" val="2664585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is of element wise </a:t>
            </a:r>
            <a:r>
              <a:rPr lang="en-US"/>
              <a:t>matrix multiplication</a:t>
            </a:r>
            <a:endParaRPr lang="en-US" dirty="0"/>
          </a:p>
        </p:txBody>
      </p:sp>
      <p:sp>
        <p:nvSpPr>
          <p:cNvPr id="4" name="Slide Number Placeholder 3"/>
          <p:cNvSpPr>
            <a:spLocks noGrp="1"/>
          </p:cNvSpPr>
          <p:nvPr>
            <p:ph type="sldNum" sz="quarter" idx="5"/>
          </p:nvPr>
        </p:nvSpPr>
        <p:spPr/>
        <p:txBody>
          <a:bodyPr/>
          <a:lstStyle/>
          <a:p>
            <a:fld id="{5B076DC6-364D-4413-A04A-9EF1D45A7101}" type="slidenum">
              <a:rPr lang="en-GB" smtClean="0"/>
              <a:t>29</a:t>
            </a:fld>
            <a:endParaRPr lang="en-GB"/>
          </a:p>
        </p:txBody>
      </p:sp>
    </p:spTree>
    <p:extLst>
      <p:ext uri="{BB962C8B-B14F-4D97-AF65-F5344CB8AC3E}">
        <p14:creationId xmlns:p14="http://schemas.microsoft.com/office/powerpoint/2010/main" val="20028601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mac1/Desktop/KCL%20LOGO%20WOB.png"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file://localhost/Volumes/Day1_Data/WORK%20ARCHIVE/%20K/KING'S/11143%20KCL%20POWERPOINT%20UPDATE/BUILD/IMAGES/_DSC8361-rs.jpg" TargetMode="External"/><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file://localhost/Users/mac1/Desktop/KCL_box_red_485_rgb.png" TargetMode="Externa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file://localhost/Users/mac1/Desktop/KCL_box_red_485_rgb.png"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K Cover slide">
    <p:spTree>
      <p:nvGrpSpPr>
        <p:cNvPr id="1" name=""/>
        <p:cNvGrpSpPr/>
        <p:nvPr/>
      </p:nvGrpSpPr>
      <p:grpSpPr>
        <a:xfrm>
          <a:off x="0" y="0"/>
          <a:ext cx="0" cy="0"/>
          <a:chOff x="0" y="0"/>
          <a:chExt cx="0" cy="0"/>
        </a:xfrm>
      </p:grpSpPr>
      <p:pic>
        <p:nvPicPr>
          <p:cNvPr id="7" name="KCL-LOGO-INTERNATIONAL.png"/>
          <p:cNvPicPr>
            <a:picLocks noChangeAspect="1"/>
          </p:cNvPicPr>
          <p:nvPr/>
        </p:nvPicPr>
        <p:blipFill>
          <a:blip r:embed="rId2" r:link="rId3">
            <a:extLst>
              <a:ext uri="{28A0092B-C50C-407E-A947-70E740481C1C}">
                <a14:useLocalDpi xmlns:a14="http://schemas.microsoft.com/office/drawing/2010/main" val="0"/>
              </a:ext>
            </a:extLst>
          </a:blip>
          <a:stretch>
            <a:fillRect/>
          </a:stretch>
        </p:blipFill>
        <p:spPr>
          <a:xfrm>
            <a:off x="2188959" y="1397958"/>
            <a:ext cx="7814084" cy="4062084"/>
          </a:xfrm>
          <a:prstGeom prst="rect">
            <a:avLst/>
          </a:prstGeom>
        </p:spPr>
      </p:pic>
    </p:spTree>
    <p:extLst>
      <p:ext uri="{BB962C8B-B14F-4D97-AF65-F5344CB8AC3E}">
        <p14:creationId xmlns:p14="http://schemas.microsoft.com/office/powerpoint/2010/main" val="38877849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joint - alt 3">
    <p:spTree>
      <p:nvGrpSpPr>
        <p:cNvPr id="1" name=""/>
        <p:cNvGrpSpPr/>
        <p:nvPr/>
      </p:nvGrpSpPr>
      <p:grpSpPr>
        <a:xfrm>
          <a:off x="0" y="0"/>
          <a:ext cx="0" cy="0"/>
          <a:chOff x="0" y="0"/>
          <a:chExt cx="0" cy="0"/>
        </a:xfrm>
      </p:grpSpPr>
      <p:pic>
        <p:nvPicPr>
          <p:cNvPr id="13" name="_DSC1517.jpg"/>
          <p:cNvPicPr>
            <a:picLocks noChangeAspect="1"/>
          </p:cNvPicPr>
          <p:nvPr/>
        </p:nvPicPr>
        <p:blipFill rotWithShape="1">
          <a:blip r:embed="rId2" r:link="rId3">
            <a:extLst>
              <a:ext uri="{28A0092B-C50C-407E-A947-70E740481C1C}">
                <a14:useLocalDpi xmlns:a14="http://schemas.microsoft.com/office/drawing/2010/main" val="0"/>
              </a:ext>
            </a:extLst>
          </a:blip>
          <a:srcRect l="11345" r="4990" b="23836"/>
          <a:stretch>
            <a:fillRect/>
          </a:stretch>
        </p:blipFill>
        <p:spPr>
          <a:xfrm>
            <a:off x="0" y="4"/>
            <a:ext cx="12192000" cy="5554979"/>
          </a:xfrm>
          <a:prstGeom prst="rect">
            <a:avLst/>
          </a:prstGeom>
        </p:spPr>
      </p:pic>
      <p:sp>
        <p:nvSpPr>
          <p:cNvPr id="16" name="Rectangle 15"/>
          <p:cNvSpPr/>
          <p:nvPr/>
        </p:nvSpPr>
        <p:spPr>
          <a:xfrm>
            <a:off x="0" y="0"/>
            <a:ext cx="12192000" cy="3397250"/>
          </a:xfrm>
          <a:prstGeom prst="rect">
            <a:avLst/>
          </a:prstGeom>
          <a:gradFill flip="none" rotWithShape="1">
            <a:gsLst>
              <a:gs pos="0">
                <a:schemeClr val="tx1">
                  <a:alpha val="50000"/>
                </a:schemeClr>
              </a:gs>
              <a:gs pos="100000">
                <a:srgbClr val="FFFFFF">
                  <a:alpha val="0"/>
                </a:srgbClr>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480000" y="180001"/>
            <a:ext cx="11232000" cy="1080000"/>
          </a:xfrm>
        </p:spPr>
        <p:txBody>
          <a:bodyPr anchor="b" anchorCtr="0">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1440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480484" y="5733722"/>
            <a:ext cx="8995856" cy="944280"/>
          </a:xfrm>
        </p:spPr>
        <p:txBody>
          <a:bodyPr/>
          <a:lstStyle/>
          <a:p>
            <a:r>
              <a:rPr lang="en-US"/>
              <a:t>Click icon to add picture</a:t>
            </a:r>
            <a:endParaRPr lang="en-US" dirty="0"/>
          </a:p>
        </p:txBody>
      </p:sp>
      <p:pic>
        <p:nvPicPr>
          <p:cNvPr id="10" name="KCL-LOGO-UK-1.png"/>
          <p:cNvPicPr>
            <a:picLocks noChangeAspect="1"/>
          </p:cNvPicPr>
          <p:nvPr/>
        </p:nvPicPr>
        <p:blipFill>
          <a:blip r:embed="rId4" r:link="rId5" cstate="print">
            <a:extLst>
              <a:ext uri="{28A0092B-C50C-407E-A947-70E740481C1C}">
                <a14:useLocalDpi xmlns:a14="http://schemas.microsoft.com/office/drawing/2010/main" val="0"/>
              </a:ext>
            </a:extLst>
          </a:blip>
          <a:stretch>
            <a:fillRect/>
          </a:stretch>
        </p:blipFill>
        <p:spPr>
          <a:xfrm>
            <a:off x="9912000" y="5555734"/>
            <a:ext cx="2280000" cy="1302285"/>
          </a:xfrm>
          <a:prstGeom prst="rect">
            <a:avLst/>
          </a:prstGeom>
        </p:spPr>
      </p:pic>
    </p:spTree>
    <p:extLst>
      <p:ext uri="{BB962C8B-B14F-4D97-AF65-F5344CB8AC3E}">
        <p14:creationId xmlns:p14="http://schemas.microsoft.com/office/powerpoint/2010/main" val="251112734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vider - orang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10800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38845544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ivider - lime gree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362534576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ivider - teal">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276560627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vider - sea blu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342857946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 text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marL="0" indent="0">
              <a:lnSpc>
                <a:spcPct val="120000"/>
              </a:lnSpc>
              <a:spcBef>
                <a:spcPts val="0"/>
              </a:spcBef>
              <a:buNone/>
              <a:defRPr sz="2000">
                <a:solidFill>
                  <a:srgbClr val="0A2D50"/>
                </a:solidFill>
                <a:latin typeface="Impact"/>
                <a:cs typeface="Impact"/>
              </a:defRPr>
            </a:lvl1pPr>
            <a:lvl2pPr marL="0" indent="0">
              <a:lnSpc>
                <a:spcPct val="120000"/>
              </a:lnSpc>
              <a:spcBef>
                <a:spcPts val="0"/>
              </a:spcBef>
              <a:buNone/>
              <a:defRPr sz="2000">
                <a:latin typeface="Georgia"/>
                <a:cs typeface="Georgia"/>
              </a:defRPr>
            </a:lvl2pPr>
            <a:lvl3pPr marL="269875" indent="-269875">
              <a:lnSpc>
                <a:spcPct val="120000"/>
              </a:lnSpc>
              <a:spcBef>
                <a:spcPts val="0"/>
              </a:spcBef>
              <a:defRPr sz="2000">
                <a:latin typeface="Georgia"/>
                <a:cs typeface="Georgia"/>
              </a:defRPr>
            </a:lvl3pPr>
            <a:lvl4pPr marL="539750" indent="-269875">
              <a:lnSpc>
                <a:spcPct val="120000"/>
              </a:lnSpc>
              <a:spcBef>
                <a:spcPts val="0"/>
              </a:spcBef>
              <a:defRPr sz="2000">
                <a:latin typeface="Georgia"/>
                <a:cs typeface="Georgia"/>
              </a:defRPr>
            </a:lvl4pPr>
            <a:lvl5pPr marL="809625" indent="-269875">
              <a:lnSpc>
                <a:spcPct val="120000"/>
              </a:lnSpc>
              <a:spcBef>
                <a:spcPts val="0"/>
              </a:spcBef>
              <a:defRPr sz="2000">
                <a:latin typeface="Georgia"/>
                <a:cs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000">
                <a:latin typeface="Georgia"/>
                <a:cs typeface="Georgia"/>
              </a:defRPr>
            </a:lvl1pPr>
          </a:lstStyle>
          <a:p>
            <a:fld id="{022A4F6E-86B5-49C3-BC18-BC6F5678B0A0}" type="datetimeFigureOut">
              <a:rPr lang="en-US" smtClean="0"/>
              <a:t>1/28/2024</a:t>
            </a:fld>
            <a:endParaRPr lang="en-US"/>
          </a:p>
        </p:txBody>
      </p:sp>
      <p:sp>
        <p:nvSpPr>
          <p:cNvPr id="5" name="Footer Placeholder 4"/>
          <p:cNvSpPr>
            <a:spLocks noGrp="1"/>
          </p:cNvSpPr>
          <p:nvPr>
            <p:ph type="ftr" sz="quarter" idx="11"/>
          </p:nvPr>
        </p:nvSpPr>
        <p:spPr/>
        <p:txBody>
          <a:bodyPr/>
          <a:lstStyle>
            <a:lvl1pPr>
              <a:defRPr sz="1000">
                <a:latin typeface="Georgia"/>
                <a:cs typeface="Georgia"/>
              </a:defRPr>
            </a:lvl1pPr>
          </a:lstStyle>
          <a:p>
            <a:endParaRPr lang="en-US"/>
          </a:p>
        </p:txBody>
      </p:sp>
      <p:sp>
        <p:nvSpPr>
          <p:cNvPr id="6" name="Slide Number Placeholder 5"/>
          <p:cNvSpPr>
            <a:spLocks noGrp="1"/>
          </p:cNvSpPr>
          <p:nvPr>
            <p:ph type="sldNum" sz="quarter" idx="12"/>
          </p:nvPr>
        </p:nvSpPr>
        <p:spPr>
          <a:xfrm>
            <a:off x="10752000" y="6498000"/>
            <a:ext cx="960000" cy="360000"/>
          </a:xfrm>
        </p:spPr>
        <p:txBody>
          <a:bodyPr/>
          <a:lstStyle>
            <a:lvl1pPr>
              <a:defRPr sz="1000">
                <a:latin typeface="Georgia"/>
                <a:cs typeface="Georgia"/>
              </a:defRPr>
            </a:lvl1pPr>
          </a:lstStyle>
          <a:p>
            <a:fld id="{7C914159-D68C-43CA-97D1-788EF79EC005}" type="slidenum">
              <a:rPr lang="en-US" smtClean="0"/>
              <a:t>‹#›</a:t>
            </a:fld>
            <a:endParaRPr lang="en-US"/>
          </a:p>
        </p:txBody>
      </p:sp>
      <p:cxnSp>
        <p:nvCxnSpPr>
          <p:cNvPr id="7" name="Straight Connector 6"/>
          <p:cNvCxnSpPr/>
          <p:nvPr/>
        </p:nvCxnSpPr>
        <p:spPr>
          <a:xfrm>
            <a:off x="480000" y="909220"/>
            <a:ext cx="11232000" cy="0"/>
          </a:xfrm>
          <a:prstGeom prst="line">
            <a:avLst/>
          </a:prstGeom>
          <a:ln w="12700">
            <a:solidFill>
              <a:srgbClr val="C2B6AB"/>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765266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marL="269875" indent="-269875">
              <a:lnSpc>
                <a:spcPct val="120000"/>
              </a:lnSpc>
              <a:spcBef>
                <a:spcPts val="0"/>
              </a:spcBef>
              <a:defRPr sz="2000">
                <a:latin typeface="Georgia"/>
                <a:cs typeface="Georgia"/>
              </a:defRPr>
            </a:lvl1pPr>
            <a:lvl2pPr marL="539750" indent="-269875">
              <a:lnSpc>
                <a:spcPct val="120000"/>
              </a:lnSpc>
              <a:spcBef>
                <a:spcPts val="0"/>
              </a:spcBef>
              <a:defRPr sz="2000">
                <a:latin typeface="Georgia"/>
                <a:cs typeface="Georgia"/>
              </a:defRPr>
            </a:lvl2pPr>
            <a:lvl3pPr marL="809625" indent="-269875">
              <a:lnSpc>
                <a:spcPct val="120000"/>
              </a:lnSpc>
              <a:spcBef>
                <a:spcPts val="0"/>
              </a:spcBef>
              <a:defRPr sz="2000">
                <a:latin typeface="Georgia"/>
                <a:cs typeface="Georgia"/>
              </a:defRPr>
            </a:lvl3pPr>
            <a:lvl4pPr marL="1079500" indent="-269875">
              <a:lnSpc>
                <a:spcPct val="120000"/>
              </a:lnSpc>
              <a:spcBef>
                <a:spcPts val="0"/>
              </a:spcBef>
              <a:defRPr sz="2000">
                <a:latin typeface="Georgia"/>
                <a:cs typeface="Georgia"/>
              </a:defRPr>
            </a:lvl4pPr>
            <a:lvl5pPr marL="1341438" indent="-261938">
              <a:lnSpc>
                <a:spcPct val="120000"/>
              </a:lnSpc>
              <a:spcBef>
                <a:spcPts val="0"/>
              </a:spcBef>
              <a:defRPr sz="2000">
                <a:latin typeface="Georgia"/>
                <a:cs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000">
                <a:latin typeface="Georgia"/>
                <a:cs typeface="Georgia"/>
              </a:defRPr>
            </a:lvl1pPr>
          </a:lstStyle>
          <a:p>
            <a:fld id="{022A4F6E-86B5-49C3-BC18-BC6F5678B0A0}" type="datetimeFigureOut">
              <a:rPr lang="en-US" smtClean="0"/>
              <a:t>1/28/2024</a:t>
            </a:fld>
            <a:endParaRPr lang="en-US"/>
          </a:p>
        </p:txBody>
      </p:sp>
      <p:sp>
        <p:nvSpPr>
          <p:cNvPr id="5" name="Footer Placeholder 4"/>
          <p:cNvSpPr>
            <a:spLocks noGrp="1"/>
          </p:cNvSpPr>
          <p:nvPr>
            <p:ph type="ftr" sz="quarter" idx="11"/>
          </p:nvPr>
        </p:nvSpPr>
        <p:spPr/>
        <p:txBody>
          <a:bodyPr/>
          <a:lstStyle>
            <a:lvl1pPr>
              <a:defRPr sz="1000">
                <a:latin typeface="Georgia"/>
                <a:cs typeface="Georgia"/>
              </a:defRPr>
            </a:lvl1pPr>
          </a:lstStyle>
          <a:p>
            <a:endParaRPr lang="en-US"/>
          </a:p>
        </p:txBody>
      </p:sp>
      <p:sp>
        <p:nvSpPr>
          <p:cNvPr id="6" name="Slide Number Placeholder 5"/>
          <p:cNvSpPr>
            <a:spLocks noGrp="1"/>
          </p:cNvSpPr>
          <p:nvPr>
            <p:ph type="sldNum" sz="quarter" idx="12"/>
          </p:nvPr>
        </p:nvSpPr>
        <p:spPr>
          <a:xfrm>
            <a:off x="10752000" y="6498000"/>
            <a:ext cx="960000" cy="360000"/>
          </a:xfrm>
        </p:spPr>
        <p:txBody>
          <a:bodyPr/>
          <a:lstStyle>
            <a:lvl1pPr>
              <a:defRPr sz="1000">
                <a:latin typeface="Georgia"/>
                <a:cs typeface="Georgia"/>
              </a:defRPr>
            </a:lvl1pPr>
          </a:lstStyle>
          <a:p>
            <a:fld id="{7C914159-D68C-43CA-97D1-788EF79EC005}" type="slidenum">
              <a:rPr lang="en-US" smtClean="0"/>
              <a:t>‹#›</a:t>
            </a:fld>
            <a:endParaRPr lang="en-US"/>
          </a:p>
        </p:txBody>
      </p:sp>
      <p:cxnSp>
        <p:nvCxnSpPr>
          <p:cNvPr id="11" name="Straight Connector 10"/>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344353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lumns - text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0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6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344202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lumns - bullets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80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6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cxnSp>
        <p:nvCxnSpPr>
          <p:cNvPr id="11" name="Straight Connector 10"/>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263999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x1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0" y="1088723"/>
            <a:ext cx="11232000" cy="46805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80000" y="5949280"/>
            <a:ext cx="11232000"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9" name="Title 8"/>
          <p:cNvSpPr>
            <a:spLocks noGrp="1"/>
          </p:cNvSpPr>
          <p:nvPr>
            <p:ph type="title"/>
          </p:nvPr>
        </p:nvSpPr>
        <p:spPr/>
        <p:txBody>
          <a:bodyPr/>
          <a:lstStyle/>
          <a:p>
            <a:r>
              <a:rPr lang="en-US"/>
              <a:t>Click to edit Master title style</a:t>
            </a:r>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3721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icture x 6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3" y="1088720"/>
            <a:ext cx="3600028"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80000" y="5949280"/>
            <a:ext cx="11232000"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17" name="Picture Placeholder 2"/>
          <p:cNvSpPr>
            <a:spLocks noGrp="1"/>
          </p:cNvSpPr>
          <p:nvPr>
            <p:ph type="pic" idx="13"/>
          </p:nvPr>
        </p:nvSpPr>
        <p:spPr>
          <a:xfrm>
            <a:off x="480003" y="3519000"/>
            <a:ext cx="3600028"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8" name="Picture Placeholder 2"/>
          <p:cNvSpPr>
            <a:spLocks noGrp="1"/>
          </p:cNvSpPr>
          <p:nvPr>
            <p:ph type="pic" idx="14"/>
          </p:nvPr>
        </p:nvSpPr>
        <p:spPr>
          <a:xfrm>
            <a:off x="8111971" y="1088720"/>
            <a:ext cx="3603072"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Picture Placeholder 2"/>
          <p:cNvSpPr>
            <a:spLocks noGrp="1"/>
          </p:cNvSpPr>
          <p:nvPr>
            <p:ph type="pic" idx="15"/>
          </p:nvPr>
        </p:nvSpPr>
        <p:spPr>
          <a:xfrm>
            <a:off x="8111971" y="3519000"/>
            <a:ext cx="3603072"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24" name="Picture Placeholder 2"/>
          <p:cNvSpPr>
            <a:spLocks noGrp="1"/>
          </p:cNvSpPr>
          <p:nvPr>
            <p:ph type="pic" idx="16"/>
          </p:nvPr>
        </p:nvSpPr>
        <p:spPr>
          <a:xfrm>
            <a:off x="4295985" y="1088720"/>
            <a:ext cx="3603072"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Picture Placeholder 2"/>
          <p:cNvSpPr>
            <a:spLocks noGrp="1"/>
          </p:cNvSpPr>
          <p:nvPr>
            <p:ph type="pic" idx="17"/>
          </p:nvPr>
        </p:nvSpPr>
        <p:spPr>
          <a:xfrm>
            <a:off x="4295985" y="3519000"/>
            <a:ext cx="3603072"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cxnSp>
        <p:nvCxnSpPr>
          <p:cNvPr id="20" name="Straight Connector 19"/>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194073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x 4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0" y="1088720"/>
            <a:ext cx="5496000"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80000" y="5949280"/>
            <a:ext cx="11232000"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17" name="Picture Placeholder 2"/>
          <p:cNvSpPr>
            <a:spLocks noGrp="1"/>
          </p:cNvSpPr>
          <p:nvPr>
            <p:ph type="pic" idx="13"/>
          </p:nvPr>
        </p:nvSpPr>
        <p:spPr>
          <a:xfrm>
            <a:off x="480000" y="3519000"/>
            <a:ext cx="5496000"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8" name="Picture Placeholder 2"/>
          <p:cNvSpPr>
            <a:spLocks noGrp="1"/>
          </p:cNvSpPr>
          <p:nvPr>
            <p:ph type="pic" idx="14"/>
          </p:nvPr>
        </p:nvSpPr>
        <p:spPr>
          <a:xfrm>
            <a:off x="6216001" y="1088720"/>
            <a:ext cx="5499043"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Picture Placeholder 2"/>
          <p:cNvSpPr>
            <a:spLocks noGrp="1"/>
          </p:cNvSpPr>
          <p:nvPr>
            <p:ph type="pic" idx="15"/>
          </p:nvPr>
        </p:nvSpPr>
        <p:spPr>
          <a:xfrm>
            <a:off x="6216001" y="3519000"/>
            <a:ext cx="5499043"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p:txBody>
          <a:bodyPr/>
          <a:lstStyle/>
          <a:p>
            <a:r>
              <a:rPr lang="en-US"/>
              <a:t>Click to edit Master title style</a:t>
            </a:r>
          </a:p>
        </p:txBody>
      </p:sp>
      <p:cxnSp>
        <p:nvCxnSpPr>
          <p:cNvPr id="14" name="Straight Connector 13"/>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04880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bullets and image - al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0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9" name="Picture Placeholder 8"/>
          <p:cNvSpPr>
            <a:spLocks noGrp="1"/>
          </p:cNvSpPr>
          <p:nvPr>
            <p:ph type="pic" sz="quarter" idx="13"/>
          </p:nvPr>
        </p:nvSpPr>
        <p:spPr>
          <a:xfrm>
            <a:off x="6339903" y="1089025"/>
            <a:ext cx="5372100"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172498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s bullets and image - al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36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9" name="Picture Placeholder 8"/>
          <p:cNvSpPr>
            <a:spLocks noGrp="1"/>
          </p:cNvSpPr>
          <p:nvPr>
            <p:ph type="pic" sz="quarter" idx="13"/>
          </p:nvPr>
        </p:nvSpPr>
        <p:spPr>
          <a:xfrm>
            <a:off x="480003" y="1089025"/>
            <a:ext cx="5372100"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737481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s - text/bullets and image - al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0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11" name="Picture Placeholder 10"/>
          <p:cNvSpPr>
            <a:spLocks noGrp="1"/>
          </p:cNvSpPr>
          <p:nvPr>
            <p:ph type="pic" sz="quarter" idx="13"/>
          </p:nvPr>
        </p:nvSpPr>
        <p:spPr>
          <a:xfrm>
            <a:off x="6335668" y="1089025"/>
            <a:ext cx="5376333"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80472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s - text/bullets and image - al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36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2A4F6E-86B5-49C3-BC18-BC6F5678B0A0}" type="datetimeFigureOut">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914159-D68C-43CA-97D1-788EF79EC005}" type="slidenum">
              <a:rPr lang="en-US" smtClean="0"/>
              <a:t>‹#›</a:t>
            </a:fld>
            <a:endParaRPr lang="en-US"/>
          </a:p>
        </p:txBody>
      </p:sp>
      <p:sp>
        <p:nvSpPr>
          <p:cNvPr id="11" name="Picture Placeholder 10"/>
          <p:cNvSpPr>
            <a:spLocks noGrp="1"/>
          </p:cNvSpPr>
          <p:nvPr>
            <p:ph type="pic" sz="quarter" idx="13"/>
          </p:nvPr>
        </p:nvSpPr>
        <p:spPr>
          <a:xfrm>
            <a:off x="480000" y="1088356"/>
            <a:ext cx="5376333"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188664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End page">
    <p:spTree>
      <p:nvGrpSpPr>
        <p:cNvPr id="1" name=""/>
        <p:cNvGrpSpPr/>
        <p:nvPr/>
      </p:nvGrpSpPr>
      <p:grpSpPr>
        <a:xfrm>
          <a:off x="0" y="0"/>
          <a:ext cx="0" cy="0"/>
          <a:chOff x="0" y="0"/>
          <a:chExt cx="0" cy="0"/>
        </a:xfrm>
      </p:grpSpPr>
      <p:sp>
        <p:nvSpPr>
          <p:cNvPr id="2" name="Title 1"/>
          <p:cNvSpPr>
            <a:spLocks noGrp="1"/>
          </p:cNvSpPr>
          <p:nvPr>
            <p:ph type="ctrTitle"/>
          </p:nvPr>
        </p:nvSpPr>
        <p:spPr>
          <a:xfrm>
            <a:off x="480000" y="3420000"/>
            <a:ext cx="11232000" cy="2520000"/>
          </a:xfrm>
        </p:spPr>
        <p:txBody>
          <a:bodyPr anchor="b" anchorCtr="0">
            <a:normAutofit/>
          </a:bodyPr>
          <a:lstStyle>
            <a:lvl1pPr>
              <a:defRPr sz="1600" b="0" baseline="0">
                <a:solidFill>
                  <a:srgbClr val="FFFFFF"/>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480000" y="6120019"/>
            <a:ext cx="11232000" cy="358407"/>
          </a:xfrm>
        </p:spPr>
        <p:txBody>
          <a:bodyPr anchor="b" anchorCtr="0">
            <a:normAutofit/>
          </a:bodyPr>
          <a:lstStyle>
            <a:lvl1pPr marL="0" indent="0" algn="l">
              <a:buNone/>
              <a:defRPr sz="1200">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12" name="Group 11"/>
          <p:cNvGrpSpPr>
            <a:grpSpLocks noChangeAspect="1"/>
          </p:cNvGrpSpPr>
          <p:nvPr/>
        </p:nvGrpSpPr>
        <p:grpSpPr>
          <a:xfrm>
            <a:off x="9912000" y="3"/>
            <a:ext cx="2280000" cy="1303021"/>
            <a:chOff x="7949775" y="1"/>
            <a:chExt cx="1194225" cy="910000"/>
          </a:xfrm>
        </p:grpSpPr>
        <p:sp>
          <p:nvSpPr>
            <p:cNvPr id="13" name="Rectangle 12"/>
            <p:cNvSpPr/>
            <p:nvPr userDrawn="1"/>
          </p:nvSpPr>
          <p:spPr>
            <a:xfrm>
              <a:off x="7949775" y="1"/>
              <a:ext cx="1194225" cy="91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4" name="KCL-LOGO-UK-1.png"/>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7949775" y="258"/>
              <a:ext cx="1194225" cy="909486"/>
            </a:xfrm>
            <a:prstGeom prst="rect">
              <a:avLst/>
            </a:prstGeom>
          </p:spPr>
        </p:pic>
      </p:grpSp>
    </p:spTree>
    <p:extLst>
      <p:ext uri="{BB962C8B-B14F-4D97-AF65-F5344CB8AC3E}">
        <p14:creationId xmlns:p14="http://schemas.microsoft.com/office/powerpoint/2010/main" val="47632046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556793"/>
            <a:ext cx="5384800" cy="4269468"/>
          </a:xfrm>
          <a:prstGeom prst="rect">
            <a:avLst/>
          </a:prstGeom>
        </p:spPr>
        <p:txBody>
          <a:bodyPr>
            <a:normAutofit/>
          </a:bodyPr>
          <a:lstStyle>
            <a:lvl1pPr>
              <a:defRPr sz="2400"/>
            </a:lvl1pPr>
            <a:lvl2pPr>
              <a:defRPr sz="2130"/>
            </a:lvl2pPr>
            <a:lvl3pPr>
              <a:defRPr sz="1870"/>
            </a:lvl3pPr>
            <a:lvl4pPr>
              <a:defRPr sz="2133"/>
            </a:lvl4pPr>
            <a:lvl5pPr>
              <a:defRPr sz="2133"/>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5" name="Date Placeholder 3">
            <a:extLst>
              <a:ext uri="{FF2B5EF4-FFF2-40B4-BE49-F238E27FC236}">
                <a16:creationId xmlns:a16="http://schemas.microsoft.com/office/drawing/2014/main" id="{67276534-D227-482D-AC62-73FA3EB83E06}"/>
              </a:ext>
            </a:extLst>
          </p:cNvPr>
          <p:cNvSpPr>
            <a:spLocks noGrp="1"/>
          </p:cNvSpPr>
          <p:nvPr>
            <p:ph type="dt" sz="half" idx="10"/>
          </p:nvPr>
        </p:nvSpPr>
        <p:spPr/>
        <p:txBody>
          <a:bodyPr/>
          <a:lstStyle>
            <a:lvl1pPr>
              <a:defRPr/>
            </a:lvl1pPr>
          </a:lstStyle>
          <a:p>
            <a:fld id="{022A4F6E-86B5-49C3-BC18-BC6F5678B0A0}" type="datetimeFigureOut">
              <a:rPr lang="en-US" smtClean="0"/>
              <a:t>1/28/2024</a:t>
            </a:fld>
            <a:endParaRPr lang="en-US"/>
          </a:p>
        </p:txBody>
      </p:sp>
      <p:sp>
        <p:nvSpPr>
          <p:cNvPr id="6" name="Footer Placeholder 4">
            <a:extLst>
              <a:ext uri="{FF2B5EF4-FFF2-40B4-BE49-F238E27FC236}">
                <a16:creationId xmlns:a16="http://schemas.microsoft.com/office/drawing/2014/main" id="{09FEEBE0-EE3E-44CA-9D29-BE798CB79337}"/>
              </a:ext>
            </a:extLst>
          </p:cNvPr>
          <p:cNvSpPr>
            <a:spLocks noGrp="1"/>
          </p:cNvSpPr>
          <p:nvPr>
            <p:ph type="ftr" sz="quarter" idx="11"/>
          </p:nvPr>
        </p:nvSpPr>
        <p:spPr>
          <a:xfrm>
            <a:off x="3714751" y="6356351"/>
            <a:ext cx="3860800" cy="366183"/>
          </a:xfrm>
          <a:prstGeom prst="rect">
            <a:avLst/>
          </a:prstGeom>
        </p:spPr>
        <p:txBody>
          <a:bodyPr/>
          <a:lstStyle>
            <a:lvl1pPr>
              <a:defRPr/>
            </a:lvl1pPr>
          </a:lstStyle>
          <a:p>
            <a:endParaRPr lang="en-US"/>
          </a:p>
        </p:txBody>
      </p:sp>
      <p:sp>
        <p:nvSpPr>
          <p:cNvPr id="7" name="Slide Number Placeholder 5">
            <a:extLst>
              <a:ext uri="{FF2B5EF4-FFF2-40B4-BE49-F238E27FC236}">
                <a16:creationId xmlns:a16="http://schemas.microsoft.com/office/drawing/2014/main" id="{8646E212-76A5-422F-A842-EDE34BF20AA1}"/>
              </a:ext>
            </a:extLst>
          </p:cNvPr>
          <p:cNvSpPr>
            <a:spLocks noGrp="1"/>
          </p:cNvSpPr>
          <p:nvPr>
            <p:ph type="sldNum" sz="quarter" idx="12"/>
          </p:nvPr>
        </p:nvSpPr>
        <p:spPr/>
        <p:txBody>
          <a:bodyPr/>
          <a:lstStyle>
            <a:lvl1pPr>
              <a:defRPr/>
            </a:lvl1pPr>
          </a:lstStyle>
          <a:p>
            <a:fld id="{7C914159-D68C-43CA-97D1-788EF79EC005}" type="slidenum">
              <a:rPr lang="en-US" smtClean="0"/>
              <a:t>‹#›</a:t>
            </a:fld>
            <a:endParaRPr lang="en-US"/>
          </a:p>
        </p:txBody>
      </p:sp>
      <p:sp>
        <p:nvSpPr>
          <p:cNvPr id="9" name="Title 5"/>
          <p:cNvSpPr>
            <a:spLocks noGrp="1"/>
          </p:cNvSpPr>
          <p:nvPr>
            <p:ph type="title"/>
          </p:nvPr>
        </p:nvSpPr>
        <p:spPr>
          <a:xfrm>
            <a:off x="609600" y="793378"/>
            <a:ext cx="10972800" cy="647700"/>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42195151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15"/>
          <p:cNvSpPr>
            <a:spLocks noGrp="1"/>
          </p:cNvSpPr>
          <p:nvPr>
            <p:ph sz="quarter" idx="13"/>
          </p:nvPr>
        </p:nvSpPr>
        <p:spPr>
          <a:xfrm>
            <a:off x="609601" y="1628799"/>
            <a:ext cx="10972800" cy="4536505"/>
          </a:xfrm>
          <a:prstGeom prst="rect">
            <a:avLst/>
          </a:prstGeo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Date Placeholder 12"/>
          <p:cNvSpPr>
            <a:spLocks noGrp="1"/>
          </p:cNvSpPr>
          <p:nvPr>
            <p:ph type="dt" sz="half" idx="14"/>
          </p:nvPr>
        </p:nvSpPr>
        <p:spPr/>
        <p:txBody>
          <a:bodyPr/>
          <a:lstStyle>
            <a:lvl1pPr algn="r">
              <a:defRPr/>
            </a:lvl1pPr>
          </a:lstStyle>
          <a:p>
            <a:fld id="{022A4F6E-86B5-49C3-BC18-BC6F5678B0A0}" type="datetimeFigureOut">
              <a:rPr lang="en-US" smtClean="0"/>
              <a:t>1/28/2024</a:t>
            </a:fld>
            <a:endParaRPr lang="en-US"/>
          </a:p>
        </p:txBody>
      </p:sp>
      <p:sp>
        <p:nvSpPr>
          <p:cNvPr id="14" name="Slide Number Placeholder 13"/>
          <p:cNvSpPr>
            <a:spLocks noGrp="1"/>
          </p:cNvSpPr>
          <p:nvPr>
            <p:ph type="sldNum" sz="quarter" idx="15"/>
          </p:nvPr>
        </p:nvSpPr>
        <p:spPr/>
        <p:txBody>
          <a:bodyPr/>
          <a:lstStyle/>
          <a:p>
            <a:fld id="{7C914159-D68C-43CA-97D1-788EF79EC005}" type="slidenum">
              <a:rPr lang="en-US" smtClean="0"/>
              <a:t>‹#›</a:t>
            </a:fld>
            <a:endParaRPr lang="en-US"/>
          </a:p>
        </p:txBody>
      </p:sp>
      <p:sp>
        <p:nvSpPr>
          <p:cNvPr id="15" name="Title 5"/>
          <p:cNvSpPr>
            <a:spLocks noGrp="1"/>
          </p:cNvSpPr>
          <p:nvPr>
            <p:ph type="title"/>
          </p:nvPr>
        </p:nvSpPr>
        <p:spPr>
          <a:xfrm>
            <a:off x="609600" y="793378"/>
            <a:ext cx="10972800" cy="647700"/>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25944861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trategy_Title and Content">
    <p:spTree>
      <p:nvGrpSpPr>
        <p:cNvPr id="1" name=""/>
        <p:cNvGrpSpPr/>
        <p:nvPr/>
      </p:nvGrpSpPr>
      <p:grpSpPr>
        <a:xfrm>
          <a:off x="0" y="0"/>
          <a:ext cx="0" cy="0"/>
          <a:chOff x="0" y="0"/>
          <a:chExt cx="0" cy="0"/>
        </a:xfrm>
      </p:grpSpPr>
      <p:sp>
        <p:nvSpPr>
          <p:cNvPr id="9" name="Content Placeholder 15"/>
          <p:cNvSpPr>
            <a:spLocks noGrp="1"/>
          </p:cNvSpPr>
          <p:nvPr>
            <p:ph sz="quarter" idx="13"/>
          </p:nvPr>
        </p:nvSpPr>
        <p:spPr>
          <a:xfrm>
            <a:off x="609601" y="1628799"/>
            <a:ext cx="10972800" cy="4536505"/>
          </a:xfrm>
          <a:prstGeom prst="rect">
            <a:avLst/>
          </a:prstGeo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Date Placeholder 12"/>
          <p:cNvSpPr>
            <a:spLocks noGrp="1"/>
          </p:cNvSpPr>
          <p:nvPr>
            <p:ph type="dt" sz="half" idx="14"/>
          </p:nvPr>
        </p:nvSpPr>
        <p:spPr/>
        <p:txBody>
          <a:bodyPr/>
          <a:lstStyle>
            <a:lvl1pPr algn="r">
              <a:defRPr/>
            </a:lvl1pPr>
          </a:lstStyle>
          <a:p>
            <a:fld id="{022A4F6E-86B5-49C3-BC18-BC6F5678B0A0}" type="datetimeFigureOut">
              <a:rPr lang="en-US" smtClean="0"/>
              <a:t>1/28/2024</a:t>
            </a:fld>
            <a:endParaRPr lang="en-US"/>
          </a:p>
        </p:txBody>
      </p:sp>
      <p:sp>
        <p:nvSpPr>
          <p:cNvPr id="14" name="Slide Number Placeholder 13"/>
          <p:cNvSpPr>
            <a:spLocks noGrp="1"/>
          </p:cNvSpPr>
          <p:nvPr>
            <p:ph type="sldNum" sz="quarter" idx="15"/>
          </p:nvPr>
        </p:nvSpPr>
        <p:spPr/>
        <p:txBody>
          <a:bodyPr/>
          <a:lstStyle/>
          <a:p>
            <a:fld id="{7C914159-D68C-43CA-97D1-788EF79EC005}" type="slidenum">
              <a:rPr lang="en-US" smtClean="0"/>
              <a:t>‹#›</a:t>
            </a:fld>
            <a:endParaRPr lang="en-US"/>
          </a:p>
        </p:txBody>
      </p:sp>
      <p:sp>
        <p:nvSpPr>
          <p:cNvPr id="15" name="Title 5"/>
          <p:cNvSpPr>
            <a:spLocks noGrp="1"/>
          </p:cNvSpPr>
          <p:nvPr>
            <p:ph type="title"/>
          </p:nvPr>
        </p:nvSpPr>
        <p:spPr>
          <a:xfrm>
            <a:off x="609600" y="793378"/>
            <a:ext cx="10972800" cy="647700"/>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21394681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91C3AB7-B446-4F72-ABF4-5CD8EB4362BE}"/>
              </a:ext>
            </a:extLst>
          </p:cNvPr>
          <p:cNvSpPr>
            <a:spLocks noGrp="1"/>
          </p:cNvSpPr>
          <p:nvPr>
            <p:ph type="dt" sz="half" idx="10"/>
          </p:nvPr>
        </p:nvSpPr>
        <p:spPr/>
        <p:txBody>
          <a:bodyPr/>
          <a:lstStyle>
            <a:lvl1pPr>
              <a:defRPr/>
            </a:lvl1pPr>
          </a:lstStyle>
          <a:p>
            <a:fld id="{022A4F6E-86B5-49C3-BC18-BC6F5678B0A0}" type="datetimeFigureOut">
              <a:rPr lang="en-US" smtClean="0"/>
              <a:t>1/28/2024</a:t>
            </a:fld>
            <a:endParaRPr lang="en-US"/>
          </a:p>
        </p:txBody>
      </p:sp>
      <p:sp>
        <p:nvSpPr>
          <p:cNvPr id="4" name="Slide Number Placeholder 5">
            <a:extLst>
              <a:ext uri="{FF2B5EF4-FFF2-40B4-BE49-F238E27FC236}">
                <a16:creationId xmlns:a16="http://schemas.microsoft.com/office/drawing/2014/main" id="{6A30E2C6-999F-4EDE-95E6-51D642113A04}"/>
              </a:ext>
            </a:extLst>
          </p:cNvPr>
          <p:cNvSpPr>
            <a:spLocks noGrp="1"/>
          </p:cNvSpPr>
          <p:nvPr>
            <p:ph type="sldNum" sz="quarter" idx="12"/>
          </p:nvPr>
        </p:nvSpPr>
        <p:spPr/>
        <p:txBody>
          <a:bodyPr/>
          <a:lstStyle>
            <a:lvl1pPr>
              <a:defRPr/>
            </a:lvl1pPr>
          </a:lstStyle>
          <a:p>
            <a:fld id="{7C914159-D68C-43CA-97D1-788EF79EC005}" type="slidenum">
              <a:rPr lang="en-US" smtClean="0"/>
              <a:t>‹#›</a:t>
            </a:fld>
            <a:endParaRPr lang="en-US"/>
          </a:p>
        </p:txBody>
      </p:sp>
      <p:sp>
        <p:nvSpPr>
          <p:cNvPr id="5" name="Footer Placeholder 4">
            <a:extLst>
              <a:ext uri="{FF2B5EF4-FFF2-40B4-BE49-F238E27FC236}">
                <a16:creationId xmlns:a16="http://schemas.microsoft.com/office/drawing/2014/main" id="{D142A6D1-940A-4FE1-91A1-99304940D6E9}"/>
              </a:ext>
            </a:extLst>
          </p:cNvPr>
          <p:cNvSpPr>
            <a:spLocks noGrp="1"/>
          </p:cNvSpPr>
          <p:nvPr>
            <p:ph type="ftr" sz="quarter" idx="11"/>
          </p:nvPr>
        </p:nvSpPr>
        <p:spPr>
          <a:xfrm>
            <a:off x="3714751" y="6356351"/>
            <a:ext cx="3860800" cy="366183"/>
          </a:xfrm>
          <a:prstGeom prst="rect">
            <a:avLst/>
          </a:prstGeom>
        </p:spPr>
        <p:txBody>
          <a:bodyPr/>
          <a:lstStyle>
            <a:lvl1pPr>
              <a:defRPr/>
            </a:lvl1pPr>
          </a:lstStyle>
          <a:p>
            <a:endParaRPr lang="en-US"/>
          </a:p>
        </p:txBody>
      </p:sp>
    </p:spTree>
    <p:extLst>
      <p:ext uri="{BB962C8B-B14F-4D97-AF65-F5344CB8AC3E}">
        <p14:creationId xmlns:p14="http://schemas.microsoft.com/office/powerpoint/2010/main" val="907631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0000" y="180000"/>
            <a:ext cx="11232000" cy="720000"/>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80000" y="1089220"/>
            <a:ext cx="11232000" cy="48564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80000" y="6498000"/>
            <a:ext cx="960000" cy="360000"/>
          </a:xfrm>
          <a:prstGeom prst="rect">
            <a:avLst/>
          </a:prstGeom>
        </p:spPr>
        <p:txBody>
          <a:bodyPr vert="horz" lIns="0" tIns="0" rIns="0" bIns="0" rtlCol="0" anchor="t" anchorCtr="0"/>
          <a:lstStyle>
            <a:lvl1pPr algn="l">
              <a:defRPr sz="1000">
                <a:solidFill>
                  <a:schemeClr val="tx2"/>
                </a:solidFill>
                <a:latin typeface="Georgia"/>
                <a:cs typeface="Georgia"/>
              </a:defRPr>
            </a:lvl1pPr>
          </a:lstStyle>
          <a:p>
            <a:fld id="{022A4F6E-86B5-49C3-BC18-BC6F5678B0A0}" type="datetimeFigureOut">
              <a:rPr lang="en-US" smtClean="0"/>
              <a:t>1/28/2024</a:t>
            </a:fld>
            <a:endParaRPr lang="en-US"/>
          </a:p>
        </p:txBody>
      </p:sp>
      <p:sp>
        <p:nvSpPr>
          <p:cNvPr id="5" name="Footer Placeholder 4"/>
          <p:cNvSpPr>
            <a:spLocks noGrp="1"/>
          </p:cNvSpPr>
          <p:nvPr>
            <p:ph type="ftr" sz="quarter" idx="3"/>
          </p:nvPr>
        </p:nvSpPr>
        <p:spPr>
          <a:xfrm>
            <a:off x="1440000" y="6498000"/>
            <a:ext cx="9312000" cy="360000"/>
          </a:xfrm>
          <a:prstGeom prst="rect">
            <a:avLst/>
          </a:prstGeom>
        </p:spPr>
        <p:txBody>
          <a:bodyPr vert="horz" lIns="0" tIns="0" rIns="0" bIns="0" rtlCol="0" anchor="t" anchorCtr="0"/>
          <a:lstStyle>
            <a:lvl1pPr algn="l">
              <a:defRPr sz="1000">
                <a:solidFill>
                  <a:schemeClr val="tx2"/>
                </a:solidFill>
                <a:latin typeface="Georgia"/>
                <a:cs typeface="Georgia"/>
              </a:defRPr>
            </a:lvl1pPr>
          </a:lstStyle>
          <a:p>
            <a:endParaRPr lang="en-US"/>
          </a:p>
        </p:txBody>
      </p:sp>
      <p:sp>
        <p:nvSpPr>
          <p:cNvPr id="6" name="Slide Number Placeholder 5"/>
          <p:cNvSpPr>
            <a:spLocks noGrp="1"/>
          </p:cNvSpPr>
          <p:nvPr>
            <p:ph type="sldNum" sz="quarter" idx="4"/>
          </p:nvPr>
        </p:nvSpPr>
        <p:spPr>
          <a:xfrm>
            <a:off x="10752000" y="6498000"/>
            <a:ext cx="960000" cy="360000"/>
          </a:xfrm>
          <a:prstGeom prst="rect">
            <a:avLst/>
          </a:prstGeom>
        </p:spPr>
        <p:txBody>
          <a:bodyPr vert="horz" lIns="91440" tIns="0" rIns="0" bIns="0" rtlCol="0" anchor="t" anchorCtr="0"/>
          <a:lstStyle>
            <a:lvl1pPr algn="r">
              <a:defRPr sz="1000">
                <a:solidFill>
                  <a:schemeClr val="tx2"/>
                </a:solidFill>
                <a:latin typeface="Georgia"/>
                <a:cs typeface="Georgia"/>
              </a:defRPr>
            </a:lvl1pPr>
          </a:lstStyle>
          <a:p>
            <a:fld id="{7C914159-D68C-43CA-97D1-788EF79EC005}" type="slidenum">
              <a:rPr lang="en-US" smtClean="0"/>
              <a:t>‹#›</a:t>
            </a:fld>
            <a:endParaRPr lang="en-US"/>
          </a:p>
        </p:txBody>
      </p:sp>
    </p:spTree>
    <p:extLst>
      <p:ext uri="{BB962C8B-B14F-4D97-AF65-F5344CB8AC3E}">
        <p14:creationId xmlns:p14="http://schemas.microsoft.com/office/powerpoint/2010/main" val="2021549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ransition>
    <p:fade/>
  </p:transition>
  <p:txStyles>
    <p:titleStyle>
      <a:lvl1pPr algn="l" defTabSz="457200" rtl="0" eaLnBrk="1" latinLnBrk="0" hangingPunct="1">
        <a:spcBef>
          <a:spcPct val="0"/>
        </a:spcBef>
        <a:buNone/>
        <a:defRPr sz="3200" kern="1200">
          <a:solidFill>
            <a:srgbClr val="0A2D50"/>
          </a:solidFill>
          <a:latin typeface="Impact"/>
          <a:ea typeface="+mj-ea"/>
          <a:cs typeface="Impact"/>
        </a:defRPr>
      </a:lvl1pPr>
    </p:titleStyle>
    <p:bodyStyle>
      <a:lvl1pPr marL="26987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vtk.org/doc/nightly/html/classvtkOctreePointLocator.html"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vtk.org/doc/nightly/html/classvtkOBBTree.html#detail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vtk.org/doc/nightly/html/classvtkOBBTree.html#a36e9a376ccc750d735043117c59c6d91"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vtk.org/doc/nightly/html/classvtkAbstractCellLocator.html" TargetMode="External"/><Relationship Id="rId4" Type="http://schemas.openxmlformats.org/officeDocument/2006/relationships/hyperlink" Target="https://vtk.org/doc/nightly/html/classvtkOctreePointLocator.html#accc99d25a55cc0e43056be3bdd7560d5"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vtk.org/doc/nightly/html/classvtkBezierContourLineInterpolator.html#details"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hyperlink" Target="https://vtk.org/doc/nightly/html/classvtkSplineRepresentation.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vtk.org/doc/nightly/html/classvtkKdTree.html#details"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ideo" Target="https://www.youtube.com/embed/3MipMoz1P_c?feature=oembed" TargetMode="External"/><Relationship Id="rId5" Type="http://schemas.openxmlformats.org/officeDocument/2006/relationships/image" Target="../media/image23.jpe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C0BA1EB-1949-4708-884C-5B234C9A0A39}"/>
              </a:ext>
            </a:extLst>
          </p:cNvPr>
          <p:cNvSpPr txBox="1"/>
          <p:nvPr/>
        </p:nvSpPr>
        <p:spPr>
          <a:xfrm>
            <a:off x="0" y="1509824"/>
            <a:ext cx="12192000" cy="830997"/>
          </a:xfrm>
          <a:prstGeom prst="rect">
            <a:avLst/>
          </a:prstGeom>
          <a:noFill/>
        </p:spPr>
        <p:txBody>
          <a:bodyPr wrap="square" rtlCol="0">
            <a:spAutoFit/>
          </a:bodyPr>
          <a:lstStyle/>
          <a:p>
            <a:pPr algn="ctr"/>
            <a:r>
              <a:rPr lang="en-US" sz="4800" dirty="0">
                <a:latin typeface="+mj-lt"/>
              </a:rPr>
              <a:t>Image-guided Navigation for Robotics</a:t>
            </a:r>
          </a:p>
        </p:txBody>
      </p:sp>
      <p:sp>
        <p:nvSpPr>
          <p:cNvPr id="19" name="TextBox 18">
            <a:extLst>
              <a:ext uri="{FF2B5EF4-FFF2-40B4-BE49-F238E27FC236}">
                <a16:creationId xmlns:a16="http://schemas.microsoft.com/office/drawing/2014/main" id="{92984BE8-D9D7-4702-AC20-1B3D92B8229D}"/>
              </a:ext>
            </a:extLst>
          </p:cNvPr>
          <p:cNvSpPr txBox="1"/>
          <p:nvPr/>
        </p:nvSpPr>
        <p:spPr>
          <a:xfrm>
            <a:off x="1488557" y="2340821"/>
            <a:ext cx="8580475" cy="584775"/>
          </a:xfrm>
          <a:prstGeom prst="rect">
            <a:avLst/>
          </a:prstGeom>
          <a:noFill/>
        </p:spPr>
        <p:txBody>
          <a:bodyPr wrap="square" rtlCol="0">
            <a:spAutoFit/>
          </a:bodyPr>
          <a:lstStyle/>
          <a:p>
            <a:pPr algn="ctr"/>
            <a:r>
              <a:rPr lang="en-US" sz="3200" dirty="0">
                <a:latin typeface="+mj-lt"/>
              </a:rPr>
              <a:t>Hard Constraints Part 2</a:t>
            </a:r>
          </a:p>
        </p:txBody>
      </p:sp>
      <p:sp>
        <p:nvSpPr>
          <p:cNvPr id="5" name="TextBox 4">
            <a:extLst>
              <a:ext uri="{FF2B5EF4-FFF2-40B4-BE49-F238E27FC236}">
                <a16:creationId xmlns:a16="http://schemas.microsoft.com/office/drawing/2014/main" id="{9FAD3EFD-E841-4D68-AF80-6B97B49976C1}"/>
              </a:ext>
            </a:extLst>
          </p:cNvPr>
          <p:cNvSpPr txBox="1"/>
          <p:nvPr/>
        </p:nvSpPr>
        <p:spPr>
          <a:xfrm>
            <a:off x="154709" y="4882490"/>
            <a:ext cx="7049387" cy="1569660"/>
          </a:xfrm>
          <a:prstGeom prst="rect">
            <a:avLst/>
          </a:prstGeom>
          <a:noFill/>
        </p:spPr>
        <p:txBody>
          <a:bodyPr wrap="square" rtlCol="0">
            <a:spAutoFit/>
          </a:bodyPr>
          <a:lstStyle/>
          <a:p>
            <a:r>
              <a:rPr lang="en-US" sz="2400" dirty="0">
                <a:latin typeface="+mn-lt"/>
              </a:rPr>
              <a:t>Rachel Sparks, Ph.D.</a:t>
            </a:r>
          </a:p>
          <a:p>
            <a:r>
              <a:rPr lang="en-US" sz="2400" dirty="0">
                <a:latin typeface="+mn-lt"/>
              </a:rPr>
              <a:t>Rachel.sparks@kcl.ac.uk</a:t>
            </a:r>
          </a:p>
          <a:p>
            <a:r>
              <a:rPr lang="en-US" sz="2400" dirty="0">
                <a:latin typeface="+mj-lt"/>
              </a:rPr>
              <a:t>Lecturer in Surgical &amp; Interventional Engineering</a:t>
            </a:r>
          </a:p>
          <a:p>
            <a:r>
              <a:rPr lang="en-US" sz="2400" dirty="0">
                <a:latin typeface="+mj-lt"/>
              </a:rPr>
              <a:t>School of Biomedical Engineering &amp; Imaging Sciences</a:t>
            </a:r>
          </a:p>
        </p:txBody>
      </p:sp>
    </p:spTree>
    <p:extLst>
      <p:ext uri="{BB962C8B-B14F-4D97-AF65-F5344CB8AC3E}">
        <p14:creationId xmlns:p14="http://schemas.microsoft.com/office/powerpoint/2010/main" val="90249123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3893-8E2B-4F90-B231-3F9259D076C9}"/>
              </a:ext>
            </a:extLst>
          </p:cNvPr>
          <p:cNvSpPr>
            <a:spLocks noGrp="1"/>
          </p:cNvSpPr>
          <p:nvPr>
            <p:ph type="title"/>
          </p:nvPr>
        </p:nvSpPr>
        <p:spPr/>
        <p:txBody>
          <a:bodyPr>
            <a:normAutofit/>
          </a:bodyPr>
          <a:lstStyle/>
          <a:p>
            <a:r>
              <a:rPr lang="en-US" dirty="0"/>
              <a:t>Hard Constraints Week 1 – Recap</a:t>
            </a:r>
          </a:p>
        </p:txBody>
      </p:sp>
      <p:sp>
        <p:nvSpPr>
          <p:cNvPr id="3" name="Content Placeholder 2">
            <a:extLst>
              <a:ext uri="{FF2B5EF4-FFF2-40B4-BE49-F238E27FC236}">
                <a16:creationId xmlns:a16="http://schemas.microsoft.com/office/drawing/2014/main" id="{DE20EF25-0A13-422B-97B6-DF7010B94ECB}"/>
              </a:ext>
            </a:extLst>
          </p:cNvPr>
          <p:cNvSpPr>
            <a:spLocks noGrp="1"/>
          </p:cNvSpPr>
          <p:nvPr>
            <p:ph idx="1"/>
          </p:nvPr>
        </p:nvSpPr>
        <p:spPr/>
        <p:txBody>
          <a:bodyPr>
            <a:normAutofit/>
          </a:bodyPr>
          <a:lstStyle/>
          <a:p>
            <a:pPr marL="0" lvl="2" indent="0">
              <a:buNone/>
            </a:pPr>
            <a:r>
              <a:rPr lang="en-GB" dirty="0"/>
              <a:t>We want to design the following algorithm</a:t>
            </a:r>
            <a:endParaRPr lang="en-GB" dirty="0">
              <a:latin typeface="Courier New" panose="02070309020205020404" pitchFamily="49" charset="0"/>
              <a:cs typeface="Courier New" panose="02070309020205020404" pitchFamily="49" charset="0"/>
            </a:endParaRPr>
          </a:p>
          <a:p>
            <a:pPr marL="539750" lvl="4" indent="0">
              <a:buNone/>
            </a:pPr>
            <a:r>
              <a:rPr lang="en-GB" dirty="0">
                <a:latin typeface="Courier New" panose="02070309020205020404" pitchFamily="49" charset="0"/>
                <a:cs typeface="Courier New" panose="02070309020205020404" pitchFamily="49" charset="0"/>
              </a:rPr>
              <a:t>For s(t) </a:t>
            </a:r>
            <a:r>
              <a:rPr lang="el-GR" dirty="0">
                <a:latin typeface="Courier New" panose="02070309020205020404" pitchFamily="49" charset="0"/>
                <a:cs typeface="Courier New" panose="02070309020205020404" pitchFamily="49" charset="0"/>
              </a:rPr>
              <a:t>ϵ</a:t>
            </a:r>
            <a:r>
              <a:rPr lang="en-US" dirty="0">
                <a:latin typeface="Courier New" panose="02070309020205020404" pitchFamily="49" charset="0"/>
                <a:cs typeface="Courier New" panose="02070309020205020404" pitchFamily="49" charset="0"/>
              </a:rPr>
              <a:t> </a:t>
            </a:r>
            <a:r>
              <a:rPr lang="en-GB" dirty="0">
                <a:latin typeface="Courier New" panose="02070309020205020404" pitchFamily="49" charset="0"/>
                <a:cs typeface="Courier New" panose="02070309020205020404" pitchFamily="49" charset="0"/>
              </a:rPr>
              <a:t>S(t)</a:t>
            </a:r>
          </a:p>
          <a:p>
            <a:pPr marL="539750" lvl="4" indent="0">
              <a:buNone/>
            </a:pPr>
            <a:r>
              <a:rPr lang="en-GB" dirty="0">
                <a:latin typeface="Courier New" panose="02070309020205020404" pitchFamily="49" charset="0"/>
                <a:cs typeface="Courier New" panose="02070309020205020404" pitchFamily="49" charset="0"/>
              </a:rPr>
              <a:t>	For c </a:t>
            </a:r>
            <a:r>
              <a:rPr lang="el-GR" dirty="0">
                <a:latin typeface="Courier New" panose="02070309020205020404" pitchFamily="49" charset="0"/>
                <a:cs typeface="Courier New" panose="02070309020205020404" pitchFamily="49" charset="0"/>
              </a:rPr>
              <a:t>ϵ</a:t>
            </a:r>
            <a:r>
              <a:rPr lang="en-US" dirty="0">
                <a:latin typeface="Courier New" panose="02070309020205020404" pitchFamily="49" charset="0"/>
                <a:cs typeface="Courier New" panose="02070309020205020404" pitchFamily="49" charset="0"/>
              </a:rPr>
              <a:t> </a:t>
            </a:r>
            <a:r>
              <a:rPr lang="en-GB" dirty="0">
                <a:latin typeface="Courier New" panose="02070309020205020404" pitchFamily="49" charset="0"/>
                <a:cs typeface="Courier New" panose="02070309020205020404" pitchFamily="49" charset="0"/>
              </a:rPr>
              <a:t>B </a:t>
            </a:r>
            <a:endParaRPr lang="en-US" dirty="0">
              <a:latin typeface="Courier New" panose="02070309020205020404" pitchFamily="49" charset="0"/>
              <a:cs typeface="Courier New" panose="02070309020205020404" pitchFamily="49" charset="0"/>
            </a:endParaRPr>
          </a:p>
          <a:p>
            <a:pPr marL="539750" lvl="4" indent="0">
              <a:buNone/>
            </a:pPr>
            <a:r>
              <a:rPr lang="en-US" dirty="0">
                <a:latin typeface="Courier New" panose="02070309020205020404" pitchFamily="49" charset="0"/>
                <a:cs typeface="Courier New" panose="02070309020205020404" pitchFamily="49" charset="0"/>
              </a:rPr>
              <a:t>			if (!Criteria 1)</a:t>
            </a:r>
          </a:p>
          <a:p>
            <a:pPr marL="539750" lvl="4" indent="0">
              <a:buNone/>
            </a:pPr>
            <a:r>
              <a:rPr lang="en-US" dirty="0">
                <a:latin typeface="Courier New" panose="02070309020205020404" pitchFamily="49" charset="0"/>
                <a:cs typeface="Courier New" panose="02070309020205020404" pitchFamily="49" charset="0"/>
              </a:rPr>
              <a:t>				return</a:t>
            </a:r>
          </a:p>
          <a:p>
            <a:pPr marL="539750" lvl="4" indent="0">
              <a:buNone/>
            </a:pPr>
            <a:r>
              <a:rPr lang="en-US" dirty="0">
                <a:latin typeface="Courier New" panose="02070309020205020404" pitchFamily="49" charset="0"/>
                <a:cs typeface="Courier New" panose="02070309020205020404" pitchFamily="49" charset="0"/>
              </a:rPr>
              <a:t> 			else if (!Criteria 2)</a:t>
            </a:r>
          </a:p>
          <a:p>
            <a:pPr marL="539750" lvl="4" indent="0">
              <a:buNone/>
            </a:pPr>
            <a:r>
              <a:rPr lang="en-US" dirty="0">
                <a:latin typeface="Courier New" panose="02070309020205020404" pitchFamily="49" charset="0"/>
                <a:cs typeface="Courier New" panose="02070309020205020404" pitchFamily="49" charset="0"/>
              </a:rPr>
              <a:t>				return</a:t>
            </a:r>
          </a:p>
          <a:p>
            <a:pPr marL="539750" lvl="4" indent="0">
              <a:buNone/>
            </a:pPr>
            <a:r>
              <a:rPr lang="en-US" dirty="0">
                <a:latin typeface="Courier New" panose="02070309020205020404" pitchFamily="49" charset="0"/>
                <a:cs typeface="Courier New" panose="02070309020205020404" pitchFamily="49" charset="0"/>
              </a:rPr>
              <a:t>		 	else if (Criteria 3)</a:t>
            </a:r>
          </a:p>
          <a:p>
            <a:pPr marL="539750" lvl="4"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a:t>
            </a:r>
            <a:r>
              <a:rPr lang="en-US" baseline="-25000" dirty="0" err="1">
                <a:latin typeface="Courier New" panose="02070309020205020404" pitchFamily="49" charset="0"/>
                <a:cs typeface="Courier New" panose="02070309020205020404" pitchFamily="49" charset="0"/>
              </a:rPr>
              <a:t>good</a:t>
            </a:r>
            <a:r>
              <a:rPr lang="en-US" dirty="0">
                <a:latin typeface="Courier New" panose="02070309020205020404" pitchFamily="49" charset="0"/>
                <a:cs typeface="Courier New" panose="02070309020205020404" pitchFamily="49" charset="0"/>
              </a:rPr>
              <a:t>(t) ← s(t)</a:t>
            </a:r>
          </a:p>
          <a:p>
            <a:pPr lvl="2" indent="0">
              <a:buNone/>
            </a:pPr>
            <a:endParaRPr lang="en-US" dirty="0"/>
          </a:p>
          <a:p>
            <a:pPr lvl="3"/>
            <a:endParaRPr lang="en-US" dirty="0"/>
          </a:p>
          <a:p>
            <a:pPr lvl="1"/>
            <a:endParaRPr lang="en-US"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E941A83-4DF4-7A5C-7DDC-488C9E413216}"/>
                  </a:ext>
                </a:extLst>
              </p:cNvPr>
              <p:cNvSpPr txBox="1"/>
              <p:nvPr/>
            </p:nvSpPr>
            <p:spPr>
              <a:xfrm>
                <a:off x="6210180" y="1500118"/>
                <a:ext cx="20820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𝑆𝑡𝑎𝑡𝑒𝑠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𝑜𝑢𝑟</m:t>
                      </m:r>
                      <m:r>
                        <a:rPr lang="en-US" b="0" i="1" smtClean="0">
                          <a:latin typeface="Cambria Math" panose="02040503050406030204" pitchFamily="18" charset="0"/>
                        </a:rPr>
                        <m:t> </m:t>
                      </m:r>
                      <m:r>
                        <a:rPr lang="en-US" b="0" i="1" smtClean="0">
                          <a:latin typeface="Cambria Math" panose="02040503050406030204" pitchFamily="18" charset="0"/>
                        </a:rPr>
                        <m:t>𝑟𝑜𝑏𝑜𝑡</m:t>
                      </m:r>
                    </m:oMath>
                  </m:oMathPara>
                </a14:m>
                <a:endParaRPr lang="en-US" dirty="0"/>
              </a:p>
            </p:txBody>
          </p:sp>
        </mc:Choice>
        <mc:Fallback>
          <p:sp>
            <p:nvSpPr>
              <p:cNvPr id="4" name="TextBox 3">
                <a:extLst>
                  <a:ext uri="{FF2B5EF4-FFF2-40B4-BE49-F238E27FC236}">
                    <a16:creationId xmlns:a16="http://schemas.microsoft.com/office/drawing/2014/main" id="{7E941A83-4DF4-7A5C-7DDC-488C9E413216}"/>
                  </a:ext>
                </a:extLst>
              </p:cNvPr>
              <p:cNvSpPr txBox="1">
                <a:spLocks noRot="1" noChangeAspect="1" noMove="1" noResize="1" noEditPoints="1" noAdjustHandles="1" noChangeArrowheads="1" noChangeShapeType="1" noTextEdit="1"/>
              </p:cNvSpPr>
              <p:nvPr/>
            </p:nvSpPr>
            <p:spPr>
              <a:xfrm>
                <a:off x="6210180" y="1500118"/>
                <a:ext cx="2082045" cy="276999"/>
              </a:xfrm>
              <a:prstGeom prst="rect">
                <a:avLst/>
              </a:prstGeom>
              <a:blipFill>
                <a:blip r:embed="rId3"/>
                <a:stretch>
                  <a:fillRect l="-2053" r="-2053"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B4ABA9B-5D88-0BAB-2A2B-90556BEB175B}"/>
                  </a:ext>
                </a:extLst>
              </p:cNvPr>
              <p:cNvSpPr txBox="1"/>
              <p:nvPr/>
            </p:nvSpPr>
            <p:spPr>
              <a:xfrm>
                <a:off x="6179700" y="1844542"/>
                <a:ext cx="21652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𝑂𝑏𝑗𝑒𝑐𝑡𝑠</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𝑜𝑢𝑟</m:t>
                      </m:r>
                      <m:r>
                        <a:rPr lang="en-US" b="0" i="1" smtClean="0">
                          <a:latin typeface="Cambria Math" panose="02040503050406030204" pitchFamily="18" charset="0"/>
                        </a:rPr>
                        <m:t> </m:t>
                      </m:r>
                      <m:r>
                        <a:rPr lang="en-US" b="0" i="1" smtClean="0">
                          <a:latin typeface="Cambria Math" panose="02040503050406030204" pitchFamily="18" charset="0"/>
                        </a:rPr>
                        <m:t>𝑠𝑐𝑒𝑛𝑒</m:t>
                      </m:r>
                    </m:oMath>
                  </m:oMathPara>
                </a14:m>
                <a:endParaRPr lang="en-US" dirty="0"/>
              </a:p>
            </p:txBody>
          </p:sp>
        </mc:Choice>
        <mc:Fallback>
          <p:sp>
            <p:nvSpPr>
              <p:cNvPr id="5" name="TextBox 4">
                <a:extLst>
                  <a:ext uri="{FF2B5EF4-FFF2-40B4-BE49-F238E27FC236}">
                    <a16:creationId xmlns:a16="http://schemas.microsoft.com/office/drawing/2014/main" id="{EB4ABA9B-5D88-0BAB-2A2B-90556BEB175B}"/>
                  </a:ext>
                </a:extLst>
              </p:cNvPr>
              <p:cNvSpPr txBox="1">
                <a:spLocks noRot="1" noChangeAspect="1" noMove="1" noResize="1" noEditPoints="1" noAdjustHandles="1" noChangeArrowheads="1" noChangeShapeType="1" noTextEdit="1"/>
              </p:cNvSpPr>
              <p:nvPr/>
            </p:nvSpPr>
            <p:spPr>
              <a:xfrm>
                <a:off x="6179700" y="1844542"/>
                <a:ext cx="2165273" cy="276999"/>
              </a:xfrm>
              <a:prstGeom prst="rect">
                <a:avLst/>
              </a:prstGeom>
              <a:blipFill>
                <a:blip r:embed="rId4"/>
                <a:stretch>
                  <a:fillRect l="-3099" t="-2222" r="-845"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7C91060-6ADC-38A9-6E40-1A728B1C0022}"/>
                  </a:ext>
                </a:extLst>
              </p:cNvPr>
              <p:cNvSpPr txBox="1"/>
              <p:nvPr/>
            </p:nvSpPr>
            <p:spPr>
              <a:xfrm>
                <a:off x="6096000" y="2966206"/>
                <a:ext cx="17475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𝐶𝑟𝑖𝑡𝑒𝑟𝑖𝑎</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𝑚𝑒𝑒𝑡</m:t>
                      </m:r>
                    </m:oMath>
                  </m:oMathPara>
                </a14:m>
                <a:endParaRPr lang="en-US" dirty="0"/>
              </a:p>
            </p:txBody>
          </p:sp>
        </mc:Choice>
        <mc:Fallback>
          <p:sp>
            <p:nvSpPr>
              <p:cNvPr id="6" name="TextBox 5">
                <a:extLst>
                  <a:ext uri="{FF2B5EF4-FFF2-40B4-BE49-F238E27FC236}">
                    <a16:creationId xmlns:a16="http://schemas.microsoft.com/office/drawing/2014/main" id="{67C91060-6ADC-38A9-6E40-1A728B1C0022}"/>
                  </a:ext>
                </a:extLst>
              </p:cNvPr>
              <p:cNvSpPr txBox="1">
                <a:spLocks noRot="1" noChangeAspect="1" noMove="1" noResize="1" noEditPoints="1" noAdjustHandles="1" noChangeArrowheads="1" noChangeShapeType="1" noTextEdit="1"/>
              </p:cNvSpPr>
              <p:nvPr/>
            </p:nvSpPr>
            <p:spPr>
              <a:xfrm>
                <a:off x="6096000" y="2966206"/>
                <a:ext cx="1747594" cy="276999"/>
              </a:xfrm>
              <a:prstGeom prst="rect">
                <a:avLst/>
              </a:prstGeom>
              <a:blipFill>
                <a:blip r:embed="rId5"/>
                <a:stretch>
                  <a:fillRect l="-2787" r="-1742" b="-11111"/>
                </a:stretch>
              </a:blipFill>
            </p:spPr>
            <p:txBody>
              <a:bodyPr/>
              <a:lstStyle/>
              <a:p>
                <a:r>
                  <a:rPr lang="en-US">
                    <a:noFill/>
                  </a:rPr>
                  <a:t> </a:t>
                </a:r>
              </a:p>
            </p:txBody>
          </p:sp>
        </mc:Fallback>
      </mc:AlternateContent>
    </p:spTree>
    <p:extLst>
      <p:ext uri="{BB962C8B-B14F-4D97-AF65-F5344CB8AC3E}">
        <p14:creationId xmlns:p14="http://schemas.microsoft.com/office/powerpoint/2010/main" val="2581544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3893-8E2B-4F90-B231-3F9259D076C9}"/>
              </a:ext>
            </a:extLst>
          </p:cNvPr>
          <p:cNvSpPr>
            <a:spLocks noGrp="1"/>
          </p:cNvSpPr>
          <p:nvPr>
            <p:ph type="title"/>
          </p:nvPr>
        </p:nvSpPr>
        <p:spPr/>
        <p:txBody>
          <a:bodyPr/>
          <a:lstStyle/>
          <a:p>
            <a:r>
              <a:rPr lang="en-GB" dirty="0"/>
              <a:t>Path Planning </a:t>
            </a:r>
            <a:r>
              <a:rPr lang="en-US" dirty="0"/>
              <a:t>Implementation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E20EF25-0A13-422B-97B6-DF7010B94ECB}"/>
                  </a:ext>
                </a:extLst>
              </p:cNvPr>
              <p:cNvSpPr>
                <a:spLocks noGrp="1"/>
              </p:cNvSpPr>
              <p:nvPr>
                <p:ph idx="1"/>
              </p:nvPr>
            </p:nvSpPr>
            <p:spPr/>
            <p:txBody>
              <a:bodyPr>
                <a:normAutofit/>
              </a:bodyPr>
              <a:lstStyle/>
              <a:p>
                <a:pPr marL="0" lvl="2" indent="0">
                  <a:buNone/>
                </a:pPr>
                <a:r>
                  <a:rPr lang="en-GB" dirty="0"/>
                  <a:t>We want to design the following algorithm</a:t>
                </a:r>
                <a:endParaRPr lang="en-GB" dirty="0">
                  <a:latin typeface="Courier New" panose="02070309020205020404" pitchFamily="49" charset="0"/>
                  <a:cs typeface="Courier New" panose="02070309020205020404" pitchFamily="49" charset="0"/>
                </a:endParaRPr>
              </a:p>
              <a:p>
                <a:pPr marL="539750" lvl="4" indent="0">
                  <a:buNone/>
                </a:pPr>
                <a:r>
                  <a:rPr lang="en-GB" dirty="0">
                    <a:latin typeface="Courier New" panose="02070309020205020404" pitchFamily="49" charset="0"/>
                    <a:cs typeface="Courier New" panose="02070309020205020404" pitchFamily="49" charset="0"/>
                  </a:rPr>
                  <a:t>For s(t) </a:t>
                </a:r>
                <a:r>
                  <a:rPr lang="el-GR" dirty="0">
                    <a:latin typeface="Courier New" panose="02070309020205020404" pitchFamily="49" charset="0"/>
                    <a:cs typeface="Courier New" panose="02070309020205020404" pitchFamily="49" charset="0"/>
                  </a:rPr>
                  <a:t>ϵ</a:t>
                </a:r>
                <a:r>
                  <a:rPr lang="en-US" dirty="0">
                    <a:latin typeface="Courier New" panose="02070309020205020404" pitchFamily="49" charset="0"/>
                    <a:cs typeface="Courier New" panose="02070309020205020404" pitchFamily="49" charset="0"/>
                  </a:rPr>
                  <a:t> </a:t>
                </a:r>
                <a:r>
                  <a:rPr lang="en-GB" dirty="0">
                    <a:latin typeface="Courier New" panose="02070309020205020404" pitchFamily="49" charset="0"/>
                    <a:cs typeface="Courier New" panose="02070309020205020404" pitchFamily="49" charset="0"/>
                  </a:rPr>
                  <a:t>S(t)</a:t>
                </a:r>
              </a:p>
              <a:p>
                <a:pPr marL="539750" lvl="4" indent="0">
                  <a:buNone/>
                </a:pPr>
                <a:r>
                  <a:rPr lang="en-GB" dirty="0">
                    <a:latin typeface="Courier New" panose="02070309020205020404" pitchFamily="49" charset="0"/>
                    <a:cs typeface="Courier New" panose="02070309020205020404" pitchFamily="49" charset="0"/>
                  </a:rPr>
                  <a:t>		For c </a:t>
                </a:r>
                <a:r>
                  <a:rPr lang="el-GR" dirty="0">
                    <a:latin typeface="Courier New" panose="02070309020205020404" pitchFamily="49" charset="0"/>
                    <a:cs typeface="Courier New" panose="02070309020205020404" pitchFamily="49" charset="0"/>
                  </a:rPr>
                  <a:t>ϵ</a:t>
                </a:r>
                <a:r>
                  <a:rPr lang="en-US" dirty="0">
                    <a:latin typeface="Courier New" panose="02070309020205020404" pitchFamily="49" charset="0"/>
                    <a:cs typeface="Courier New" panose="02070309020205020404" pitchFamily="49" charset="0"/>
                  </a:rPr>
                  <a:t> B </a:t>
                </a:r>
              </a:p>
              <a:p>
                <a:pPr marL="539750" lvl="4" indent="0">
                  <a:buNone/>
                </a:pPr>
                <a:r>
                  <a:rPr lang="en-US" dirty="0">
                    <a:latin typeface="Courier New" panose="02070309020205020404" pitchFamily="49" charset="0"/>
                    <a:cs typeface="Courier New" panose="02070309020205020404" pitchFamily="49" charset="0"/>
                  </a:rPr>
                  <a:t>			if (!Criteria 13)</a:t>
                </a:r>
              </a:p>
              <a:p>
                <a:pPr marL="539750" lvl="4" indent="0">
                  <a:buNone/>
                </a:pPr>
                <a:r>
                  <a:rPr lang="en-US" dirty="0">
                    <a:latin typeface="Courier New" panose="02070309020205020404" pitchFamily="49" charset="0"/>
                    <a:cs typeface="Courier New" panose="02070309020205020404" pitchFamily="49" charset="0"/>
                  </a:rPr>
                  <a:t>				return</a:t>
                </a:r>
              </a:p>
              <a:p>
                <a:pPr marL="539750" lvl="4" indent="0">
                  <a:buNone/>
                </a:pPr>
                <a:r>
                  <a:rPr lang="en-US" dirty="0">
                    <a:latin typeface="Courier New" panose="02070309020205020404" pitchFamily="49" charset="0"/>
                    <a:cs typeface="Courier New" panose="02070309020205020404" pitchFamily="49" charset="0"/>
                  </a:rPr>
                  <a:t>		 	else if (Criteria 2)</a:t>
                </a:r>
              </a:p>
              <a:p>
                <a:pPr marL="539750" lvl="4"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a:t>
                </a:r>
                <a:r>
                  <a:rPr lang="en-US" baseline="-25000" dirty="0" err="1">
                    <a:latin typeface="Courier New" panose="02070309020205020404" pitchFamily="49" charset="0"/>
                    <a:cs typeface="Courier New" panose="02070309020205020404" pitchFamily="49" charset="0"/>
                  </a:rPr>
                  <a:t>good</a:t>
                </a:r>
                <a:r>
                  <a:rPr lang="en-US" dirty="0">
                    <a:latin typeface="Courier New" panose="02070309020205020404" pitchFamily="49" charset="0"/>
                    <a:cs typeface="Courier New" panose="02070309020205020404" pitchFamily="49" charset="0"/>
                  </a:rPr>
                  <a:t>(t) ← s(t)</a:t>
                </a:r>
              </a:p>
              <a:p>
                <a:pPr lvl="1"/>
                <a:endParaRPr lang="en-US" dirty="0"/>
              </a:p>
              <a:p>
                <a:pPr marL="612775" lvl="2" indent="-342900">
                  <a:buFont typeface="Arial" panose="020B0604020202020204" pitchFamily="34" charset="0"/>
                  <a:buChar char="•"/>
                </a:pPr>
                <a:endParaRPr lang="en-US" dirty="0"/>
              </a:p>
              <a:p>
                <a:pPr marL="612775" lvl="2" indent="-342900">
                  <a:buFont typeface="Arial" panose="020B0604020202020204" pitchFamily="34" charset="0"/>
                  <a:buChar char="•"/>
                </a:pPr>
                <a:r>
                  <a:rPr lang="en-US" dirty="0"/>
                  <a:t>Was </a:t>
                </a:r>
                <a:r>
                  <a:rPr lang="en-US" dirty="0">
                    <a:cs typeface="Courier New" panose="02070309020205020404" pitchFamily="49" charset="0"/>
                  </a:rPr>
                  <a:t>O</a:t>
                </a:r>
                <a14:m>
                  <m:oMath xmlns:m="http://schemas.openxmlformats.org/officeDocument/2006/math">
                    <m:r>
                      <a:rPr lang="en-US" i="1">
                        <a:latin typeface="Cambria Math" panose="02040503050406030204" pitchFamily="18" charset="0"/>
                        <a:cs typeface="Courier New" panose="02070309020205020404" pitchFamily="49" charset="0"/>
                      </a:rPr>
                      <m:t>(</m:t>
                    </m:r>
                    <m:sSub>
                      <m:sSubPr>
                        <m:ctrlPr>
                          <a:rPr lang="en-US" i="1">
                            <a:latin typeface="Cambria Math" panose="02040503050406030204" pitchFamily="18" charset="0"/>
                            <a:cs typeface="Courier New" panose="02070309020205020404" pitchFamily="49" charset="0"/>
                          </a:rPr>
                        </m:ctrlPr>
                      </m:sSubPr>
                      <m:e>
                        <m:r>
                          <a:rPr lang="en-US" i="1">
                            <a:latin typeface="Cambria Math" panose="02040503050406030204" pitchFamily="18" charset="0"/>
                            <a:cs typeface="Courier New" panose="02070309020205020404" pitchFamily="49" charset="0"/>
                          </a:rPr>
                          <m:t>𝑁</m:t>
                        </m:r>
                      </m:e>
                      <m:sub>
                        <m:r>
                          <a:rPr lang="en-US" i="1">
                            <a:latin typeface="Cambria Math" panose="02040503050406030204" pitchFamily="18" charset="0"/>
                            <a:cs typeface="Courier New" panose="02070309020205020404" pitchFamily="49" charset="0"/>
                          </a:rPr>
                          <m:t>𝑠</m:t>
                        </m:r>
                      </m:sub>
                    </m:sSub>
                    <m:sSub>
                      <m:sSubPr>
                        <m:ctrlPr>
                          <a:rPr lang="en-US" i="1">
                            <a:latin typeface="Cambria Math" panose="02040503050406030204" pitchFamily="18" charset="0"/>
                            <a:cs typeface="Courier New" panose="02070309020205020404" pitchFamily="49" charset="0"/>
                          </a:rPr>
                        </m:ctrlPr>
                      </m:sSubPr>
                      <m:e>
                        <m:r>
                          <a:rPr lang="en-US" i="1">
                            <a:latin typeface="Cambria Math" panose="02040503050406030204" pitchFamily="18" charset="0"/>
                            <a:cs typeface="Courier New" panose="02070309020205020404" pitchFamily="49" charset="0"/>
                          </a:rPr>
                          <m:t>𝑁</m:t>
                        </m:r>
                      </m:e>
                      <m:sub>
                        <m:r>
                          <a:rPr lang="en-US" i="1">
                            <a:latin typeface="Cambria Math" panose="02040503050406030204" pitchFamily="18" charset="0"/>
                            <a:cs typeface="Courier New" panose="02070309020205020404" pitchFamily="49" charset="0"/>
                          </a:rPr>
                          <m:t>𝑏</m:t>
                        </m:r>
                      </m:sub>
                    </m:sSub>
                    <m:r>
                      <a:rPr lang="en-US" i="1">
                        <a:latin typeface="Cambria Math" panose="02040503050406030204" pitchFamily="18" charset="0"/>
                        <a:cs typeface="Courier New" panose="02070309020205020404" pitchFamily="49" charset="0"/>
                      </a:rPr>
                      <m:t>3)</m:t>
                    </m:r>
                  </m:oMath>
                </a14:m>
                <a:r>
                  <a:rPr lang="en-US" dirty="0">
                    <a:cs typeface="Courier New" panose="02070309020205020404" pitchFamily="49" charset="0"/>
                  </a:rPr>
                  <a:t>  n</a:t>
                </a:r>
                <a:r>
                  <a:rPr lang="en-US" dirty="0"/>
                  <a:t>ow </a:t>
                </a:r>
                <a:r>
                  <a:rPr lang="en-US" dirty="0">
                    <a:cs typeface="Courier New" panose="02070309020205020404" pitchFamily="49" charset="0"/>
                  </a:rPr>
                  <a:t>O</a:t>
                </a:r>
                <a14:m>
                  <m:oMath xmlns:m="http://schemas.openxmlformats.org/officeDocument/2006/math">
                    <m:d>
                      <m:dPr>
                        <m:ctrlPr>
                          <a:rPr lang="en-US" i="1">
                            <a:latin typeface="Cambria Math" panose="02040503050406030204" pitchFamily="18" charset="0"/>
                            <a:cs typeface="Courier New" panose="02070309020205020404" pitchFamily="49" charset="0"/>
                          </a:rPr>
                        </m:ctrlPr>
                      </m:dPr>
                      <m:e>
                        <m:sSub>
                          <m:sSubPr>
                            <m:ctrlPr>
                              <a:rPr lang="en-US" i="1">
                                <a:latin typeface="Cambria Math" panose="02040503050406030204" pitchFamily="18" charset="0"/>
                                <a:cs typeface="Courier New" panose="02070309020205020404" pitchFamily="49" charset="0"/>
                              </a:rPr>
                            </m:ctrlPr>
                          </m:sSubPr>
                          <m:e>
                            <m:r>
                              <a:rPr lang="en-US" i="1">
                                <a:latin typeface="Cambria Math" panose="02040503050406030204" pitchFamily="18" charset="0"/>
                                <a:cs typeface="Courier New" panose="02070309020205020404" pitchFamily="49" charset="0"/>
                              </a:rPr>
                              <m:t>𝑁</m:t>
                            </m:r>
                          </m:e>
                          <m:sub>
                            <m:r>
                              <a:rPr lang="en-US" i="1">
                                <a:latin typeface="Cambria Math" panose="02040503050406030204" pitchFamily="18" charset="0"/>
                                <a:cs typeface="Courier New" panose="02070309020205020404" pitchFamily="49" charset="0"/>
                              </a:rPr>
                              <m:t>𝑠</m:t>
                            </m:r>
                          </m:sub>
                        </m:sSub>
                        <m:sSub>
                          <m:sSubPr>
                            <m:ctrlPr>
                              <a:rPr lang="en-US" i="1">
                                <a:latin typeface="Cambria Math" panose="02040503050406030204" pitchFamily="18" charset="0"/>
                                <a:cs typeface="Courier New" panose="02070309020205020404" pitchFamily="49" charset="0"/>
                              </a:rPr>
                            </m:ctrlPr>
                          </m:sSubPr>
                          <m:e>
                            <m:r>
                              <m:rPr>
                                <m:sty m:val="p"/>
                              </m:rPr>
                              <a:rPr lang="en-US" b="0" i="0" smtClean="0">
                                <a:latin typeface="Cambria Math" panose="02040503050406030204" pitchFamily="18" charset="0"/>
                                <a:cs typeface="Courier New" panose="02070309020205020404" pitchFamily="49" charset="0"/>
                              </a:rPr>
                              <m:t>log</m:t>
                            </m:r>
                            <m:r>
                              <a:rPr lang="en-US" b="0" i="1" smtClean="0">
                                <a:latin typeface="Cambria Math" panose="02040503050406030204" pitchFamily="18" charset="0"/>
                                <a:cs typeface="Courier New" panose="02070309020205020404" pitchFamily="49" charset="0"/>
                              </a:rPr>
                              <m:t>⁡(</m:t>
                            </m:r>
                            <m:r>
                              <a:rPr lang="en-US" i="1">
                                <a:latin typeface="Cambria Math" panose="02040503050406030204" pitchFamily="18" charset="0"/>
                                <a:cs typeface="Courier New" panose="02070309020205020404" pitchFamily="49" charset="0"/>
                              </a:rPr>
                              <m:t>𝑁</m:t>
                            </m:r>
                          </m:e>
                          <m:sub>
                            <m:r>
                              <a:rPr lang="en-US" i="1">
                                <a:latin typeface="Cambria Math" panose="02040503050406030204" pitchFamily="18" charset="0"/>
                                <a:cs typeface="Courier New" panose="02070309020205020404" pitchFamily="49" charset="0"/>
                              </a:rPr>
                              <m:t>𝑏</m:t>
                            </m:r>
                          </m:sub>
                        </m:sSub>
                        <m:r>
                          <a:rPr lang="en-US" b="0" i="1" smtClean="0">
                            <a:latin typeface="Cambria Math" panose="02040503050406030204" pitchFamily="18" charset="0"/>
                            <a:cs typeface="Courier New" panose="02070309020205020404" pitchFamily="49" charset="0"/>
                          </a:rPr>
                          <m:t>)</m:t>
                        </m:r>
                        <m:r>
                          <a:rPr lang="en-US" i="1">
                            <a:latin typeface="Cambria Math" panose="02040503050406030204" pitchFamily="18" charset="0"/>
                            <a:cs typeface="Courier New" panose="02070309020205020404" pitchFamily="49" charset="0"/>
                          </a:rPr>
                          <m:t>2</m:t>
                        </m:r>
                      </m:e>
                    </m:d>
                  </m:oMath>
                </a14:m>
                <a:endParaRPr lang="en-US" dirty="0"/>
              </a:p>
              <a:p>
                <a:pPr marL="612775" lvl="2" indent="-342900">
                  <a:buFont typeface="Arial" panose="020B0604020202020204" pitchFamily="34" charset="0"/>
                  <a:buChar char="•"/>
                </a:pPr>
                <a:endParaRPr lang="en-US" dirty="0"/>
              </a:p>
              <a:p>
                <a:pPr lvl="2" indent="0">
                  <a:buNone/>
                </a:pPr>
                <a:r>
                  <a:rPr lang="en-US" dirty="0"/>
                  <a:t>We briefly talked about how to efficiently iterate over </a:t>
                </a:r>
                <a:r>
                  <a:rPr lang="en-US" b="1" dirty="0"/>
                  <a:t>imaging data </a:t>
                </a:r>
                <a:r>
                  <a:rPr lang="en-US" dirty="0"/>
                  <a:t>this week we talk about </a:t>
                </a:r>
                <a:r>
                  <a:rPr lang="en-US" b="1" dirty="0"/>
                  <a:t>other data representations</a:t>
                </a:r>
              </a:p>
              <a:p>
                <a:pPr marL="612775" lvl="2" indent="-342900">
                  <a:buFont typeface="Arial" panose="020B0604020202020204" pitchFamily="34" charset="0"/>
                  <a:buChar char="•"/>
                </a:pPr>
                <a:endParaRPr lang="en-US" dirty="0"/>
              </a:p>
              <a:p>
                <a:pPr lvl="1"/>
                <a:endParaRPr lang="en-US" dirty="0"/>
              </a:p>
            </p:txBody>
          </p:sp>
        </mc:Choice>
        <mc:Fallback>
          <p:sp>
            <p:nvSpPr>
              <p:cNvPr id="3" name="Content Placeholder 2">
                <a:extLst>
                  <a:ext uri="{FF2B5EF4-FFF2-40B4-BE49-F238E27FC236}">
                    <a16:creationId xmlns:a16="http://schemas.microsoft.com/office/drawing/2014/main" id="{DE20EF25-0A13-422B-97B6-DF7010B94ECB}"/>
                  </a:ext>
                </a:extLst>
              </p:cNvPr>
              <p:cNvSpPr>
                <a:spLocks noGrp="1" noRot="1" noChangeAspect="1" noMove="1" noResize="1" noEditPoints="1" noAdjustHandles="1" noChangeArrowheads="1" noChangeShapeType="1" noTextEdit="1"/>
              </p:cNvSpPr>
              <p:nvPr>
                <p:ph idx="1"/>
              </p:nvPr>
            </p:nvSpPr>
            <p:spPr>
              <a:blipFill>
                <a:blip r:embed="rId3"/>
                <a:stretch>
                  <a:fillRect l="-1412" t="-1131" b="-377"/>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A9B37F6B-410B-4195-8F4D-7F31E54A2308}"/>
              </a:ext>
            </a:extLst>
          </p:cNvPr>
          <p:cNvGrpSpPr/>
          <p:nvPr/>
        </p:nvGrpSpPr>
        <p:grpSpPr>
          <a:xfrm>
            <a:off x="1726725" y="1829761"/>
            <a:ext cx="2899062" cy="400110"/>
            <a:chOff x="793377" y="1479176"/>
            <a:chExt cx="3832411" cy="400110"/>
          </a:xfrm>
        </p:grpSpPr>
        <p:sp>
          <p:nvSpPr>
            <p:cNvPr id="9" name="Rectangle 8">
              <a:extLst>
                <a:ext uri="{FF2B5EF4-FFF2-40B4-BE49-F238E27FC236}">
                  <a16:creationId xmlns:a16="http://schemas.microsoft.com/office/drawing/2014/main" id="{E383161B-C566-4DC6-8498-2829DBE64DE8}"/>
                </a:ext>
              </a:extLst>
            </p:cNvPr>
            <p:cNvSpPr/>
            <p:nvPr/>
          </p:nvSpPr>
          <p:spPr>
            <a:xfrm>
              <a:off x="793377" y="1479176"/>
              <a:ext cx="2201970" cy="40011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Arrow: Right 9">
              <a:extLst>
                <a:ext uri="{FF2B5EF4-FFF2-40B4-BE49-F238E27FC236}">
                  <a16:creationId xmlns:a16="http://schemas.microsoft.com/office/drawing/2014/main" id="{C56A9F1D-C529-4C05-B986-E518D42F4925}"/>
                </a:ext>
              </a:extLst>
            </p:cNvPr>
            <p:cNvSpPr/>
            <p:nvPr/>
          </p:nvSpPr>
          <p:spPr>
            <a:xfrm>
              <a:off x="3688588" y="1479176"/>
              <a:ext cx="937200" cy="322730"/>
            </a:xfrm>
            <a:prstGeom prst="right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1F12175-BF48-4F31-B06E-82F34DF12492}"/>
                  </a:ext>
                </a:extLst>
              </p:cNvPr>
              <p:cNvSpPr txBox="1"/>
              <p:nvPr/>
            </p:nvSpPr>
            <p:spPr>
              <a:xfrm>
                <a:off x="4939164" y="1865878"/>
                <a:ext cx="28990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𝐼𝑡𝑒𝑟𝑎𝑡𝑒</m:t>
                      </m:r>
                      <m:r>
                        <a:rPr lang="en-US" b="0" i="1" smtClean="0">
                          <a:latin typeface="Cambria Math" panose="02040503050406030204" pitchFamily="18" charset="0"/>
                        </a:rPr>
                        <m:t> </m:t>
                      </m:r>
                      <m:r>
                        <a:rPr lang="en-US" b="0" i="1" smtClean="0">
                          <a:latin typeface="Cambria Math" panose="02040503050406030204" pitchFamily="18" charset="0"/>
                        </a:rPr>
                        <m:t>𝑜𝑣𝑒𝑟</m:t>
                      </m:r>
                      <m:r>
                        <a:rPr lang="en-US" b="0" i="1" smtClean="0">
                          <a:latin typeface="Cambria Math" panose="02040503050406030204" pitchFamily="18" charset="0"/>
                        </a:rPr>
                        <m:t> </m:t>
                      </m:r>
                      <m:r>
                        <a:rPr lang="en-US" b="0" i="1" smtClean="0">
                          <a:latin typeface="Cambria Math" panose="02040503050406030204" pitchFamily="18" charset="0"/>
                        </a:rPr>
                        <m:t>𝑛𝑜𝑑𝑒</m:t>
                      </m:r>
                      <m:r>
                        <a:rPr lang="en-US" b="0" i="1" smtClean="0">
                          <a:latin typeface="Cambria Math" panose="02040503050406030204" pitchFamily="18" charset="0"/>
                        </a:rPr>
                        <m:t>∈</m:t>
                      </m:r>
                      <m:r>
                        <a:rPr lang="en-US" b="0" i="1" smtClean="0">
                          <a:latin typeface="Cambria Math" panose="02040503050406030204" pitchFamily="18" charset="0"/>
                        </a:rPr>
                        <m:t>𝑂𝑇</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m:oMathPara>
                </a14:m>
                <a:endParaRPr lang="en-US" dirty="0"/>
              </a:p>
            </p:txBody>
          </p:sp>
        </mc:Choice>
        <mc:Fallback>
          <p:sp>
            <p:nvSpPr>
              <p:cNvPr id="12" name="TextBox 11">
                <a:extLst>
                  <a:ext uri="{FF2B5EF4-FFF2-40B4-BE49-F238E27FC236}">
                    <a16:creationId xmlns:a16="http://schemas.microsoft.com/office/drawing/2014/main" id="{E1F12175-BF48-4F31-B06E-82F34DF12492}"/>
                  </a:ext>
                </a:extLst>
              </p:cNvPr>
              <p:cNvSpPr txBox="1">
                <a:spLocks noRot="1" noChangeAspect="1" noMove="1" noResize="1" noEditPoints="1" noAdjustHandles="1" noChangeArrowheads="1" noChangeShapeType="1" noTextEdit="1"/>
              </p:cNvSpPr>
              <p:nvPr/>
            </p:nvSpPr>
            <p:spPr>
              <a:xfrm>
                <a:off x="4939164" y="1865878"/>
                <a:ext cx="2899063" cy="276999"/>
              </a:xfrm>
              <a:prstGeom prst="rect">
                <a:avLst/>
              </a:prstGeom>
              <a:blipFill>
                <a:blip r:embed="rId4"/>
                <a:stretch>
                  <a:fillRect r="-840" b="-34783"/>
                </a:stretch>
              </a:blipFill>
            </p:spPr>
            <p:txBody>
              <a:bodyPr/>
              <a:lstStyle/>
              <a:p>
                <a:r>
                  <a:rPr lang="en-US">
                    <a:noFill/>
                  </a:rPr>
                  <a:t> </a:t>
                </a:r>
              </a:p>
            </p:txBody>
          </p:sp>
        </mc:Fallback>
      </mc:AlternateContent>
    </p:spTree>
    <p:extLst>
      <p:ext uri="{BB962C8B-B14F-4D97-AF65-F5344CB8AC3E}">
        <p14:creationId xmlns:p14="http://schemas.microsoft.com/office/powerpoint/2010/main" val="8368479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Objects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r>
                  <a:rPr lang="en-GB" dirty="0"/>
                  <a:t>Up to now we have been using images as look up tables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𝐵</m:t>
                        </m:r>
                      </m:sub>
                    </m:sSub>
                    <m:d>
                      <m:dPr>
                        <m:ctrlPr>
                          <a:rPr lang="en-US" i="1">
                            <a:latin typeface="Cambria Math" panose="02040503050406030204" pitchFamily="18" charset="0"/>
                          </a:rPr>
                        </m:ctrlPr>
                      </m:dPr>
                      <m:e>
                        <m:r>
                          <a:rPr lang="en-US" i="1">
                            <a:latin typeface="Cambria Math" panose="02040503050406030204" pitchFamily="18" charset="0"/>
                          </a:rPr>
                          <m:t>𝑐</m:t>
                        </m:r>
                        <m:r>
                          <a:rPr lang="en-US" i="1">
                            <a:latin typeface="Cambria Math" panose="02040503050406030204" pitchFamily="18" charset="0"/>
                          </a:rPr>
                          <m:t>, </m:t>
                        </m:r>
                        <m:r>
                          <a:rPr lang="en-US" i="1">
                            <a:latin typeface="Cambria Math" panose="02040503050406030204" pitchFamily="18" charset="0"/>
                          </a:rPr>
                          <m:t>𝑙</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0, 1</m:t>
                        </m:r>
                      </m:e>
                    </m:d>
                  </m:oMath>
                </a14:m>
                <a:endParaRPr lang="en-US" dirty="0"/>
              </a:p>
              <a:p>
                <a:pPr marL="882650" lvl="3" indent="-342900">
                  <a:buFont typeface="Arial" panose="020B0604020202020204" pitchFamily="34" charset="0"/>
                  <a:buChar char="•"/>
                </a:pPr>
                <a:r>
                  <a:rPr lang="en-GB" dirty="0"/>
                  <a:t>Size dependent on number of pixels</a:t>
                </a:r>
              </a:p>
              <a:p>
                <a:pPr marL="882650" lvl="3" indent="-342900">
                  <a:buFont typeface="Arial" panose="020B0604020202020204" pitchFamily="34" charset="0"/>
                  <a:buChar char="•"/>
                </a:pPr>
                <a:r>
                  <a:rPr lang="en-GB" dirty="0"/>
                  <a:t>Build up a representation based on little cubes</a:t>
                </a:r>
              </a:p>
              <a:p>
                <a:pPr lvl="1"/>
                <a:r>
                  <a:rPr lang="en-GB" dirty="0"/>
                  <a:t>Is an image the best representation? We have alternatives</a:t>
                </a:r>
              </a:p>
              <a:p>
                <a:pPr lvl="4"/>
                <a:r>
                  <a:rPr lang="en-GB" dirty="0"/>
                  <a:t>Surfaces (meshes) </a:t>
                </a:r>
              </a:p>
              <a:p>
                <a:pPr lvl="4"/>
                <a:r>
                  <a:rPr lang="en-GB" dirty="0"/>
                  <a:t>Points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DFC73DA-9002-4009-A35D-7208C7AFE550}"/>
              </a:ext>
            </a:extLst>
          </p:cNvPr>
          <p:cNvPicPr>
            <a:picLocks noChangeAspect="1"/>
          </p:cNvPicPr>
          <p:nvPr/>
        </p:nvPicPr>
        <p:blipFill>
          <a:blip r:embed="rId4"/>
          <a:stretch>
            <a:fillRect/>
          </a:stretch>
        </p:blipFill>
        <p:spPr>
          <a:xfrm>
            <a:off x="6718853" y="2587884"/>
            <a:ext cx="4660830" cy="4090116"/>
          </a:xfrm>
          <a:prstGeom prst="rect">
            <a:avLst/>
          </a:prstGeom>
        </p:spPr>
      </p:pic>
    </p:spTree>
    <p:extLst>
      <p:ext uri="{BB962C8B-B14F-4D97-AF65-F5344CB8AC3E}">
        <p14:creationId xmlns:p14="http://schemas.microsoft.com/office/powerpoint/2010/main" val="29871502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4EAB-D738-4BD5-8CEE-70F407FEF3E4}"/>
              </a:ext>
            </a:extLst>
          </p:cNvPr>
          <p:cNvSpPr>
            <a:spLocks noGrp="1"/>
          </p:cNvSpPr>
          <p:nvPr>
            <p:ph type="title"/>
          </p:nvPr>
        </p:nvSpPr>
        <p:spPr/>
        <p:txBody>
          <a:bodyPr/>
          <a:lstStyle/>
          <a:p>
            <a:r>
              <a:rPr lang="en-US" dirty="0"/>
              <a:t>Image To Surface</a:t>
            </a:r>
          </a:p>
        </p:txBody>
      </p:sp>
      <p:sp>
        <p:nvSpPr>
          <p:cNvPr id="3" name="Content Placeholder 2">
            <a:extLst>
              <a:ext uri="{FF2B5EF4-FFF2-40B4-BE49-F238E27FC236}">
                <a16:creationId xmlns:a16="http://schemas.microsoft.com/office/drawing/2014/main" id="{9FABD897-4E9F-4B14-97DB-97F84AB92DEE}"/>
              </a:ext>
            </a:extLst>
          </p:cNvPr>
          <p:cNvSpPr>
            <a:spLocks noGrp="1"/>
          </p:cNvSpPr>
          <p:nvPr>
            <p:ph idx="1"/>
          </p:nvPr>
        </p:nvSpPr>
        <p:spPr/>
        <p:txBody>
          <a:bodyPr/>
          <a:lstStyle/>
          <a:p>
            <a:pPr lvl="1"/>
            <a:r>
              <a:rPr lang="en-US" dirty="0"/>
              <a:t>Image rendering (green) and surface (yellow)</a:t>
            </a:r>
          </a:p>
          <a:p>
            <a:pPr lvl="1"/>
            <a:r>
              <a:rPr lang="en-US" dirty="0"/>
              <a:t>Direct comparison</a:t>
            </a:r>
          </a:p>
          <a:p>
            <a:pPr lvl="1"/>
            <a:endParaRPr lang="en-US" dirty="0"/>
          </a:p>
          <a:p>
            <a:pPr marL="612775" lvl="2" indent="-342900">
              <a:buFont typeface="Arial" panose="020B0604020202020204" pitchFamily="34" charset="0"/>
              <a:buChar char="•"/>
            </a:pPr>
            <a:r>
              <a:rPr lang="en-US" dirty="0"/>
              <a:t>Mask has : 14417920 pixels</a:t>
            </a:r>
          </a:p>
          <a:p>
            <a:pPr marL="612775" lvl="2" indent="-342900">
              <a:buFont typeface="Arial" panose="020B0604020202020204" pitchFamily="34" charset="0"/>
              <a:buChar char="•"/>
            </a:pPr>
            <a:r>
              <a:rPr lang="en-US" dirty="0"/>
              <a:t>Surface has: 99543 polygons</a:t>
            </a:r>
          </a:p>
          <a:p>
            <a:pPr marL="612775" lvl="2" indent="-342900">
              <a:buFont typeface="Arial" panose="020B0604020202020204" pitchFamily="34" charset="0"/>
              <a:buChar char="•"/>
            </a:pPr>
            <a:endParaRPr lang="en-US" dirty="0"/>
          </a:p>
          <a:p>
            <a:pPr lvl="1"/>
            <a:r>
              <a:rPr lang="en-US" dirty="0"/>
              <a:t>Often surfaces are going to be more </a:t>
            </a:r>
          </a:p>
          <a:p>
            <a:pPr lvl="1"/>
            <a:r>
              <a:rPr lang="en-US" dirty="0"/>
              <a:t>computationally efficient?</a:t>
            </a:r>
          </a:p>
          <a:p>
            <a:pPr marL="612775" lvl="2" indent="-342900">
              <a:buFont typeface="Arial" panose="020B0604020202020204" pitchFamily="34" charset="0"/>
              <a:buChar char="•"/>
            </a:pPr>
            <a:r>
              <a:rPr lang="en-US" dirty="0"/>
              <a:t>Where might this not be the case?</a:t>
            </a:r>
          </a:p>
        </p:txBody>
      </p:sp>
      <p:pic>
        <p:nvPicPr>
          <p:cNvPr id="4" name="Picture 3">
            <a:extLst>
              <a:ext uri="{FF2B5EF4-FFF2-40B4-BE49-F238E27FC236}">
                <a16:creationId xmlns:a16="http://schemas.microsoft.com/office/drawing/2014/main" id="{139E0F3F-89D3-4CB8-ABB1-C9917B420F1C}"/>
              </a:ext>
            </a:extLst>
          </p:cNvPr>
          <p:cNvPicPr>
            <a:picLocks noChangeAspect="1"/>
          </p:cNvPicPr>
          <p:nvPr/>
        </p:nvPicPr>
        <p:blipFill>
          <a:blip r:embed="rId3"/>
          <a:stretch>
            <a:fillRect/>
          </a:stretch>
        </p:blipFill>
        <p:spPr>
          <a:xfrm>
            <a:off x="5812920" y="1089220"/>
            <a:ext cx="5899080" cy="5084290"/>
          </a:xfrm>
          <a:prstGeom prst="rect">
            <a:avLst/>
          </a:prstGeom>
        </p:spPr>
      </p:pic>
    </p:spTree>
    <p:extLst>
      <p:ext uri="{BB962C8B-B14F-4D97-AF65-F5344CB8AC3E}">
        <p14:creationId xmlns:p14="http://schemas.microsoft.com/office/powerpoint/2010/main" val="7549365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0505-606F-4F92-AB1E-705E7A9DA5C9}"/>
              </a:ext>
            </a:extLst>
          </p:cNvPr>
          <p:cNvSpPr>
            <a:spLocks noGrp="1"/>
          </p:cNvSpPr>
          <p:nvPr>
            <p:ph type="title"/>
          </p:nvPr>
        </p:nvSpPr>
        <p:spPr/>
        <p:txBody>
          <a:bodyPr/>
          <a:lstStyle/>
          <a:p>
            <a:r>
              <a:rPr lang="en-US" dirty="0"/>
              <a:t>Surface Traversal</a:t>
            </a:r>
          </a:p>
        </p:txBody>
      </p:sp>
      <p:sp>
        <p:nvSpPr>
          <p:cNvPr id="3" name="Content Placeholder 2">
            <a:extLst>
              <a:ext uri="{FF2B5EF4-FFF2-40B4-BE49-F238E27FC236}">
                <a16:creationId xmlns:a16="http://schemas.microsoft.com/office/drawing/2014/main" id="{11046ED2-11B0-42C4-AD64-97EEED422196}"/>
              </a:ext>
            </a:extLst>
          </p:cNvPr>
          <p:cNvSpPr>
            <a:spLocks noGrp="1"/>
          </p:cNvSpPr>
          <p:nvPr>
            <p:ph idx="1"/>
          </p:nvPr>
        </p:nvSpPr>
        <p:spPr/>
        <p:txBody>
          <a:bodyPr/>
          <a:lstStyle/>
          <a:p>
            <a:pPr lvl="1"/>
            <a:r>
              <a:rPr lang="en-US" dirty="0"/>
              <a:t>Similar to image traversal</a:t>
            </a:r>
          </a:p>
          <a:p>
            <a:pPr marL="612775" lvl="2" indent="-342900">
              <a:buFont typeface="Arial" panose="020B0604020202020204" pitchFamily="34" charset="0"/>
              <a:buChar char="•"/>
            </a:pPr>
            <a:r>
              <a:rPr lang="en-US" dirty="0">
                <a:hlinkClick r:id="rId2"/>
              </a:rPr>
              <a:t>Octree</a:t>
            </a:r>
            <a:r>
              <a:rPr lang="en-US" dirty="0"/>
              <a:t> traversal to split triangles based on spatial location</a:t>
            </a:r>
          </a:p>
          <a:p>
            <a:pPr marL="612775" lvl="2" indent="-342900">
              <a:buFont typeface="Arial" panose="020B0604020202020204" pitchFamily="34" charset="0"/>
              <a:buChar char="•"/>
            </a:pPr>
            <a:r>
              <a:rPr lang="en-US" dirty="0"/>
              <a:t>Same properties as image octree except</a:t>
            </a:r>
          </a:p>
          <a:p>
            <a:pPr marL="1152525" lvl="4" indent="-342900">
              <a:buFont typeface="Arial" panose="020B0604020202020204" pitchFamily="34" charset="0"/>
              <a:buChar char="•"/>
            </a:pPr>
            <a:r>
              <a:rPr lang="en-US" dirty="0"/>
              <a:t>Be aware size of triangle matter – triangles can end up in more than one Octree leaf</a:t>
            </a:r>
          </a:p>
          <a:p>
            <a:pPr marL="1152525" lvl="4" indent="-342900">
              <a:buFont typeface="Arial" panose="020B0604020202020204" pitchFamily="34" charset="0"/>
              <a:buChar char="•"/>
            </a:pPr>
            <a:r>
              <a:rPr lang="en-US" dirty="0"/>
              <a:t>Badly formed triangles can cause problems</a:t>
            </a:r>
          </a:p>
          <a:p>
            <a:pPr marL="1152525" lvl="4" indent="-342900">
              <a:buFont typeface="Arial" panose="020B0604020202020204" pitchFamily="34" charset="0"/>
              <a:buChar char="•"/>
            </a:pPr>
            <a:r>
              <a:rPr lang="en-US" dirty="0"/>
              <a:t>Leaf node need to check triangle collision not box (slightly more complex)</a:t>
            </a:r>
          </a:p>
        </p:txBody>
      </p:sp>
      <p:pic>
        <p:nvPicPr>
          <p:cNvPr id="4" name="Picture 3">
            <a:extLst>
              <a:ext uri="{FF2B5EF4-FFF2-40B4-BE49-F238E27FC236}">
                <a16:creationId xmlns:a16="http://schemas.microsoft.com/office/drawing/2014/main" id="{8AD63E63-1C65-4DF7-8DB1-48A2DA311DA5}"/>
              </a:ext>
            </a:extLst>
          </p:cNvPr>
          <p:cNvPicPr>
            <a:picLocks noChangeAspect="1"/>
          </p:cNvPicPr>
          <p:nvPr/>
        </p:nvPicPr>
        <p:blipFill>
          <a:blip r:embed="rId3"/>
          <a:stretch>
            <a:fillRect/>
          </a:stretch>
        </p:blipFill>
        <p:spPr>
          <a:xfrm>
            <a:off x="3588855" y="3344015"/>
            <a:ext cx="3238500" cy="2790825"/>
          </a:xfrm>
          <a:prstGeom prst="rect">
            <a:avLst/>
          </a:prstGeom>
        </p:spPr>
      </p:pic>
    </p:spTree>
    <p:extLst>
      <p:ext uri="{BB962C8B-B14F-4D97-AF65-F5344CB8AC3E}">
        <p14:creationId xmlns:p14="http://schemas.microsoft.com/office/powerpoint/2010/main" val="15494274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0505-606F-4F92-AB1E-705E7A9DA5C9}"/>
              </a:ext>
            </a:extLst>
          </p:cNvPr>
          <p:cNvSpPr>
            <a:spLocks noGrp="1"/>
          </p:cNvSpPr>
          <p:nvPr>
            <p:ph type="title"/>
          </p:nvPr>
        </p:nvSpPr>
        <p:spPr/>
        <p:txBody>
          <a:bodyPr/>
          <a:lstStyle/>
          <a:p>
            <a:r>
              <a:rPr lang="en-US" dirty="0"/>
              <a:t>Surface Traversal</a:t>
            </a:r>
          </a:p>
        </p:txBody>
      </p:sp>
      <p:sp>
        <p:nvSpPr>
          <p:cNvPr id="3" name="Content Placeholder 2">
            <a:extLst>
              <a:ext uri="{FF2B5EF4-FFF2-40B4-BE49-F238E27FC236}">
                <a16:creationId xmlns:a16="http://schemas.microsoft.com/office/drawing/2014/main" id="{11046ED2-11B0-42C4-AD64-97EEED422196}"/>
              </a:ext>
            </a:extLst>
          </p:cNvPr>
          <p:cNvSpPr>
            <a:spLocks noGrp="1"/>
          </p:cNvSpPr>
          <p:nvPr>
            <p:ph idx="1"/>
          </p:nvPr>
        </p:nvSpPr>
        <p:spPr/>
        <p:txBody>
          <a:bodyPr/>
          <a:lstStyle/>
          <a:p>
            <a:pPr lvl="1"/>
            <a:r>
              <a:rPr lang="en-US" dirty="0"/>
              <a:t>Similar to image traversal</a:t>
            </a:r>
          </a:p>
          <a:p>
            <a:pPr marL="612775" lvl="2" indent="-342900">
              <a:buFont typeface="Arial" panose="020B0604020202020204" pitchFamily="34" charset="0"/>
              <a:buChar char="•"/>
            </a:pPr>
            <a:r>
              <a:rPr lang="en-US" dirty="0"/>
              <a:t>Bounding Volume traversal modified to work better with triangles</a:t>
            </a:r>
          </a:p>
          <a:p>
            <a:pPr marL="1152525" lvl="4" indent="-342900">
              <a:buFont typeface="Arial" panose="020B0604020202020204" pitchFamily="34" charset="0"/>
              <a:buChar char="•"/>
            </a:pPr>
            <a:r>
              <a:rPr lang="en-US" dirty="0"/>
              <a:t>Triangles are relatively planar</a:t>
            </a:r>
          </a:p>
          <a:p>
            <a:pPr marL="1152525" lvl="4" indent="-342900">
              <a:buFont typeface="Arial" panose="020B0604020202020204" pitchFamily="34" charset="0"/>
              <a:buChar char="•"/>
            </a:pPr>
            <a:r>
              <a:rPr lang="en-US" dirty="0"/>
              <a:t>Bounding boxes can be oriented to align along major triangle axis</a:t>
            </a:r>
          </a:p>
          <a:p>
            <a:pPr marL="1152525" lvl="4" indent="-342900">
              <a:buFont typeface="Arial" panose="020B0604020202020204" pitchFamily="34" charset="0"/>
              <a:buChar char="•"/>
            </a:pPr>
            <a:r>
              <a:rPr lang="en-US" dirty="0"/>
              <a:t>Leaf node need to check triangle collision – oriented bounding boxes help minimize need for this check (see </a:t>
            </a:r>
            <a:r>
              <a:rPr lang="en-US" dirty="0" err="1">
                <a:hlinkClick r:id="rId2"/>
              </a:rPr>
              <a:t>vtkOBBTree</a:t>
            </a:r>
            <a:r>
              <a:rPr lang="en-US" dirty="0"/>
              <a:t> )</a:t>
            </a:r>
          </a:p>
        </p:txBody>
      </p:sp>
      <p:sp>
        <p:nvSpPr>
          <p:cNvPr id="5" name="Rectangle 4">
            <a:extLst>
              <a:ext uri="{FF2B5EF4-FFF2-40B4-BE49-F238E27FC236}">
                <a16:creationId xmlns:a16="http://schemas.microsoft.com/office/drawing/2014/main" id="{DAB32878-001F-4A48-83CA-401EEC75A3ED}"/>
              </a:ext>
            </a:extLst>
          </p:cNvPr>
          <p:cNvSpPr/>
          <p:nvPr/>
        </p:nvSpPr>
        <p:spPr>
          <a:xfrm rot="18666621">
            <a:off x="3967036" y="4897975"/>
            <a:ext cx="1142975" cy="1628273"/>
          </a:xfrm>
          <a:prstGeom prst="rect">
            <a:avLst/>
          </a:prstGeom>
          <a:solidFill>
            <a:schemeClr val="tx2">
              <a:lumMod val="10000"/>
              <a:lumOff val="90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FA70224-E2FA-46F3-9D43-459938966EFC}"/>
              </a:ext>
            </a:extLst>
          </p:cNvPr>
          <p:cNvSpPr/>
          <p:nvPr/>
        </p:nvSpPr>
        <p:spPr>
          <a:xfrm rot="18083934">
            <a:off x="5841864" y="4115934"/>
            <a:ext cx="1410369" cy="2358923"/>
          </a:xfrm>
          <a:prstGeom prst="rect">
            <a:avLst/>
          </a:prstGeom>
          <a:solidFill>
            <a:schemeClr val="tx2">
              <a:lumMod val="10000"/>
              <a:lumOff val="90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549EEF39-E90D-435D-BA44-324B5544F139}"/>
              </a:ext>
            </a:extLst>
          </p:cNvPr>
          <p:cNvSpPr/>
          <p:nvPr/>
        </p:nvSpPr>
        <p:spPr>
          <a:xfrm rot="1794591">
            <a:off x="5447979" y="5228374"/>
            <a:ext cx="1918058" cy="724221"/>
          </a:xfrm>
          <a:prstGeom prst="triangle">
            <a:avLst>
              <a:gd name="adj" fmla="val 711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B626BEA6-67C7-49A6-A580-8E9B27824E4C}"/>
              </a:ext>
            </a:extLst>
          </p:cNvPr>
          <p:cNvSpPr/>
          <p:nvPr/>
        </p:nvSpPr>
        <p:spPr>
          <a:xfrm rot="16200000">
            <a:off x="5721789" y="4238412"/>
            <a:ext cx="761349" cy="15647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17A64944-2CB2-4006-8981-99B6285A8943}"/>
              </a:ext>
            </a:extLst>
          </p:cNvPr>
          <p:cNvSpPr/>
          <p:nvPr/>
        </p:nvSpPr>
        <p:spPr>
          <a:xfrm rot="19580248">
            <a:off x="3645297" y="4961866"/>
            <a:ext cx="1060704" cy="667060"/>
          </a:xfrm>
          <a:prstGeom prst="triangle">
            <a:avLst>
              <a:gd name="adj" fmla="val 711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69578976-C9EE-4319-8E88-2126F14B18ED}"/>
              </a:ext>
            </a:extLst>
          </p:cNvPr>
          <p:cNvSpPr/>
          <p:nvPr/>
        </p:nvSpPr>
        <p:spPr>
          <a:xfrm rot="14346839">
            <a:off x="4270711" y="5460834"/>
            <a:ext cx="926208" cy="812279"/>
          </a:xfrm>
          <a:prstGeom prst="triangle">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16035C-B59B-42E2-8D20-647652D1CB0C}"/>
              </a:ext>
            </a:extLst>
          </p:cNvPr>
          <p:cNvSpPr/>
          <p:nvPr/>
        </p:nvSpPr>
        <p:spPr>
          <a:xfrm rot="16200000">
            <a:off x="5672830" y="4189450"/>
            <a:ext cx="785222" cy="1638804"/>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C4FF3B-6FF7-4371-95DE-256025198BCD}"/>
              </a:ext>
            </a:extLst>
          </p:cNvPr>
          <p:cNvSpPr/>
          <p:nvPr/>
        </p:nvSpPr>
        <p:spPr>
          <a:xfrm rot="17903220">
            <a:off x="6056045" y="4630919"/>
            <a:ext cx="785222" cy="1993671"/>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BB7F13-7DB1-4969-8153-0E5F0290F5C8}"/>
              </a:ext>
            </a:extLst>
          </p:cNvPr>
          <p:cNvSpPr/>
          <p:nvPr/>
        </p:nvSpPr>
        <p:spPr>
          <a:xfrm rot="17903220">
            <a:off x="3783509" y="5130387"/>
            <a:ext cx="969098" cy="770015"/>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9EEB25-D49B-47EF-A085-6F694D97B287}"/>
              </a:ext>
            </a:extLst>
          </p:cNvPr>
          <p:cNvSpPr/>
          <p:nvPr/>
        </p:nvSpPr>
        <p:spPr>
          <a:xfrm rot="19800849">
            <a:off x="4190085" y="5492989"/>
            <a:ext cx="969098" cy="871922"/>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3462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0505-606F-4F92-AB1E-705E7A9DA5C9}"/>
              </a:ext>
            </a:extLst>
          </p:cNvPr>
          <p:cNvSpPr>
            <a:spLocks noGrp="1"/>
          </p:cNvSpPr>
          <p:nvPr>
            <p:ph type="title"/>
          </p:nvPr>
        </p:nvSpPr>
        <p:spPr/>
        <p:txBody>
          <a:bodyPr/>
          <a:lstStyle/>
          <a:p>
            <a:r>
              <a:rPr lang="en-US" dirty="0"/>
              <a:t>Surface Intersection and Inside Checks</a:t>
            </a:r>
          </a:p>
        </p:txBody>
      </p:sp>
      <p:sp>
        <p:nvSpPr>
          <p:cNvPr id="3" name="Content Placeholder 2">
            <a:extLst>
              <a:ext uri="{FF2B5EF4-FFF2-40B4-BE49-F238E27FC236}">
                <a16:creationId xmlns:a16="http://schemas.microsoft.com/office/drawing/2014/main" id="{11046ED2-11B0-42C4-AD64-97EEED422196}"/>
              </a:ext>
            </a:extLst>
          </p:cNvPr>
          <p:cNvSpPr>
            <a:spLocks noGrp="1"/>
          </p:cNvSpPr>
          <p:nvPr>
            <p:ph idx="1"/>
          </p:nvPr>
        </p:nvSpPr>
        <p:spPr/>
        <p:txBody>
          <a:bodyPr/>
          <a:lstStyle/>
          <a:p>
            <a:pPr lvl="1"/>
            <a:r>
              <a:rPr lang="en-US" dirty="0"/>
              <a:t>Both </a:t>
            </a:r>
            <a:r>
              <a:rPr lang="en-US" dirty="0" err="1">
                <a:hlinkClick r:id="rId3"/>
              </a:rPr>
              <a:t>vtkOBBTree</a:t>
            </a:r>
            <a:r>
              <a:rPr lang="en-US" dirty="0"/>
              <a:t> and </a:t>
            </a:r>
            <a:r>
              <a:rPr lang="en-US" dirty="0" err="1">
                <a:hlinkClick r:id="rId4"/>
              </a:rPr>
              <a:t>vtkOctreePointLocator</a:t>
            </a:r>
            <a:r>
              <a:rPr lang="en-US" dirty="0"/>
              <a:t> have methods to </a:t>
            </a:r>
          </a:p>
          <a:p>
            <a:pPr marL="612775" lvl="2" indent="-342900">
              <a:buFont typeface="Arial" panose="020B0604020202020204" pitchFamily="34" charset="0"/>
              <a:buChar char="•"/>
            </a:pPr>
            <a:r>
              <a:rPr lang="en-US" dirty="0"/>
              <a:t>check if points are inside/outside of the object </a:t>
            </a:r>
          </a:p>
          <a:p>
            <a:pPr marL="612775" lvl="2" indent="-342900">
              <a:buFont typeface="Arial" panose="020B0604020202020204" pitchFamily="34" charset="0"/>
              <a:buChar char="•"/>
            </a:pPr>
            <a:r>
              <a:rPr lang="en-US" dirty="0"/>
              <a:t>find the closest polygon in a mesh to a point</a:t>
            </a:r>
          </a:p>
          <a:p>
            <a:pPr marL="612775" lvl="2" indent="-342900">
              <a:buFont typeface="Arial" panose="020B0604020202020204" pitchFamily="34" charset="0"/>
              <a:buChar char="•"/>
            </a:pPr>
            <a:r>
              <a:rPr lang="en-US" dirty="0"/>
              <a:t>etc.</a:t>
            </a:r>
          </a:p>
          <a:p>
            <a:pPr marL="612775" lvl="2" indent="-342900">
              <a:buFont typeface="Arial" panose="020B0604020202020204" pitchFamily="34" charset="0"/>
              <a:buChar char="•"/>
            </a:pPr>
            <a:endParaRPr lang="en-US" dirty="0"/>
          </a:p>
          <a:p>
            <a:pPr lvl="1"/>
            <a:r>
              <a:rPr lang="en-US" dirty="0"/>
              <a:t>There are </a:t>
            </a:r>
            <a:r>
              <a:rPr lang="en-US" dirty="0">
                <a:hlinkClick r:id="rId5"/>
              </a:rPr>
              <a:t>other types of trees </a:t>
            </a:r>
            <a:r>
              <a:rPr lang="en-US" dirty="0"/>
              <a:t>you can try as well!</a:t>
            </a:r>
          </a:p>
        </p:txBody>
      </p:sp>
    </p:spTree>
    <p:extLst>
      <p:ext uri="{BB962C8B-B14F-4D97-AF65-F5344CB8AC3E}">
        <p14:creationId xmlns:p14="http://schemas.microsoft.com/office/powerpoint/2010/main" val="23548736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Image to Points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r>
                  <a:rPr lang="en-GB" dirty="0"/>
                  <a:t>Implicit surface</a:t>
                </a:r>
              </a:p>
              <a:p>
                <a:pPr lvl="1"/>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𝑠𝑢𝑟𝑓𝑎𝑐𝑒</m:t>
                          </m:r>
                        </m:sub>
                      </m:sSub>
                      <m:r>
                        <a:rPr lang="en-GB" b="0" i="1" smtClean="0">
                          <a:latin typeface="Cambria Math" panose="02040503050406030204" pitchFamily="18" charset="0"/>
                        </a:rPr>
                        <m:t>= </m:t>
                      </m:r>
                      <m:nary>
                        <m:naryPr>
                          <m:chr m:val="∑"/>
                          <m:subHide m:val="on"/>
                          <m:supHide m:val="on"/>
                          <m:ctrlPr>
                            <a:rPr lang="en-GB" b="0" i="1" smtClean="0">
                              <a:latin typeface="Cambria Math" panose="02040503050406030204" pitchFamily="18" charset="0"/>
                            </a:rPr>
                          </m:ctrlPr>
                        </m:naryPr>
                        <m:sub/>
                        <m:sup/>
                        <m:e>
                          <m:r>
                            <a:rPr lang="en-GB" b="0" i="1" smtClean="0">
                              <a:latin typeface="Cambria Math" panose="02040503050406030204" pitchFamily="18" charset="0"/>
                            </a:rPr>
                            <m:t>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𝑞𝑢𝑒𝑟𝑦</m:t>
                                  </m:r>
                                </m:sub>
                              </m:sSub>
                            </m:e>
                          </m:d>
                          <m:r>
                            <a:rPr lang="en-GB" b="0" i="1" smtClean="0">
                              <a:latin typeface="Cambria Math" panose="02040503050406030204" pitchFamily="18" charset="0"/>
                            </a:rPr>
                            <m:t>=0 </m:t>
                          </m:r>
                        </m:e>
                      </m:nary>
                    </m:oMath>
                  </m:oMathPara>
                </a14:m>
                <a:endParaRPr lang="en-GB" dirty="0"/>
              </a:p>
              <a:p>
                <a:pPr lvl="1"/>
                <a14:m>
                  <m:oMath xmlns:m="http://schemas.openxmlformats.org/officeDocument/2006/math">
                    <m:r>
                      <a:rPr lang="en-GB" b="0" i="1" smtClean="0">
                        <a:latin typeface="Cambria Math" panose="02040503050406030204" pitchFamily="18" charset="0"/>
                      </a:rPr>
                      <m:t>𝜙</m:t>
                    </m:r>
                  </m:oMath>
                </a14:m>
                <a:r>
                  <a:rPr lang="en-GB" dirty="0"/>
                  <a:t>is some function (typically a polynomial) that takes uses a set of points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𝑃</m:t>
                    </m:r>
                  </m:oMath>
                </a14:m>
                <a:r>
                  <a:rPr lang="en-GB" dirty="0"/>
                  <a:t> to define a surface</a:t>
                </a:r>
              </a:p>
              <a:p>
                <a:pPr lvl="1"/>
                <a:endParaRPr lang="en-GB" dirty="0"/>
              </a:p>
              <a:p>
                <a:pPr lvl="1"/>
                <a:r>
                  <a:rPr lang="en-GB" dirty="0"/>
                  <a:t>For a new point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𝑠𝑢𝑟𝑓𝑎𝑐𝑒</m:t>
                        </m:r>
                      </m:sub>
                    </m:sSub>
                  </m:oMath>
                </a14:m>
                <a:r>
                  <a:rPr lang="en-GB" dirty="0"/>
                  <a:t> is &lt;0 for points inside the object, &gt;0 for points outside the object.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8A9C790-852F-466B-8357-E73871A22E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873" y="3633372"/>
            <a:ext cx="3038256" cy="1980943"/>
          </a:xfrm>
          <a:prstGeom prst="rect">
            <a:avLst/>
          </a:prstGeom>
        </p:spPr>
      </p:pic>
      <p:sp>
        <p:nvSpPr>
          <p:cNvPr id="6" name="TextBox 5">
            <a:extLst>
              <a:ext uri="{FF2B5EF4-FFF2-40B4-BE49-F238E27FC236}">
                <a16:creationId xmlns:a16="http://schemas.microsoft.com/office/drawing/2014/main" id="{790540DC-DBBE-4A47-896A-4BF96C0235E2}"/>
              </a:ext>
            </a:extLst>
          </p:cNvPr>
          <p:cNvSpPr txBox="1"/>
          <p:nvPr/>
        </p:nvSpPr>
        <p:spPr>
          <a:xfrm>
            <a:off x="872572" y="5768780"/>
            <a:ext cx="3392557" cy="646331"/>
          </a:xfrm>
          <a:prstGeom prst="rect">
            <a:avLst/>
          </a:prstGeom>
          <a:noFill/>
        </p:spPr>
        <p:txBody>
          <a:bodyPr wrap="square" rtlCol="0">
            <a:spAutoFit/>
          </a:bodyPr>
          <a:lstStyle/>
          <a:p>
            <a:pPr algn="ctr"/>
            <a:r>
              <a:rPr lang="en-US" dirty="0">
                <a:latin typeface="+mn-lt"/>
              </a:rPr>
              <a:t>Example NURBS (Non-uniform rational B-spline)</a:t>
            </a:r>
          </a:p>
        </p:txBody>
      </p:sp>
      <p:pic>
        <p:nvPicPr>
          <p:cNvPr id="9" name="Picture 8">
            <a:extLst>
              <a:ext uri="{FF2B5EF4-FFF2-40B4-BE49-F238E27FC236}">
                <a16:creationId xmlns:a16="http://schemas.microsoft.com/office/drawing/2014/main" id="{9714EA1E-4DAB-4E82-9334-0A5D928FEEC3}"/>
              </a:ext>
            </a:extLst>
          </p:cNvPr>
          <p:cNvPicPr>
            <a:picLocks noChangeAspect="1"/>
          </p:cNvPicPr>
          <p:nvPr/>
        </p:nvPicPr>
        <p:blipFill>
          <a:blip r:embed="rId5"/>
          <a:stretch>
            <a:fillRect/>
          </a:stretch>
        </p:blipFill>
        <p:spPr>
          <a:xfrm>
            <a:off x="7328453" y="3643763"/>
            <a:ext cx="2532596" cy="2491077"/>
          </a:xfrm>
          <a:prstGeom prst="rect">
            <a:avLst/>
          </a:prstGeom>
        </p:spPr>
      </p:pic>
      <p:sp>
        <p:nvSpPr>
          <p:cNvPr id="10" name="TextBox 9">
            <a:extLst>
              <a:ext uri="{FF2B5EF4-FFF2-40B4-BE49-F238E27FC236}">
                <a16:creationId xmlns:a16="http://schemas.microsoft.com/office/drawing/2014/main" id="{3541E168-A6E9-41BC-AB86-758A6260B33C}"/>
              </a:ext>
            </a:extLst>
          </p:cNvPr>
          <p:cNvSpPr txBox="1"/>
          <p:nvPr/>
        </p:nvSpPr>
        <p:spPr>
          <a:xfrm>
            <a:off x="7094468" y="6031669"/>
            <a:ext cx="3392557" cy="646331"/>
          </a:xfrm>
          <a:prstGeom prst="rect">
            <a:avLst/>
          </a:prstGeom>
          <a:noFill/>
        </p:spPr>
        <p:txBody>
          <a:bodyPr wrap="square" rtlCol="0">
            <a:spAutoFit/>
          </a:bodyPr>
          <a:lstStyle/>
          <a:p>
            <a:pPr algn="ctr"/>
            <a:r>
              <a:rPr lang="en-US" dirty="0">
                <a:latin typeface="+mn-lt"/>
              </a:rPr>
              <a:t>Bezier Surface – polynomial representation</a:t>
            </a:r>
          </a:p>
        </p:txBody>
      </p:sp>
    </p:spTree>
    <p:extLst>
      <p:ext uri="{BB962C8B-B14F-4D97-AF65-F5344CB8AC3E}">
        <p14:creationId xmlns:p14="http://schemas.microsoft.com/office/powerpoint/2010/main" val="438417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Image to Points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r>
                  <a:rPr lang="en-GB" dirty="0"/>
                  <a:t>Implicit surface</a:t>
                </a:r>
              </a:p>
              <a:p>
                <a:pPr lvl="1"/>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𝑠𝑢𝑟𝑓𝑎𝑐𝑒</m:t>
                          </m:r>
                        </m:sub>
                      </m:sSub>
                      <m:r>
                        <a:rPr lang="en-GB" b="0" i="1" smtClean="0">
                          <a:latin typeface="Cambria Math" panose="02040503050406030204" pitchFamily="18" charset="0"/>
                        </a:rPr>
                        <m:t>= </m:t>
                      </m:r>
                      <m:nary>
                        <m:naryPr>
                          <m:chr m:val="∑"/>
                          <m:subHide m:val="on"/>
                          <m:supHide m:val="on"/>
                          <m:ctrlPr>
                            <a:rPr lang="en-GB" b="0" i="1" smtClean="0">
                              <a:latin typeface="Cambria Math" panose="02040503050406030204" pitchFamily="18" charset="0"/>
                            </a:rPr>
                          </m:ctrlPr>
                        </m:naryPr>
                        <m:sub/>
                        <m:sup/>
                        <m:e>
                          <m:r>
                            <a:rPr lang="en-GB" b="0" i="1" smtClean="0">
                              <a:latin typeface="Cambria Math" panose="02040503050406030204" pitchFamily="18" charset="0"/>
                            </a:rPr>
                            <m:t>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𝑞𝑢𝑒𝑟𝑦</m:t>
                                  </m:r>
                                </m:sub>
                              </m:sSub>
                            </m:e>
                          </m:d>
                          <m:r>
                            <a:rPr lang="en-GB" b="0" i="1" smtClean="0">
                              <a:latin typeface="Cambria Math" panose="02040503050406030204" pitchFamily="18" charset="0"/>
                            </a:rPr>
                            <m:t>=0 </m:t>
                          </m:r>
                        </m:e>
                      </m:nary>
                    </m:oMath>
                  </m:oMathPara>
                </a14:m>
                <a:endParaRPr lang="en-GB" dirty="0"/>
              </a:p>
              <a:p>
                <a:pPr lvl="1"/>
                <a14:m>
                  <m:oMath xmlns:m="http://schemas.openxmlformats.org/officeDocument/2006/math">
                    <m:r>
                      <a:rPr lang="en-GB" b="0" i="1" smtClean="0">
                        <a:latin typeface="Cambria Math" panose="02040503050406030204" pitchFamily="18" charset="0"/>
                      </a:rPr>
                      <m:t>𝜙</m:t>
                    </m:r>
                  </m:oMath>
                </a14:m>
                <a:r>
                  <a:rPr lang="en-GB" dirty="0"/>
                  <a:t>is some function (typically a polynomial) that takes uses a set of points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𝑃</m:t>
                    </m:r>
                  </m:oMath>
                </a14:m>
                <a:r>
                  <a:rPr lang="en-GB" dirty="0"/>
                  <a:t> to define a surface</a:t>
                </a:r>
              </a:p>
              <a:p>
                <a:pPr lvl="1"/>
                <a:endParaRPr lang="en-GB" dirty="0"/>
              </a:p>
              <a:p>
                <a:pPr lvl="1"/>
                <a:r>
                  <a:rPr lang="en-GB" dirty="0"/>
                  <a:t>For a new point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𝑠𝑢𝑟𝑓𝑎𝑐𝑒</m:t>
                        </m:r>
                      </m:sub>
                    </m:sSub>
                  </m:oMath>
                </a14:m>
                <a:r>
                  <a:rPr lang="en-GB" dirty="0"/>
                  <a:t> is &lt;0 for points inside the object, &gt;0 for points outside the object.</a:t>
                </a:r>
              </a:p>
              <a:p>
                <a:pPr lvl="1"/>
                <a:endParaRPr lang="en-GB" dirty="0"/>
              </a:p>
              <a:p>
                <a:pPr lvl="1"/>
                <a:r>
                  <a:rPr lang="en-GB" dirty="0"/>
                  <a:t>Implementation Details</a:t>
                </a:r>
              </a:p>
              <a:p>
                <a:pPr marL="882650" lvl="3" indent="-342900">
                  <a:buFont typeface="Arial" panose="020B0604020202020204" pitchFamily="34" charset="0"/>
                  <a:buChar char="•"/>
                </a:pPr>
                <a:r>
                  <a:rPr lang="en-GB" dirty="0">
                    <a:hlinkClick r:id="rId3"/>
                  </a:rPr>
                  <a:t>Bezier Curve</a:t>
                </a:r>
                <a:endParaRPr lang="en-GB" dirty="0"/>
              </a:p>
              <a:p>
                <a:pPr marL="882650" lvl="3" indent="-342900">
                  <a:buFont typeface="Arial" panose="020B0604020202020204" pitchFamily="34" charset="0"/>
                  <a:buChar char="•"/>
                </a:pPr>
                <a:r>
                  <a:rPr lang="en-GB" dirty="0">
                    <a:hlinkClick r:id="rId4"/>
                  </a:rPr>
                  <a:t>Spline</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5"/>
                <a:stretch>
                  <a:fillRect l="-1412" t="-1131"/>
                </a:stretch>
              </a:blipFill>
            </p:spPr>
            <p:txBody>
              <a:bodyPr/>
              <a:lstStyle/>
              <a:p>
                <a:r>
                  <a:rPr lang="en-US">
                    <a:noFill/>
                  </a:rPr>
                  <a:t> </a:t>
                </a:r>
              </a:p>
            </p:txBody>
          </p:sp>
        </mc:Fallback>
      </mc:AlternateContent>
    </p:spTree>
    <p:extLst>
      <p:ext uri="{BB962C8B-B14F-4D97-AF65-F5344CB8AC3E}">
        <p14:creationId xmlns:p14="http://schemas.microsoft.com/office/powerpoint/2010/main" val="1220058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CA16-8CCD-4B3E-8616-63033DEC2C39}"/>
              </a:ext>
            </a:extLst>
          </p:cNvPr>
          <p:cNvSpPr>
            <a:spLocks noGrp="1"/>
          </p:cNvSpPr>
          <p:nvPr>
            <p:ph type="title"/>
          </p:nvPr>
        </p:nvSpPr>
        <p:spPr/>
        <p:txBody>
          <a:bodyPr/>
          <a:lstStyle/>
          <a:p>
            <a:r>
              <a:rPr lang="en-US" dirty="0"/>
              <a:t>Image to Points</a:t>
            </a:r>
          </a:p>
        </p:txBody>
      </p:sp>
      <p:sp>
        <p:nvSpPr>
          <p:cNvPr id="3" name="Content Placeholder 2">
            <a:extLst>
              <a:ext uri="{FF2B5EF4-FFF2-40B4-BE49-F238E27FC236}">
                <a16:creationId xmlns:a16="http://schemas.microsoft.com/office/drawing/2014/main" id="{A75DA864-2FAC-4673-8E68-BE4DA15E1B25}"/>
              </a:ext>
            </a:extLst>
          </p:cNvPr>
          <p:cNvSpPr>
            <a:spLocks noGrp="1"/>
          </p:cNvSpPr>
          <p:nvPr>
            <p:ph idx="1"/>
          </p:nvPr>
        </p:nvSpPr>
        <p:spPr>
          <a:xfrm>
            <a:off x="480000" y="1089220"/>
            <a:ext cx="7365287" cy="4856400"/>
          </a:xfrm>
        </p:spPr>
        <p:txBody>
          <a:bodyPr/>
          <a:lstStyle/>
          <a:p>
            <a:pPr lvl="1"/>
            <a:r>
              <a:rPr lang="en-US" dirty="0"/>
              <a:t>Implicit surfaces can be defined using piecewise approximations (De </a:t>
            </a:r>
            <a:r>
              <a:rPr lang="en-US" dirty="0" err="1"/>
              <a:t>Casteljau's</a:t>
            </a:r>
            <a:r>
              <a:rPr lang="en-US" dirty="0"/>
              <a:t> algorithm)</a:t>
            </a:r>
          </a:p>
          <a:p>
            <a:pPr marL="882650" lvl="3" indent="-342900">
              <a:buFont typeface="Arial" panose="020B0604020202020204" pitchFamily="34" charset="0"/>
              <a:buChar char="•"/>
            </a:pPr>
            <a:r>
              <a:rPr lang="en-US" dirty="0"/>
              <a:t>Recursively split the patch into two segments by finding</a:t>
            </a:r>
          </a:p>
          <a:p>
            <a:pPr marL="2857500" lvl="5" indent="-342900">
              <a:buFont typeface="Arial" panose="020B0604020202020204" pitchFamily="34" charset="0"/>
              <a:buChar char="•"/>
            </a:pPr>
            <a:r>
              <a:rPr lang="en-US" dirty="0"/>
              <a:t>Appropriate Split point</a:t>
            </a:r>
          </a:p>
          <a:p>
            <a:pPr marL="2857500" lvl="5" indent="-342900">
              <a:buFont typeface="Arial" panose="020B0604020202020204" pitchFamily="34" charset="0"/>
              <a:buChar char="•"/>
            </a:pPr>
            <a:r>
              <a:rPr lang="en-US" dirty="0"/>
              <a:t> New control points</a:t>
            </a:r>
          </a:p>
          <a:p>
            <a:pPr marL="1152525" lvl="4" indent="-342900">
              <a:buFont typeface="Arial" panose="020B0604020202020204" pitchFamily="34" charset="0"/>
              <a:buChar char="•"/>
            </a:pPr>
            <a:r>
              <a:rPr lang="en-US" dirty="0"/>
              <a:t>The set of control points can be used to</a:t>
            </a:r>
          </a:p>
          <a:p>
            <a:pPr lvl="4" indent="0">
              <a:buNone/>
            </a:pPr>
            <a:r>
              <a:rPr lang="en-US" dirty="0"/>
              <a:t>     define a bounding box for each curve</a:t>
            </a:r>
          </a:p>
          <a:p>
            <a:pPr marL="1152525" lvl="4" indent="-342900"/>
            <a:r>
              <a:rPr lang="en-US" dirty="0"/>
              <a:t>As these surfaces are continuous functions</a:t>
            </a:r>
          </a:p>
          <a:p>
            <a:pPr lvl="4" indent="0">
              <a:buNone/>
            </a:pPr>
            <a:r>
              <a:rPr lang="en-US" dirty="0"/>
              <a:t>	    algorithmically need to define discrete step</a:t>
            </a:r>
          </a:p>
          <a:p>
            <a:pPr lvl="4" indent="0">
              <a:buNone/>
            </a:pPr>
            <a:r>
              <a:rPr lang="en-US" dirty="0"/>
              <a:t>      (i.e. precision of system)</a:t>
            </a:r>
          </a:p>
        </p:txBody>
      </p:sp>
      <p:pic>
        <p:nvPicPr>
          <p:cNvPr id="6" name="Picture 5">
            <a:extLst>
              <a:ext uri="{FF2B5EF4-FFF2-40B4-BE49-F238E27FC236}">
                <a16:creationId xmlns:a16="http://schemas.microsoft.com/office/drawing/2014/main" id="{25253A7F-3C1D-4D7C-AF30-B1A81A6FA721}"/>
              </a:ext>
            </a:extLst>
          </p:cNvPr>
          <p:cNvPicPr>
            <a:picLocks noChangeAspect="1"/>
          </p:cNvPicPr>
          <p:nvPr/>
        </p:nvPicPr>
        <p:blipFill>
          <a:blip r:embed="rId3"/>
          <a:stretch>
            <a:fillRect/>
          </a:stretch>
        </p:blipFill>
        <p:spPr>
          <a:xfrm>
            <a:off x="6506817" y="2183060"/>
            <a:ext cx="5088835" cy="4236666"/>
          </a:xfrm>
          <a:prstGeom prst="rect">
            <a:avLst/>
          </a:prstGeom>
        </p:spPr>
      </p:pic>
    </p:spTree>
    <p:extLst>
      <p:ext uri="{BB962C8B-B14F-4D97-AF65-F5344CB8AC3E}">
        <p14:creationId xmlns:p14="http://schemas.microsoft.com/office/powerpoint/2010/main" val="2497173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CA16-8CCD-4B3E-8616-63033DEC2C39}"/>
              </a:ext>
            </a:extLst>
          </p:cNvPr>
          <p:cNvSpPr>
            <a:spLocks noGrp="1"/>
          </p:cNvSpPr>
          <p:nvPr>
            <p:ph type="title"/>
          </p:nvPr>
        </p:nvSpPr>
        <p:spPr/>
        <p:txBody>
          <a:bodyPr/>
          <a:lstStyle/>
          <a:p>
            <a:r>
              <a:rPr lang="en-US" dirty="0"/>
              <a:t>Implicit Surface Traversal</a:t>
            </a:r>
          </a:p>
        </p:txBody>
      </p:sp>
      <p:sp>
        <p:nvSpPr>
          <p:cNvPr id="3" name="Content Placeholder 2">
            <a:extLst>
              <a:ext uri="{FF2B5EF4-FFF2-40B4-BE49-F238E27FC236}">
                <a16:creationId xmlns:a16="http://schemas.microsoft.com/office/drawing/2014/main" id="{A75DA864-2FAC-4673-8E68-BE4DA15E1B25}"/>
              </a:ext>
            </a:extLst>
          </p:cNvPr>
          <p:cNvSpPr>
            <a:spLocks noGrp="1"/>
          </p:cNvSpPr>
          <p:nvPr>
            <p:ph idx="1"/>
          </p:nvPr>
        </p:nvSpPr>
        <p:spPr>
          <a:xfrm>
            <a:off x="480000" y="1089220"/>
            <a:ext cx="11327687" cy="4856400"/>
          </a:xfrm>
        </p:spPr>
        <p:txBody>
          <a:bodyPr/>
          <a:lstStyle/>
          <a:p>
            <a:pPr lvl="1"/>
            <a:r>
              <a:rPr lang="en-US" dirty="0"/>
              <a:t>As in image and surface </a:t>
            </a:r>
          </a:p>
          <a:p>
            <a:pPr marL="882650" lvl="3" indent="-342900">
              <a:buFont typeface="Arial" panose="020B0604020202020204" pitchFamily="34" charset="0"/>
              <a:buChar char="•"/>
            </a:pPr>
            <a:r>
              <a:rPr lang="en-US" dirty="0"/>
              <a:t>Tree traversal can be used to identify region of curve to consider</a:t>
            </a:r>
          </a:p>
          <a:p>
            <a:pPr marL="882650" lvl="3" indent="-342900">
              <a:buFont typeface="Arial" panose="020B0604020202020204" pitchFamily="34" charset="0"/>
              <a:buChar char="•"/>
            </a:pPr>
            <a:r>
              <a:rPr lang="en-US" dirty="0"/>
              <a:t>De </a:t>
            </a:r>
            <a:r>
              <a:rPr lang="en-US" dirty="0" err="1"/>
              <a:t>Casteljau's</a:t>
            </a:r>
            <a:r>
              <a:rPr lang="en-US" dirty="0"/>
              <a:t> algorithm can be used to iteratively define a bounding volume split</a:t>
            </a:r>
          </a:p>
          <a:p>
            <a:pPr marL="882650" lvl="3" indent="-342900">
              <a:buFont typeface="Arial" panose="020B0604020202020204" pitchFamily="34" charset="0"/>
              <a:buChar char="•"/>
            </a:pPr>
            <a:r>
              <a:rPr lang="en-US" dirty="0"/>
              <a:t>For both octree and bounding volume each leaf node must contain enough points to correctly define surface patch in the region covered by the surface node</a:t>
            </a:r>
          </a:p>
          <a:p>
            <a:pPr marL="882650" lvl="3" indent="-342900">
              <a:buFont typeface="Arial" panose="020B0604020202020204" pitchFamily="34" charset="0"/>
              <a:buChar char="•"/>
            </a:pPr>
            <a:r>
              <a:rPr lang="en-US" dirty="0"/>
              <a:t>Accurate but computational complex</a:t>
            </a:r>
          </a:p>
          <a:p>
            <a:pPr lvl="2" indent="0">
              <a:buNone/>
            </a:pPr>
            <a:endParaRPr lang="en-US" dirty="0"/>
          </a:p>
        </p:txBody>
      </p:sp>
    </p:spTree>
    <p:extLst>
      <p:ext uri="{BB962C8B-B14F-4D97-AF65-F5344CB8AC3E}">
        <p14:creationId xmlns:p14="http://schemas.microsoft.com/office/powerpoint/2010/main" val="997180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CA16-8CCD-4B3E-8616-63033DEC2C39}"/>
              </a:ext>
            </a:extLst>
          </p:cNvPr>
          <p:cNvSpPr>
            <a:spLocks noGrp="1"/>
          </p:cNvSpPr>
          <p:nvPr>
            <p:ph type="title"/>
          </p:nvPr>
        </p:nvSpPr>
        <p:spPr/>
        <p:txBody>
          <a:bodyPr/>
          <a:lstStyle/>
          <a:p>
            <a:r>
              <a:rPr lang="en-US" dirty="0"/>
              <a:t>Point Cloud Collision Detection</a:t>
            </a:r>
          </a:p>
        </p:txBody>
      </p:sp>
      <p:sp>
        <p:nvSpPr>
          <p:cNvPr id="3" name="Content Placeholder 2">
            <a:extLst>
              <a:ext uri="{FF2B5EF4-FFF2-40B4-BE49-F238E27FC236}">
                <a16:creationId xmlns:a16="http://schemas.microsoft.com/office/drawing/2014/main" id="{A75DA864-2FAC-4673-8E68-BE4DA15E1B25}"/>
              </a:ext>
            </a:extLst>
          </p:cNvPr>
          <p:cNvSpPr>
            <a:spLocks noGrp="1"/>
          </p:cNvSpPr>
          <p:nvPr>
            <p:ph idx="1"/>
          </p:nvPr>
        </p:nvSpPr>
        <p:spPr>
          <a:xfrm>
            <a:off x="480000" y="1089220"/>
            <a:ext cx="11327687" cy="4856400"/>
          </a:xfrm>
        </p:spPr>
        <p:txBody>
          <a:bodyPr/>
          <a:lstStyle/>
          <a:p>
            <a:pPr lvl="2" indent="0">
              <a:buNone/>
            </a:pPr>
            <a:r>
              <a:rPr lang="en-US" dirty="0"/>
              <a:t>Define object by a densely populated point cloud (Klein and </a:t>
            </a:r>
            <a:r>
              <a:rPr lang="en-US" dirty="0" err="1"/>
              <a:t>Zachmann</a:t>
            </a:r>
            <a:r>
              <a:rPr lang="en-US" dirty="0"/>
              <a:t> 2004)</a:t>
            </a:r>
          </a:p>
          <a:p>
            <a:pPr marL="882650" lvl="3" indent="-342900">
              <a:buFont typeface="Arial" panose="020B0604020202020204" pitchFamily="34" charset="0"/>
              <a:buChar char="•"/>
            </a:pPr>
            <a:r>
              <a:rPr lang="en-US" dirty="0"/>
              <a:t>Define a collision as being with a set radius (defined by sampling distance between points)</a:t>
            </a:r>
          </a:p>
          <a:p>
            <a:pPr marL="882650" lvl="3" indent="-342900">
              <a:buFont typeface="Arial" panose="020B0604020202020204" pitchFamily="34" charset="0"/>
              <a:buChar char="•"/>
            </a:pPr>
            <a:r>
              <a:rPr lang="en-US" dirty="0"/>
              <a:t>Quicker than implicit surfaces</a:t>
            </a:r>
          </a:p>
          <a:p>
            <a:pPr marL="882650" lvl="3" indent="-342900">
              <a:buFont typeface="Arial" panose="020B0604020202020204" pitchFamily="34" charset="0"/>
              <a:buChar char="•"/>
            </a:pPr>
            <a:r>
              <a:rPr lang="en-US" dirty="0"/>
              <a:t>Much simpler and computationally quick</a:t>
            </a:r>
          </a:p>
        </p:txBody>
      </p:sp>
      <p:pic>
        <p:nvPicPr>
          <p:cNvPr id="5" name="Picture 4">
            <a:extLst>
              <a:ext uri="{FF2B5EF4-FFF2-40B4-BE49-F238E27FC236}">
                <a16:creationId xmlns:a16="http://schemas.microsoft.com/office/drawing/2014/main" id="{94A85068-1A0E-4920-AA57-A679B95E75A3}"/>
              </a:ext>
            </a:extLst>
          </p:cNvPr>
          <p:cNvPicPr>
            <a:picLocks noChangeAspect="1"/>
          </p:cNvPicPr>
          <p:nvPr/>
        </p:nvPicPr>
        <p:blipFill>
          <a:blip r:embed="rId3"/>
          <a:stretch>
            <a:fillRect/>
          </a:stretch>
        </p:blipFill>
        <p:spPr>
          <a:xfrm>
            <a:off x="6864626" y="2014330"/>
            <a:ext cx="4714853" cy="4157981"/>
          </a:xfrm>
          <a:prstGeom prst="rect">
            <a:avLst/>
          </a:prstGeom>
        </p:spPr>
      </p:pic>
      <p:pic>
        <p:nvPicPr>
          <p:cNvPr id="4" name="Picture 3">
            <a:extLst>
              <a:ext uri="{FF2B5EF4-FFF2-40B4-BE49-F238E27FC236}">
                <a16:creationId xmlns:a16="http://schemas.microsoft.com/office/drawing/2014/main" id="{AC85A12B-5F34-4698-825F-0D0FEA64EC4C}"/>
              </a:ext>
            </a:extLst>
          </p:cNvPr>
          <p:cNvPicPr>
            <a:picLocks noChangeAspect="1"/>
          </p:cNvPicPr>
          <p:nvPr/>
        </p:nvPicPr>
        <p:blipFill>
          <a:blip r:embed="rId4"/>
          <a:stretch>
            <a:fillRect/>
          </a:stretch>
        </p:blipFill>
        <p:spPr>
          <a:xfrm>
            <a:off x="3181568" y="3054155"/>
            <a:ext cx="2962275" cy="2714625"/>
          </a:xfrm>
          <a:prstGeom prst="rect">
            <a:avLst/>
          </a:prstGeom>
        </p:spPr>
      </p:pic>
    </p:spTree>
    <p:extLst>
      <p:ext uri="{BB962C8B-B14F-4D97-AF65-F5344CB8AC3E}">
        <p14:creationId xmlns:p14="http://schemas.microsoft.com/office/powerpoint/2010/main" val="11697322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4EAB-D738-4BD5-8CEE-70F407FEF3E4}"/>
              </a:ext>
            </a:extLst>
          </p:cNvPr>
          <p:cNvSpPr>
            <a:spLocks noGrp="1"/>
          </p:cNvSpPr>
          <p:nvPr>
            <p:ph type="title"/>
          </p:nvPr>
        </p:nvSpPr>
        <p:spPr/>
        <p:txBody>
          <a:bodyPr/>
          <a:lstStyle/>
          <a:p>
            <a:r>
              <a:rPr lang="en-US" dirty="0"/>
              <a:t>Image To Surface</a:t>
            </a:r>
          </a:p>
        </p:txBody>
      </p:sp>
      <p:sp>
        <p:nvSpPr>
          <p:cNvPr id="3" name="Content Placeholder 2">
            <a:extLst>
              <a:ext uri="{FF2B5EF4-FFF2-40B4-BE49-F238E27FC236}">
                <a16:creationId xmlns:a16="http://schemas.microsoft.com/office/drawing/2014/main" id="{9FABD897-4E9F-4B14-97DB-97F84AB92DEE}"/>
              </a:ext>
            </a:extLst>
          </p:cNvPr>
          <p:cNvSpPr>
            <a:spLocks noGrp="1"/>
          </p:cNvSpPr>
          <p:nvPr>
            <p:ph idx="1"/>
          </p:nvPr>
        </p:nvSpPr>
        <p:spPr/>
        <p:txBody>
          <a:bodyPr/>
          <a:lstStyle/>
          <a:p>
            <a:pPr lvl="1"/>
            <a:r>
              <a:rPr lang="en-US" dirty="0"/>
              <a:t>Image rendering (green) and surface (yellow)</a:t>
            </a:r>
          </a:p>
          <a:p>
            <a:pPr lvl="1"/>
            <a:r>
              <a:rPr lang="en-US" dirty="0"/>
              <a:t>Direct comparison</a:t>
            </a:r>
          </a:p>
          <a:p>
            <a:pPr lvl="1"/>
            <a:endParaRPr lang="en-US" dirty="0"/>
          </a:p>
          <a:p>
            <a:pPr lvl="1"/>
            <a:r>
              <a:rPr lang="en-US" dirty="0"/>
              <a:t>Mask has : 14417920 pixels</a:t>
            </a:r>
          </a:p>
          <a:p>
            <a:pPr lvl="1"/>
            <a:r>
              <a:rPr lang="en-US" dirty="0"/>
              <a:t>Surface has: 99543 polygons</a:t>
            </a:r>
          </a:p>
          <a:p>
            <a:pPr lvl="1"/>
            <a:r>
              <a:rPr lang="en-US" dirty="0"/>
              <a:t>Point count: 255787</a:t>
            </a:r>
          </a:p>
        </p:txBody>
      </p:sp>
      <p:pic>
        <p:nvPicPr>
          <p:cNvPr id="4" name="Picture 3">
            <a:extLst>
              <a:ext uri="{FF2B5EF4-FFF2-40B4-BE49-F238E27FC236}">
                <a16:creationId xmlns:a16="http://schemas.microsoft.com/office/drawing/2014/main" id="{139E0F3F-89D3-4CB8-ABB1-C9917B420F1C}"/>
              </a:ext>
            </a:extLst>
          </p:cNvPr>
          <p:cNvPicPr>
            <a:picLocks noChangeAspect="1"/>
          </p:cNvPicPr>
          <p:nvPr/>
        </p:nvPicPr>
        <p:blipFill>
          <a:blip r:embed="rId2"/>
          <a:stretch>
            <a:fillRect/>
          </a:stretch>
        </p:blipFill>
        <p:spPr>
          <a:xfrm>
            <a:off x="5812920" y="1089220"/>
            <a:ext cx="5899080" cy="5084290"/>
          </a:xfrm>
          <a:prstGeom prst="rect">
            <a:avLst/>
          </a:prstGeom>
        </p:spPr>
      </p:pic>
      <p:pic>
        <p:nvPicPr>
          <p:cNvPr id="5" name="Picture 4">
            <a:extLst>
              <a:ext uri="{FF2B5EF4-FFF2-40B4-BE49-F238E27FC236}">
                <a16:creationId xmlns:a16="http://schemas.microsoft.com/office/drawing/2014/main" id="{C523FCE0-94CC-4949-9A77-70C8177962F6}"/>
              </a:ext>
            </a:extLst>
          </p:cNvPr>
          <p:cNvPicPr>
            <a:picLocks noChangeAspect="1"/>
          </p:cNvPicPr>
          <p:nvPr/>
        </p:nvPicPr>
        <p:blipFill>
          <a:blip r:embed="rId3"/>
          <a:stretch>
            <a:fillRect/>
          </a:stretch>
        </p:blipFill>
        <p:spPr>
          <a:xfrm>
            <a:off x="5812920" y="1089220"/>
            <a:ext cx="5899080" cy="5202339"/>
          </a:xfrm>
          <a:prstGeom prst="rect">
            <a:avLst/>
          </a:prstGeom>
        </p:spPr>
      </p:pic>
    </p:spTree>
    <p:extLst>
      <p:ext uri="{BB962C8B-B14F-4D97-AF65-F5344CB8AC3E}">
        <p14:creationId xmlns:p14="http://schemas.microsoft.com/office/powerpoint/2010/main" val="72992453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CA16-8CCD-4B3E-8616-63033DEC2C39}"/>
              </a:ext>
            </a:extLst>
          </p:cNvPr>
          <p:cNvSpPr>
            <a:spLocks noGrp="1"/>
          </p:cNvSpPr>
          <p:nvPr>
            <p:ph type="title"/>
          </p:nvPr>
        </p:nvSpPr>
        <p:spPr/>
        <p:txBody>
          <a:bodyPr/>
          <a:lstStyle/>
          <a:p>
            <a:r>
              <a:rPr lang="en-US" dirty="0"/>
              <a:t>Point Cloud Collision Detection</a:t>
            </a:r>
          </a:p>
        </p:txBody>
      </p:sp>
      <p:sp>
        <p:nvSpPr>
          <p:cNvPr id="3" name="Content Placeholder 2">
            <a:extLst>
              <a:ext uri="{FF2B5EF4-FFF2-40B4-BE49-F238E27FC236}">
                <a16:creationId xmlns:a16="http://schemas.microsoft.com/office/drawing/2014/main" id="{A75DA864-2FAC-4673-8E68-BE4DA15E1B25}"/>
              </a:ext>
            </a:extLst>
          </p:cNvPr>
          <p:cNvSpPr>
            <a:spLocks noGrp="1"/>
          </p:cNvSpPr>
          <p:nvPr>
            <p:ph idx="1"/>
          </p:nvPr>
        </p:nvSpPr>
        <p:spPr>
          <a:xfrm>
            <a:off x="480000" y="1089220"/>
            <a:ext cx="11327687" cy="4856400"/>
          </a:xfrm>
        </p:spPr>
        <p:txBody>
          <a:bodyPr/>
          <a:lstStyle/>
          <a:p>
            <a:pPr lvl="1"/>
            <a:r>
              <a:rPr lang="en-US" dirty="0"/>
              <a:t>Define object by a densely populated point cloud (Klein and </a:t>
            </a:r>
            <a:r>
              <a:rPr lang="en-US" dirty="0" err="1"/>
              <a:t>Zachmann</a:t>
            </a:r>
            <a:r>
              <a:rPr lang="en-US" dirty="0"/>
              <a:t> 2004)</a:t>
            </a:r>
          </a:p>
          <a:p>
            <a:pPr marL="882650" lvl="3" indent="-342900">
              <a:buFont typeface="Arial" panose="020B0604020202020204" pitchFamily="34" charset="0"/>
              <a:buChar char="•"/>
            </a:pPr>
            <a:r>
              <a:rPr lang="en-US" dirty="0"/>
              <a:t>Define a collision as being with a set radius (defined by sampling distance between points)</a:t>
            </a:r>
          </a:p>
          <a:p>
            <a:pPr marL="882650" lvl="3" indent="-342900">
              <a:buFont typeface="Arial" panose="020B0604020202020204" pitchFamily="34" charset="0"/>
              <a:buChar char="•"/>
            </a:pPr>
            <a:r>
              <a:rPr lang="en-US" dirty="0"/>
              <a:t>Quicker than implicit surfaces</a:t>
            </a:r>
          </a:p>
          <a:p>
            <a:pPr marL="882650" lvl="3" indent="-342900">
              <a:buFont typeface="Arial" panose="020B0604020202020204" pitchFamily="34" charset="0"/>
              <a:buChar char="•"/>
            </a:pPr>
            <a:r>
              <a:rPr lang="en-US" dirty="0"/>
              <a:t>Much simpler and computationally quick</a:t>
            </a:r>
          </a:p>
          <a:p>
            <a:pPr lvl="1"/>
            <a:endParaRPr lang="en-US" dirty="0"/>
          </a:p>
          <a:p>
            <a:pPr lvl="1"/>
            <a:r>
              <a:rPr lang="en-US" dirty="0"/>
              <a:t>As with other object types</a:t>
            </a:r>
          </a:p>
          <a:p>
            <a:pPr marL="612775" lvl="2" indent="-342900">
              <a:buFont typeface="Arial" panose="020B0604020202020204" pitchFamily="34" charset="0"/>
              <a:buChar char="•"/>
            </a:pPr>
            <a:r>
              <a:rPr lang="en-US" dirty="0"/>
              <a:t>Octrees can be used</a:t>
            </a:r>
          </a:p>
          <a:p>
            <a:pPr marL="612775" lvl="2" indent="-342900">
              <a:buFont typeface="Arial" panose="020B0604020202020204" pitchFamily="34" charset="0"/>
              <a:buChar char="•"/>
            </a:pPr>
            <a:r>
              <a:rPr lang="en-US" dirty="0"/>
              <a:t>As points have no orientation/volume bounding </a:t>
            </a:r>
          </a:p>
          <a:p>
            <a:pPr lvl="2" indent="0">
              <a:buNone/>
            </a:pPr>
            <a:r>
              <a:rPr lang="en-US" dirty="0"/>
              <a:t>      volumes typically not used</a:t>
            </a:r>
          </a:p>
          <a:p>
            <a:pPr marL="612775" lvl="2" indent="-342900"/>
            <a:r>
              <a:rPr lang="en-US" dirty="0" err="1">
                <a:hlinkClick r:id="rId3"/>
              </a:rPr>
              <a:t>kdTree</a:t>
            </a:r>
            <a:r>
              <a:rPr lang="en-US" dirty="0"/>
              <a:t> are tree with a binary partitioning </a:t>
            </a:r>
          </a:p>
          <a:p>
            <a:pPr lvl="2" indent="0">
              <a:buNone/>
            </a:pPr>
            <a:r>
              <a:rPr lang="en-US" dirty="0"/>
              <a:t>     of the points sets (similar to bounding volume)</a:t>
            </a:r>
          </a:p>
        </p:txBody>
      </p:sp>
      <p:pic>
        <p:nvPicPr>
          <p:cNvPr id="5" name="Picture 4">
            <a:extLst>
              <a:ext uri="{FF2B5EF4-FFF2-40B4-BE49-F238E27FC236}">
                <a16:creationId xmlns:a16="http://schemas.microsoft.com/office/drawing/2014/main" id="{94A85068-1A0E-4920-AA57-A679B95E75A3}"/>
              </a:ext>
            </a:extLst>
          </p:cNvPr>
          <p:cNvPicPr>
            <a:picLocks noChangeAspect="1"/>
          </p:cNvPicPr>
          <p:nvPr/>
        </p:nvPicPr>
        <p:blipFill>
          <a:blip r:embed="rId4"/>
          <a:stretch>
            <a:fillRect/>
          </a:stretch>
        </p:blipFill>
        <p:spPr>
          <a:xfrm>
            <a:off x="6864626" y="2014330"/>
            <a:ext cx="4714853" cy="4157981"/>
          </a:xfrm>
          <a:prstGeom prst="rect">
            <a:avLst/>
          </a:prstGeom>
        </p:spPr>
      </p:pic>
    </p:spTree>
    <p:extLst>
      <p:ext uri="{BB962C8B-B14F-4D97-AF65-F5344CB8AC3E}">
        <p14:creationId xmlns:p14="http://schemas.microsoft.com/office/powerpoint/2010/main" val="1981469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3893-8E2B-4F90-B231-3F9259D076C9}"/>
              </a:ext>
            </a:extLst>
          </p:cNvPr>
          <p:cNvSpPr>
            <a:spLocks noGrp="1"/>
          </p:cNvSpPr>
          <p:nvPr>
            <p:ph type="title"/>
          </p:nvPr>
        </p:nvSpPr>
        <p:spPr/>
        <p:txBody>
          <a:bodyPr/>
          <a:lstStyle/>
          <a:p>
            <a:r>
              <a:rPr lang="en-GB" dirty="0"/>
              <a:t>Path Planning </a:t>
            </a:r>
            <a:r>
              <a:rPr lang="en-US" dirty="0"/>
              <a:t>Implementation</a:t>
            </a:r>
          </a:p>
        </p:txBody>
      </p:sp>
      <p:sp>
        <p:nvSpPr>
          <p:cNvPr id="3" name="Content Placeholder 2">
            <a:extLst>
              <a:ext uri="{FF2B5EF4-FFF2-40B4-BE49-F238E27FC236}">
                <a16:creationId xmlns:a16="http://schemas.microsoft.com/office/drawing/2014/main" id="{DE20EF25-0A13-422B-97B6-DF7010B94ECB}"/>
              </a:ext>
            </a:extLst>
          </p:cNvPr>
          <p:cNvSpPr>
            <a:spLocks noGrp="1"/>
          </p:cNvSpPr>
          <p:nvPr>
            <p:ph idx="1"/>
          </p:nvPr>
        </p:nvSpPr>
        <p:spPr/>
        <p:txBody>
          <a:bodyPr>
            <a:normAutofit/>
          </a:bodyPr>
          <a:lstStyle/>
          <a:p>
            <a:pPr marL="0" lvl="2" indent="0">
              <a:buNone/>
            </a:pPr>
            <a:r>
              <a:rPr lang="en-GB" dirty="0"/>
              <a:t>We want to design the following algorithm</a:t>
            </a:r>
            <a:endParaRPr lang="en-GB" dirty="0">
              <a:latin typeface="Courier New" panose="02070309020205020404" pitchFamily="49" charset="0"/>
              <a:cs typeface="Courier New" panose="02070309020205020404" pitchFamily="49" charset="0"/>
            </a:endParaRPr>
          </a:p>
          <a:p>
            <a:pPr marL="539750" lvl="4" indent="0">
              <a:buNone/>
            </a:pPr>
            <a:r>
              <a:rPr lang="en-GB" dirty="0">
                <a:latin typeface="Courier New" panose="02070309020205020404" pitchFamily="49" charset="0"/>
                <a:cs typeface="Courier New" panose="02070309020205020404" pitchFamily="49" charset="0"/>
              </a:rPr>
              <a:t>For s(t) </a:t>
            </a:r>
            <a:r>
              <a:rPr lang="el-GR" dirty="0">
                <a:latin typeface="Courier New" panose="02070309020205020404" pitchFamily="49" charset="0"/>
                <a:cs typeface="Courier New" panose="02070309020205020404" pitchFamily="49" charset="0"/>
              </a:rPr>
              <a:t>ϵ</a:t>
            </a:r>
            <a:r>
              <a:rPr lang="en-US" dirty="0">
                <a:latin typeface="Courier New" panose="02070309020205020404" pitchFamily="49" charset="0"/>
                <a:cs typeface="Courier New" panose="02070309020205020404" pitchFamily="49" charset="0"/>
              </a:rPr>
              <a:t> </a:t>
            </a:r>
            <a:r>
              <a:rPr lang="en-GB" dirty="0">
                <a:latin typeface="Courier New" panose="02070309020205020404" pitchFamily="49" charset="0"/>
                <a:cs typeface="Courier New" panose="02070309020205020404" pitchFamily="49" charset="0"/>
              </a:rPr>
              <a:t>S(t)</a:t>
            </a:r>
          </a:p>
          <a:p>
            <a:pPr marL="539750" lvl="4" indent="0">
              <a:buNone/>
            </a:pPr>
            <a:r>
              <a:rPr lang="en-GB" dirty="0">
                <a:latin typeface="Courier New" panose="02070309020205020404" pitchFamily="49" charset="0"/>
                <a:cs typeface="Courier New" panose="02070309020205020404" pitchFamily="49" charset="0"/>
              </a:rPr>
              <a:t>		For c </a:t>
            </a:r>
            <a:r>
              <a:rPr lang="el-GR" dirty="0">
                <a:latin typeface="Courier New" panose="02070309020205020404" pitchFamily="49" charset="0"/>
                <a:cs typeface="Courier New" panose="02070309020205020404" pitchFamily="49" charset="0"/>
              </a:rPr>
              <a:t>ϵ</a:t>
            </a:r>
            <a:r>
              <a:rPr lang="en-US" dirty="0">
                <a:latin typeface="Courier New" panose="02070309020205020404" pitchFamily="49" charset="0"/>
                <a:cs typeface="Courier New" panose="02070309020205020404" pitchFamily="49" charset="0"/>
              </a:rPr>
              <a:t> B </a:t>
            </a:r>
          </a:p>
          <a:p>
            <a:pPr marL="539750" lvl="4" indent="0">
              <a:buNone/>
            </a:pPr>
            <a:r>
              <a:rPr lang="en-US" dirty="0">
                <a:latin typeface="Courier New" panose="02070309020205020404" pitchFamily="49" charset="0"/>
                <a:cs typeface="Courier New" panose="02070309020205020404" pitchFamily="49" charset="0"/>
              </a:rPr>
              <a:t>			if (!Criteria 13)</a:t>
            </a:r>
          </a:p>
          <a:p>
            <a:pPr marL="539750" lvl="4" indent="0">
              <a:buNone/>
            </a:pPr>
            <a:r>
              <a:rPr lang="en-US" dirty="0">
                <a:latin typeface="Courier New" panose="02070309020205020404" pitchFamily="49" charset="0"/>
                <a:cs typeface="Courier New" panose="02070309020205020404" pitchFamily="49" charset="0"/>
              </a:rPr>
              <a:t>				return</a:t>
            </a:r>
          </a:p>
          <a:p>
            <a:pPr marL="539750" lvl="4" indent="0">
              <a:buNone/>
            </a:pPr>
            <a:r>
              <a:rPr lang="en-US" dirty="0">
                <a:latin typeface="Courier New" panose="02070309020205020404" pitchFamily="49" charset="0"/>
                <a:cs typeface="Courier New" panose="02070309020205020404" pitchFamily="49" charset="0"/>
              </a:rPr>
              <a:t>		 	else if (Criteria 2)</a:t>
            </a:r>
          </a:p>
          <a:p>
            <a:pPr marL="539750" lvl="4"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a:t>
            </a:r>
            <a:r>
              <a:rPr lang="en-US" baseline="-25000" dirty="0" err="1">
                <a:latin typeface="Courier New" panose="02070309020205020404" pitchFamily="49" charset="0"/>
                <a:cs typeface="Courier New" panose="02070309020205020404" pitchFamily="49" charset="0"/>
              </a:rPr>
              <a:t>good</a:t>
            </a:r>
            <a:r>
              <a:rPr lang="en-US" dirty="0">
                <a:latin typeface="Courier New" panose="02070309020205020404" pitchFamily="49" charset="0"/>
                <a:cs typeface="Courier New" panose="02070309020205020404" pitchFamily="49" charset="0"/>
              </a:rPr>
              <a:t>(t) ← s(t)</a:t>
            </a:r>
          </a:p>
          <a:p>
            <a:pPr lvl="1"/>
            <a:endParaRPr lang="en-US" dirty="0"/>
          </a:p>
          <a:p>
            <a:pPr marL="612775" lvl="2" indent="-342900">
              <a:buFont typeface="Arial" panose="020B0604020202020204" pitchFamily="34" charset="0"/>
              <a:buChar char="•"/>
            </a:pPr>
            <a:endParaRPr lang="en-US" dirty="0"/>
          </a:p>
          <a:p>
            <a:pPr lvl="1"/>
            <a:endParaRPr lang="en-US" dirty="0"/>
          </a:p>
        </p:txBody>
      </p:sp>
      <p:grpSp>
        <p:nvGrpSpPr>
          <p:cNvPr id="4" name="Group 3">
            <a:extLst>
              <a:ext uri="{FF2B5EF4-FFF2-40B4-BE49-F238E27FC236}">
                <a16:creationId xmlns:a16="http://schemas.microsoft.com/office/drawing/2014/main" id="{18D76C25-1329-77B5-45AB-9D9B2CAA4BB3}"/>
              </a:ext>
            </a:extLst>
          </p:cNvPr>
          <p:cNvGrpSpPr/>
          <p:nvPr/>
        </p:nvGrpSpPr>
        <p:grpSpPr>
          <a:xfrm>
            <a:off x="1726725" y="1829761"/>
            <a:ext cx="2899062" cy="400110"/>
            <a:chOff x="793377" y="1479176"/>
            <a:chExt cx="3832411" cy="400110"/>
          </a:xfrm>
        </p:grpSpPr>
        <p:sp>
          <p:nvSpPr>
            <p:cNvPr id="5" name="Rectangle 4">
              <a:extLst>
                <a:ext uri="{FF2B5EF4-FFF2-40B4-BE49-F238E27FC236}">
                  <a16:creationId xmlns:a16="http://schemas.microsoft.com/office/drawing/2014/main" id="{64BF66C7-4076-4BDE-9621-A74CA5A22329}"/>
                </a:ext>
              </a:extLst>
            </p:cNvPr>
            <p:cNvSpPr/>
            <p:nvPr/>
          </p:nvSpPr>
          <p:spPr>
            <a:xfrm>
              <a:off x="793377" y="1479176"/>
              <a:ext cx="2201970" cy="40011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Arrow: Right 5">
              <a:extLst>
                <a:ext uri="{FF2B5EF4-FFF2-40B4-BE49-F238E27FC236}">
                  <a16:creationId xmlns:a16="http://schemas.microsoft.com/office/drawing/2014/main" id="{5D3FEFA9-FF5A-B5AD-9AAD-82161AC70E1A}"/>
                </a:ext>
              </a:extLst>
            </p:cNvPr>
            <p:cNvSpPr/>
            <p:nvPr/>
          </p:nvSpPr>
          <p:spPr>
            <a:xfrm>
              <a:off x="3688588" y="1479176"/>
              <a:ext cx="937200" cy="322730"/>
            </a:xfrm>
            <a:prstGeom prst="right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928916D-AA43-E08D-502E-D078604EC83D}"/>
                  </a:ext>
                </a:extLst>
              </p:cNvPr>
              <p:cNvSpPr txBox="1"/>
              <p:nvPr/>
            </p:nvSpPr>
            <p:spPr>
              <a:xfrm>
                <a:off x="4939164" y="1865878"/>
                <a:ext cx="28990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𝐼𝑡𝑒𝑟𝑎𝑡𝑒</m:t>
                      </m:r>
                      <m:r>
                        <a:rPr lang="en-US" b="0" i="1" smtClean="0">
                          <a:latin typeface="Cambria Math" panose="02040503050406030204" pitchFamily="18" charset="0"/>
                        </a:rPr>
                        <m:t> </m:t>
                      </m:r>
                      <m:r>
                        <a:rPr lang="en-US" b="0" i="1" smtClean="0">
                          <a:latin typeface="Cambria Math" panose="02040503050406030204" pitchFamily="18" charset="0"/>
                        </a:rPr>
                        <m:t>𝑜𝑣𝑒𝑟</m:t>
                      </m:r>
                      <m:r>
                        <a:rPr lang="en-US" b="0" i="1" smtClean="0">
                          <a:latin typeface="Cambria Math" panose="02040503050406030204" pitchFamily="18" charset="0"/>
                        </a:rPr>
                        <m:t> </m:t>
                      </m:r>
                      <m:r>
                        <a:rPr lang="en-US" b="0" i="1" smtClean="0">
                          <a:latin typeface="Cambria Math" panose="02040503050406030204" pitchFamily="18" charset="0"/>
                        </a:rPr>
                        <m:t>𝑛𝑜𝑑𝑒</m:t>
                      </m:r>
                      <m:r>
                        <a:rPr lang="en-US" b="0" i="1" smtClean="0">
                          <a:latin typeface="Cambria Math" panose="02040503050406030204" pitchFamily="18" charset="0"/>
                        </a:rPr>
                        <m:t>∈</m:t>
                      </m:r>
                      <m:r>
                        <a:rPr lang="en-US" b="0" i="1" smtClean="0">
                          <a:latin typeface="Cambria Math" panose="02040503050406030204" pitchFamily="18" charset="0"/>
                        </a:rPr>
                        <m:t>𝑂𝑇</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m:oMathPara>
                </a14:m>
                <a:endParaRPr lang="en-US" dirty="0"/>
              </a:p>
            </p:txBody>
          </p:sp>
        </mc:Choice>
        <mc:Fallback>
          <p:sp>
            <p:nvSpPr>
              <p:cNvPr id="7" name="TextBox 6">
                <a:extLst>
                  <a:ext uri="{FF2B5EF4-FFF2-40B4-BE49-F238E27FC236}">
                    <a16:creationId xmlns:a16="http://schemas.microsoft.com/office/drawing/2014/main" id="{5928916D-AA43-E08D-502E-D078604EC83D}"/>
                  </a:ext>
                </a:extLst>
              </p:cNvPr>
              <p:cNvSpPr txBox="1">
                <a:spLocks noRot="1" noChangeAspect="1" noMove="1" noResize="1" noEditPoints="1" noAdjustHandles="1" noChangeArrowheads="1" noChangeShapeType="1" noTextEdit="1"/>
              </p:cNvSpPr>
              <p:nvPr/>
            </p:nvSpPr>
            <p:spPr>
              <a:xfrm>
                <a:off x="4939164" y="1865878"/>
                <a:ext cx="2899063" cy="276999"/>
              </a:xfrm>
              <a:prstGeom prst="rect">
                <a:avLst/>
              </a:prstGeom>
              <a:blipFill>
                <a:blip r:embed="rId3"/>
                <a:stretch>
                  <a:fillRect r="-840" b="-34783"/>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B6FC96B2-536C-CDF4-CD03-0B08A8060FBE}"/>
              </a:ext>
            </a:extLst>
          </p:cNvPr>
          <p:cNvGrpSpPr/>
          <p:nvPr/>
        </p:nvGrpSpPr>
        <p:grpSpPr>
          <a:xfrm>
            <a:off x="861083" y="1465768"/>
            <a:ext cx="3764703" cy="400110"/>
            <a:chOff x="793376" y="1479176"/>
            <a:chExt cx="4976743" cy="400110"/>
          </a:xfrm>
        </p:grpSpPr>
        <p:sp>
          <p:nvSpPr>
            <p:cNvPr id="9" name="Rectangle 8">
              <a:extLst>
                <a:ext uri="{FF2B5EF4-FFF2-40B4-BE49-F238E27FC236}">
                  <a16:creationId xmlns:a16="http://schemas.microsoft.com/office/drawing/2014/main" id="{C94F3FAE-C656-941F-0346-412ABEC1C677}"/>
                </a:ext>
              </a:extLst>
            </p:cNvPr>
            <p:cNvSpPr/>
            <p:nvPr/>
          </p:nvSpPr>
          <p:spPr>
            <a:xfrm>
              <a:off x="793376" y="1479176"/>
              <a:ext cx="3346303" cy="40011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Arrow: Right 9">
              <a:extLst>
                <a:ext uri="{FF2B5EF4-FFF2-40B4-BE49-F238E27FC236}">
                  <a16:creationId xmlns:a16="http://schemas.microsoft.com/office/drawing/2014/main" id="{B2A74E49-0E17-5F27-E6B0-0349AA915901}"/>
                </a:ext>
              </a:extLst>
            </p:cNvPr>
            <p:cNvSpPr/>
            <p:nvPr/>
          </p:nvSpPr>
          <p:spPr>
            <a:xfrm>
              <a:off x="4832920" y="1492584"/>
              <a:ext cx="937199" cy="322730"/>
            </a:xfrm>
            <a:prstGeom prst="right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gr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59B270B-FF21-1070-BF24-599887396866}"/>
                  </a:ext>
                </a:extLst>
              </p:cNvPr>
              <p:cNvSpPr txBox="1"/>
              <p:nvPr/>
            </p:nvSpPr>
            <p:spPr>
              <a:xfrm>
                <a:off x="4939164" y="1465616"/>
                <a:ext cx="27087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𝐼𝑡𝑒𝑟𝑎𝑡𝑒</m:t>
                      </m:r>
                      <m:r>
                        <a:rPr lang="en-US" b="0" i="1" smtClean="0">
                          <a:latin typeface="Cambria Math" panose="02040503050406030204" pitchFamily="18" charset="0"/>
                        </a:rPr>
                        <m:t> </m:t>
                      </m:r>
                      <m:r>
                        <a:rPr lang="en-US" b="0" i="1" smtClean="0">
                          <a:latin typeface="Cambria Math" panose="02040503050406030204" pitchFamily="18" charset="0"/>
                        </a:rPr>
                        <m:t>𝑜𝑣𝑒𝑟</m:t>
                      </m:r>
                      <m:r>
                        <a:rPr lang="en-US" b="0" i="1" smtClean="0">
                          <a:latin typeface="Cambria Math" panose="02040503050406030204" pitchFamily="18" charset="0"/>
                        </a:rPr>
                        <m:t> </m:t>
                      </m:r>
                      <m:r>
                        <a:rPr lang="en-US" b="0" i="1" smtClean="0">
                          <a:latin typeface="Cambria Math" panose="02040503050406030204" pitchFamily="18" charset="0"/>
                        </a:rPr>
                        <m:t>𝑟𝑜𝑏𝑜𝑡</m:t>
                      </m:r>
                      <m:r>
                        <a:rPr lang="en-US" b="0" i="1" smtClean="0">
                          <a:latin typeface="Cambria Math" panose="02040503050406030204" pitchFamily="18" charset="0"/>
                        </a:rPr>
                        <m:t> </m:t>
                      </m:r>
                      <m:r>
                        <a:rPr lang="en-US" b="0" i="1" smtClean="0">
                          <a:latin typeface="Cambria Math" panose="02040503050406030204" pitchFamily="18" charset="0"/>
                        </a:rPr>
                        <m:t>𝑠𝑡𝑎𝑡𝑒𝑠</m:t>
                      </m:r>
                      <m:r>
                        <a:rPr lang="en-US" b="0" i="1" smtClean="0">
                          <a:latin typeface="Cambria Math" panose="02040503050406030204" pitchFamily="18" charset="0"/>
                        </a:rPr>
                        <m:t> </m:t>
                      </m:r>
                    </m:oMath>
                  </m:oMathPara>
                </a14:m>
                <a:endParaRPr lang="en-US" dirty="0"/>
              </a:p>
            </p:txBody>
          </p:sp>
        </mc:Choice>
        <mc:Fallback>
          <p:sp>
            <p:nvSpPr>
              <p:cNvPr id="11" name="TextBox 10">
                <a:extLst>
                  <a:ext uri="{FF2B5EF4-FFF2-40B4-BE49-F238E27FC236}">
                    <a16:creationId xmlns:a16="http://schemas.microsoft.com/office/drawing/2014/main" id="{059B270B-FF21-1070-BF24-599887396866}"/>
                  </a:ext>
                </a:extLst>
              </p:cNvPr>
              <p:cNvSpPr txBox="1">
                <a:spLocks noRot="1" noChangeAspect="1" noMove="1" noResize="1" noEditPoints="1" noAdjustHandles="1" noChangeArrowheads="1" noChangeShapeType="1" noTextEdit="1"/>
              </p:cNvSpPr>
              <p:nvPr/>
            </p:nvSpPr>
            <p:spPr>
              <a:xfrm>
                <a:off x="4939164" y="1465616"/>
                <a:ext cx="2708755" cy="276999"/>
              </a:xfrm>
              <a:prstGeom prst="rect">
                <a:avLst/>
              </a:prstGeom>
              <a:blipFill>
                <a:blip r:embed="rId4"/>
                <a:stretch>
                  <a:fillRect l="-1348" b="-8696"/>
                </a:stretch>
              </a:blipFill>
            </p:spPr>
            <p:txBody>
              <a:bodyPr/>
              <a:lstStyle/>
              <a:p>
                <a:r>
                  <a:rPr lang="en-US">
                    <a:noFill/>
                  </a:rPr>
                  <a:t> </a:t>
                </a:r>
              </a:p>
            </p:txBody>
          </p:sp>
        </mc:Fallback>
      </mc:AlternateContent>
    </p:spTree>
    <p:extLst>
      <p:ext uri="{BB962C8B-B14F-4D97-AF65-F5344CB8AC3E}">
        <p14:creationId xmlns:p14="http://schemas.microsoft.com/office/powerpoint/2010/main" val="21289041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11"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14:m>
                  <m:oMath xmlns:m="http://schemas.openxmlformats.org/officeDocument/2006/math">
                    <m:r>
                      <a:rPr lang="en-US" b="0" i="1" smtClean="0">
                        <a:latin typeface="Cambria Math" panose="02040503050406030204" pitchFamily="18" charset="0"/>
                      </a:rPr>
                      <m:t>𝑠</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b="0" i="0" smtClean="0">
                        <a:latin typeface="Cambria Math" panose="02040503050406030204" pitchFamily="18" charset="0"/>
                      </a:rPr>
                      <m:t>q</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endParaRPr lang="en-GB" dirty="0"/>
              </a:p>
              <a:p>
                <a:pPr lvl="4"/>
                <a:r>
                  <a:rPr lang="en-GB" dirty="0"/>
                  <a:t>3D surface</a:t>
                </a:r>
              </a:p>
              <a:p>
                <a:pPr lvl="4"/>
                <a:r>
                  <a:rPr lang="en-GB" dirty="0"/>
                  <a:t>Parametric Line (+thickness)</a:t>
                </a:r>
              </a:p>
              <a:p>
                <a:pPr marL="539750" lvl="4" indent="0">
                  <a:buNone/>
                </a:pPr>
                <a:endParaRPr lang="en-GB" dirty="0"/>
              </a:p>
              <a:p>
                <a:pPr lvl="1"/>
                <a:r>
                  <a:rPr lang="en-GB" dirty="0"/>
                  <a:t>Alternatively we can define </a:t>
                </a:r>
                <a14:m>
                  <m:oMath xmlns:m="http://schemas.openxmlformats.org/officeDocument/2006/math">
                    <m:r>
                      <m:rPr>
                        <m:sty m:val="p"/>
                      </m:rPr>
                      <a:rPr lang="en-GB" b="0" i="0" smtClean="0">
                        <a:latin typeface="Cambria Math" panose="02040503050406030204" pitchFamily="18" charset="0"/>
                      </a:rPr>
                      <m:t>q</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𝑞</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e>
                    </m:d>
                    <m:r>
                      <a:rPr lang="en-GB" b="0" i="1" smtClean="0">
                        <a:latin typeface="Cambria Math" panose="02040503050406030204" pitchFamily="18" charset="0"/>
                      </a:rPr>
                      <m:t> :</m:t>
                    </m:r>
                    <m:r>
                      <a:rPr lang="en-GB" b="0" i="1" smtClean="0">
                        <a:latin typeface="Cambria Math" panose="02040503050406030204" pitchFamily="18" charset="0"/>
                      </a:rPr>
                      <m:t>𝑖</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1, …, </m:t>
                        </m:r>
                        <m:r>
                          <a:rPr lang="en-GB" b="0" i="1" smtClean="0">
                            <a:latin typeface="Cambria Math" panose="02040503050406030204" pitchFamily="18" charset="0"/>
                          </a:rPr>
                          <m:t>𝐼</m:t>
                        </m:r>
                      </m:e>
                    </m:d>
                    <m:r>
                      <a:rPr lang="en-US" b="0" i="1" smtClean="0">
                        <a:latin typeface="Cambria Math" panose="02040503050406030204" pitchFamily="18" charset="0"/>
                      </a:rPr>
                      <m:t> </m:t>
                    </m:r>
                  </m:oMath>
                </a14:m>
                <a:endParaRPr lang="en-GB" dirty="0"/>
              </a:p>
              <a:p>
                <a:pPr lvl="3"/>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GB" dirty="0"/>
                  <a:t> set of controllable tool parameters </a:t>
                </a:r>
              </a:p>
              <a:p>
                <a:pPr lvl="3"/>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𝑞</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m:t>
                        </m:r>
                      </m:e>
                    </m:d>
                  </m:oMath>
                </a14:m>
                <a:r>
                  <a:rPr lang="en-GB" dirty="0"/>
                  <a:t> maps tool parameters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GB" dirty="0"/>
                  <a:t> to tool position </a:t>
                </a:r>
                <a14:m>
                  <m:oMath xmlns:m="http://schemas.openxmlformats.org/officeDocument/2006/math">
                    <m:r>
                      <a:rPr lang="en-GB" b="0" i="1" smtClean="0">
                        <a:latin typeface="Cambria Math" panose="02040503050406030204" pitchFamily="18" charset="0"/>
                      </a:rPr>
                      <m:t>𝑞</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endParaRPr lang="en-GB" dirty="0"/>
              </a:p>
              <a:p>
                <a:pPr marL="269875" lvl="3" indent="0">
                  <a:buNone/>
                </a:pPr>
                <a:endParaRPr lang="en-GB" dirty="0"/>
              </a:p>
              <a:p>
                <a:pPr marL="269875" lvl="3" indent="0">
                  <a:buNone/>
                </a:pPr>
                <a:r>
                  <a:rPr lang="en-GB" dirty="0"/>
                  <a:t>Linking state to movement parameters allows for </a:t>
                </a:r>
              </a:p>
              <a:p>
                <a:pPr lvl="4"/>
                <a:r>
                  <a:rPr lang="en-GB" dirty="0"/>
                  <a:t>Robust representation of how the robot moves </a:t>
                </a:r>
              </a:p>
              <a:p>
                <a:pPr lvl="4"/>
                <a:r>
                  <a:rPr lang="en-GB" dirty="0"/>
                  <a:t>Easier to determine how to control robot</a:t>
                </a:r>
              </a:p>
              <a:p>
                <a:pPr lvl="4"/>
                <a:r>
                  <a:rPr lang="en-GB" dirty="0"/>
                  <a:t>Can help reduce optimisation space: we need only solve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GB" dirty="0"/>
              </a:p>
              <a:p>
                <a:pPr marL="269875" lvl="3" indent="0">
                  <a:buNone/>
                </a:pPr>
                <a:endParaRPr lang="en-GB" dirty="0"/>
              </a:p>
              <a:p>
                <a:pPr lvl="3"/>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spTree>
    <p:extLst>
      <p:ext uri="{BB962C8B-B14F-4D97-AF65-F5344CB8AC3E}">
        <p14:creationId xmlns:p14="http://schemas.microsoft.com/office/powerpoint/2010/main" val="1997833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Straight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14:m>
                  <m:oMath xmlns:m="http://schemas.openxmlformats.org/officeDocument/2006/math">
                    <m:r>
                      <a:rPr lang="en-US" i="1" smtClean="0">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lvl="1"/>
                <a:endParaRPr lang="en-GB" dirty="0"/>
              </a:p>
              <a:p>
                <a:pPr lvl="1"/>
                <a:r>
                  <a:rPr lang="en-GB" dirty="0"/>
                  <a:t>For a straight tool </a:t>
                </a:r>
                <a14:m>
                  <m:oMath xmlns:m="http://schemas.openxmlformats.org/officeDocument/2006/math">
                    <m:r>
                      <a:rPr lang="en-GB" b="0" i="1" smtClean="0">
                        <a:latin typeface="Cambria Math" panose="02040503050406030204" pitchFamily="18" charset="0"/>
                      </a:rPr>
                      <m:t>𝑞</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𝑚𝑎𝑥</m:t>
                                </m:r>
                              </m:sub>
                            </m:sSub>
                          </m:e>
                        </m:d>
                        <m:r>
                          <a:rPr lang="en-GB" b="0" i="1" smtClean="0">
                            <a:latin typeface="Cambria Math" panose="02040503050406030204" pitchFamily="18" charset="0"/>
                          </a:rPr>
                          <m:t> −</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e>
                    </m:d>
                    <m:r>
                      <a:rPr lang="en-GB" b="0" i="1" smtClean="0">
                        <a:latin typeface="Cambria Math" panose="02040503050406030204" pitchFamily="18" charset="0"/>
                      </a:rPr>
                      <m:t>𝑡</m:t>
                    </m:r>
                    <m:r>
                      <a:rPr lang="en-GB" b="0" i="1" smtClean="0">
                        <a:latin typeface="Cambria Math" panose="02040503050406030204" pitchFamily="18" charset="0"/>
                      </a:rPr>
                      <m:t>]</m:t>
                    </m:r>
                  </m:oMath>
                </a14:m>
                <a:endParaRPr lang="en-GB" dirty="0"/>
              </a:p>
              <a:p>
                <a:pPr lvl="3"/>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(0)</m:t>
                    </m:r>
                    <m:r>
                      <a:rPr lang="en-GB" b="0" i="0" smtClean="0">
                        <a:latin typeface="Cambria Math" panose="02040503050406030204" pitchFamily="18" charset="0"/>
                      </a:rPr>
                      <m:t> </m:t>
                    </m:r>
                  </m:oMath>
                </a14:m>
                <a:r>
                  <a:rPr lang="en-GB" dirty="0"/>
                  <a:t>– Starting point</a:t>
                </a:r>
              </a:p>
              <a:p>
                <a:pPr lvl="3"/>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 </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𝑚𝑎𝑥</m:t>
                            </m:r>
                          </m:sub>
                        </m:sSub>
                      </m:e>
                    </m:d>
                  </m:oMath>
                </a14:m>
                <a:r>
                  <a:rPr lang="en-GB" dirty="0"/>
                  <a:t> - Ending point</a:t>
                </a:r>
              </a:p>
              <a:p>
                <a:pPr lvl="3"/>
                <a:r>
                  <a:rPr lang="en-GB" dirty="0"/>
                  <a:t>Don’t forget some thickness term r </a:t>
                </a:r>
              </a:p>
              <a:p>
                <a:pPr lvl="1"/>
                <a:r>
                  <a:rPr lang="en-GB" dirty="0"/>
                  <a:t>Note: can drop </a:t>
                </a:r>
                <a14:m>
                  <m:oMath xmlns:m="http://schemas.openxmlformats.org/officeDocument/2006/math">
                    <m:r>
                      <a:rPr lang="en-GB" b="0" i="1" smtClean="0">
                        <a:latin typeface="Cambria Math" panose="02040503050406030204" pitchFamily="18" charset="0"/>
                      </a:rPr>
                      <m:t>𝑡</m:t>
                    </m:r>
                  </m:oMath>
                </a14:m>
                <a:r>
                  <a:rPr lang="en-GB" dirty="0"/>
                  <a:t>; </a:t>
                </a:r>
                <a14:m>
                  <m:oMath xmlns:m="http://schemas.openxmlformats.org/officeDocument/2006/math">
                    <m:r>
                      <a:rPr lang="en-GB" b="0" i="1" smtClean="0">
                        <a:latin typeface="Cambria Math" panose="02040503050406030204" pitchFamily="18" charset="0"/>
                      </a:rPr>
                      <m:t>𝑞</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𝑚𝑎𝑥</m:t>
                        </m:r>
                      </m:sub>
                    </m:sSub>
                    <m:r>
                      <a:rPr lang="en-GB" b="0" i="1" smtClean="0">
                        <a:latin typeface="Cambria Math" panose="02040503050406030204" pitchFamily="18" charset="0"/>
                      </a:rPr>
                      <m:t>)</m:t>
                    </m:r>
                  </m:oMath>
                </a14:m>
                <a:r>
                  <a:rPr lang="en-GB" dirty="0"/>
                  <a:t> contains information about all time points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12" t="-113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36B2AD2-81D5-40A1-9A37-C194B5F5863C}"/>
              </a:ext>
            </a:extLst>
          </p:cNvPr>
          <p:cNvPicPr>
            <a:picLocks noChangeAspect="1"/>
          </p:cNvPicPr>
          <p:nvPr/>
        </p:nvPicPr>
        <p:blipFill>
          <a:blip r:embed="rId3"/>
          <a:stretch>
            <a:fillRect/>
          </a:stretch>
        </p:blipFill>
        <p:spPr>
          <a:xfrm>
            <a:off x="597431" y="3873079"/>
            <a:ext cx="2389552" cy="2782501"/>
          </a:xfrm>
          <a:prstGeom prst="rect">
            <a:avLst/>
          </a:prstGeom>
        </p:spPr>
      </p:pic>
      <p:pic>
        <p:nvPicPr>
          <p:cNvPr id="5" name="Picture 4">
            <a:extLst>
              <a:ext uri="{FF2B5EF4-FFF2-40B4-BE49-F238E27FC236}">
                <a16:creationId xmlns:a16="http://schemas.microsoft.com/office/drawing/2014/main" id="{2D6B349C-7088-46DC-BBC1-836EC164051D}"/>
              </a:ext>
            </a:extLst>
          </p:cNvPr>
          <p:cNvPicPr>
            <a:picLocks noChangeAspect="1"/>
          </p:cNvPicPr>
          <p:nvPr/>
        </p:nvPicPr>
        <p:blipFill>
          <a:blip r:embed="rId4"/>
          <a:stretch>
            <a:fillRect/>
          </a:stretch>
        </p:blipFill>
        <p:spPr>
          <a:xfrm>
            <a:off x="3313771" y="3873078"/>
            <a:ext cx="2415578" cy="2782501"/>
          </a:xfrm>
          <a:prstGeom prst="rect">
            <a:avLst/>
          </a:prstGeom>
        </p:spPr>
      </p:pic>
      <p:pic>
        <p:nvPicPr>
          <p:cNvPr id="6" name="Picture 5">
            <a:extLst>
              <a:ext uri="{FF2B5EF4-FFF2-40B4-BE49-F238E27FC236}">
                <a16:creationId xmlns:a16="http://schemas.microsoft.com/office/drawing/2014/main" id="{70646ECE-896B-4B8A-89CC-40824098F1FD}"/>
              </a:ext>
            </a:extLst>
          </p:cNvPr>
          <p:cNvPicPr>
            <a:picLocks noChangeAspect="1"/>
          </p:cNvPicPr>
          <p:nvPr/>
        </p:nvPicPr>
        <p:blipFill>
          <a:blip r:embed="rId5"/>
          <a:stretch>
            <a:fillRect/>
          </a:stretch>
        </p:blipFill>
        <p:spPr>
          <a:xfrm>
            <a:off x="6056137" y="3873077"/>
            <a:ext cx="2348059" cy="2782502"/>
          </a:xfrm>
          <a:prstGeom prst="rect">
            <a:avLst/>
          </a:prstGeom>
        </p:spPr>
      </p:pic>
      <p:pic>
        <p:nvPicPr>
          <p:cNvPr id="7" name="Picture 6">
            <a:extLst>
              <a:ext uri="{FF2B5EF4-FFF2-40B4-BE49-F238E27FC236}">
                <a16:creationId xmlns:a16="http://schemas.microsoft.com/office/drawing/2014/main" id="{F638C4C8-BF2B-4563-B2EF-7B318CCA82A6}"/>
              </a:ext>
            </a:extLst>
          </p:cNvPr>
          <p:cNvPicPr>
            <a:picLocks noChangeAspect="1"/>
          </p:cNvPicPr>
          <p:nvPr/>
        </p:nvPicPr>
        <p:blipFill>
          <a:blip r:embed="rId6"/>
          <a:stretch>
            <a:fillRect/>
          </a:stretch>
        </p:blipFill>
        <p:spPr>
          <a:xfrm>
            <a:off x="8798503" y="3845970"/>
            <a:ext cx="2454371" cy="2809609"/>
          </a:xfrm>
          <a:prstGeom prst="rect">
            <a:avLst/>
          </a:prstGeom>
        </p:spPr>
      </p:pic>
    </p:spTree>
    <p:extLst>
      <p:ext uri="{BB962C8B-B14F-4D97-AF65-F5344CB8AC3E}">
        <p14:creationId xmlns:p14="http://schemas.microsoft.com/office/powerpoint/2010/main" val="2552023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Straight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14:m>
                  <m:oMath xmlns:m="http://schemas.openxmlformats.org/officeDocument/2006/math">
                    <m:r>
                      <a:rPr lang="en-US" i="1" smtClean="0">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lvl="1"/>
                <a:endParaRPr lang="en-GB" dirty="0"/>
              </a:p>
              <a:p>
                <a:pPr lvl="1"/>
                <a:r>
                  <a:rPr lang="en-GB" dirty="0"/>
                  <a:t>For a straight tool </a:t>
                </a:r>
                <a14:m>
                  <m:oMath xmlns:m="http://schemas.openxmlformats.org/officeDocument/2006/math">
                    <m:r>
                      <a:rPr lang="en-GB" b="0" i="1" smtClean="0">
                        <a:latin typeface="Cambria Math" panose="02040503050406030204" pitchFamily="18" charset="0"/>
                      </a:rPr>
                      <m:t>𝑞</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 </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𝑚𝑎𝑥</m:t>
                                </m:r>
                              </m:sub>
                            </m:sSub>
                          </m:e>
                        </m:d>
                        <m:r>
                          <a:rPr lang="en-GB" b="0" i="1" smtClean="0">
                            <a:latin typeface="Cambria Math" panose="02040503050406030204" pitchFamily="18" charset="0"/>
                          </a:rPr>
                          <m:t> −</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e>
                    </m:d>
                    <m:r>
                      <a:rPr lang="en-GB" b="0" i="1" smtClean="0">
                        <a:latin typeface="Cambria Math" panose="02040503050406030204" pitchFamily="18" charset="0"/>
                      </a:rPr>
                      <m:t>𝑡</m:t>
                    </m:r>
                    <m:r>
                      <a:rPr lang="en-GB" b="0" i="1" smtClean="0">
                        <a:latin typeface="Cambria Math" panose="02040503050406030204" pitchFamily="18" charset="0"/>
                      </a:rPr>
                      <m:t>]</m:t>
                    </m:r>
                  </m:oMath>
                </a14:m>
                <a:endParaRPr lang="en-GB" dirty="0"/>
              </a:p>
              <a:p>
                <a:pPr lvl="3"/>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(0)</m:t>
                    </m:r>
                    <m:r>
                      <a:rPr lang="en-GB" b="0" i="0" smtClean="0">
                        <a:latin typeface="Cambria Math" panose="02040503050406030204" pitchFamily="18" charset="0"/>
                      </a:rPr>
                      <m:t> </m:t>
                    </m:r>
                  </m:oMath>
                </a14:m>
                <a:r>
                  <a:rPr lang="en-GB" dirty="0"/>
                  <a:t>– Starting point</a:t>
                </a:r>
              </a:p>
              <a:p>
                <a:pPr lvl="3"/>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 </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𝑚𝑎𝑥</m:t>
                            </m:r>
                          </m:sub>
                        </m:sSub>
                      </m:e>
                    </m:d>
                  </m:oMath>
                </a14:m>
                <a:r>
                  <a:rPr lang="en-GB" dirty="0"/>
                  <a:t> - Ending point</a:t>
                </a:r>
              </a:p>
              <a:p>
                <a:pPr lvl="3"/>
                <a:r>
                  <a:rPr lang="en-GB" dirty="0"/>
                  <a:t>Don’t forget some thickness term r </a:t>
                </a:r>
              </a:p>
              <a:p>
                <a:pPr lvl="1"/>
                <a:r>
                  <a:rPr lang="en-GB" dirty="0"/>
                  <a:t>Note: can drop </a:t>
                </a:r>
                <a14:m>
                  <m:oMath xmlns:m="http://schemas.openxmlformats.org/officeDocument/2006/math">
                    <m:r>
                      <a:rPr lang="en-GB" b="0" i="1" smtClean="0">
                        <a:latin typeface="Cambria Math" panose="02040503050406030204" pitchFamily="18" charset="0"/>
                      </a:rPr>
                      <m:t>𝑡</m:t>
                    </m:r>
                  </m:oMath>
                </a14:m>
                <a:r>
                  <a:rPr lang="en-GB" dirty="0"/>
                  <a:t>; </a:t>
                </a:r>
                <a14:m>
                  <m:oMath xmlns:m="http://schemas.openxmlformats.org/officeDocument/2006/math">
                    <m:r>
                      <a:rPr lang="en-GB" b="0" i="1" smtClean="0">
                        <a:latin typeface="Cambria Math" panose="02040503050406030204" pitchFamily="18" charset="0"/>
                      </a:rPr>
                      <m:t>𝑞</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𝑚𝑎𝑥</m:t>
                        </m:r>
                      </m:sub>
                    </m:sSub>
                    <m:r>
                      <a:rPr lang="en-GB" b="0" i="1" smtClean="0">
                        <a:latin typeface="Cambria Math" panose="02040503050406030204" pitchFamily="18" charset="0"/>
                      </a:rPr>
                      <m:t>)</m:t>
                    </m:r>
                  </m:oMath>
                </a14:m>
                <a:r>
                  <a:rPr lang="en-GB" dirty="0"/>
                  <a:t> contains information about all time points</a:t>
                </a:r>
              </a:p>
              <a:p>
                <a:pPr marL="612775" lvl="2" indent="-342900">
                  <a:buFont typeface="Arial" panose="020B0604020202020204" pitchFamily="34" charset="0"/>
                  <a:buChar char="•"/>
                </a:pPr>
                <a:r>
                  <a:rPr lang="en-GB" dirty="0"/>
                  <a:t>Enumerating all possible states is quick and easy</a:t>
                </a:r>
              </a:p>
              <a:p>
                <a:pPr marL="612775" lvl="2" indent="-342900">
                  <a:buFont typeface="Arial" panose="020B0604020202020204" pitchFamily="34" charset="0"/>
                  <a:buChar char="•"/>
                </a:pPr>
                <a:r>
                  <a:rPr lang="en-GB" dirty="0"/>
                  <a:t>Once states enumerated reject based on criteria</a:t>
                </a:r>
              </a:p>
              <a:p>
                <a:pPr lvl="2"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12" t="-1131"/>
                </a:stretch>
              </a:blipFill>
            </p:spPr>
            <p:txBody>
              <a:bodyPr/>
              <a:lstStyle/>
              <a:p>
                <a:r>
                  <a:rPr lang="en-US">
                    <a:noFill/>
                  </a:rPr>
                  <a:t> </a:t>
                </a:r>
              </a:p>
            </p:txBody>
          </p:sp>
        </mc:Fallback>
      </mc:AlternateContent>
    </p:spTree>
    <p:extLst>
      <p:ext uri="{BB962C8B-B14F-4D97-AF65-F5344CB8AC3E}">
        <p14:creationId xmlns:p14="http://schemas.microsoft.com/office/powerpoint/2010/main" val="1096986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Steerable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14:m>
                  <m:oMath xmlns:m="http://schemas.openxmlformats.org/officeDocument/2006/math">
                    <m:r>
                      <a:rPr lang="en-US" i="1" smtClean="0">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marL="882650" lvl="3" indent="-342900">
                  <a:buFont typeface="Arial" panose="020B0604020202020204" pitchFamily="34" charset="0"/>
                  <a:buChar char="•"/>
                </a:pPr>
                <a:r>
                  <a:rPr lang="en-GB" dirty="0"/>
                  <a:t>At a steady insertion velocity </a:t>
                </a:r>
                <a14:m>
                  <m:oMath xmlns:m="http://schemas.openxmlformats.org/officeDocument/2006/math">
                    <m:r>
                      <a:rPr lang="en-US" b="0" i="1" smtClean="0">
                        <a:latin typeface="Cambria Math" panose="02040503050406030204" pitchFamily="18" charset="0"/>
                      </a:rPr>
                      <m:t>𝑣</m:t>
                    </m:r>
                  </m:oMath>
                </a14:m>
                <a:r>
                  <a:rPr lang="en-GB" dirty="0"/>
                  <a:t> the needle with bend with a radius </a:t>
                </a:r>
                <a14:m>
                  <m:oMath xmlns:m="http://schemas.openxmlformats.org/officeDocument/2006/math">
                    <m:r>
                      <a:rPr lang="en-US" b="0" i="1" smtClean="0">
                        <a:latin typeface="Cambria Math" panose="02040503050406030204" pitchFamily="18" charset="0"/>
                      </a:rPr>
                      <m:t>𝑟</m:t>
                    </m:r>
                  </m:oMath>
                </a14:m>
                <a:endParaRPr lang="en-GB" dirty="0"/>
              </a:p>
              <a:p>
                <a:pPr marL="882650" lvl="3" indent="-342900">
                  <a:buFont typeface="Arial" panose="020B0604020202020204" pitchFamily="34" charset="0"/>
                  <a:buChar char="•"/>
                </a:pPr>
                <a:r>
                  <a:rPr lang="en-GB" dirty="0"/>
                  <a:t>Steering by turning the needle controls the direction of the bend (parameterised by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𝜙</m:t>
                    </m:r>
                  </m:oMath>
                </a14:m>
                <a:r>
                  <a:rPr lang="en-GB" dirty="0"/>
                  <a:t>)</a:t>
                </a:r>
              </a:p>
              <a:p>
                <a:pPr lvl="1"/>
                <a:r>
                  <a:rPr lang="en-GB" dirty="0"/>
                  <a:t>Simplest solution is assume position is a discrete update:</a:t>
                </a:r>
              </a:p>
              <a:p>
                <a:pPr lvl="1"/>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q</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i="1">
                                    <a:latin typeface="Cambria Math" panose="02040503050406030204" pitchFamily="18" charset="0"/>
                                  </a:rPr>
                                  <m:t>𝑟</m:t>
                                </m:r>
                                <m:func>
                                  <m:funcPr>
                                    <m:ctrlPr>
                                      <a:rPr lang="en-US" i="1">
                                        <a:latin typeface="Cambria Math" panose="02040503050406030204" pitchFamily="18" charset="0"/>
                                      </a:rPr>
                                    </m:ctrlPr>
                                  </m:funcPr>
                                  <m:fName>
                                    <m:r>
                                      <m:rPr>
                                        <m:sty m:val="p"/>
                                        <m:brk m:alnAt="7"/>
                                      </m:rPr>
                                      <a:rPr lang="en-US">
                                        <a:latin typeface="Cambria Math" panose="02040503050406030204" pitchFamily="18" charset="0"/>
                                      </a:rPr>
                                      <m:t>c</m:t>
                                    </m:r>
                                    <m:r>
                                      <m:rPr>
                                        <m:sty m:val="p"/>
                                      </m:rPr>
                                      <a:rPr lang="en-US">
                                        <a:latin typeface="Cambria Math" panose="02040503050406030204" pitchFamily="18" charset="0"/>
                                      </a:rPr>
                                      <m:t>os</m:t>
                                    </m:r>
                                  </m:fName>
                                  <m:e>
                                    <m:d>
                                      <m:dPr>
                                        <m:ctrlPr>
                                          <a:rPr lang="en-US" i="1">
                                            <a:latin typeface="Cambria Math" panose="02040503050406030204" pitchFamily="18" charset="0"/>
                                          </a:rPr>
                                        </m:ctrlPr>
                                      </m:dPr>
                                      <m:e>
                                        <m:r>
                                          <a:rPr lang="en-US" i="1">
                                            <a:latin typeface="Cambria Math" panose="02040503050406030204" pitchFamily="18" charset="0"/>
                                          </a:rPr>
                                          <m:t>𝜃</m:t>
                                        </m:r>
                                      </m:e>
                                    </m:d>
                                  </m:e>
                                </m:func>
                                <m:r>
                                  <m:rPr>
                                    <m:brk m:alnAt="7"/>
                                  </m:rPr>
                                  <a:rPr lang="en-US" i="1">
                                    <a:latin typeface="Cambria Math" panose="02040503050406030204" pitchFamily="18" charset="0"/>
                                  </a:rPr>
                                  <m:t>(</m:t>
                                </m:r>
                                <m:r>
                                  <a:rPr lang="en-US" i="1">
                                    <a:latin typeface="Cambria Math" panose="02040503050406030204" pitchFamily="18" charset="0"/>
                                  </a:rPr>
                                  <m:t>1−</m:t>
                                </m:r>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𝑟</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i="1">
                                            <a:latin typeface="Cambria Math" panose="02040503050406030204" pitchFamily="18" charset="0"/>
                                          </a:rPr>
                                          <m:t>𝜃</m:t>
                                        </m:r>
                                      </m:e>
                                    </m:d>
                                  </m:e>
                                </m:func>
                                <m:r>
                                  <a:rPr lang="en-US" i="1">
                                    <a:latin typeface="Cambria Math" panose="02040503050406030204" pitchFamily="18" charset="0"/>
                                  </a:rPr>
                                  <m:t>(1−</m:t>
                                </m:r>
                                <m:r>
                                  <m:rPr>
                                    <m:sty m:val="p"/>
                                  </m:rPr>
                                  <a:rPr lang="en-US">
                                    <a:latin typeface="Cambria Math" panose="02040503050406030204" pitchFamily="18" charset="0"/>
                                  </a:rPr>
                                  <m:t>cos</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𝑟</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func>
                              </m:e>
                            </m:mr>
                          </m:m>
                        </m:e>
                      </m:d>
                    </m:oMath>
                  </m:oMathPara>
                </a14:m>
                <a:endParaRPr lang="en-GB" dirty="0"/>
              </a:p>
              <a:p>
                <a:pPr lvl="1"/>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2886663-1FC3-43A3-A803-05CC36F80347}"/>
              </a:ext>
            </a:extLst>
          </p:cNvPr>
          <p:cNvPicPr>
            <a:picLocks noChangeAspect="1"/>
          </p:cNvPicPr>
          <p:nvPr/>
        </p:nvPicPr>
        <p:blipFill>
          <a:blip r:embed="rId4"/>
          <a:stretch>
            <a:fillRect/>
          </a:stretch>
        </p:blipFill>
        <p:spPr>
          <a:xfrm>
            <a:off x="1055205" y="4467175"/>
            <a:ext cx="3821595" cy="409626"/>
          </a:xfrm>
          <a:prstGeom prst="rect">
            <a:avLst/>
          </a:prstGeom>
        </p:spPr>
      </p:pic>
      <p:sp>
        <p:nvSpPr>
          <p:cNvPr id="8" name="Arc 7">
            <a:extLst>
              <a:ext uri="{FF2B5EF4-FFF2-40B4-BE49-F238E27FC236}">
                <a16:creationId xmlns:a16="http://schemas.microsoft.com/office/drawing/2014/main" id="{5A2FE098-9C4A-4801-ABB2-2EDA3F40B11C}"/>
              </a:ext>
            </a:extLst>
          </p:cNvPr>
          <p:cNvSpPr/>
          <p:nvPr/>
        </p:nvSpPr>
        <p:spPr>
          <a:xfrm rot="1468555">
            <a:off x="3694666" y="4645617"/>
            <a:ext cx="2364268" cy="2026487"/>
          </a:xfrm>
          <a:prstGeom prst="arc">
            <a:avLst>
              <a:gd name="adj1" fmla="val 13248253"/>
              <a:gd name="adj2" fmla="val 19214984"/>
            </a:avLst>
          </a:prstGeom>
          <a:ln>
            <a:prstDash val="sysDot"/>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F29A35F-7FB6-459D-9624-DB157BC81028}"/>
              </a:ext>
            </a:extLst>
          </p:cNvPr>
          <p:cNvCxnSpPr>
            <a:cxnSpLocks/>
          </p:cNvCxnSpPr>
          <p:nvPr/>
        </p:nvCxnSpPr>
        <p:spPr>
          <a:xfrm flipV="1">
            <a:off x="4386470" y="4238733"/>
            <a:ext cx="0" cy="45823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1" name="Straight Arrow Connector 10">
            <a:extLst>
              <a:ext uri="{FF2B5EF4-FFF2-40B4-BE49-F238E27FC236}">
                <a16:creationId xmlns:a16="http://schemas.microsoft.com/office/drawing/2014/main" id="{25F07365-E494-40AA-9350-4701975B1416}"/>
              </a:ext>
            </a:extLst>
          </p:cNvPr>
          <p:cNvCxnSpPr>
            <a:cxnSpLocks/>
          </p:cNvCxnSpPr>
          <p:nvPr/>
        </p:nvCxnSpPr>
        <p:spPr>
          <a:xfrm flipV="1">
            <a:off x="4371421" y="4696964"/>
            <a:ext cx="424071"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5" name="TextBox 14">
            <a:extLst>
              <a:ext uri="{FF2B5EF4-FFF2-40B4-BE49-F238E27FC236}">
                <a16:creationId xmlns:a16="http://schemas.microsoft.com/office/drawing/2014/main" id="{DBCDC48D-1B5E-4D8F-A697-C3F3F4B00535}"/>
              </a:ext>
            </a:extLst>
          </p:cNvPr>
          <p:cNvSpPr txBox="1"/>
          <p:nvPr/>
        </p:nvSpPr>
        <p:spPr>
          <a:xfrm>
            <a:off x="4477439" y="4396409"/>
            <a:ext cx="265044" cy="369332"/>
          </a:xfrm>
          <a:prstGeom prst="rect">
            <a:avLst/>
          </a:prstGeom>
          <a:noFill/>
        </p:spPr>
        <p:txBody>
          <a:bodyPr wrap="square" rtlCol="0">
            <a:spAutoFit/>
          </a:bodyPr>
          <a:lstStyle/>
          <a:p>
            <a:r>
              <a:rPr lang="en-US" dirty="0">
                <a:solidFill>
                  <a:schemeClr val="accent6">
                    <a:lumMod val="75000"/>
                  </a:schemeClr>
                </a:solidFill>
              </a:rPr>
              <a:t>x</a:t>
            </a:r>
          </a:p>
        </p:txBody>
      </p:sp>
      <p:sp>
        <p:nvSpPr>
          <p:cNvPr id="16" name="TextBox 15">
            <a:extLst>
              <a:ext uri="{FF2B5EF4-FFF2-40B4-BE49-F238E27FC236}">
                <a16:creationId xmlns:a16="http://schemas.microsoft.com/office/drawing/2014/main" id="{FB570479-1CAA-4671-B4D3-5C4037E62D01}"/>
              </a:ext>
            </a:extLst>
          </p:cNvPr>
          <p:cNvSpPr txBox="1"/>
          <p:nvPr/>
        </p:nvSpPr>
        <p:spPr>
          <a:xfrm>
            <a:off x="4371421" y="4177355"/>
            <a:ext cx="265044" cy="369332"/>
          </a:xfrm>
          <a:prstGeom prst="rect">
            <a:avLst/>
          </a:prstGeom>
          <a:noFill/>
        </p:spPr>
        <p:txBody>
          <a:bodyPr wrap="square" rtlCol="0">
            <a:spAutoFit/>
          </a:bodyPr>
          <a:lstStyle/>
          <a:p>
            <a:r>
              <a:rPr lang="en-US" dirty="0">
                <a:solidFill>
                  <a:schemeClr val="accent6">
                    <a:lumMod val="75000"/>
                  </a:schemeClr>
                </a:solidFill>
              </a:rPr>
              <a:t>y</a:t>
            </a:r>
          </a:p>
        </p:txBody>
      </p:sp>
      <p:grpSp>
        <p:nvGrpSpPr>
          <p:cNvPr id="21" name="Group 20">
            <a:extLst>
              <a:ext uri="{FF2B5EF4-FFF2-40B4-BE49-F238E27FC236}">
                <a16:creationId xmlns:a16="http://schemas.microsoft.com/office/drawing/2014/main" id="{A2C364B7-5B7D-4AAF-9020-A4FEAF99AF2D}"/>
              </a:ext>
            </a:extLst>
          </p:cNvPr>
          <p:cNvGrpSpPr/>
          <p:nvPr/>
        </p:nvGrpSpPr>
        <p:grpSpPr>
          <a:xfrm rot="4934053">
            <a:off x="5990263" y="5305015"/>
            <a:ext cx="424071" cy="458232"/>
            <a:chOff x="5946633" y="4904627"/>
            <a:chExt cx="424071" cy="458232"/>
          </a:xfrm>
        </p:grpSpPr>
        <p:cxnSp>
          <p:nvCxnSpPr>
            <p:cNvPr id="17" name="Straight Arrow Connector 16">
              <a:extLst>
                <a:ext uri="{FF2B5EF4-FFF2-40B4-BE49-F238E27FC236}">
                  <a16:creationId xmlns:a16="http://schemas.microsoft.com/office/drawing/2014/main" id="{78A604CF-E16F-45B8-B6CC-147076DFB6AE}"/>
                </a:ext>
              </a:extLst>
            </p:cNvPr>
            <p:cNvCxnSpPr>
              <a:cxnSpLocks/>
            </p:cNvCxnSpPr>
            <p:nvPr/>
          </p:nvCxnSpPr>
          <p:spPr>
            <a:xfrm flipV="1">
              <a:off x="5961682" y="4904627"/>
              <a:ext cx="0" cy="45823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8" name="Straight Arrow Connector 17">
              <a:extLst>
                <a:ext uri="{FF2B5EF4-FFF2-40B4-BE49-F238E27FC236}">
                  <a16:creationId xmlns:a16="http://schemas.microsoft.com/office/drawing/2014/main" id="{2E9500A9-44A9-432B-A17C-E45111AE2DC5}"/>
                </a:ext>
              </a:extLst>
            </p:cNvPr>
            <p:cNvCxnSpPr>
              <a:cxnSpLocks/>
            </p:cNvCxnSpPr>
            <p:nvPr/>
          </p:nvCxnSpPr>
          <p:spPr>
            <a:xfrm flipV="1">
              <a:off x="5946633" y="5362858"/>
              <a:ext cx="424071"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grpSp>
      <p:sp>
        <p:nvSpPr>
          <p:cNvPr id="19" name="TextBox 18">
            <a:extLst>
              <a:ext uri="{FF2B5EF4-FFF2-40B4-BE49-F238E27FC236}">
                <a16:creationId xmlns:a16="http://schemas.microsoft.com/office/drawing/2014/main" id="{58A5A392-DA7D-41E5-826B-96A7C7D91801}"/>
              </a:ext>
            </a:extLst>
          </p:cNvPr>
          <p:cNvSpPr txBox="1"/>
          <p:nvPr/>
        </p:nvSpPr>
        <p:spPr>
          <a:xfrm>
            <a:off x="5972999" y="5578654"/>
            <a:ext cx="265044" cy="369332"/>
          </a:xfrm>
          <a:prstGeom prst="rect">
            <a:avLst/>
          </a:prstGeom>
          <a:noFill/>
        </p:spPr>
        <p:txBody>
          <a:bodyPr wrap="square" rtlCol="0">
            <a:spAutoFit/>
          </a:bodyPr>
          <a:lstStyle/>
          <a:p>
            <a:r>
              <a:rPr lang="en-US" dirty="0">
                <a:solidFill>
                  <a:schemeClr val="accent6">
                    <a:lumMod val="75000"/>
                  </a:schemeClr>
                </a:solidFill>
              </a:rPr>
              <a:t>x</a:t>
            </a:r>
          </a:p>
        </p:txBody>
      </p:sp>
      <p:sp>
        <p:nvSpPr>
          <p:cNvPr id="20" name="TextBox 19">
            <a:extLst>
              <a:ext uri="{FF2B5EF4-FFF2-40B4-BE49-F238E27FC236}">
                <a16:creationId xmlns:a16="http://schemas.microsoft.com/office/drawing/2014/main" id="{A5D3F304-7511-412D-B430-34FA7B091C0D}"/>
              </a:ext>
            </a:extLst>
          </p:cNvPr>
          <p:cNvSpPr txBox="1"/>
          <p:nvPr/>
        </p:nvSpPr>
        <p:spPr>
          <a:xfrm>
            <a:off x="6186366" y="5272995"/>
            <a:ext cx="265044" cy="369332"/>
          </a:xfrm>
          <a:prstGeom prst="rect">
            <a:avLst/>
          </a:prstGeom>
          <a:noFill/>
        </p:spPr>
        <p:txBody>
          <a:bodyPr wrap="square" rtlCol="0">
            <a:spAutoFit/>
          </a:bodyPr>
          <a:lstStyle/>
          <a:p>
            <a:r>
              <a:rPr lang="en-US" dirty="0">
                <a:solidFill>
                  <a:schemeClr val="accent6">
                    <a:lumMod val="75000"/>
                  </a:schemeClr>
                </a:solidFill>
              </a:rPr>
              <a:t>y</a:t>
            </a:r>
          </a:p>
        </p:txBody>
      </p:sp>
      <p:cxnSp>
        <p:nvCxnSpPr>
          <p:cNvPr id="23" name="Straight Arrow Connector 22">
            <a:extLst>
              <a:ext uri="{FF2B5EF4-FFF2-40B4-BE49-F238E27FC236}">
                <a16:creationId xmlns:a16="http://schemas.microsoft.com/office/drawing/2014/main" id="{07A15943-419A-4E72-A6DB-5A316BBACB7E}"/>
              </a:ext>
            </a:extLst>
          </p:cNvPr>
          <p:cNvCxnSpPr/>
          <p:nvPr/>
        </p:nvCxnSpPr>
        <p:spPr>
          <a:xfrm>
            <a:off x="2001078" y="4177355"/>
            <a:ext cx="117944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8D3AECC3-0F9E-4A56-8E51-5E88DC3FB7FF}"/>
              </a:ext>
            </a:extLst>
          </p:cNvPr>
          <p:cNvSpPr txBox="1"/>
          <p:nvPr/>
        </p:nvSpPr>
        <p:spPr>
          <a:xfrm>
            <a:off x="2435916" y="3792261"/>
            <a:ext cx="413302" cy="369332"/>
          </a:xfrm>
          <a:prstGeom prst="rect">
            <a:avLst/>
          </a:prstGeom>
          <a:noFill/>
        </p:spPr>
        <p:txBody>
          <a:bodyPr wrap="square" rtlCol="0">
            <a:spAutoFit/>
          </a:bodyPr>
          <a:lstStyle/>
          <a:p>
            <a:r>
              <a:rPr lang="en-US" dirty="0"/>
              <a:t>v</a:t>
            </a:r>
          </a:p>
        </p:txBody>
      </p:sp>
      <p:sp>
        <p:nvSpPr>
          <p:cNvPr id="25" name="Arrow: Curved Right 24">
            <a:extLst>
              <a:ext uri="{FF2B5EF4-FFF2-40B4-BE49-F238E27FC236}">
                <a16:creationId xmlns:a16="http://schemas.microsoft.com/office/drawing/2014/main" id="{28521667-55D8-4AF3-A17D-5DFE587DF93C}"/>
              </a:ext>
            </a:extLst>
          </p:cNvPr>
          <p:cNvSpPr/>
          <p:nvPr/>
        </p:nvSpPr>
        <p:spPr>
          <a:xfrm flipH="1">
            <a:off x="3231600" y="4360874"/>
            <a:ext cx="413302" cy="809733"/>
          </a:xfrm>
          <a:prstGeom prst="curvedRightArrow">
            <a:avLst>
              <a:gd name="adj1" fmla="val 0"/>
              <a:gd name="adj2" fmla="val 50000"/>
              <a:gd name="adj3" fmla="val 25000"/>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02CD09BC-0C44-4380-AA9B-CE2A4D909710}"/>
              </a:ext>
            </a:extLst>
          </p:cNvPr>
          <p:cNvSpPr txBox="1"/>
          <p:nvPr/>
        </p:nvSpPr>
        <p:spPr>
          <a:xfrm>
            <a:off x="3659951" y="4515636"/>
            <a:ext cx="403284" cy="369332"/>
          </a:xfrm>
          <a:prstGeom prst="rect">
            <a:avLst/>
          </a:prstGeom>
          <a:noFill/>
        </p:spPr>
        <p:txBody>
          <a:bodyPr wrap="square" rtlCol="0">
            <a:spAutoFit/>
          </a:bodyPr>
          <a:lstStyle/>
          <a:p>
            <a:r>
              <a:rPr lang="en-US" dirty="0"/>
              <a:t>w</a:t>
            </a:r>
          </a:p>
        </p:txBody>
      </p:sp>
    </p:spTree>
    <p:extLst>
      <p:ext uri="{BB962C8B-B14F-4D97-AF65-F5344CB8AC3E}">
        <p14:creationId xmlns:p14="http://schemas.microsoft.com/office/powerpoint/2010/main" val="8733398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4" grpId="0"/>
      <p:bldP spid="25" grpId="0" animBg="1"/>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Steerable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14:m>
                  <m:oMath xmlns:m="http://schemas.openxmlformats.org/officeDocument/2006/math">
                    <m:r>
                      <a:rPr lang="en-US" i="1" smtClean="0">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marL="882650" lvl="3" indent="-342900">
                  <a:buFont typeface="Arial" panose="020B0604020202020204" pitchFamily="34" charset="0"/>
                  <a:buChar char="•"/>
                </a:pPr>
                <a:r>
                  <a:rPr lang="en-GB" dirty="0"/>
                  <a:t>At a steady insertion velocity </a:t>
                </a:r>
                <a14:m>
                  <m:oMath xmlns:m="http://schemas.openxmlformats.org/officeDocument/2006/math">
                    <m:r>
                      <a:rPr lang="en-US" b="0" i="1" smtClean="0">
                        <a:latin typeface="Cambria Math" panose="02040503050406030204" pitchFamily="18" charset="0"/>
                      </a:rPr>
                      <m:t>𝑣</m:t>
                    </m:r>
                  </m:oMath>
                </a14:m>
                <a:r>
                  <a:rPr lang="en-GB" dirty="0"/>
                  <a:t> the needle with bend with a radius </a:t>
                </a:r>
                <a14:m>
                  <m:oMath xmlns:m="http://schemas.openxmlformats.org/officeDocument/2006/math">
                    <m:r>
                      <a:rPr lang="en-US" b="0" i="1" smtClean="0">
                        <a:latin typeface="Cambria Math" panose="02040503050406030204" pitchFamily="18" charset="0"/>
                      </a:rPr>
                      <m:t>𝑟</m:t>
                    </m:r>
                  </m:oMath>
                </a14:m>
                <a:endParaRPr lang="en-GB" dirty="0"/>
              </a:p>
              <a:p>
                <a:pPr marL="882650" lvl="3" indent="-342900">
                  <a:buFont typeface="Arial" panose="020B0604020202020204" pitchFamily="34" charset="0"/>
                  <a:buChar char="•"/>
                </a:pPr>
                <a:r>
                  <a:rPr lang="en-GB" dirty="0"/>
                  <a:t>Steering by turning the needle controls the direction of the bend (parameterised by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𝜙</m:t>
                    </m:r>
                  </m:oMath>
                </a14:m>
                <a:r>
                  <a:rPr lang="en-GB" dirty="0"/>
                  <a:t>)</a:t>
                </a:r>
              </a:p>
              <a:p>
                <a:pPr marL="882650" lvl="3" indent="-342900">
                  <a:buFont typeface="Arial" panose="020B0604020202020204" pitchFamily="34" charset="0"/>
                  <a:buChar char="•"/>
                </a:pPr>
                <a:r>
                  <a:rPr lang="en-GB" dirty="0"/>
                  <a:t>More complete solution is given by the instantaneous velocity:</a:t>
                </a:r>
              </a:p>
              <a:p>
                <a:pPr lvl="1"/>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𝑔</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mr>
                                  <m:m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e>
                                      <m:r>
                                        <a:rPr lang="en-US" b="0" i="1" smtClean="0">
                                          <a:latin typeface="Cambria Math" panose="02040503050406030204" pitchFamily="18" charset="0"/>
                                        </a:rPr>
                                        <m:t>0</m:t>
                                      </m:r>
                                    </m:e>
                                  </m:mr>
                                </m:m>
                              </m:e>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𝑟</m:t>
                                      </m:r>
                                    </m:e>
                                    <m:e>
                                      <m:r>
                                        <a:rPr lang="en-US" b="0" i="1" smtClean="0">
                                          <a:latin typeface="Cambria Math" panose="02040503050406030204" pitchFamily="18" charset="0"/>
                                        </a:rPr>
                                        <m:t>0</m:t>
                                      </m:r>
                                    </m:e>
                                  </m:mr>
                                </m:m>
                              </m:e>
                            </m:mr>
                            <m:m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m:rPr>
                                          <m:lit/>
                                        </m:rPr>
                                        <a:rPr lang="en-US" b="0" i="1" smtClean="0">
                                          <a:latin typeface="Cambria Math" panose="02040503050406030204" pitchFamily="18" charset="0"/>
                                        </a:rPr>
                                        <m:t> </m:t>
                                      </m:r>
                                      <m:r>
                                        <a:rPr lang="en-US" b="0" i="1" smtClean="0">
                                          <a:latin typeface="Cambria Math" panose="02040503050406030204" pitchFamily="18" charset="0"/>
                                        </a:rPr>
                                        <m:t>𝑟</m:t>
                                      </m:r>
                                    </m:e>
                                  </m:mr>
                                  <m:mr>
                                    <m:e>
                                      <m:r>
                                        <a:rPr lang="en-US" b="0" i="1" smtClean="0">
                                          <a:latin typeface="Cambria Math" panose="02040503050406030204" pitchFamily="18" charset="0"/>
                                        </a:rPr>
                                        <m:t>0</m:t>
                                      </m:r>
                                    </m:e>
                                    <m:e>
                                      <m:r>
                                        <a:rPr lang="en-US" b="0" i="1" smtClean="0">
                                          <a:latin typeface="Cambria Math" panose="02040503050406030204" pitchFamily="18" charset="0"/>
                                        </a:rPr>
                                        <m:t>     0</m:t>
                                      </m:r>
                                    </m:e>
                                  </m:mr>
                                </m:m>
                              </m:e>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 </m:t>
                                      </m:r>
                                      <m:r>
                                        <a:rPr lang="en-US" b="0" i="1" smtClean="0">
                                          <a:latin typeface="Cambria Math" panose="02040503050406030204" pitchFamily="18" charset="0"/>
                                        </a:rPr>
                                        <m:t>           0</m:t>
                                      </m:r>
                                    </m:e>
                                    <m:e>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mr>
                                  <m:mr>
                                    <m:e>
                                      <m:r>
                                        <a:rPr lang="en-US" b="0" i="1" smtClean="0">
                                          <a:latin typeface="Cambria Math" panose="02040503050406030204" pitchFamily="18" charset="0"/>
                                        </a:rPr>
                                        <m:t>           0</m:t>
                                      </m:r>
                                    </m:e>
                                    <m:e>
                                      <m:r>
                                        <a:rPr lang="en-US" b="0" i="1" smtClean="0">
                                          <a:latin typeface="Cambria Math" panose="02040503050406030204" pitchFamily="18" charset="0"/>
                                        </a:rPr>
                                        <m:t>  0</m:t>
                                      </m:r>
                                    </m:e>
                                  </m:mr>
                                </m:m>
                              </m:e>
                            </m:mr>
                          </m:m>
                        </m:e>
                      </m:d>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597" t="-113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2886663-1FC3-43A3-A803-05CC36F80347}"/>
              </a:ext>
            </a:extLst>
          </p:cNvPr>
          <p:cNvPicPr>
            <a:picLocks noChangeAspect="1"/>
          </p:cNvPicPr>
          <p:nvPr/>
        </p:nvPicPr>
        <p:blipFill>
          <a:blip r:embed="rId4"/>
          <a:stretch>
            <a:fillRect/>
          </a:stretch>
        </p:blipFill>
        <p:spPr>
          <a:xfrm>
            <a:off x="1055205" y="4467175"/>
            <a:ext cx="3821595" cy="409626"/>
          </a:xfrm>
          <a:prstGeom prst="rect">
            <a:avLst/>
          </a:prstGeom>
        </p:spPr>
      </p:pic>
      <p:sp>
        <p:nvSpPr>
          <p:cNvPr id="8" name="Arc 7">
            <a:extLst>
              <a:ext uri="{FF2B5EF4-FFF2-40B4-BE49-F238E27FC236}">
                <a16:creationId xmlns:a16="http://schemas.microsoft.com/office/drawing/2014/main" id="{5A2FE098-9C4A-4801-ABB2-2EDA3F40B11C}"/>
              </a:ext>
            </a:extLst>
          </p:cNvPr>
          <p:cNvSpPr/>
          <p:nvPr/>
        </p:nvSpPr>
        <p:spPr>
          <a:xfrm rot="1468555">
            <a:off x="3694666" y="4645617"/>
            <a:ext cx="2364268" cy="2026487"/>
          </a:xfrm>
          <a:prstGeom prst="arc">
            <a:avLst>
              <a:gd name="adj1" fmla="val 13248253"/>
              <a:gd name="adj2" fmla="val 19214984"/>
            </a:avLst>
          </a:prstGeom>
          <a:ln>
            <a:prstDash val="sysDot"/>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F29A35F-7FB6-459D-9624-DB157BC81028}"/>
              </a:ext>
            </a:extLst>
          </p:cNvPr>
          <p:cNvCxnSpPr>
            <a:cxnSpLocks/>
          </p:cNvCxnSpPr>
          <p:nvPr/>
        </p:nvCxnSpPr>
        <p:spPr>
          <a:xfrm flipV="1">
            <a:off x="4386470" y="4238733"/>
            <a:ext cx="0" cy="45823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1" name="Straight Arrow Connector 10">
            <a:extLst>
              <a:ext uri="{FF2B5EF4-FFF2-40B4-BE49-F238E27FC236}">
                <a16:creationId xmlns:a16="http://schemas.microsoft.com/office/drawing/2014/main" id="{25F07365-E494-40AA-9350-4701975B1416}"/>
              </a:ext>
            </a:extLst>
          </p:cNvPr>
          <p:cNvCxnSpPr>
            <a:cxnSpLocks/>
          </p:cNvCxnSpPr>
          <p:nvPr/>
        </p:nvCxnSpPr>
        <p:spPr>
          <a:xfrm flipV="1">
            <a:off x="4371421" y="4696964"/>
            <a:ext cx="424071"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5" name="TextBox 14">
            <a:extLst>
              <a:ext uri="{FF2B5EF4-FFF2-40B4-BE49-F238E27FC236}">
                <a16:creationId xmlns:a16="http://schemas.microsoft.com/office/drawing/2014/main" id="{DBCDC48D-1B5E-4D8F-A697-C3F3F4B00535}"/>
              </a:ext>
            </a:extLst>
          </p:cNvPr>
          <p:cNvSpPr txBox="1"/>
          <p:nvPr/>
        </p:nvSpPr>
        <p:spPr>
          <a:xfrm>
            <a:off x="4477439" y="4396409"/>
            <a:ext cx="265044" cy="369332"/>
          </a:xfrm>
          <a:prstGeom prst="rect">
            <a:avLst/>
          </a:prstGeom>
          <a:noFill/>
        </p:spPr>
        <p:txBody>
          <a:bodyPr wrap="square" rtlCol="0">
            <a:spAutoFit/>
          </a:bodyPr>
          <a:lstStyle/>
          <a:p>
            <a:r>
              <a:rPr lang="en-US" dirty="0">
                <a:solidFill>
                  <a:schemeClr val="accent6">
                    <a:lumMod val="75000"/>
                  </a:schemeClr>
                </a:solidFill>
              </a:rPr>
              <a:t>x</a:t>
            </a:r>
          </a:p>
        </p:txBody>
      </p:sp>
      <p:sp>
        <p:nvSpPr>
          <p:cNvPr id="16" name="TextBox 15">
            <a:extLst>
              <a:ext uri="{FF2B5EF4-FFF2-40B4-BE49-F238E27FC236}">
                <a16:creationId xmlns:a16="http://schemas.microsoft.com/office/drawing/2014/main" id="{FB570479-1CAA-4671-B4D3-5C4037E62D01}"/>
              </a:ext>
            </a:extLst>
          </p:cNvPr>
          <p:cNvSpPr txBox="1"/>
          <p:nvPr/>
        </p:nvSpPr>
        <p:spPr>
          <a:xfrm>
            <a:off x="4371421" y="4177355"/>
            <a:ext cx="265044" cy="369332"/>
          </a:xfrm>
          <a:prstGeom prst="rect">
            <a:avLst/>
          </a:prstGeom>
          <a:noFill/>
        </p:spPr>
        <p:txBody>
          <a:bodyPr wrap="square" rtlCol="0">
            <a:spAutoFit/>
          </a:bodyPr>
          <a:lstStyle/>
          <a:p>
            <a:r>
              <a:rPr lang="en-US" dirty="0">
                <a:solidFill>
                  <a:schemeClr val="accent6">
                    <a:lumMod val="75000"/>
                  </a:schemeClr>
                </a:solidFill>
              </a:rPr>
              <a:t>y</a:t>
            </a:r>
          </a:p>
        </p:txBody>
      </p:sp>
      <p:grpSp>
        <p:nvGrpSpPr>
          <p:cNvPr id="21" name="Group 20">
            <a:extLst>
              <a:ext uri="{FF2B5EF4-FFF2-40B4-BE49-F238E27FC236}">
                <a16:creationId xmlns:a16="http://schemas.microsoft.com/office/drawing/2014/main" id="{A2C364B7-5B7D-4AAF-9020-A4FEAF99AF2D}"/>
              </a:ext>
            </a:extLst>
          </p:cNvPr>
          <p:cNvGrpSpPr/>
          <p:nvPr/>
        </p:nvGrpSpPr>
        <p:grpSpPr>
          <a:xfrm rot="4934053">
            <a:off x="5990263" y="5305015"/>
            <a:ext cx="424071" cy="458232"/>
            <a:chOff x="5946633" y="4904627"/>
            <a:chExt cx="424071" cy="458232"/>
          </a:xfrm>
        </p:grpSpPr>
        <p:cxnSp>
          <p:nvCxnSpPr>
            <p:cNvPr id="17" name="Straight Arrow Connector 16">
              <a:extLst>
                <a:ext uri="{FF2B5EF4-FFF2-40B4-BE49-F238E27FC236}">
                  <a16:creationId xmlns:a16="http://schemas.microsoft.com/office/drawing/2014/main" id="{78A604CF-E16F-45B8-B6CC-147076DFB6AE}"/>
                </a:ext>
              </a:extLst>
            </p:cNvPr>
            <p:cNvCxnSpPr>
              <a:cxnSpLocks/>
            </p:cNvCxnSpPr>
            <p:nvPr/>
          </p:nvCxnSpPr>
          <p:spPr>
            <a:xfrm flipV="1">
              <a:off x="5961682" y="4904627"/>
              <a:ext cx="0" cy="45823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8" name="Straight Arrow Connector 17">
              <a:extLst>
                <a:ext uri="{FF2B5EF4-FFF2-40B4-BE49-F238E27FC236}">
                  <a16:creationId xmlns:a16="http://schemas.microsoft.com/office/drawing/2014/main" id="{2E9500A9-44A9-432B-A17C-E45111AE2DC5}"/>
                </a:ext>
              </a:extLst>
            </p:cNvPr>
            <p:cNvCxnSpPr>
              <a:cxnSpLocks/>
            </p:cNvCxnSpPr>
            <p:nvPr/>
          </p:nvCxnSpPr>
          <p:spPr>
            <a:xfrm flipV="1">
              <a:off x="5946633" y="5362858"/>
              <a:ext cx="424071"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grpSp>
      <p:sp>
        <p:nvSpPr>
          <p:cNvPr id="19" name="TextBox 18">
            <a:extLst>
              <a:ext uri="{FF2B5EF4-FFF2-40B4-BE49-F238E27FC236}">
                <a16:creationId xmlns:a16="http://schemas.microsoft.com/office/drawing/2014/main" id="{58A5A392-DA7D-41E5-826B-96A7C7D91801}"/>
              </a:ext>
            </a:extLst>
          </p:cNvPr>
          <p:cNvSpPr txBox="1"/>
          <p:nvPr/>
        </p:nvSpPr>
        <p:spPr>
          <a:xfrm>
            <a:off x="5972999" y="5578654"/>
            <a:ext cx="265044" cy="369332"/>
          </a:xfrm>
          <a:prstGeom prst="rect">
            <a:avLst/>
          </a:prstGeom>
          <a:noFill/>
        </p:spPr>
        <p:txBody>
          <a:bodyPr wrap="square" rtlCol="0">
            <a:spAutoFit/>
          </a:bodyPr>
          <a:lstStyle/>
          <a:p>
            <a:r>
              <a:rPr lang="en-US" dirty="0">
                <a:solidFill>
                  <a:schemeClr val="accent6">
                    <a:lumMod val="75000"/>
                  </a:schemeClr>
                </a:solidFill>
              </a:rPr>
              <a:t>x</a:t>
            </a:r>
          </a:p>
        </p:txBody>
      </p:sp>
      <p:sp>
        <p:nvSpPr>
          <p:cNvPr id="20" name="TextBox 19">
            <a:extLst>
              <a:ext uri="{FF2B5EF4-FFF2-40B4-BE49-F238E27FC236}">
                <a16:creationId xmlns:a16="http://schemas.microsoft.com/office/drawing/2014/main" id="{A5D3F304-7511-412D-B430-34FA7B091C0D}"/>
              </a:ext>
            </a:extLst>
          </p:cNvPr>
          <p:cNvSpPr txBox="1"/>
          <p:nvPr/>
        </p:nvSpPr>
        <p:spPr>
          <a:xfrm>
            <a:off x="6186366" y="5272995"/>
            <a:ext cx="265044" cy="369332"/>
          </a:xfrm>
          <a:prstGeom prst="rect">
            <a:avLst/>
          </a:prstGeom>
          <a:noFill/>
        </p:spPr>
        <p:txBody>
          <a:bodyPr wrap="square" rtlCol="0">
            <a:spAutoFit/>
          </a:bodyPr>
          <a:lstStyle/>
          <a:p>
            <a:r>
              <a:rPr lang="en-US" dirty="0">
                <a:solidFill>
                  <a:schemeClr val="accent6">
                    <a:lumMod val="75000"/>
                  </a:schemeClr>
                </a:solidFill>
              </a:rPr>
              <a:t>y</a:t>
            </a:r>
          </a:p>
        </p:txBody>
      </p:sp>
      <p:cxnSp>
        <p:nvCxnSpPr>
          <p:cNvPr id="23" name="Straight Arrow Connector 22">
            <a:extLst>
              <a:ext uri="{FF2B5EF4-FFF2-40B4-BE49-F238E27FC236}">
                <a16:creationId xmlns:a16="http://schemas.microsoft.com/office/drawing/2014/main" id="{07A15943-419A-4E72-A6DB-5A316BBACB7E}"/>
              </a:ext>
            </a:extLst>
          </p:cNvPr>
          <p:cNvCxnSpPr/>
          <p:nvPr/>
        </p:nvCxnSpPr>
        <p:spPr>
          <a:xfrm>
            <a:off x="2001078" y="4177355"/>
            <a:ext cx="117944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8D3AECC3-0F9E-4A56-8E51-5E88DC3FB7FF}"/>
              </a:ext>
            </a:extLst>
          </p:cNvPr>
          <p:cNvSpPr txBox="1"/>
          <p:nvPr/>
        </p:nvSpPr>
        <p:spPr>
          <a:xfrm>
            <a:off x="2435916" y="3792261"/>
            <a:ext cx="413302" cy="369332"/>
          </a:xfrm>
          <a:prstGeom prst="rect">
            <a:avLst/>
          </a:prstGeom>
          <a:noFill/>
        </p:spPr>
        <p:txBody>
          <a:bodyPr wrap="square" rtlCol="0">
            <a:spAutoFit/>
          </a:bodyPr>
          <a:lstStyle/>
          <a:p>
            <a:r>
              <a:rPr lang="en-US" dirty="0"/>
              <a:t>v</a:t>
            </a:r>
          </a:p>
        </p:txBody>
      </p:sp>
      <p:sp>
        <p:nvSpPr>
          <p:cNvPr id="25" name="Arrow: Curved Right 24">
            <a:extLst>
              <a:ext uri="{FF2B5EF4-FFF2-40B4-BE49-F238E27FC236}">
                <a16:creationId xmlns:a16="http://schemas.microsoft.com/office/drawing/2014/main" id="{28521667-55D8-4AF3-A17D-5DFE587DF93C}"/>
              </a:ext>
            </a:extLst>
          </p:cNvPr>
          <p:cNvSpPr/>
          <p:nvPr/>
        </p:nvSpPr>
        <p:spPr>
          <a:xfrm flipH="1">
            <a:off x="3231600" y="4360874"/>
            <a:ext cx="413302" cy="809733"/>
          </a:xfrm>
          <a:prstGeom prst="curvedRightArrow">
            <a:avLst>
              <a:gd name="adj1" fmla="val 0"/>
              <a:gd name="adj2" fmla="val 50000"/>
              <a:gd name="adj3" fmla="val 25000"/>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02CD09BC-0C44-4380-AA9B-CE2A4D909710}"/>
              </a:ext>
            </a:extLst>
          </p:cNvPr>
          <p:cNvSpPr txBox="1"/>
          <p:nvPr/>
        </p:nvSpPr>
        <p:spPr>
          <a:xfrm>
            <a:off x="3659951" y="4515636"/>
            <a:ext cx="403284" cy="369332"/>
          </a:xfrm>
          <a:prstGeom prst="rect">
            <a:avLst/>
          </a:prstGeom>
          <a:noFill/>
        </p:spPr>
        <p:txBody>
          <a:bodyPr wrap="square" rtlCol="0">
            <a:spAutoFit/>
          </a:bodyPr>
          <a:lstStyle/>
          <a:p>
            <a:r>
              <a:rPr lang="en-US" dirty="0"/>
              <a:t>w</a:t>
            </a:r>
          </a:p>
        </p:txBody>
      </p:sp>
    </p:spTree>
    <p:extLst>
      <p:ext uri="{BB962C8B-B14F-4D97-AF65-F5344CB8AC3E}">
        <p14:creationId xmlns:p14="http://schemas.microsoft.com/office/powerpoint/2010/main" val="118808917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Steerable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14:m>
                  <m:oMath xmlns:m="http://schemas.openxmlformats.org/officeDocument/2006/math">
                    <m:r>
                      <a:rPr lang="en-US" i="1" smtClean="0">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marL="882650" lvl="3" indent="-342900">
                  <a:buFont typeface="Arial" panose="020B0604020202020204" pitchFamily="34" charset="0"/>
                  <a:buChar char="•"/>
                </a:pPr>
                <a:r>
                  <a:rPr lang="en-GB" dirty="0"/>
                  <a:t>At a steady insertion velocity </a:t>
                </a:r>
                <a14:m>
                  <m:oMath xmlns:m="http://schemas.openxmlformats.org/officeDocument/2006/math">
                    <m:r>
                      <a:rPr lang="en-US" b="0" i="1" smtClean="0">
                        <a:latin typeface="Cambria Math" panose="02040503050406030204" pitchFamily="18" charset="0"/>
                      </a:rPr>
                      <m:t>𝑣</m:t>
                    </m:r>
                  </m:oMath>
                </a14:m>
                <a:r>
                  <a:rPr lang="en-GB" dirty="0"/>
                  <a:t> the needle with bend with a radius </a:t>
                </a:r>
                <a14:m>
                  <m:oMath xmlns:m="http://schemas.openxmlformats.org/officeDocument/2006/math">
                    <m:r>
                      <a:rPr lang="en-US" b="0" i="1" smtClean="0">
                        <a:latin typeface="Cambria Math" panose="02040503050406030204" pitchFamily="18" charset="0"/>
                      </a:rPr>
                      <m:t>𝑟</m:t>
                    </m:r>
                  </m:oMath>
                </a14:m>
                <a:endParaRPr lang="en-GB" dirty="0"/>
              </a:p>
              <a:p>
                <a:pPr marL="882650" lvl="3" indent="-342900">
                  <a:buFont typeface="Arial" panose="020B0604020202020204" pitchFamily="34" charset="0"/>
                  <a:buChar char="•"/>
                </a:pPr>
                <a:r>
                  <a:rPr lang="en-GB" dirty="0"/>
                  <a:t>Steering by turning the needle controls the direction of the bend (parameterised by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𝜙</m:t>
                    </m:r>
                  </m:oMath>
                </a14:m>
                <a:r>
                  <a:rPr lang="en-GB" dirty="0"/>
                  <a:t>)</a:t>
                </a:r>
              </a:p>
              <a:p>
                <a:pPr lvl="1"/>
                <a:r>
                  <a:rPr lang="en-GB" dirty="0"/>
                  <a:t>Simplest solution is assume position is a discrete update:</a:t>
                </a:r>
              </a:p>
              <a:p>
                <a:pPr lvl="1"/>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q</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i="1">
                                    <a:latin typeface="Cambria Math" panose="02040503050406030204" pitchFamily="18" charset="0"/>
                                  </a:rPr>
                                  <m:t>𝑟</m:t>
                                </m:r>
                                <m:func>
                                  <m:funcPr>
                                    <m:ctrlPr>
                                      <a:rPr lang="en-US" i="1">
                                        <a:latin typeface="Cambria Math" panose="02040503050406030204" pitchFamily="18" charset="0"/>
                                      </a:rPr>
                                    </m:ctrlPr>
                                  </m:funcPr>
                                  <m:fName>
                                    <m:r>
                                      <m:rPr>
                                        <m:sty m:val="p"/>
                                        <m:brk m:alnAt="7"/>
                                      </m:rPr>
                                      <a:rPr lang="en-US">
                                        <a:latin typeface="Cambria Math" panose="02040503050406030204" pitchFamily="18" charset="0"/>
                                      </a:rPr>
                                      <m:t>c</m:t>
                                    </m:r>
                                    <m:r>
                                      <m:rPr>
                                        <m:sty m:val="p"/>
                                      </m:rPr>
                                      <a:rPr lang="en-US">
                                        <a:latin typeface="Cambria Math" panose="02040503050406030204" pitchFamily="18" charset="0"/>
                                      </a:rPr>
                                      <m:t>os</m:t>
                                    </m:r>
                                  </m:fName>
                                  <m:e>
                                    <m:d>
                                      <m:dPr>
                                        <m:ctrlPr>
                                          <a:rPr lang="en-US" i="1">
                                            <a:latin typeface="Cambria Math" panose="02040503050406030204" pitchFamily="18" charset="0"/>
                                          </a:rPr>
                                        </m:ctrlPr>
                                      </m:dPr>
                                      <m:e>
                                        <m:r>
                                          <a:rPr lang="en-US" i="1">
                                            <a:latin typeface="Cambria Math" panose="02040503050406030204" pitchFamily="18" charset="0"/>
                                          </a:rPr>
                                          <m:t>𝜃</m:t>
                                        </m:r>
                                      </m:e>
                                    </m:d>
                                  </m:e>
                                </m:func>
                                <m:r>
                                  <m:rPr>
                                    <m:brk m:alnAt="7"/>
                                  </m:rPr>
                                  <a:rPr lang="en-US" i="1">
                                    <a:latin typeface="Cambria Math" panose="02040503050406030204" pitchFamily="18" charset="0"/>
                                  </a:rPr>
                                  <m:t>(</m:t>
                                </m:r>
                                <m:r>
                                  <a:rPr lang="en-US" i="1">
                                    <a:latin typeface="Cambria Math" panose="02040503050406030204" pitchFamily="18" charset="0"/>
                                  </a:rPr>
                                  <m:t>1−</m:t>
                                </m:r>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𝑟</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i="1">
                                            <a:latin typeface="Cambria Math" panose="02040503050406030204" pitchFamily="18" charset="0"/>
                                          </a:rPr>
                                          <m:t>𝜃</m:t>
                                        </m:r>
                                      </m:e>
                                    </m:d>
                                  </m:e>
                                </m:func>
                                <m:r>
                                  <a:rPr lang="en-US" i="1">
                                    <a:latin typeface="Cambria Math" panose="02040503050406030204" pitchFamily="18" charset="0"/>
                                  </a:rPr>
                                  <m:t>(1−</m:t>
                                </m:r>
                                <m:r>
                                  <m:rPr>
                                    <m:sty m:val="p"/>
                                  </m:rPr>
                                  <a:rPr lang="en-US">
                                    <a:latin typeface="Cambria Math" panose="02040503050406030204" pitchFamily="18" charset="0"/>
                                  </a:rPr>
                                  <m:t>cos</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𝑟</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func>
                              </m:e>
                            </m:mr>
                          </m:m>
                        </m:e>
                      </m:d>
                    </m:oMath>
                  </m:oMathPara>
                </a14:m>
                <a:endParaRPr lang="en-GB" dirty="0"/>
              </a:p>
              <a:p>
                <a:pPr lvl="1"/>
                <a:endParaRPr lang="en-GB" dirty="0"/>
              </a:p>
              <a:p>
                <a:pPr lvl="1"/>
                <a:endParaRPr lang="en-GB" dirty="0"/>
              </a:p>
              <a:p>
                <a:pPr lvl="1"/>
                <a:r>
                  <a:rPr lang="en-GB" dirty="0"/>
                  <a:t>Due to the iterative nature of the problem </a:t>
                </a:r>
              </a:p>
              <a:p>
                <a:pPr lvl="3"/>
                <a:r>
                  <a:rPr lang="en-GB" dirty="0"/>
                  <a:t>Best to reject positions at each step of </a:t>
                </a:r>
                <a14:m>
                  <m:oMath xmlns:m="http://schemas.openxmlformats.org/officeDocument/2006/math">
                    <m:r>
                      <a:rPr lang="en-US" b="0" i="1" smtClean="0">
                        <a:latin typeface="Cambria Math" panose="02040503050406030204" pitchFamily="18" charset="0"/>
                      </a:rPr>
                      <m:t>𝑡</m:t>
                    </m:r>
                    <m:r>
                      <a:rPr lang="en-US" b="0" i="0" smtClean="0">
                        <a:latin typeface="Cambria Math" panose="02040503050406030204" pitchFamily="18" charset="0"/>
                      </a:rPr>
                      <m:t> </m:t>
                    </m:r>
                  </m:oMath>
                </a14:m>
                <a:endParaRPr lang="en-GB" dirty="0"/>
              </a:p>
              <a:p>
                <a:pPr lvl="3"/>
                <a:r>
                  <a:rPr lang="en-GB" dirty="0"/>
                  <a:t>Avoid enumerate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GB" dirty="0"/>
                  <a:t> for solutions that are infeasible early</a:t>
                </a:r>
              </a:p>
              <a:p>
                <a:pPr lvl="1"/>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spTree>
    <p:extLst>
      <p:ext uri="{BB962C8B-B14F-4D97-AF65-F5344CB8AC3E}">
        <p14:creationId xmlns:p14="http://schemas.microsoft.com/office/powerpoint/2010/main" val="16673976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Flexible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14:m>
                  <m:oMath xmlns:m="http://schemas.openxmlformats.org/officeDocument/2006/math">
                    <m:r>
                      <a:rPr lang="en-US" i="1">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marL="882650" lvl="3" indent="-342900">
                  <a:buFont typeface="Arial" panose="020B0604020202020204" pitchFamily="34" charset="0"/>
                  <a:buChar char="•"/>
                </a:pPr>
                <a:r>
                  <a:rPr lang="en-GB" dirty="0"/>
                  <a:t>Highly dependent on the robot</a:t>
                </a:r>
              </a:p>
              <a:p>
                <a:pPr marL="882650" lvl="3" indent="-342900">
                  <a:buFont typeface="Arial" panose="020B0604020202020204" pitchFamily="34" charset="0"/>
                  <a:buChar char="•"/>
                </a:pPr>
                <a:r>
                  <a:rPr lang="en-GB" dirty="0"/>
                  <a:t>Example concentric tube: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597" t="-1131"/>
                </a:stretch>
              </a:blipFill>
            </p:spPr>
            <p:txBody>
              <a:bodyPr/>
              <a:lstStyle/>
              <a:p>
                <a:r>
                  <a:rPr lang="en-US">
                    <a:noFill/>
                  </a:rPr>
                  <a:t> </a:t>
                </a:r>
              </a:p>
            </p:txBody>
          </p:sp>
        </mc:Fallback>
      </mc:AlternateContent>
      <p:pic>
        <p:nvPicPr>
          <p:cNvPr id="4" name="Online Media 3" title="Concentric Tube Robots">
            <a:hlinkClick r:id="" action="ppaction://media"/>
            <a:extLst>
              <a:ext uri="{FF2B5EF4-FFF2-40B4-BE49-F238E27FC236}">
                <a16:creationId xmlns:a16="http://schemas.microsoft.com/office/drawing/2014/main" id="{90315958-7BF7-4490-BF5E-FEB7E3A44D66}"/>
              </a:ext>
            </a:extLst>
          </p:cNvPr>
          <p:cNvPicPr>
            <a:picLocks noRot="1" noChangeAspect="1"/>
          </p:cNvPicPr>
          <p:nvPr>
            <a:videoFile r:link="rId1"/>
          </p:nvPr>
        </p:nvPicPr>
        <p:blipFill>
          <a:blip r:embed="rId5"/>
          <a:stretch>
            <a:fillRect/>
          </a:stretch>
        </p:blipFill>
        <p:spPr>
          <a:xfrm>
            <a:off x="1340860" y="2274832"/>
            <a:ext cx="6862236" cy="3860008"/>
          </a:xfrm>
          <a:prstGeom prst="rect">
            <a:avLst/>
          </a:prstGeom>
        </p:spPr>
      </p:pic>
    </p:spTree>
    <p:extLst>
      <p:ext uri="{BB962C8B-B14F-4D97-AF65-F5344CB8AC3E}">
        <p14:creationId xmlns:p14="http://schemas.microsoft.com/office/powerpoint/2010/main" val="3993463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Flexible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14:m>
                  <m:oMath xmlns:m="http://schemas.openxmlformats.org/officeDocument/2006/math">
                    <m:r>
                      <a:rPr lang="en-US" i="1">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lvl="1"/>
                <a:r>
                  <a:rPr lang="en-GB" dirty="0"/>
                  <a:t>Position dependent on</a:t>
                </a:r>
              </a:p>
              <a:p>
                <a:pPr marL="882650" lvl="3" indent="-342900">
                  <a:buFont typeface="Arial" panose="020B0604020202020204" pitchFamily="34" charset="0"/>
                  <a:buChar char="•"/>
                </a:pPr>
                <a:r>
                  <a:rPr lang="en-GB" dirty="0"/>
                  <a:t>Relative length, size, stiffness, and bend of each tube</a:t>
                </a:r>
              </a:p>
              <a:p>
                <a:pPr marL="882650" lvl="3" indent="-342900">
                  <a:buFont typeface="Arial" panose="020B0604020202020204" pitchFamily="34" charset="0"/>
                  <a:buChar char="•"/>
                </a:pPr>
                <a:r>
                  <a:rPr lang="en-GB" dirty="0"/>
                  <a:t>Best modelled as a piecewise curvature (actually very similar to Bezier curves)</a:t>
                </a:r>
              </a:p>
              <a:p>
                <a:pPr marL="882650" lvl="3" indent="-342900">
                  <a:buFont typeface="Arial" panose="020B0604020202020204" pitchFamily="34" charset="0"/>
                  <a:buChar char="•"/>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31541A3-09F9-48DA-B8F3-7980A28EDD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2829" y="3429000"/>
            <a:ext cx="6903850" cy="2025129"/>
          </a:xfrm>
          <a:prstGeom prst="rect">
            <a:avLst/>
          </a:prstGeom>
        </p:spPr>
      </p:pic>
    </p:spTree>
    <p:extLst>
      <p:ext uri="{BB962C8B-B14F-4D97-AF65-F5344CB8AC3E}">
        <p14:creationId xmlns:p14="http://schemas.microsoft.com/office/powerpoint/2010/main" val="768657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Defining States – Flexible Tools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14:m>
                  <m:oMath xmlns:m="http://schemas.openxmlformats.org/officeDocument/2006/math">
                    <m:r>
                      <a:rPr lang="en-US" i="1">
                        <a:latin typeface="Cambria Math" panose="02040503050406030204" pitchFamily="18" charset="0"/>
                      </a:rPr>
                      <m:t>𝑠</m:t>
                    </m:r>
                    <m:d>
                      <m:dPr>
                        <m:ctrlPr>
                          <a:rPr lang="en-GB" i="1">
                            <a:latin typeface="Cambria Math" panose="02040503050406030204" pitchFamily="18" charset="0"/>
                          </a:rPr>
                        </m:ctrlPr>
                      </m:dPr>
                      <m:e>
                        <m:r>
                          <a:rPr lang="en-GB" i="1">
                            <a:latin typeface="Cambria Math" panose="02040503050406030204" pitchFamily="18" charset="0"/>
                          </a:rPr>
                          <m:t>𝑡</m:t>
                        </m:r>
                      </m:e>
                    </m:d>
                  </m:oMath>
                </a14:m>
                <a:r>
                  <a:rPr lang="en-GB" dirty="0"/>
                  <a:t>the state of a robot can be represented by a position </a:t>
                </a:r>
                <a14:m>
                  <m:oMath xmlns:m="http://schemas.openxmlformats.org/officeDocument/2006/math">
                    <m:r>
                      <m:rPr>
                        <m:sty m:val="p"/>
                      </m:rPr>
                      <a:rPr lang="en-GB">
                        <a:latin typeface="Cambria Math" panose="02040503050406030204" pitchFamily="18" charset="0"/>
                      </a:rPr>
                      <m:t>q</m:t>
                    </m:r>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endParaRPr lang="en-GB" dirty="0"/>
              </a:p>
              <a:p>
                <a:pPr lvl="1"/>
                <a:r>
                  <a:rPr lang="en-GB" dirty="0"/>
                  <a:t>Position dependent on</a:t>
                </a:r>
              </a:p>
              <a:p>
                <a:pPr marL="882650" lvl="3" indent="-342900">
                  <a:buFont typeface="Arial" panose="020B0604020202020204" pitchFamily="34" charset="0"/>
                  <a:buChar char="•"/>
                </a:pPr>
                <a:r>
                  <a:rPr lang="en-GB" dirty="0"/>
                  <a:t>Relative length, size, stiffness, and bend of each tube</a:t>
                </a:r>
              </a:p>
              <a:p>
                <a:pPr marL="882650" lvl="3" indent="-342900">
                  <a:buFont typeface="Arial" panose="020B0604020202020204" pitchFamily="34" charset="0"/>
                  <a:buChar char="•"/>
                </a:pPr>
                <a:r>
                  <a:rPr lang="en-GB" dirty="0"/>
                  <a:t>Best modelled as a piecewise curvature (actually very similar to Bezier curves)</a:t>
                </a:r>
              </a:p>
              <a:p>
                <a:pPr lvl="3" indent="0">
                  <a:buNone/>
                </a:pPr>
                <a:endParaRPr lang="en-GB" dirty="0"/>
              </a:p>
              <a:p>
                <a:pPr lvl="1"/>
                <a:r>
                  <a:rPr lang="en-GB" dirty="0"/>
                  <a:t>In terms of optimisation this is the worst of all worlds</a:t>
                </a:r>
              </a:p>
              <a:p>
                <a:pPr marL="882650" lvl="3" indent="-342900">
                  <a:buFont typeface="Arial" panose="020B0604020202020204" pitchFamily="34" charset="0"/>
                  <a:buChar char="•"/>
                </a:pPr>
                <a:r>
                  <a:rPr lang="en-GB" dirty="0"/>
                  <a:t>Highly complex mathematics to describe relative locations</a:t>
                </a:r>
              </a:p>
              <a:p>
                <a:pPr marL="882650" lvl="3" indent="-342900">
                  <a:buFont typeface="Arial" panose="020B0604020202020204" pitchFamily="34" charset="0"/>
                  <a:buChar char="•"/>
                </a:pPr>
                <a:r>
                  <a:rPr lang="en-GB" dirty="0"/>
                  <a:t>Position is not easy to predict from previous state (non-linear relationships between tubes)</a:t>
                </a:r>
              </a:p>
              <a:p>
                <a:pPr marL="882650" lvl="3" indent="-342900">
                  <a:buFont typeface="Arial" panose="020B0604020202020204" pitchFamily="34" charset="0"/>
                  <a:buChar char="•"/>
                </a:pPr>
                <a:r>
                  <a:rPr lang="en-GB" dirty="0"/>
                  <a:t>Position is time varying</a:t>
                </a:r>
              </a:p>
              <a:p>
                <a:pPr marL="882650" lvl="3" indent="-342900">
                  <a:buFont typeface="Arial" panose="020B0604020202020204" pitchFamily="34" charset="0"/>
                  <a:buChar char="•"/>
                </a:pPr>
                <a:r>
                  <a:rPr lang="en-GB" dirty="0"/>
                  <a:t>Best to use optimisation algorithm to reduce the number of states to consider </a:t>
                </a:r>
              </a:p>
              <a:p>
                <a:pPr lvl="5" indent="0">
                  <a:buNone/>
                </a:pPr>
                <a:r>
                  <a:rPr lang="en-GB" b="1" dirty="0">
                    <a:solidFill>
                      <a:srgbClr val="FF0000"/>
                    </a:solidFill>
                  </a:rPr>
                  <a:t>More on how to perform optimisation next week. </a:t>
                </a:r>
              </a:p>
              <a:p>
                <a:pPr marL="882650" lvl="3" indent="-342900">
                  <a:buFont typeface="Arial" panose="020B0604020202020204" pitchFamily="34" charset="0"/>
                  <a:buChar char="•"/>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12" t="-1131"/>
                </a:stretch>
              </a:blipFill>
            </p:spPr>
            <p:txBody>
              <a:bodyPr/>
              <a:lstStyle/>
              <a:p>
                <a:r>
                  <a:rPr lang="en-US">
                    <a:noFill/>
                  </a:rPr>
                  <a:t> </a:t>
                </a:r>
              </a:p>
            </p:txBody>
          </p:sp>
        </mc:Fallback>
      </mc:AlternateContent>
    </p:spTree>
    <p:extLst>
      <p:ext uri="{BB962C8B-B14F-4D97-AF65-F5344CB8AC3E}">
        <p14:creationId xmlns:p14="http://schemas.microsoft.com/office/powerpoint/2010/main" val="3544584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7711-C5E7-4002-9BB5-678327B14356}"/>
              </a:ext>
            </a:extLst>
          </p:cNvPr>
          <p:cNvSpPr>
            <a:spLocks noGrp="1"/>
          </p:cNvSpPr>
          <p:nvPr>
            <p:ph type="title"/>
          </p:nvPr>
        </p:nvSpPr>
        <p:spPr/>
        <p:txBody>
          <a:bodyPr/>
          <a:lstStyle/>
          <a:p>
            <a:r>
              <a:rPr lang="en-US" dirty="0"/>
              <a:t>Acceleration Tips and Tricks</a:t>
            </a:r>
          </a:p>
        </p:txBody>
      </p:sp>
      <p:sp>
        <p:nvSpPr>
          <p:cNvPr id="3" name="Content Placeholder 2">
            <a:extLst>
              <a:ext uri="{FF2B5EF4-FFF2-40B4-BE49-F238E27FC236}">
                <a16:creationId xmlns:a16="http://schemas.microsoft.com/office/drawing/2014/main" id="{A5E3AF3B-6CA6-4007-8960-DF02B607AE78}"/>
              </a:ext>
            </a:extLst>
          </p:cNvPr>
          <p:cNvSpPr>
            <a:spLocks noGrp="1"/>
          </p:cNvSpPr>
          <p:nvPr>
            <p:ph idx="1"/>
          </p:nvPr>
        </p:nvSpPr>
        <p:spPr/>
        <p:txBody>
          <a:bodyPr/>
          <a:lstStyle/>
          <a:p>
            <a:pPr lvl="1"/>
            <a:r>
              <a:rPr lang="en-US" dirty="0"/>
              <a:t>Ensure algorithm and implementation are as optimized as possible before considering these other options.</a:t>
            </a:r>
          </a:p>
          <a:p>
            <a:pPr lvl="1"/>
            <a:endParaRPr lang="en-US" dirty="0"/>
          </a:p>
          <a:p>
            <a:pPr lvl="1"/>
            <a:r>
              <a:rPr lang="en-US" dirty="0"/>
              <a:t>They are time consuming to implement. If algorithm and implementation are poor performance gains will be small</a:t>
            </a:r>
          </a:p>
          <a:p>
            <a:pPr marL="882650" lvl="3" indent="-342900">
              <a:buFont typeface="Arial" panose="020B0604020202020204" pitchFamily="34" charset="0"/>
              <a:buChar char="•"/>
            </a:pPr>
            <a:r>
              <a:rPr lang="en-US" dirty="0"/>
              <a:t>Try to create parallel running threads</a:t>
            </a:r>
          </a:p>
          <a:p>
            <a:pPr marL="882650" lvl="3" indent="-342900">
              <a:buFont typeface="Arial" panose="020B0604020202020204" pitchFamily="34" charset="0"/>
              <a:buChar char="•"/>
            </a:pPr>
            <a:r>
              <a:rPr lang="en-US" dirty="0"/>
              <a:t>Consider a better programming language</a:t>
            </a:r>
          </a:p>
          <a:p>
            <a:pPr marL="882650" lvl="3" indent="-342900">
              <a:buFont typeface="Arial" panose="020B0604020202020204" pitchFamily="34" charset="0"/>
              <a:buChar char="•"/>
            </a:pPr>
            <a:r>
              <a:rPr lang="en-US" dirty="0"/>
              <a:t>Take advantage of hardware acceleration</a:t>
            </a:r>
          </a:p>
          <a:p>
            <a:pPr lvl="1"/>
            <a:endParaRPr lang="en-US" dirty="0"/>
          </a:p>
          <a:p>
            <a:pPr lvl="2" indent="0">
              <a:buNone/>
            </a:pPr>
            <a:endParaRPr lang="en-US" dirty="0"/>
          </a:p>
        </p:txBody>
      </p:sp>
    </p:spTree>
    <p:extLst>
      <p:ext uri="{BB962C8B-B14F-4D97-AF65-F5344CB8AC3E}">
        <p14:creationId xmlns:p14="http://schemas.microsoft.com/office/powerpoint/2010/main" val="202789333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64628-861E-44AD-BD8F-959722102CF7}"/>
              </a:ext>
            </a:extLst>
          </p:cNvPr>
          <p:cNvSpPr>
            <a:spLocks noGrp="1"/>
          </p:cNvSpPr>
          <p:nvPr>
            <p:ph type="title"/>
          </p:nvPr>
        </p:nvSpPr>
        <p:spPr/>
        <p:txBody>
          <a:bodyPr/>
          <a:lstStyle/>
          <a:p>
            <a:r>
              <a:rPr lang="en-US" dirty="0" err="1"/>
              <a:t>Parallelisation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2DDA1F-CC50-4C02-8137-9C9BC45C22B1}"/>
                  </a:ext>
                </a:extLst>
              </p:cNvPr>
              <p:cNvSpPr>
                <a:spLocks noGrp="1"/>
              </p:cNvSpPr>
              <p:nvPr>
                <p:ph idx="1"/>
              </p:nvPr>
            </p:nvSpPr>
            <p:spPr>
              <a:xfrm>
                <a:off x="480000" y="1089219"/>
                <a:ext cx="11232000" cy="5325027"/>
              </a:xfrm>
            </p:spPr>
            <p:txBody>
              <a:bodyPr>
                <a:noAutofit/>
              </a:bodyPr>
              <a:lstStyle/>
              <a:p>
                <a:pPr lvl="1"/>
                <a:r>
                  <a:rPr lang="en-US" dirty="0">
                    <a:latin typeface="+mn-lt"/>
                  </a:rPr>
                  <a:t>For path planning</a:t>
                </a:r>
              </a:p>
              <a:p>
                <a:pPr marL="882650" lvl="3" indent="-342900">
                  <a:buFont typeface="Arial" panose="020B0604020202020204" pitchFamily="34" charset="0"/>
                  <a:buChar char="•"/>
                </a:pPr>
                <a:r>
                  <a:rPr lang="en-US" dirty="0">
                    <a:latin typeface="+mn-lt"/>
                  </a:rPr>
                  <a:t>Possible robotic states </a:t>
                </a:r>
                <a14:m>
                  <m:oMath xmlns:m="http://schemas.openxmlformats.org/officeDocument/2006/math">
                    <m:r>
                      <m:rPr>
                        <m:sty m:val="p"/>
                      </m:rPr>
                      <a:rPr lang="en-US" b="0" i="0" smtClean="0">
                        <a:latin typeface="Cambria Math" panose="02040503050406030204" pitchFamily="18" charset="0"/>
                      </a:rPr>
                      <m:t>s</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t</m:t>
                        </m:r>
                      </m:e>
                    </m:d>
                    <m:r>
                      <a:rPr lang="en-US" b="0" i="1" smtClean="0">
                        <a:latin typeface="Cambria Math" panose="02040503050406030204" pitchFamily="18" charset="0"/>
                      </a:rPr>
                      <m:t>∈</m:t>
                    </m:r>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dirty="0">
                    <a:latin typeface="+mn-lt"/>
                  </a:rPr>
                  <a:t> can be considered as independent </a:t>
                </a:r>
              </a:p>
              <a:p>
                <a:pPr marL="882650" lvl="3" indent="-342900">
                  <a:buFont typeface="Arial" panose="020B0604020202020204" pitchFamily="34" charset="0"/>
                  <a:buChar char="•"/>
                </a:pPr>
                <a:r>
                  <a:rPr lang="en-US" dirty="0">
                    <a:latin typeface="+mn-lt"/>
                  </a:rPr>
                  <a:t>The problem can be considered embarrassingly parallel</a:t>
                </a:r>
              </a:p>
              <a:p>
                <a:endParaRPr lang="en-US" dirty="0">
                  <a:latin typeface="+mn-lt"/>
                </a:endParaRPr>
              </a:p>
              <a:p>
                <a:pPr lvl="1"/>
                <a:r>
                  <a:rPr lang="en-US" dirty="0">
                    <a:latin typeface="+mn-lt"/>
                  </a:rPr>
                  <a:t>Subsets of </a:t>
                </a:r>
                <a14:m>
                  <m:oMath xmlns:m="http://schemas.openxmlformats.org/officeDocument/2006/math">
                    <m:r>
                      <a:rPr lang="en-US" i="1">
                        <a:latin typeface="Cambria Math" panose="02040503050406030204" pitchFamily="18" charset="0"/>
                      </a:rPr>
                      <m:t>𝑆</m:t>
                    </m:r>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latin typeface="+mn-lt"/>
                  </a:rPr>
                  <a:t> can be identified and run on parallel threads of  the same function </a:t>
                </a:r>
              </a:p>
              <a:p>
                <a:pPr marL="882650" lvl="3" indent="-342900">
                  <a:buFont typeface="Arial" panose="020B0604020202020204" pitchFamily="34" charset="0"/>
                  <a:buChar char="•"/>
                </a:pPr>
                <a:r>
                  <a:rPr lang="en-US" dirty="0">
                    <a:latin typeface="+mn-lt"/>
                  </a:rPr>
                  <a:t>Can maximize computational resources and minimize runtime</a:t>
                </a:r>
              </a:p>
              <a:p>
                <a:pPr marL="882650" lvl="3" indent="-342900">
                  <a:buFont typeface="Arial" panose="020B0604020202020204" pitchFamily="34" charset="0"/>
                  <a:buChar char="•"/>
                </a:pPr>
                <a:r>
                  <a:rPr lang="en-US" dirty="0">
                    <a:latin typeface="+mn-lt"/>
                  </a:rPr>
                  <a:t>Needs a bit of programming to ensure each call is run on a separate processor core</a:t>
                </a:r>
              </a:p>
              <a:p>
                <a:pPr marL="882650" lvl="3" indent="-342900">
                  <a:buFont typeface="Arial" panose="020B0604020202020204" pitchFamily="34" charset="0"/>
                  <a:buChar char="•"/>
                </a:pPr>
                <a:endParaRPr lang="en-US" dirty="0">
                  <a:latin typeface="+mn-lt"/>
                </a:endParaRPr>
              </a:p>
              <a:p>
                <a:pPr lvl="1"/>
                <a:r>
                  <a:rPr lang="en-US" dirty="0">
                    <a:latin typeface="+mn-lt"/>
                  </a:rPr>
                  <a:t>Be aware other portions of your algorithm (element iteration, image manipulation) may also be multi-threaded </a:t>
                </a:r>
              </a:p>
              <a:p>
                <a:pPr marL="882650" lvl="3" indent="-342900">
                  <a:buFont typeface="Arial" panose="020B0604020202020204" pitchFamily="34" charset="0"/>
                  <a:buChar char="•"/>
                </a:pPr>
                <a:r>
                  <a:rPr lang="en-US" dirty="0">
                    <a:latin typeface="+mn-lt"/>
                  </a:rPr>
                  <a:t>In general </a:t>
                </a:r>
                <a:r>
                  <a:rPr lang="en-US" dirty="0" err="1">
                    <a:latin typeface="+mn-lt"/>
                  </a:rPr>
                  <a:t>parallelisation</a:t>
                </a:r>
                <a:r>
                  <a:rPr lang="en-US" dirty="0">
                    <a:latin typeface="+mn-lt"/>
                  </a:rPr>
                  <a:t> of the lower functions will give you better performance </a:t>
                </a:r>
              </a:p>
              <a:p>
                <a:pPr marL="882650" lvl="3" indent="-342900">
                  <a:buFont typeface="Arial" panose="020B0604020202020204" pitchFamily="34" charset="0"/>
                  <a:buChar char="•"/>
                </a:pPr>
                <a:r>
                  <a:rPr lang="en-US" dirty="0">
                    <a:latin typeface="+mn-lt"/>
                  </a:rPr>
                  <a:t>Can be useful especially for large computing resources (i.e. many cores) </a:t>
                </a:r>
              </a:p>
            </p:txBody>
          </p:sp>
        </mc:Choice>
        <mc:Fallback xmlns="">
          <p:sp>
            <p:nvSpPr>
              <p:cNvPr id="3" name="Content Placeholder 2">
                <a:extLst>
                  <a:ext uri="{FF2B5EF4-FFF2-40B4-BE49-F238E27FC236}">
                    <a16:creationId xmlns:a16="http://schemas.microsoft.com/office/drawing/2014/main" id="{EB2DDA1F-CC50-4C02-8137-9C9BC45C22B1}"/>
                  </a:ext>
                </a:extLst>
              </p:cNvPr>
              <p:cNvSpPr>
                <a:spLocks noGrp="1" noRot="1" noChangeAspect="1" noMove="1" noResize="1" noEditPoints="1" noAdjustHandles="1" noChangeArrowheads="1" noChangeShapeType="1" noTextEdit="1"/>
              </p:cNvSpPr>
              <p:nvPr>
                <p:ph idx="1"/>
              </p:nvPr>
            </p:nvSpPr>
            <p:spPr>
              <a:xfrm>
                <a:off x="480000" y="1089219"/>
                <a:ext cx="11232000" cy="5325027"/>
              </a:xfrm>
              <a:blipFill>
                <a:blip r:embed="rId2"/>
                <a:stretch>
                  <a:fillRect l="-1412" t="-1031"/>
                </a:stretch>
              </a:blipFill>
            </p:spPr>
            <p:txBody>
              <a:bodyPr/>
              <a:lstStyle/>
              <a:p>
                <a:r>
                  <a:rPr lang="en-US">
                    <a:noFill/>
                  </a:rPr>
                  <a:t> </a:t>
                </a:r>
              </a:p>
            </p:txBody>
          </p:sp>
        </mc:Fallback>
      </mc:AlternateContent>
    </p:spTree>
    <p:extLst>
      <p:ext uri="{BB962C8B-B14F-4D97-AF65-F5344CB8AC3E}">
        <p14:creationId xmlns:p14="http://schemas.microsoft.com/office/powerpoint/2010/main" val="19828707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3AC071D-DC8D-461E-ACDD-0835AD57BC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2558" y="1791675"/>
            <a:ext cx="4810125" cy="4886325"/>
          </a:xfrm>
          <a:prstGeom prst="rect">
            <a:avLst/>
          </a:prstGeom>
        </p:spPr>
      </p:pic>
      <p:sp>
        <p:nvSpPr>
          <p:cNvPr id="2" name="Title 1">
            <a:extLst>
              <a:ext uri="{FF2B5EF4-FFF2-40B4-BE49-F238E27FC236}">
                <a16:creationId xmlns:a16="http://schemas.microsoft.com/office/drawing/2014/main" id="{4CA5DF73-FAD6-466A-8C6F-4C6DA938DA22}"/>
              </a:ext>
            </a:extLst>
          </p:cNvPr>
          <p:cNvSpPr>
            <a:spLocks noGrp="1"/>
          </p:cNvSpPr>
          <p:nvPr>
            <p:ph type="title"/>
          </p:nvPr>
        </p:nvSpPr>
        <p:spPr/>
        <p:txBody>
          <a:bodyPr/>
          <a:lstStyle/>
          <a:p>
            <a:r>
              <a:rPr lang="en-US" dirty="0"/>
              <a:t>Programming Language</a:t>
            </a:r>
          </a:p>
        </p:txBody>
      </p:sp>
      <p:sp>
        <p:nvSpPr>
          <p:cNvPr id="3" name="Content Placeholder 2">
            <a:extLst>
              <a:ext uri="{FF2B5EF4-FFF2-40B4-BE49-F238E27FC236}">
                <a16:creationId xmlns:a16="http://schemas.microsoft.com/office/drawing/2014/main" id="{5F0A34C7-82C8-4036-92A1-748025A0366A}"/>
              </a:ext>
            </a:extLst>
          </p:cNvPr>
          <p:cNvSpPr>
            <a:spLocks noGrp="1"/>
          </p:cNvSpPr>
          <p:nvPr>
            <p:ph idx="1"/>
          </p:nvPr>
        </p:nvSpPr>
        <p:spPr/>
        <p:txBody>
          <a:bodyPr/>
          <a:lstStyle/>
          <a:p>
            <a:pPr lvl="1"/>
            <a:r>
              <a:rPr lang="en-US" dirty="0"/>
              <a:t>The choice of programming language can have large impacts on runtime</a:t>
            </a:r>
          </a:p>
          <a:p>
            <a:pPr marL="612775" lvl="2" indent="-342900">
              <a:buFont typeface="Arial" panose="020B0604020202020204" pitchFamily="34" charset="0"/>
              <a:buChar char="•"/>
            </a:pPr>
            <a:r>
              <a:rPr lang="en-US" dirty="0"/>
              <a:t>Lower level languages are usually faster for simple computations</a:t>
            </a:r>
          </a:p>
          <a:p>
            <a:pPr marL="612775" lvl="2" indent="-342900">
              <a:buFont typeface="Arial" panose="020B0604020202020204" pitchFamily="34" charset="0"/>
              <a:buChar char="•"/>
            </a:pPr>
            <a:r>
              <a:rPr lang="en-US" dirty="0"/>
              <a:t>Learning curve for lower level languages is higher</a:t>
            </a:r>
          </a:p>
          <a:p>
            <a:pPr marL="612775" lvl="2" indent="-342900">
              <a:buFont typeface="Arial" panose="020B0604020202020204" pitchFamily="34" charset="0"/>
              <a:buChar char="•"/>
            </a:pPr>
            <a:r>
              <a:rPr lang="en-US" dirty="0"/>
              <a:t>Longer development times for lower level languages</a:t>
            </a:r>
          </a:p>
          <a:p>
            <a:pPr marL="612775" lvl="2" indent="-342900">
              <a:buFont typeface="Arial" panose="020B0604020202020204" pitchFamily="34" charset="0"/>
              <a:buChar char="•"/>
            </a:pPr>
            <a:endParaRPr lang="en-US" dirty="0"/>
          </a:p>
          <a:p>
            <a:pPr marL="612775" lvl="2" indent="-342900">
              <a:buFont typeface="Arial" panose="020B0604020202020204" pitchFamily="34" charset="0"/>
              <a:buChar char="•"/>
            </a:pPr>
            <a:endParaRPr lang="en-US" dirty="0"/>
          </a:p>
          <a:p>
            <a:pPr marL="612775" lvl="2" indent="-342900">
              <a:buFont typeface="Arial" panose="020B0604020202020204" pitchFamily="34" charset="0"/>
              <a:buChar char="•"/>
            </a:pPr>
            <a:endParaRPr lang="en-US" dirty="0"/>
          </a:p>
          <a:p>
            <a:pPr lvl="2" indent="0">
              <a:buNone/>
            </a:pPr>
            <a:endParaRPr lang="en-US" dirty="0"/>
          </a:p>
        </p:txBody>
      </p:sp>
    </p:spTree>
    <p:extLst>
      <p:ext uri="{BB962C8B-B14F-4D97-AF65-F5344CB8AC3E}">
        <p14:creationId xmlns:p14="http://schemas.microsoft.com/office/powerpoint/2010/main" val="4271869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B822C-B9D0-48AC-887D-469EE85B807E}"/>
              </a:ext>
            </a:extLst>
          </p:cNvPr>
          <p:cNvSpPr>
            <a:spLocks noGrp="1"/>
          </p:cNvSpPr>
          <p:nvPr>
            <p:ph type="title"/>
          </p:nvPr>
        </p:nvSpPr>
        <p:spPr/>
        <p:txBody>
          <a:bodyPr/>
          <a:lstStyle/>
          <a:p>
            <a:r>
              <a:rPr lang="en-US" dirty="0"/>
              <a:t>Hardware Acceleration</a:t>
            </a:r>
          </a:p>
        </p:txBody>
      </p:sp>
      <p:sp>
        <p:nvSpPr>
          <p:cNvPr id="3" name="Content Placeholder 2">
            <a:extLst>
              <a:ext uri="{FF2B5EF4-FFF2-40B4-BE49-F238E27FC236}">
                <a16:creationId xmlns:a16="http://schemas.microsoft.com/office/drawing/2014/main" id="{3121B403-FC4E-4209-95F9-156C43CE32B2}"/>
              </a:ext>
            </a:extLst>
          </p:cNvPr>
          <p:cNvSpPr>
            <a:spLocks noGrp="1"/>
          </p:cNvSpPr>
          <p:nvPr>
            <p:ph idx="1"/>
          </p:nvPr>
        </p:nvSpPr>
        <p:spPr/>
        <p:txBody>
          <a:bodyPr/>
          <a:lstStyle/>
          <a:p>
            <a:pPr lvl="1"/>
            <a:r>
              <a:rPr lang="en-US" dirty="0"/>
              <a:t>What hardware you use matters</a:t>
            </a:r>
          </a:p>
          <a:p>
            <a:pPr marL="882650" lvl="3" indent="-342900">
              <a:buFont typeface="Arial" panose="020B0604020202020204" pitchFamily="34" charset="0"/>
              <a:buChar char="•"/>
            </a:pPr>
            <a:r>
              <a:rPr lang="en-US" dirty="0"/>
              <a:t>CPU computations are slow</a:t>
            </a:r>
          </a:p>
          <a:p>
            <a:pPr marL="882650" lvl="3" indent="-342900">
              <a:buFont typeface="Arial" panose="020B0604020202020204" pitchFamily="34" charset="0"/>
              <a:buChar char="•"/>
            </a:pPr>
            <a:r>
              <a:rPr lang="en-US" dirty="0"/>
              <a:t>GPU computations are faster</a:t>
            </a:r>
          </a:p>
          <a:p>
            <a:pPr marL="882650" lvl="3" indent="-342900">
              <a:buFont typeface="Arial" panose="020B0604020202020204" pitchFamily="34" charset="0"/>
              <a:buChar char="•"/>
            </a:pPr>
            <a:r>
              <a:rPr lang="en-US" dirty="0"/>
              <a:t>Embedded/On chip computations are fastest</a:t>
            </a:r>
          </a:p>
        </p:txBody>
      </p:sp>
      <p:pic>
        <p:nvPicPr>
          <p:cNvPr id="5" name="Picture 4">
            <a:extLst>
              <a:ext uri="{FF2B5EF4-FFF2-40B4-BE49-F238E27FC236}">
                <a16:creationId xmlns:a16="http://schemas.microsoft.com/office/drawing/2014/main" id="{9CB8EF73-71FD-4F09-81BB-F7E1490A9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4184" y="2770094"/>
            <a:ext cx="6639274" cy="3755932"/>
          </a:xfrm>
          <a:prstGeom prst="rect">
            <a:avLst/>
          </a:prstGeom>
        </p:spPr>
      </p:pic>
    </p:spTree>
    <p:extLst>
      <p:ext uri="{BB962C8B-B14F-4D97-AF65-F5344CB8AC3E}">
        <p14:creationId xmlns:p14="http://schemas.microsoft.com/office/powerpoint/2010/main" val="1642743974"/>
      </p:ext>
    </p:extLst>
  </p:cSld>
  <p:clrMapOvr>
    <a:masterClrMapping/>
  </p:clrMapOvr>
  <p:transition>
    <p:fade/>
  </p:transition>
</p:sld>
</file>

<file path=ppt/theme/theme1.xml><?xml version="1.0" encoding="utf-8"?>
<a:theme xmlns:a="http://schemas.openxmlformats.org/drawingml/2006/main" name="KCL UPDATE v4 4x3">
  <a:themeElements>
    <a:clrScheme name="KCL">
      <a:dk1>
        <a:sysClr val="windowText" lastClr="000000"/>
      </a:dk1>
      <a:lt1>
        <a:sysClr val="window" lastClr="FFFFFF"/>
      </a:lt1>
      <a:dk2>
        <a:srgbClr val="0A2D50"/>
      </a:dk2>
      <a:lt2>
        <a:srgbClr val="CDD7DC"/>
      </a:lt2>
      <a:accent1>
        <a:srgbClr val="E2231A"/>
      </a:accent1>
      <a:accent2>
        <a:srgbClr val="FF5F05"/>
      </a:accent2>
      <a:accent3>
        <a:srgbClr val="F5B90F"/>
      </a:accent3>
      <a:accent4>
        <a:srgbClr val="C8E128"/>
      </a:accent4>
      <a:accent5>
        <a:srgbClr val="009EA0"/>
      </a:accent5>
      <a:accent6>
        <a:srgbClr val="005AD2"/>
      </a:accent6>
      <a:hlink>
        <a:srgbClr val="E2231A"/>
      </a:hlink>
      <a:folHlink>
        <a:srgbClr val="E2231A"/>
      </a:folHlink>
    </a:clrScheme>
    <a:fontScheme name="KCL-fonts">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D8081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07MRI007_HardConstraints_Week2</Template>
  <TotalTime>93</TotalTime>
  <Words>3204</Words>
  <Application>Microsoft Office PowerPoint</Application>
  <PresentationFormat>Widescreen</PresentationFormat>
  <Paragraphs>330</Paragraphs>
  <Slides>29</Slides>
  <Notes>21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Cambria Math</vt:lpstr>
      <vt:lpstr>Courier New</vt:lpstr>
      <vt:lpstr>Georgia</vt:lpstr>
      <vt:lpstr>Impact</vt:lpstr>
      <vt:lpstr>KCL UPDATE v4 4x3</vt:lpstr>
      <vt:lpstr>PowerPoint Presentation</vt:lpstr>
      <vt:lpstr>Hard Constraints Week 1 – Recap</vt:lpstr>
      <vt:lpstr>Path Planning Implementation</vt:lpstr>
      <vt:lpstr>Defining Objects</vt:lpstr>
      <vt:lpstr>Image To Surface</vt:lpstr>
      <vt:lpstr>Surface Traversal</vt:lpstr>
      <vt:lpstr>Surface Traversal</vt:lpstr>
      <vt:lpstr>Surface Intersection and Inside Checks</vt:lpstr>
      <vt:lpstr>Image to Points</vt:lpstr>
      <vt:lpstr>Image to Points</vt:lpstr>
      <vt:lpstr>Image to Points</vt:lpstr>
      <vt:lpstr>Implicit Surface Traversal</vt:lpstr>
      <vt:lpstr>Point Cloud Collision Detection</vt:lpstr>
      <vt:lpstr>Image To Surface</vt:lpstr>
      <vt:lpstr>Point Cloud Collision Detection</vt:lpstr>
      <vt:lpstr>Path Planning Implementation</vt:lpstr>
      <vt:lpstr>Defining States</vt:lpstr>
      <vt:lpstr>Defining States – Straight Tools</vt:lpstr>
      <vt:lpstr>Defining States – Straight Tools</vt:lpstr>
      <vt:lpstr>Defining States – Steerable Tools</vt:lpstr>
      <vt:lpstr>Defining States – Steerable Tools</vt:lpstr>
      <vt:lpstr>Defining States – Steerable Tools</vt:lpstr>
      <vt:lpstr>Defining States – Flexible Tools</vt:lpstr>
      <vt:lpstr>Defining States – Flexible Tools</vt:lpstr>
      <vt:lpstr>Defining States – Flexible Tools</vt:lpstr>
      <vt:lpstr>Acceleration Tips and Tricks</vt:lpstr>
      <vt:lpstr>Parallelisation</vt:lpstr>
      <vt:lpstr>Programming Language</vt:lpstr>
      <vt:lpstr>Hardware Acceleration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Sparks, Rachel</dc:creator>
  <cp:lastModifiedBy>Rachel Sparks</cp:lastModifiedBy>
  <cp:revision>7</cp:revision>
  <dcterms:created xsi:type="dcterms:W3CDTF">2021-01-24T20:06:27Z</dcterms:created>
  <dcterms:modified xsi:type="dcterms:W3CDTF">2024-01-28T13:38:30Z</dcterms:modified>
</cp:coreProperties>
</file>