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726" r:id="rId3"/>
    <p:sldMasterId id="2147483738" r:id="rId4"/>
    <p:sldMasterId id="2147483806" r:id="rId5"/>
  </p:sldMasterIdLst>
  <p:notesMasterIdLst>
    <p:notesMasterId r:id="rId22"/>
  </p:notesMasterIdLst>
  <p:sldIdLst>
    <p:sldId id="289" r:id="rId6"/>
    <p:sldId id="290" r:id="rId7"/>
    <p:sldId id="264" r:id="rId8"/>
    <p:sldId id="260" r:id="rId9"/>
    <p:sldId id="257" r:id="rId10"/>
    <p:sldId id="267" r:id="rId11"/>
    <p:sldId id="259" r:id="rId12"/>
    <p:sldId id="271" r:id="rId13"/>
    <p:sldId id="272" r:id="rId14"/>
    <p:sldId id="270" r:id="rId15"/>
    <p:sldId id="268" r:id="rId16"/>
    <p:sldId id="269" r:id="rId17"/>
    <p:sldId id="292" r:id="rId18"/>
    <p:sldId id="293" r:id="rId19"/>
    <p:sldId id="294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421AC7-A1AE-4838-8DDF-ECE0CABD7941}">
          <p14:sldIdLst>
            <p14:sldId id="289"/>
            <p14:sldId id="290"/>
            <p14:sldId id="264"/>
            <p14:sldId id="260"/>
            <p14:sldId id="257"/>
            <p14:sldId id="267"/>
            <p14:sldId id="259"/>
            <p14:sldId id="271"/>
            <p14:sldId id="272"/>
            <p14:sldId id="270"/>
            <p14:sldId id="268"/>
            <p14:sldId id="269"/>
            <p14:sldId id="292"/>
            <p14:sldId id="293"/>
            <p14:sldId id="294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D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4797" autoAdjust="0"/>
  </p:normalViewPr>
  <p:slideViewPr>
    <p:cSldViewPr snapToGrid="0">
      <p:cViewPr varScale="1">
        <p:scale>
          <a:sx n="71" d="100"/>
          <a:sy n="71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ED592-69FE-4A4C-B52C-3699FD37C3CC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C0127-675A-49A7-AE60-825628039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25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pause to ask students what would be a positive test? What would be an edge test?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C0127-675A-49A7-AE60-8256280390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29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4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000" indent="-18360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0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31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5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7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4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7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93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1800" y="1484314"/>
            <a:ext cx="11328400" cy="7574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US" altLang="en-US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800" y="2387805"/>
            <a:ext cx="11328400" cy="377804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B1E95090-1A67-4FDD-B291-C1A9787783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431800" y="6245225"/>
            <a:ext cx="113284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A41A00-85E2-4135-B7CD-A670C1C774CB}"/>
              </a:ext>
            </a:extLst>
          </p:cNvPr>
          <p:cNvSpPr/>
          <p:nvPr/>
        </p:nvSpPr>
        <p:spPr>
          <a:xfrm>
            <a:off x="1" y="-1"/>
            <a:ext cx="12192000" cy="9189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55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267" y="908050"/>
            <a:ext cx="11319933" cy="6493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267" y="1578078"/>
            <a:ext cx="11319933" cy="4587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50F6A05-5269-458D-A80C-2BBC43C75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40267" y="6353175"/>
            <a:ext cx="1344084" cy="476250"/>
          </a:xfrm>
        </p:spPr>
        <p:txBody>
          <a:bodyPr/>
          <a:lstStyle>
            <a:lvl1pPr>
              <a:defRPr smtClean="0"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452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298D81-DBFC-410A-BF13-40A333E239C0}"/>
              </a:ext>
            </a:extLst>
          </p:cNvPr>
          <p:cNvSpPr/>
          <p:nvPr/>
        </p:nvSpPr>
        <p:spPr>
          <a:xfrm>
            <a:off x="1" y="-1"/>
            <a:ext cx="12192000" cy="9189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49A9D34-54F6-4C69-BDF6-C7B3F3A32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931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267" y="2708276"/>
            <a:ext cx="5558367" cy="345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1834" y="2708276"/>
            <a:ext cx="5558367" cy="345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50CC1C-FBF5-4AFF-9D98-A6EB75F9E95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890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7A989-8D15-446E-8515-02BC9775DB4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884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BFEC808-D9F1-4D31-9932-85AFD1A53B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564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8A18E2B-2039-4E5D-99A6-A798B52574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4848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FD8BF12-6F5C-4C98-8378-12660CD7F6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2438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FD276A-485C-4330-A37B-E9D6E2B724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406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6DD9B8-B466-49C9-BFCF-57A82E7D75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974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30218" y="908050"/>
            <a:ext cx="2829983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267" y="908050"/>
            <a:ext cx="8286751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913702A-348F-44DC-8125-459095F8436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859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0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8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0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1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6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9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7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6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5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2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4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01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c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3230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15953"/>
            <a:ext cx="2743200" cy="242047"/>
          </a:xfr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fld id="{ED9BCA1E-D47F-3D44-B464-CE8CC40443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0486145" y="0"/>
            <a:ext cx="1705855" cy="106005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615953"/>
            <a:ext cx="12192000" cy="24204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417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393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0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34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05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3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87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80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54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62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12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78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59470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5119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54859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5827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05109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25002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915624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0368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920388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224728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1638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27036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59718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213450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77420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165026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584206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9912000" y="3"/>
            <a:ext cx="2280000" cy="1303021"/>
            <a:chOff x="7949775" y="1"/>
            <a:chExt cx="1194225" cy="910000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4" name="KCL-LOGO-UK-1.png"/>
            <p:cNvPicPr>
              <a:picLocks noChangeAspect="1"/>
            </p:cNvPicPr>
            <p:nvPr userDrawn="1"/>
          </p:nvPicPr>
          <p:blipFill>
            <a:blip r:embed="rId2" r:link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1550952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78148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8304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7197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27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4650D9C-27C3-4666-9544-625CFA252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0267" y="908050"/>
            <a:ext cx="11319933" cy="65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DCB81C9-32C2-4484-A4EE-7AC8902EF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0267" y="1710814"/>
            <a:ext cx="11319933" cy="44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1BF2BE5-3026-4B7A-A8D2-B80FA65755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16117" y="6337300"/>
            <a:ext cx="134408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fld id="{01F13823-4F8E-42FB-B11E-D9A9EC7827BF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72A4C2-A063-45B5-ABF7-9281B021B5B0}"/>
              </a:ext>
            </a:extLst>
          </p:cNvPr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31D2759-0407-4996-A9E2-3EECB1FAE9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1800" y="6245225"/>
            <a:ext cx="113284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5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BCA1E-D47F-3D44-B464-CE8CC40443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5"/>
          <p:cNvSpPr txBox="1">
            <a:spLocks/>
          </p:cNvSpPr>
          <p:nvPr/>
        </p:nvSpPr>
        <p:spPr>
          <a:xfrm>
            <a:off x="-4233" y="0"/>
            <a:ext cx="12192000" cy="10711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b="0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77398" y="0"/>
            <a:ext cx="21987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prstClr val="white"/>
                </a:solidFill>
              </a:rPr>
              <a:t>Background</a:t>
            </a:r>
          </a:p>
          <a:p>
            <a:pPr algn="ctr"/>
            <a:r>
              <a:rPr lang="en-GB" sz="1600" dirty="0">
                <a:solidFill>
                  <a:prstClr val="white">
                    <a:lumMod val="50000"/>
                  </a:prstClr>
                </a:solidFill>
              </a:rPr>
              <a:t>Project aim</a:t>
            </a:r>
          </a:p>
          <a:p>
            <a:pPr algn="ctr"/>
            <a:r>
              <a:rPr lang="en-GB" sz="1600" dirty="0">
                <a:solidFill>
                  <a:prstClr val="white">
                    <a:lumMod val="50000"/>
                  </a:prstClr>
                </a:solidFill>
              </a:rPr>
              <a:t>Challenges</a:t>
            </a:r>
          </a:p>
          <a:p>
            <a:pPr algn="ctr"/>
            <a:r>
              <a:rPr lang="en-GB" sz="1600" dirty="0">
                <a:solidFill>
                  <a:prstClr val="white">
                    <a:lumMod val="50000"/>
                  </a:prstClr>
                </a:solidFill>
              </a:rPr>
              <a:t>Proposed approach</a:t>
            </a:r>
          </a:p>
        </p:txBody>
      </p:sp>
    </p:spTree>
    <p:extLst>
      <p:ext uri="{BB962C8B-B14F-4D97-AF65-F5344CB8AC3E}">
        <p14:creationId xmlns:p14="http://schemas.microsoft.com/office/powerpoint/2010/main" val="384369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 xmlns:p14="http://schemas.microsoft.com/office/powerpoint/2010/main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912B5808-6B9B-432D-AB92-A062D577203F}" type="datetimeFigureOut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2BA428E1-A0AA-44C0-BB14-BFC1A156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  <p:sldLayoutId id="2147483824" r:id="rId18"/>
    <p:sldLayoutId id="2147483825" r:id="rId19"/>
    <p:sldLayoutId id="2147483826" r:id="rId20"/>
    <p:sldLayoutId id="2147483827" r:id="rId21"/>
    <p:sldLayoutId id="2147483828" r:id="rId22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Image-guided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Test Driven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21EB26-19D0-F6FC-D65E-FD5E9C30F247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90249123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BEEBE8-F5D2-4027-9EF6-236A2248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F41B10-1325-41D8-B9EE-E0C37DF2E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what is test driven development and the theory behind it</a:t>
            </a:r>
          </a:p>
          <a:p>
            <a:r>
              <a:rPr lang="en-US" dirty="0"/>
              <a:t>Show a minimal working example – Computing the average of a set of points</a:t>
            </a:r>
          </a:p>
          <a:p>
            <a:r>
              <a:rPr lang="en-US" dirty="0"/>
              <a:t>Show a practical exampled in 3D Slicer – Target point selection</a:t>
            </a:r>
          </a:p>
        </p:txBody>
      </p:sp>
    </p:spTree>
    <p:extLst>
      <p:ext uri="{BB962C8B-B14F-4D97-AF65-F5344CB8AC3E}">
        <p14:creationId xmlns:p14="http://schemas.microsoft.com/office/powerpoint/2010/main" val="36891468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FD66-172F-48B6-8A10-61011921A8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piece of code that validates a piece of code is functioning properly</a:t>
            </a:r>
          </a:p>
          <a:p>
            <a:pPr lvl="1"/>
            <a:r>
              <a:rPr lang="en-US" dirty="0"/>
              <a:t>Ensure correct output given a known input</a:t>
            </a:r>
          </a:p>
          <a:p>
            <a:pPr lvl="1"/>
            <a:r>
              <a:rPr lang="en-US" dirty="0"/>
              <a:t>The best test are simple, theoretically known</a:t>
            </a:r>
          </a:p>
          <a:p>
            <a:r>
              <a:rPr lang="en-US" dirty="0"/>
              <a:t>Three types of test</a:t>
            </a:r>
          </a:p>
          <a:p>
            <a:pPr lvl="1"/>
            <a:r>
              <a:rPr lang="en-US" dirty="0"/>
              <a:t>A unit of code (i.e. function) behaves as expected: Unit Test (sanity check)</a:t>
            </a:r>
          </a:p>
          <a:p>
            <a:pPr lvl="1"/>
            <a:r>
              <a:rPr lang="en-US" dirty="0"/>
              <a:t>A set of code works together : Integration Test</a:t>
            </a:r>
          </a:p>
          <a:p>
            <a:pPr lvl="1"/>
            <a:r>
              <a:rPr lang="en-US" dirty="0"/>
              <a:t>The entire software package works: System Test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BF33B-1F2A-47D5-BF18-D4DBE6A5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test?</a:t>
            </a:r>
          </a:p>
        </p:txBody>
      </p:sp>
    </p:spTree>
    <p:extLst>
      <p:ext uri="{BB962C8B-B14F-4D97-AF65-F5344CB8AC3E}">
        <p14:creationId xmlns:p14="http://schemas.microsoft.com/office/powerpoint/2010/main" val="13568836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247A5-BEC6-4600-877A-BC1BDAE219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Unit Tests are fundamental to </a:t>
            </a:r>
          </a:p>
          <a:p>
            <a:pPr lvl="1"/>
            <a:r>
              <a:rPr lang="en-US" dirty="0"/>
              <a:t>Detecting errors (bugs) early in development cycle</a:t>
            </a:r>
          </a:p>
          <a:p>
            <a:pPr lvl="1"/>
            <a:r>
              <a:rPr lang="en-US" dirty="0"/>
              <a:t>Detecting code responsible for bug</a:t>
            </a:r>
          </a:p>
          <a:p>
            <a:r>
              <a:rPr lang="en-US" dirty="0"/>
              <a:t>Best Practice is to have 100% test coverage </a:t>
            </a:r>
          </a:p>
          <a:p>
            <a:pPr lvl="1"/>
            <a:r>
              <a:rPr lang="en-US" dirty="0"/>
              <a:t>Every line of code is tested by at least 1 unit test</a:t>
            </a:r>
          </a:p>
          <a:p>
            <a:pPr lvl="1"/>
            <a:r>
              <a:rPr lang="en-US" dirty="0"/>
              <a:t>Test all possible scenarios </a:t>
            </a:r>
          </a:p>
          <a:p>
            <a:pPr lvl="1"/>
            <a:r>
              <a:rPr lang="en-US" dirty="0"/>
              <a:t>Minimum number of unit test per line of code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B2C9C-74E2-4640-8DB3-D8DC8340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1237372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74C77E8-A114-43F8-9F3F-D184D4324114}"/>
              </a:ext>
            </a:extLst>
          </p:cNvPr>
          <p:cNvSpPr txBox="1"/>
          <p:nvPr/>
        </p:nvSpPr>
        <p:spPr>
          <a:xfrm>
            <a:off x="3994577" y="2459720"/>
            <a:ext cx="335562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  double mean = 0;</a:t>
            </a:r>
          </a:p>
          <a:p>
            <a:r>
              <a:rPr lang="en-US" sz="1400" dirty="0"/>
              <a:t>      for  each element in numbers</a:t>
            </a:r>
          </a:p>
          <a:p>
            <a:r>
              <a:rPr lang="en-US" sz="1400" dirty="0"/>
              <a:t>     {</a:t>
            </a:r>
          </a:p>
          <a:p>
            <a:r>
              <a:rPr lang="en-US" sz="1400" dirty="0"/>
              <a:t>            mean =  mean + numbers[</a:t>
            </a:r>
            <a:r>
              <a:rPr lang="en-US" sz="1400" dirty="0" err="1"/>
              <a:t>i</a:t>
            </a:r>
            <a:r>
              <a:rPr lang="en-US" sz="1400" dirty="0"/>
              <a:t>];</a:t>
            </a:r>
          </a:p>
          <a:p>
            <a:r>
              <a:rPr lang="en-US" sz="1400" dirty="0"/>
              <a:t>       }</a:t>
            </a:r>
          </a:p>
          <a:p>
            <a:r>
              <a:rPr lang="en-US" sz="1400" dirty="0"/>
              <a:t>      mean / </a:t>
            </a:r>
            <a:r>
              <a:rPr lang="en-US" sz="1400" dirty="0" err="1"/>
              <a:t>numbers.size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return mean; 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C881CF-005E-47B3-B519-19EBD01D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Software Development Cycle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866DC-8CE0-4815-B624-2A81B4E580B4}"/>
              </a:ext>
            </a:extLst>
          </p:cNvPr>
          <p:cNvSpPr/>
          <p:nvPr/>
        </p:nvSpPr>
        <p:spPr>
          <a:xfrm>
            <a:off x="3822780" y="1907978"/>
            <a:ext cx="3451579" cy="451557"/>
          </a:xfrm>
          <a:prstGeom prst="roundRect">
            <a:avLst>
              <a:gd name="adj" fmla="val 30632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2. Write code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31B0CC-99B0-43D3-A78E-2FBFDE83F891}"/>
              </a:ext>
            </a:extLst>
          </p:cNvPr>
          <p:cNvSpPr/>
          <p:nvPr/>
        </p:nvSpPr>
        <p:spPr>
          <a:xfrm>
            <a:off x="7787598" y="1907977"/>
            <a:ext cx="3714969" cy="451557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3. Write Unit Test(s)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1F3C2D-1BDE-4AEB-B85B-AC67223053E9}"/>
              </a:ext>
            </a:extLst>
          </p:cNvPr>
          <p:cNvSpPr/>
          <p:nvPr/>
        </p:nvSpPr>
        <p:spPr>
          <a:xfrm>
            <a:off x="945930" y="1932441"/>
            <a:ext cx="2363611" cy="450235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1. Define purpose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A0A937-4244-4D23-83EC-BA950776FE02}"/>
              </a:ext>
            </a:extLst>
          </p:cNvPr>
          <p:cNvSpPr/>
          <p:nvPr/>
        </p:nvSpPr>
        <p:spPr>
          <a:xfrm>
            <a:off x="945930" y="1912395"/>
            <a:ext cx="2363611" cy="1570479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DE4F3-6F0D-403D-A4F2-234E29010981}"/>
              </a:ext>
            </a:extLst>
          </p:cNvPr>
          <p:cNvSpPr txBox="1"/>
          <p:nvPr/>
        </p:nvSpPr>
        <p:spPr>
          <a:xfrm>
            <a:off x="945930" y="2591627"/>
            <a:ext cx="214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mean from a set of numbers.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65FEB7-6C30-4027-A357-0B21E4F89B7A}"/>
              </a:ext>
            </a:extLst>
          </p:cNvPr>
          <p:cNvSpPr/>
          <p:nvPr/>
        </p:nvSpPr>
        <p:spPr>
          <a:xfrm>
            <a:off x="3822780" y="1907978"/>
            <a:ext cx="3451579" cy="3460604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4D26B8-3A71-455D-811F-CD4D9D70A573}"/>
              </a:ext>
            </a:extLst>
          </p:cNvPr>
          <p:cNvSpPr/>
          <p:nvPr/>
        </p:nvSpPr>
        <p:spPr>
          <a:xfrm>
            <a:off x="7787599" y="1907977"/>
            <a:ext cx="3714970" cy="3460603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FB477-9681-4FC2-997F-97A4B182EF9B}"/>
              </a:ext>
            </a:extLst>
          </p:cNvPr>
          <p:cNvSpPr txBox="1"/>
          <p:nvPr/>
        </p:nvSpPr>
        <p:spPr>
          <a:xfrm>
            <a:off x="7768807" y="2409628"/>
            <a:ext cx="37337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myAwesomeNumber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({1});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1;</a:t>
            </a:r>
          </a:p>
          <a:p>
            <a:endParaRPr lang="en-US" sz="1400" dirty="0"/>
          </a:p>
          <a:p>
            <a:r>
              <a:rPr lang="en-US" sz="1400" dirty="0" err="1"/>
              <a:t>manyNumbers</a:t>
            </a:r>
            <a:r>
              <a:rPr lang="en-US" sz="1400" dirty="0"/>
              <a:t> =  </a:t>
            </a:r>
            <a:r>
              <a:rPr lang="en-US" sz="1400" dirty="0" err="1"/>
              <a:t>ComputeMean</a:t>
            </a:r>
            <a:r>
              <a:rPr lang="en-US" sz="1400" dirty="0"/>
              <a:t>({1, 2, 3});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2;</a:t>
            </a:r>
          </a:p>
          <a:p>
            <a:endParaRPr lang="en-US" sz="1100" dirty="0"/>
          </a:p>
          <a:p>
            <a:endParaRPr lang="en-US" sz="11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66DA49-38BF-4F61-9612-AD38FADD0AA2}"/>
              </a:ext>
            </a:extLst>
          </p:cNvPr>
          <p:cNvGrpSpPr/>
          <p:nvPr/>
        </p:nvGrpSpPr>
        <p:grpSpPr>
          <a:xfrm>
            <a:off x="5548569" y="5421234"/>
            <a:ext cx="3974592" cy="643388"/>
            <a:chOff x="4977496" y="4447936"/>
            <a:chExt cx="3974592" cy="643388"/>
          </a:xfrm>
        </p:grpSpPr>
        <p:sp>
          <p:nvSpPr>
            <p:cNvPr id="3" name="Arrow: U-Turn 2">
              <a:extLst>
                <a:ext uri="{FF2B5EF4-FFF2-40B4-BE49-F238E27FC236}">
                  <a16:creationId xmlns:a16="http://schemas.microsoft.com/office/drawing/2014/main" id="{6CE21BD5-E2F5-4755-A732-A55AC8541273}"/>
                </a:ext>
              </a:extLst>
            </p:cNvPr>
            <p:cNvSpPr/>
            <p:nvPr/>
          </p:nvSpPr>
          <p:spPr>
            <a:xfrm rot="10800000">
              <a:off x="4977496" y="4447936"/>
              <a:ext cx="3974592" cy="570531"/>
            </a:xfrm>
            <a:prstGeom prst="uturnArrow">
              <a:avLst>
                <a:gd name="adj1" fmla="val 42864"/>
                <a:gd name="adj2" fmla="val 25000"/>
                <a:gd name="adj3" fmla="val 22863"/>
                <a:gd name="adj4" fmla="val 43750"/>
                <a:gd name="adj5" fmla="val 100000"/>
              </a:avLst>
            </a:prstGeom>
            <a:solidFill>
              <a:srgbClr val="0070C0"/>
            </a:solidFill>
            <a:ln>
              <a:solidFill>
                <a:srgbClr val="0A2D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490C22-6D57-4042-9652-CAFF14EC52DC}"/>
                </a:ext>
              </a:extLst>
            </p:cNvPr>
            <p:cNvSpPr txBox="1"/>
            <p:nvPr/>
          </p:nvSpPr>
          <p:spPr>
            <a:xfrm>
              <a:off x="5437632" y="4721992"/>
              <a:ext cx="26867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Unit Tests fails</a:t>
              </a: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ECE83B-7E84-4276-B4BD-8BADA8C0BE0B}"/>
              </a:ext>
            </a:extLst>
          </p:cNvPr>
          <p:cNvSpPr/>
          <p:nvPr/>
        </p:nvSpPr>
        <p:spPr>
          <a:xfrm>
            <a:off x="3336396" y="1958071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BEB6033-447B-458F-8113-D2CDEFEDF3EA}"/>
              </a:ext>
            </a:extLst>
          </p:cNvPr>
          <p:cNvSpPr/>
          <p:nvPr/>
        </p:nvSpPr>
        <p:spPr>
          <a:xfrm>
            <a:off x="7293150" y="1958071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120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8" grpId="0" animBg="1"/>
      <p:bldP spid="9" grpId="0" animBg="1"/>
      <p:bldP spid="20" grpId="0"/>
      <p:bldP spid="21" grpId="0" animBg="1"/>
      <p:bldP spid="12" grpId="0" animBg="1"/>
      <p:bldP spid="5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74C77E8-A114-43F8-9F3F-D184D4324114}"/>
              </a:ext>
            </a:extLst>
          </p:cNvPr>
          <p:cNvSpPr txBox="1"/>
          <p:nvPr/>
        </p:nvSpPr>
        <p:spPr>
          <a:xfrm>
            <a:off x="3867915" y="2376899"/>
            <a:ext cx="335562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  double mean = 0;</a:t>
            </a:r>
          </a:p>
          <a:p>
            <a:r>
              <a:rPr lang="en-US" sz="1400" dirty="0"/>
              <a:t>      for  each element in numbers</a:t>
            </a:r>
          </a:p>
          <a:p>
            <a:r>
              <a:rPr lang="en-US" sz="1400" dirty="0"/>
              <a:t>     {</a:t>
            </a:r>
          </a:p>
          <a:p>
            <a:r>
              <a:rPr lang="en-US" sz="1400" dirty="0"/>
              <a:t>            mean =  mean + numbers[</a:t>
            </a:r>
            <a:r>
              <a:rPr lang="en-US" sz="1400" dirty="0" err="1"/>
              <a:t>i</a:t>
            </a:r>
            <a:r>
              <a:rPr lang="en-US" sz="1400" dirty="0"/>
              <a:t>];</a:t>
            </a:r>
          </a:p>
          <a:p>
            <a:r>
              <a:rPr lang="en-US" sz="1400" dirty="0"/>
              <a:t>       }</a:t>
            </a:r>
          </a:p>
          <a:p>
            <a:r>
              <a:rPr lang="en-US" sz="1400" dirty="0"/>
              <a:t>      mean / </a:t>
            </a:r>
            <a:r>
              <a:rPr lang="en-US" sz="1400" dirty="0" err="1"/>
              <a:t>numbers.size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return mean; 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C881CF-005E-47B3-B519-19EBD01D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Software Development Cycle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866DC-8CE0-4815-B624-2A81B4E580B4}"/>
              </a:ext>
            </a:extLst>
          </p:cNvPr>
          <p:cNvSpPr/>
          <p:nvPr/>
        </p:nvSpPr>
        <p:spPr>
          <a:xfrm>
            <a:off x="3822780" y="1907978"/>
            <a:ext cx="3451579" cy="451557"/>
          </a:xfrm>
          <a:prstGeom prst="roundRect">
            <a:avLst>
              <a:gd name="adj" fmla="val 30632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2. Write code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31B0CC-99B0-43D3-A78E-2FBFDE83F891}"/>
              </a:ext>
            </a:extLst>
          </p:cNvPr>
          <p:cNvSpPr/>
          <p:nvPr/>
        </p:nvSpPr>
        <p:spPr>
          <a:xfrm>
            <a:off x="7787598" y="1907977"/>
            <a:ext cx="3714969" cy="451557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3. Write Unit Test(s)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1F3C2D-1BDE-4AEB-B85B-AC67223053E9}"/>
              </a:ext>
            </a:extLst>
          </p:cNvPr>
          <p:cNvSpPr/>
          <p:nvPr/>
        </p:nvSpPr>
        <p:spPr>
          <a:xfrm>
            <a:off x="945930" y="1932441"/>
            <a:ext cx="2363611" cy="450235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1. Define purpose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A0A937-4244-4D23-83EC-BA950776FE02}"/>
              </a:ext>
            </a:extLst>
          </p:cNvPr>
          <p:cNvSpPr/>
          <p:nvPr/>
        </p:nvSpPr>
        <p:spPr>
          <a:xfrm>
            <a:off x="945930" y="1912395"/>
            <a:ext cx="2363611" cy="1570479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DE4F3-6F0D-403D-A4F2-234E29010981}"/>
              </a:ext>
            </a:extLst>
          </p:cNvPr>
          <p:cNvSpPr txBox="1"/>
          <p:nvPr/>
        </p:nvSpPr>
        <p:spPr>
          <a:xfrm>
            <a:off x="945930" y="2591627"/>
            <a:ext cx="214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mean from a set of numbers.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FB477-9681-4FC2-997F-97A4B182EF9B}"/>
              </a:ext>
            </a:extLst>
          </p:cNvPr>
          <p:cNvSpPr txBox="1"/>
          <p:nvPr/>
        </p:nvSpPr>
        <p:spPr>
          <a:xfrm>
            <a:off x="7768807" y="2409627"/>
            <a:ext cx="373376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myAwesomeNumber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({1});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1;</a:t>
            </a:r>
          </a:p>
          <a:p>
            <a:endParaRPr lang="en-US" sz="1400" dirty="0"/>
          </a:p>
          <a:p>
            <a:r>
              <a:rPr lang="en-US" sz="1400" dirty="0" err="1"/>
              <a:t>manyNumbers</a:t>
            </a:r>
            <a:r>
              <a:rPr lang="en-US" sz="1400" dirty="0"/>
              <a:t> =  </a:t>
            </a:r>
            <a:r>
              <a:rPr lang="en-US" sz="1400" dirty="0" err="1"/>
              <a:t>ComputeMean</a:t>
            </a:r>
            <a:r>
              <a:rPr lang="en-US" sz="1400" dirty="0"/>
              <a:t>({1, 2, 3});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2; </a:t>
            </a:r>
          </a:p>
          <a:p>
            <a:endParaRPr lang="en-US" sz="1400" dirty="0"/>
          </a:p>
          <a:p>
            <a:r>
              <a:rPr lang="en-US" sz="1400" dirty="0" err="1"/>
              <a:t>noNumbers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NAN;</a:t>
            </a:r>
          </a:p>
          <a:p>
            <a:endParaRPr lang="en-US" sz="11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ECE83B-7E84-4276-B4BD-8BADA8C0BE0B}"/>
              </a:ext>
            </a:extLst>
          </p:cNvPr>
          <p:cNvSpPr/>
          <p:nvPr/>
        </p:nvSpPr>
        <p:spPr>
          <a:xfrm>
            <a:off x="3336396" y="1958071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BEB6033-447B-458F-8113-D2CDEFEDF3EA}"/>
              </a:ext>
            </a:extLst>
          </p:cNvPr>
          <p:cNvSpPr/>
          <p:nvPr/>
        </p:nvSpPr>
        <p:spPr>
          <a:xfrm>
            <a:off x="7293150" y="1958071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DF2C3-8499-4DCF-AC45-2D15F9AD2C03}"/>
              </a:ext>
            </a:extLst>
          </p:cNvPr>
          <p:cNvSpPr txBox="1"/>
          <p:nvPr/>
        </p:nvSpPr>
        <p:spPr>
          <a:xfrm>
            <a:off x="3867914" y="2386691"/>
            <a:ext cx="3355621" cy="2893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  if numbers empty return NAN;</a:t>
            </a:r>
          </a:p>
          <a:p>
            <a:endParaRPr lang="en-US" sz="1400" dirty="0"/>
          </a:p>
          <a:p>
            <a:r>
              <a:rPr lang="en-US" sz="1400" dirty="0"/>
              <a:t>      double mean = 0;</a:t>
            </a:r>
          </a:p>
          <a:p>
            <a:r>
              <a:rPr lang="en-US" sz="1400" dirty="0"/>
              <a:t>      for  each element in numbers</a:t>
            </a:r>
          </a:p>
          <a:p>
            <a:r>
              <a:rPr lang="en-US" sz="1400" dirty="0"/>
              <a:t>     {</a:t>
            </a:r>
          </a:p>
          <a:p>
            <a:r>
              <a:rPr lang="en-US" sz="1400" dirty="0"/>
              <a:t>            mean =  mean + numbers[</a:t>
            </a:r>
            <a:r>
              <a:rPr lang="en-US" sz="1400" dirty="0" err="1"/>
              <a:t>i</a:t>
            </a:r>
            <a:r>
              <a:rPr lang="en-US" sz="1400" dirty="0"/>
              <a:t>];</a:t>
            </a:r>
          </a:p>
          <a:p>
            <a:r>
              <a:rPr lang="en-US" sz="1400" dirty="0"/>
              <a:t>       }</a:t>
            </a:r>
          </a:p>
          <a:p>
            <a:r>
              <a:rPr lang="en-US" sz="1400" dirty="0"/>
              <a:t>      mean / </a:t>
            </a:r>
            <a:r>
              <a:rPr lang="en-US" sz="1400" dirty="0" err="1"/>
              <a:t>numbers.size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return mean; 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407E92-4D68-4990-80E3-9292C9487B1C}"/>
              </a:ext>
            </a:extLst>
          </p:cNvPr>
          <p:cNvSpPr/>
          <p:nvPr/>
        </p:nvSpPr>
        <p:spPr>
          <a:xfrm>
            <a:off x="3819934" y="1889909"/>
            <a:ext cx="3451579" cy="3460604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FEB533B-7DED-4832-96E8-7C7B6ECED90D}"/>
              </a:ext>
            </a:extLst>
          </p:cNvPr>
          <p:cNvSpPr/>
          <p:nvPr/>
        </p:nvSpPr>
        <p:spPr>
          <a:xfrm>
            <a:off x="7789851" y="1932441"/>
            <a:ext cx="3714970" cy="3460603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4E27C4-5498-4CA5-BD7D-2E4817B842B7}"/>
              </a:ext>
            </a:extLst>
          </p:cNvPr>
          <p:cNvGrpSpPr/>
          <p:nvPr/>
        </p:nvGrpSpPr>
        <p:grpSpPr>
          <a:xfrm>
            <a:off x="5548569" y="5421234"/>
            <a:ext cx="3974592" cy="643388"/>
            <a:chOff x="4977496" y="4447936"/>
            <a:chExt cx="3974592" cy="643388"/>
          </a:xfrm>
        </p:grpSpPr>
        <p:sp>
          <p:nvSpPr>
            <p:cNvPr id="25" name="Arrow: U-Turn 24">
              <a:extLst>
                <a:ext uri="{FF2B5EF4-FFF2-40B4-BE49-F238E27FC236}">
                  <a16:creationId xmlns:a16="http://schemas.microsoft.com/office/drawing/2014/main" id="{76CBE586-6470-4841-BA42-74C05CEFD645}"/>
                </a:ext>
              </a:extLst>
            </p:cNvPr>
            <p:cNvSpPr/>
            <p:nvPr/>
          </p:nvSpPr>
          <p:spPr>
            <a:xfrm rot="10800000">
              <a:off x="4977496" y="4447936"/>
              <a:ext cx="3974592" cy="570531"/>
            </a:xfrm>
            <a:prstGeom prst="uturnArrow">
              <a:avLst>
                <a:gd name="adj1" fmla="val 42864"/>
                <a:gd name="adj2" fmla="val 25000"/>
                <a:gd name="adj3" fmla="val 22863"/>
                <a:gd name="adj4" fmla="val 43750"/>
                <a:gd name="adj5" fmla="val 100000"/>
              </a:avLst>
            </a:prstGeom>
            <a:solidFill>
              <a:srgbClr val="0070C0"/>
            </a:solidFill>
            <a:ln>
              <a:solidFill>
                <a:srgbClr val="0A2D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3E3537-AD0B-41B3-B6A3-1D5577D37889}"/>
                </a:ext>
              </a:extLst>
            </p:cNvPr>
            <p:cNvSpPr txBox="1"/>
            <p:nvPr/>
          </p:nvSpPr>
          <p:spPr>
            <a:xfrm>
              <a:off x="5437632" y="4721992"/>
              <a:ext cx="26867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Unit Tests fails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8415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CDC7-FDB3-4050-B16D-04993207F2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Initial code writing more difficult without Unit Tests</a:t>
            </a:r>
          </a:p>
          <a:p>
            <a:pPr lvl="1"/>
            <a:r>
              <a:rPr lang="en-US" dirty="0"/>
              <a:t>Unable to characterize if code is fit for purpose</a:t>
            </a:r>
          </a:p>
          <a:p>
            <a:pPr lvl="1"/>
            <a:r>
              <a:rPr lang="en-US" dirty="0"/>
              <a:t>Unable to detect when code refactoring causes error</a:t>
            </a:r>
          </a:p>
          <a:p>
            <a:pPr lvl="1"/>
            <a:r>
              <a:rPr lang="en-US" dirty="0"/>
              <a:t>Leads to extraneous code not related to code functionality</a:t>
            </a:r>
          </a:p>
          <a:p>
            <a:r>
              <a:rPr lang="en-US" dirty="0"/>
              <a:t>Poorer test coverage</a:t>
            </a:r>
          </a:p>
          <a:p>
            <a:pPr lvl="1"/>
            <a:r>
              <a:rPr lang="en-US" dirty="0"/>
              <a:t>Difficult to assess if unit test covers all relevant uses</a:t>
            </a:r>
          </a:p>
          <a:p>
            <a:pPr lvl="1"/>
            <a:r>
              <a:rPr lang="en-US" dirty="0"/>
              <a:t>Difficult to know if all portions of code are being assessed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C881CF-005E-47B3-B519-19EBD01D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Software Development Cycle</a:t>
            </a:r>
          </a:p>
        </p:txBody>
      </p:sp>
    </p:spTree>
    <p:extLst>
      <p:ext uri="{BB962C8B-B14F-4D97-AF65-F5344CB8AC3E}">
        <p14:creationId xmlns:p14="http://schemas.microsoft.com/office/powerpoint/2010/main" val="10549419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C07880-62CF-44D5-B3E6-ECFE42CCE4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Ensures test coverage – you cannot write code until you have a unit test for it</a:t>
            </a:r>
          </a:p>
          <a:p>
            <a:r>
              <a:rPr lang="en-US" dirty="0"/>
              <a:t>Forces developer to define code purpose with granularity before starting to code</a:t>
            </a:r>
          </a:p>
          <a:p>
            <a:pPr lvl="1"/>
            <a:r>
              <a:rPr lang="en-US" dirty="0"/>
              <a:t>Reduces unnecessary code</a:t>
            </a:r>
          </a:p>
          <a:p>
            <a:pPr lvl="1"/>
            <a:r>
              <a:rPr lang="en-US" dirty="0"/>
              <a:t>Ensuring no code for scenarios that are not possible</a:t>
            </a:r>
          </a:p>
          <a:p>
            <a:r>
              <a:rPr lang="en-US" dirty="0"/>
              <a:t>Enables developers to identify gaps in test coverage easier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693F02-35CA-428E-8C43-22EF3223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Test Driven Development?</a:t>
            </a:r>
          </a:p>
        </p:txBody>
      </p:sp>
    </p:spTree>
    <p:extLst>
      <p:ext uri="{BB962C8B-B14F-4D97-AF65-F5344CB8AC3E}">
        <p14:creationId xmlns:p14="http://schemas.microsoft.com/office/powerpoint/2010/main" val="874782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B8FC46-F6DA-4925-9482-9B0DA5709F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One component of modern software development systems including,  </a:t>
            </a:r>
            <a:r>
              <a:rPr lang="en-US" dirty="0" err="1"/>
              <a:t>eXtreme</a:t>
            </a:r>
            <a:r>
              <a:rPr lang="en-US" dirty="0"/>
              <a:t> Programming (XP) [1] and Agile [2]</a:t>
            </a:r>
          </a:p>
          <a:p>
            <a:r>
              <a:rPr lang="en-US" dirty="0"/>
              <a:t>Comparisons of software development among Computer Science students showed [3]</a:t>
            </a:r>
          </a:p>
          <a:p>
            <a:pPr lvl="1"/>
            <a:r>
              <a:rPr lang="en-US" dirty="0"/>
              <a:t>Developers who use TDD have greater unit test coverage</a:t>
            </a:r>
          </a:p>
          <a:p>
            <a:pPr lvl="1"/>
            <a:r>
              <a:rPr lang="en-US" dirty="0"/>
              <a:t>Developers write more lines of code per hour, have fewer bugs, and spend less time debugging.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18BABB-F8FB-4E75-A4D7-03545E2E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C0333-71E2-4F49-B91D-01E4562554AA}"/>
              </a:ext>
            </a:extLst>
          </p:cNvPr>
          <p:cNvSpPr txBox="1"/>
          <p:nvPr/>
        </p:nvSpPr>
        <p:spPr>
          <a:xfrm>
            <a:off x="945930" y="5076497"/>
            <a:ext cx="110358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Kent Beck. Extreme Programming Explained: Embrace Change (2000)</a:t>
            </a:r>
          </a:p>
          <a:p>
            <a:r>
              <a:rPr lang="en-US" dirty="0"/>
              <a:t>[2] Robert C. Martin. Agile Software Development, Principles, Patterns, and Practices  (2002)</a:t>
            </a:r>
          </a:p>
          <a:p>
            <a:r>
              <a:rPr lang="en-US" dirty="0"/>
              <a:t>[3] </a:t>
            </a:r>
            <a:r>
              <a:rPr lang="en-US" dirty="0" err="1"/>
              <a:t>Erdogmus</a:t>
            </a:r>
            <a:r>
              <a:rPr lang="en-US" dirty="0"/>
              <a:t>, </a:t>
            </a:r>
            <a:r>
              <a:rPr lang="en-US" dirty="0" err="1"/>
              <a:t>Hakan</a:t>
            </a:r>
            <a:r>
              <a:rPr lang="en-US" dirty="0"/>
              <a:t>; </a:t>
            </a:r>
            <a:r>
              <a:rPr lang="en-US" dirty="0" err="1"/>
              <a:t>Morisio</a:t>
            </a:r>
            <a:r>
              <a:rPr lang="en-US" dirty="0"/>
              <a:t>, </a:t>
            </a:r>
            <a:r>
              <a:rPr lang="en-US" dirty="0" err="1"/>
              <a:t>Torchiano</a:t>
            </a:r>
            <a:r>
              <a:rPr lang="en-US" dirty="0"/>
              <a:t>. "On the Effectiveness of Test-first Approach to Programming". Proceedings of the IEEE Transactions on Software Engineering, 31(1). January 2005.)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4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E4B116F-9D99-488F-B634-959C1F17A1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1441079"/>
            <a:ext cx="11367864" cy="4724226"/>
          </a:xfrm>
        </p:spPr>
        <p:txBody>
          <a:bodyPr/>
          <a:lstStyle/>
          <a:p>
            <a:r>
              <a:rPr lang="en-US" dirty="0"/>
              <a:t>Only write the minimum amount of code that will make the test successfully pass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C881CF-005E-47B3-B519-19EBD01D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Driven Development – Averaging Example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4C77E8-A114-43F8-9F3F-D184D4324114}"/>
              </a:ext>
            </a:extLst>
          </p:cNvPr>
          <p:cNvSpPr txBox="1"/>
          <p:nvPr/>
        </p:nvSpPr>
        <p:spPr>
          <a:xfrm>
            <a:off x="8593249" y="2869334"/>
            <a:ext cx="33556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mean = numbers[0];</a:t>
            </a:r>
          </a:p>
          <a:p>
            <a:r>
              <a:rPr lang="en-US" sz="1400" dirty="0"/>
              <a:t>    return mean;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866DC-8CE0-4815-B624-2A81B4E580B4}"/>
              </a:ext>
            </a:extLst>
          </p:cNvPr>
          <p:cNvSpPr/>
          <p:nvPr/>
        </p:nvSpPr>
        <p:spPr>
          <a:xfrm>
            <a:off x="8548114" y="2400413"/>
            <a:ext cx="3429351" cy="451557"/>
          </a:xfrm>
          <a:prstGeom prst="roundRect">
            <a:avLst>
              <a:gd name="adj" fmla="val 30632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3. Write code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1F3C2D-1BDE-4AEB-B85B-AC67223053E9}"/>
              </a:ext>
            </a:extLst>
          </p:cNvPr>
          <p:cNvSpPr/>
          <p:nvPr/>
        </p:nvSpPr>
        <p:spPr>
          <a:xfrm>
            <a:off x="966951" y="2403095"/>
            <a:ext cx="2363611" cy="450235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1. Define purpose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A0A937-4244-4D23-83EC-BA950776FE02}"/>
              </a:ext>
            </a:extLst>
          </p:cNvPr>
          <p:cNvSpPr/>
          <p:nvPr/>
        </p:nvSpPr>
        <p:spPr>
          <a:xfrm>
            <a:off x="966951" y="2383049"/>
            <a:ext cx="2363611" cy="1570479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DE4F3-6F0D-403D-A4F2-234E29010981}"/>
              </a:ext>
            </a:extLst>
          </p:cNvPr>
          <p:cNvSpPr txBox="1"/>
          <p:nvPr/>
        </p:nvSpPr>
        <p:spPr>
          <a:xfrm>
            <a:off x="966951" y="3062281"/>
            <a:ext cx="214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mean from a set of numbers. </a:t>
            </a:r>
          </a:p>
        </p:txBody>
      </p:sp>
      <p:sp>
        <p:nvSpPr>
          <p:cNvPr id="3" name="Arrow: U-Turn 2">
            <a:extLst>
              <a:ext uri="{FF2B5EF4-FFF2-40B4-BE49-F238E27FC236}">
                <a16:creationId xmlns:a16="http://schemas.microsoft.com/office/drawing/2014/main" id="{6CE21BD5-E2F5-4755-A732-A55AC8541273}"/>
              </a:ext>
            </a:extLst>
          </p:cNvPr>
          <p:cNvSpPr/>
          <p:nvPr/>
        </p:nvSpPr>
        <p:spPr>
          <a:xfrm rot="10800000" flipH="1">
            <a:off x="5580879" y="5891309"/>
            <a:ext cx="4650942" cy="570531"/>
          </a:xfrm>
          <a:prstGeom prst="uturnArrow">
            <a:avLst>
              <a:gd name="adj1" fmla="val 42864"/>
              <a:gd name="adj2" fmla="val 25000"/>
              <a:gd name="adj3" fmla="val 22863"/>
              <a:gd name="adj4" fmla="val 43750"/>
              <a:gd name="adj5" fmla="val 10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ECE83B-7E84-4276-B4BD-8BADA8C0BE0B}"/>
              </a:ext>
            </a:extLst>
          </p:cNvPr>
          <p:cNvSpPr/>
          <p:nvPr/>
        </p:nvSpPr>
        <p:spPr>
          <a:xfrm>
            <a:off x="3357417" y="2428725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407E92-4D68-4990-80E3-9292C9487B1C}"/>
              </a:ext>
            </a:extLst>
          </p:cNvPr>
          <p:cNvSpPr/>
          <p:nvPr/>
        </p:nvSpPr>
        <p:spPr>
          <a:xfrm>
            <a:off x="8525886" y="2383049"/>
            <a:ext cx="3451579" cy="3460604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E18705-C041-4DBE-9BA6-9489AE8004CF}"/>
              </a:ext>
            </a:extLst>
          </p:cNvPr>
          <p:cNvSpPr/>
          <p:nvPr/>
        </p:nvSpPr>
        <p:spPr>
          <a:xfrm>
            <a:off x="3870834" y="2389992"/>
            <a:ext cx="3714970" cy="451557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2. Write Unit Test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DE521-49EE-4DBF-BA07-360FEE612A19}"/>
              </a:ext>
            </a:extLst>
          </p:cNvPr>
          <p:cNvSpPr txBox="1"/>
          <p:nvPr/>
        </p:nvSpPr>
        <p:spPr>
          <a:xfrm>
            <a:off x="3852043" y="2891642"/>
            <a:ext cx="3733760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myAwesomeNumber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({1});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1;</a:t>
            </a:r>
          </a:p>
          <a:p>
            <a:endParaRPr lang="en-US" sz="1400" dirty="0"/>
          </a:p>
          <a:p>
            <a:endParaRPr lang="en-US" sz="11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0BD62D-4667-4001-9302-9CD10700B6B9}"/>
              </a:ext>
            </a:extLst>
          </p:cNvPr>
          <p:cNvSpPr/>
          <p:nvPr/>
        </p:nvSpPr>
        <p:spPr>
          <a:xfrm>
            <a:off x="3873087" y="2414456"/>
            <a:ext cx="3714970" cy="3460603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697A58-55A8-49FB-A5A5-DD267F99D1EE}"/>
              </a:ext>
            </a:extLst>
          </p:cNvPr>
          <p:cNvSpPr txBox="1"/>
          <p:nvPr/>
        </p:nvSpPr>
        <p:spPr>
          <a:xfrm>
            <a:off x="6562972" y="6158486"/>
            <a:ext cx="26867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Unit Tests fails</a:t>
            </a:r>
          </a:p>
        </p:txBody>
      </p:sp>
      <p:sp>
        <p:nvSpPr>
          <p:cNvPr id="18" name="Arrow: U-Turn 17">
            <a:extLst>
              <a:ext uri="{FF2B5EF4-FFF2-40B4-BE49-F238E27FC236}">
                <a16:creationId xmlns:a16="http://schemas.microsoft.com/office/drawing/2014/main" id="{EC5B63E1-79AC-41F8-A4A9-E4632902C95E}"/>
              </a:ext>
            </a:extLst>
          </p:cNvPr>
          <p:cNvSpPr/>
          <p:nvPr/>
        </p:nvSpPr>
        <p:spPr>
          <a:xfrm flipH="1">
            <a:off x="5729026" y="1939705"/>
            <a:ext cx="4650942" cy="451557"/>
          </a:xfrm>
          <a:prstGeom prst="uturnArrow">
            <a:avLst>
              <a:gd name="adj1" fmla="val 42864"/>
              <a:gd name="adj2" fmla="val 25000"/>
              <a:gd name="adj3" fmla="val 22863"/>
              <a:gd name="adj4" fmla="val 43750"/>
              <a:gd name="adj5" fmla="val 10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B1CF5E-7D76-46AA-AD04-8AC1AA19AC79}"/>
              </a:ext>
            </a:extLst>
          </p:cNvPr>
          <p:cNvSpPr txBox="1"/>
          <p:nvPr/>
        </p:nvSpPr>
        <p:spPr>
          <a:xfrm>
            <a:off x="6488138" y="1854487"/>
            <a:ext cx="26867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Write better test</a:t>
            </a:r>
          </a:p>
        </p:txBody>
      </p:sp>
    </p:spTree>
    <p:extLst>
      <p:ext uri="{BB962C8B-B14F-4D97-AF65-F5344CB8AC3E}">
        <p14:creationId xmlns:p14="http://schemas.microsoft.com/office/powerpoint/2010/main" val="25844662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8" grpId="0" animBg="1"/>
      <p:bldP spid="3" grpId="0" animBg="1"/>
      <p:bldP spid="5" grpId="0" animBg="1"/>
      <p:bldP spid="23" grpId="0" animBg="1"/>
      <p:bldP spid="21" grpId="0" animBg="1"/>
      <p:bldP spid="25" grpId="0"/>
      <p:bldP spid="26" grpId="0" animBg="1"/>
      <p:bldP spid="18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81CF-005E-47B3-B519-19EBD01D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– Averaging Example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866DC-8CE0-4815-B624-2A81B4E580B4}"/>
              </a:ext>
            </a:extLst>
          </p:cNvPr>
          <p:cNvSpPr/>
          <p:nvPr/>
        </p:nvSpPr>
        <p:spPr>
          <a:xfrm>
            <a:off x="8548114" y="2400413"/>
            <a:ext cx="3451579" cy="451557"/>
          </a:xfrm>
          <a:prstGeom prst="roundRect">
            <a:avLst>
              <a:gd name="adj" fmla="val 30632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3. Write code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1F3C2D-1BDE-4AEB-B85B-AC67223053E9}"/>
              </a:ext>
            </a:extLst>
          </p:cNvPr>
          <p:cNvSpPr/>
          <p:nvPr/>
        </p:nvSpPr>
        <p:spPr>
          <a:xfrm>
            <a:off x="966951" y="2403095"/>
            <a:ext cx="2363611" cy="450235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1. Define purpose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A0A937-4244-4D23-83EC-BA950776FE02}"/>
              </a:ext>
            </a:extLst>
          </p:cNvPr>
          <p:cNvSpPr/>
          <p:nvPr/>
        </p:nvSpPr>
        <p:spPr>
          <a:xfrm>
            <a:off x="966951" y="2383049"/>
            <a:ext cx="2363611" cy="1570479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DE4F3-6F0D-403D-A4F2-234E29010981}"/>
              </a:ext>
            </a:extLst>
          </p:cNvPr>
          <p:cNvSpPr txBox="1"/>
          <p:nvPr/>
        </p:nvSpPr>
        <p:spPr>
          <a:xfrm>
            <a:off x="966951" y="3062281"/>
            <a:ext cx="214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mean from a set of numbers. </a:t>
            </a:r>
          </a:p>
        </p:txBody>
      </p:sp>
      <p:sp>
        <p:nvSpPr>
          <p:cNvPr id="3" name="Arrow: U-Turn 2">
            <a:extLst>
              <a:ext uri="{FF2B5EF4-FFF2-40B4-BE49-F238E27FC236}">
                <a16:creationId xmlns:a16="http://schemas.microsoft.com/office/drawing/2014/main" id="{6CE21BD5-E2F5-4755-A732-A55AC8541273}"/>
              </a:ext>
            </a:extLst>
          </p:cNvPr>
          <p:cNvSpPr/>
          <p:nvPr/>
        </p:nvSpPr>
        <p:spPr>
          <a:xfrm rot="10800000" flipH="1">
            <a:off x="5580879" y="5891309"/>
            <a:ext cx="4650942" cy="570531"/>
          </a:xfrm>
          <a:prstGeom prst="uturnArrow">
            <a:avLst>
              <a:gd name="adj1" fmla="val 42864"/>
              <a:gd name="adj2" fmla="val 25000"/>
              <a:gd name="adj3" fmla="val 22863"/>
              <a:gd name="adj4" fmla="val 43750"/>
              <a:gd name="adj5" fmla="val 10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ECE83B-7E84-4276-B4BD-8BADA8C0BE0B}"/>
              </a:ext>
            </a:extLst>
          </p:cNvPr>
          <p:cNvSpPr/>
          <p:nvPr/>
        </p:nvSpPr>
        <p:spPr>
          <a:xfrm>
            <a:off x="3357417" y="2428725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407E92-4D68-4990-80E3-9292C9487B1C}"/>
              </a:ext>
            </a:extLst>
          </p:cNvPr>
          <p:cNvSpPr/>
          <p:nvPr/>
        </p:nvSpPr>
        <p:spPr>
          <a:xfrm>
            <a:off x="8525886" y="2383049"/>
            <a:ext cx="3451579" cy="3460604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E18705-C041-4DBE-9BA6-9489AE8004CF}"/>
              </a:ext>
            </a:extLst>
          </p:cNvPr>
          <p:cNvSpPr/>
          <p:nvPr/>
        </p:nvSpPr>
        <p:spPr>
          <a:xfrm>
            <a:off x="3870834" y="2389992"/>
            <a:ext cx="3714970" cy="451557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2. Write Unit Test(s)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DE521-49EE-4DBF-BA07-360FEE612A19}"/>
              </a:ext>
            </a:extLst>
          </p:cNvPr>
          <p:cNvSpPr txBox="1"/>
          <p:nvPr/>
        </p:nvSpPr>
        <p:spPr>
          <a:xfrm>
            <a:off x="3852043" y="2891642"/>
            <a:ext cx="3733760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myAwesomeNumber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({1});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1;</a:t>
            </a:r>
          </a:p>
          <a:p>
            <a:endParaRPr lang="en-US" sz="1400" dirty="0"/>
          </a:p>
          <a:p>
            <a:r>
              <a:rPr lang="en-US" sz="1400" dirty="0" err="1"/>
              <a:t>manyNumbers</a:t>
            </a:r>
            <a:r>
              <a:rPr lang="en-US" sz="1400" dirty="0"/>
              <a:t> =  </a:t>
            </a:r>
            <a:r>
              <a:rPr lang="en-US" sz="1400" dirty="0" err="1"/>
              <a:t>ComputeMean</a:t>
            </a:r>
            <a:r>
              <a:rPr lang="en-US" sz="1400" dirty="0"/>
              <a:t>({1, 2, 3});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2; </a:t>
            </a:r>
          </a:p>
          <a:p>
            <a:endParaRPr lang="en-US" sz="11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0BD62D-4667-4001-9302-9CD10700B6B9}"/>
              </a:ext>
            </a:extLst>
          </p:cNvPr>
          <p:cNvSpPr/>
          <p:nvPr/>
        </p:nvSpPr>
        <p:spPr>
          <a:xfrm>
            <a:off x="3873087" y="2414456"/>
            <a:ext cx="3714970" cy="3460603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697A58-55A8-49FB-A5A5-DD267F99D1EE}"/>
              </a:ext>
            </a:extLst>
          </p:cNvPr>
          <p:cNvSpPr txBox="1"/>
          <p:nvPr/>
        </p:nvSpPr>
        <p:spPr>
          <a:xfrm>
            <a:off x="6562972" y="6158486"/>
            <a:ext cx="26867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Unit Tests fails</a:t>
            </a:r>
          </a:p>
        </p:txBody>
      </p:sp>
      <p:sp>
        <p:nvSpPr>
          <p:cNvPr id="30" name="Arrow: U-Turn 29">
            <a:extLst>
              <a:ext uri="{FF2B5EF4-FFF2-40B4-BE49-F238E27FC236}">
                <a16:creationId xmlns:a16="http://schemas.microsoft.com/office/drawing/2014/main" id="{B5629337-3759-4578-A2FD-71404BA2A24E}"/>
              </a:ext>
            </a:extLst>
          </p:cNvPr>
          <p:cNvSpPr/>
          <p:nvPr/>
        </p:nvSpPr>
        <p:spPr>
          <a:xfrm flipH="1">
            <a:off x="5729026" y="1939705"/>
            <a:ext cx="4650942" cy="451557"/>
          </a:xfrm>
          <a:prstGeom prst="uturnArrow">
            <a:avLst>
              <a:gd name="adj1" fmla="val 42864"/>
              <a:gd name="adj2" fmla="val 25000"/>
              <a:gd name="adj3" fmla="val 22863"/>
              <a:gd name="adj4" fmla="val 43750"/>
              <a:gd name="adj5" fmla="val 10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5C105-14C1-4841-8C93-DE5B8D174935}"/>
              </a:ext>
            </a:extLst>
          </p:cNvPr>
          <p:cNvSpPr txBox="1"/>
          <p:nvPr/>
        </p:nvSpPr>
        <p:spPr>
          <a:xfrm>
            <a:off x="6488138" y="1854487"/>
            <a:ext cx="26867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Write better test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C6F815-B011-490C-BF82-F620E47BB4C3}"/>
              </a:ext>
            </a:extLst>
          </p:cNvPr>
          <p:cNvSpPr txBox="1"/>
          <p:nvPr/>
        </p:nvSpPr>
        <p:spPr>
          <a:xfrm>
            <a:off x="8593249" y="2869334"/>
            <a:ext cx="33556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mean = numbers[0];</a:t>
            </a:r>
          </a:p>
          <a:p>
            <a:r>
              <a:rPr lang="en-US" sz="1400" dirty="0"/>
              <a:t>    return mean;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4DBC01-723F-44E6-971A-2B70514E73B6}"/>
              </a:ext>
            </a:extLst>
          </p:cNvPr>
          <p:cNvSpPr txBox="1"/>
          <p:nvPr/>
        </p:nvSpPr>
        <p:spPr>
          <a:xfrm>
            <a:off x="8586780" y="2864516"/>
            <a:ext cx="3355621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 mean = numbers[0];</a:t>
            </a:r>
          </a:p>
          <a:p>
            <a:r>
              <a:rPr lang="en-US" sz="1400" dirty="0"/>
              <a:t>    for remaining numbers in list</a:t>
            </a:r>
          </a:p>
          <a:p>
            <a:r>
              <a:rPr lang="en-US" sz="1400" dirty="0"/>
              <a:t>   {</a:t>
            </a:r>
          </a:p>
          <a:p>
            <a:r>
              <a:rPr lang="en-US" sz="1400" dirty="0"/>
              <a:t>      mean = mean + number[</a:t>
            </a:r>
            <a:r>
              <a:rPr lang="en-US" sz="1400" dirty="0" err="1"/>
              <a:t>i</a:t>
            </a:r>
            <a:r>
              <a:rPr lang="en-US" sz="1400" dirty="0"/>
              <a:t>];</a:t>
            </a:r>
          </a:p>
          <a:p>
            <a:r>
              <a:rPr lang="en-US" sz="1400" dirty="0"/>
              <a:t>   }</a:t>
            </a:r>
          </a:p>
          <a:p>
            <a:r>
              <a:rPr lang="en-US" sz="1400" dirty="0"/>
              <a:t>    return mean / </a:t>
            </a:r>
            <a:r>
              <a:rPr lang="en-US" sz="1400" dirty="0" err="1"/>
              <a:t>numbers.size</a:t>
            </a:r>
            <a:r>
              <a:rPr lang="en-US" sz="1400" dirty="0"/>
              <a:t>();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0B52AD88-99F3-45D9-BA38-01B4503F0BC8}"/>
              </a:ext>
            </a:extLst>
          </p:cNvPr>
          <p:cNvSpPr txBox="1">
            <a:spLocks/>
          </p:cNvSpPr>
          <p:nvPr/>
        </p:nvSpPr>
        <p:spPr>
          <a:xfrm>
            <a:off x="609601" y="1441079"/>
            <a:ext cx="11367864" cy="47242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write the minimum amount of code that will make the test successfully pass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5011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81CF-005E-47B3-B519-19EBD01D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– Averaging Example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D866DC-8CE0-4815-B624-2A81B4E580B4}"/>
              </a:ext>
            </a:extLst>
          </p:cNvPr>
          <p:cNvSpPr/>
          <p:nvPr/>
        </p:nvSpPr>
        <p:spPr>
          <a:xfrm>
            <a:off x="8548114" y="2400413"/>
            <a:ext cx="3451579" cy="451557"/>
          </a:xfrm>
          <a:prstGeom prst="roundRect">
            <a:avLst>
              <a:gd name="adj" fmla="val 30632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3. Write code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1F3C2D-1BDE-4AEB-B85B-AC67223053E9}"/>
              </a:ext>
            </a:extLst>
          </p:cNvPr>
          <p:cNvSpPr/>
          <p:nvPr/>
        </p:nvSpPr>
        <p:spPr>
          <a:xfrm>
            <a:off x="966951" y="2403095"/>
            <a:ext cx="2363611" cy="450235"/>
          </a:xfrm>
          <a:prstGeom prst="roundRect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1. Define purpose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A0A937-4244-4D23-83EC-BA950776FE02}"/>
              </a:ext>
            </a:extLst>
          </p:cNvPr>
          <p:cNvSpPr/>
          <p:nvPr/>
        </p:nvSpPr>
        <p:spPr>
          <a:xfrm>
            <a:off x="966951" y="2383049"/>
            <a:ext cx="2363611" cy="1570479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0DE4F3-6F0D-403D-A4F2-234E29010981}"/>
              </a:ext>
            </a:extLst>
          </p:cNvPr>
          <p:cNvSpPr txBox="1"/>
          <p:nvPr/>
        </p:nvSpPr>
        <p:spPr>
          <a:xfrm>
            <a:off x="966951" y="3062281"/>
            <a:ext cx="214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mean from a set of numbers. </a:t>
            </a:r>
          </a:p>
        </p:txBody>
      </p:sp>
      <p:sp>
        <p:nvSpPr>
          <p:cNvPr id="3" name="Arrow: U-Turn 2">
            <a:extLst>
              <a:ext uri="{FF2B5EF4-FFF2-40B4-BE49-F238E27FC236}">
                <a16:creationId xmlns:a16="http://schemas.microsoft.com/office/drawing/2014/main" id="{6CE21BD5-E2F5-4755-A732-A55AC8541273}"/>
              </a:ext>
            </a:extLst>
          </p:cNvPr>
          <p:cNvSpPr/>
          <p:nvPr/>
        </p:nvSpPr>
        <p:spPr>
          <a:xfrm rot="10800000" flipH="1">
            <a:off x="5580879" y="5891309"/>
            <a:ext cx="4650942" cy="570531"/>
          </a:xfrm>
          <a:prstGeom prst="uturnArrow">
            <a:avLst>
              <a:gd name="adj1" fmla="val 42864"/>
              <a:gd name="adj2" fmla="val 25000"/>
              <a:gd name="adj3" fmla="val 22863"/>
              <a:gd name="adj4" fmla="val 43750"/>
              <a:gd name="adj5" fmla="val 10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AECE83B-7E84-4276-B4BD-8BADA8C0BE0B}"/>
              </a:ext>
            </a:extLst>
          </p:cNvPr>
          <p:cNvSpPr/>
          <p:nvPr/>
        </p:nvSpPr>
        <p:spPr>
          <a:xfrm>
            <a:off x="3357417" y="2428725"/>
            <a:ext cx="475657" cy="451557"/>
          </a:xfrm>
          <a:prstGeom prst="rightArrow">
            <a:avLst/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407E92-4D68-4990-80E3-9292C9487B1C}"/>
              </a:ext>
            </a:extLst>
          </p:cNvPr>
          <p:cNvSpPr/>
          <p:nvPr/>
        </p:nvSpPr>
        <p:spPr>
          <a:xfrm>
            <a:off x="8525886" y="2383049"/>
            <a:ext cx="3451579" cy="3460604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E18705-C041-4DBE-9BA6-9489AE8004CF}"/>
              </a:ext>
            </a:extLst>
          </p:cNvPr>
          <p:cNvSpPr/>
          <p:nvPr/>
        </p:nvSpPr>
        <p:spPr>
          <a:xfrm>
            <a:off x="3870834" y="2389992"/>
            <a:ext cx="3714970" cy="451557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2. Write Unit Test(s)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DE521-49EE-4DBF-BA07-360FEE612A19}"/>
              </a:ext>
            </a:extLst>
          </p:cNvPr>
          <p:cNvSpPr txBox="1"/>
          <p:nvPr/>
        </p:nvSpPr>
        <p:spPr>
          <a:xfrm>
            <a:off x="3852043" y="2891642"/>
            <a:ext cx="373376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myAwesomeNumber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({1});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1;</a:t>
            </a:r>
          </a:p>
          <a:p>
            <a:endParaRPr lang="en-US" sz="1400" dirty="0"/>
          </a:p>
          <a:p>
            <a:r>
              <a:rPr lang="en-US" sz="1400" dirty="0" err="1"/>
              <a:t>manyNumbers</a:t>
            </a:r>
            <a:r>
              <a:rPr lang="en-US" sz="1400" dirty="0"/>
              <a:t> =  </a:t>
            </a:r>
            <a:r>
              <a:rPr lang="en-US" sz="1400" dirty="0" err="1"/>
              <a:t>ComputeMean</a:t>
            </a:r>
            <a:r>
              <a:rPr lang="en-US" sz="1400" dirty="0"/>
              <a:t>({1, 2, 3});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2; </a:t>
            </a:r>
          </a:p>
          <a:p>
            <a:endParaRPr lang="en-US" sz="1400" dirty="0"/>
          </a:p>
          <a:p>
            <a:r>
              <a:rPr lang="en-US" sz="1400" dirty="0" err="1"/>
              <a:t>noNumbers</a:t>
            </a:r>
            <a:r>
              <a:rPr lang="en-US" sz="1400" dirty="0"/>
              <a:t> = </a:t>
            </a:r>
            <a:r>
              <a:rPr lang="en-US" sz="1400" dirty="0" err="1"/>
              <a:t>ComputeMean</a:t>
            </a:r>
            <a:r>
              <a:rPr lang="en-US" sz="1400" dirty="0"/>
              <a:t>({});</a:t>
            </a:r>
          </a:p>
          <a:p>
            <a:endParaRPr lang="en-US" sz="1400" dirty="0"/>
          </a:p>
          <a:p>
            <a:r>
              <a:rPr lang="en-US" sz="1400" dirty="0"/>
              <a:t>Throw error if </a:t>
            </a:r>
            <a:r>
              <a:rPr lang="en-US" sz="1400" dirty="0" err="1"/>
              <a:t>myAwesomeNumber</a:t>
            </a:r>
            <a:r>
              <a:rPr lang="en-US" sz="1400" dirty="0"/>
              <a:t> != NAN;</a:t>
            </a:r>
          </a:p>
          <a:p>
            <a:endParaRPr lang="en-US" sz="11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0BD62D-4667-4001-9302-9CD10700B6B9}"/>
              </a:ext>
            </a:extLst>
          </p:cNvPr>
          <p:cNvSpPr/>
          <p:nvPr/>
        </p:nvSpPr>
        <p:spPr>
          <a:xfrm>
            <a:off x="3873087" y="2414456"/>
            <a:ext cx="3714970" cy="3460603"/>
          </a:xfrm>
          <a:prstGeom prst="roundRect">
            <a:avLst>
              <a:gd name="adj" fmla="val 6604"/>
            </a:avLst>
          </a:prstGeom>
          <a:noFill/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697A58-55A8-49FB-A5A5-DD267F99D1EE}"/>
              </a:ext>
            </a:extLst>
          </p:cNvPr>
          <p:cNvSpPr txBox="1"/>
          <p:nvPr/>
        </p:nvSpPr>
        <p:spPr>
          <a:xfrm>
            <a:off x="6562972" y="6158486"/>
            <a:ext cx="26867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Unit Tests fails</a:t>
            </a:r>
          </a:p>
        </p:txBody>
      </p:sp>
      <p:sp>
        <p:nvSpPr>
          <p:cNvPr id="24" name="Arrow: U-Turn 23">
            <a:extLst>
              <a:ext uri="{FF2B5EF4-FFF2-40B4-BE49-F238E27FC236}">
                <a16:creationId xmlns:a16="http://schemas.microsoft.com/office/drawing/2014/main" id="{8C090DF6-D821-497B-B4B3-10AFEA0A5CCF}"/>
              </a:ext>
            </a:extLst>
          </p:cNvPr>
          <p:cNvSpPr/>
          <p:nvPr/>
        </p:nvSpPr>
        <p:spPr>
          <a:xfrm flipH="1">
            <a:off x="5729026" y="1939705"/>
            <a:ext cx="4650942" cy="451557"/>
          </a:xfrm>
          <a:prstGeom prst="uturnArrow">
            <a:avLst>
              <a:gd name="adj1" fmla="val 42864"/>
              <a:gd name="adj2" fmla="val 25000"/>
              <a:gd name="adj3" fmla="val 22863"/>
              <a:gd name="adj4" fmla="val 43750"/>
              <a:gd name="adj5" fmla="val 100000"/>
            </a:avLst>
          </a:prstGeom>
          <a:solidFill>
            <a:srgbClr val="0070C0"/>
          </a:solidFill>
          <a:ln>
            <a:solidFill>
              <a:srgbClr val="0A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9F229-5156-4A32-88AC-8ED12992E530}"/>
              </a:ext>
            </a:extLst>
          </p:cNvPr>
          <p:cNvSpPr txBox="1"/>
          <p:nvPr/>
        </p:nvSpPr>
        <p:spPr>
          <a:xfrm>
            <a:off x="6488138" y="1854487"/>
            <a:ext cx="26867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Write better test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E5C860-3219-4DC7-992E-821A16506362}"/>
              </a:ext>
            </a:extLst>
          </p:cNvPr>
          <p:cNvSpPr txBox="1"/>
          <p:nvPr/>
        </p:nvSpPr>
        <p:spPr>
          <a:xfrm>
            <a:off x="8586780" y="2864516"/>
            <a:ext cx="3355621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double </a:t>
            </a:r>
            <a:r>
              <a:rPr lang="en-US" sz="1400" dirty="0" err="1"/>
              <a:t>ComputeMean</a:t>
            </a:r>
            <a:r>
              <a:rPr lang="en-US" sz="1400" dirty="0"/>
              <a:t>(</a:t>
            </a:r>
          </a:p>
          <a:p>
            <a:r>
              <a:rPr lang="en-US" sz="1400" dirty="0"/>
              <a:t>    vector&lt;double&gt; numbers)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 if numbers empty return NAN;</a:t>
            </a:r>
          </a:p>
          <a:p>
            <a:r>
              <a:rPr lang="en-US" sz="1400" dirty="0"/>
              <a:t>  </a:t>
            </a:r>
          </a:p>
          <a:p>
            <a:r>
              <a:rPr lang="en-US" sz="1400" dirty="0"/>
              <a:t>  mean = numbers[0];</a:t>
            </a:r>
          </a:p>
          <a:p>
            <a:r>
              <a:rPr lang="en-US" sz="1400" dirty="0"/>
              <a:t>    for remaining numbers in list</a:t>
            </a:r>
          </a:p>
          <a:p>
            <a:r>
              <a:rPr lang="en-US" sz="1400" dirty="0"/>
              <a:t>   {</a:t>
            </a:r>
          </a:p>
          <a:p>
            <a:r>
              <a:rPr lang="en-US" sz="1400" dirty="0"/>
              <a:t>      mean = mean + number[</a:t>
            </a:r>
            <a:r>
              <a:rPr lang="en-US" sz="1400" dirty="0" err="1"/>
              <a:t>i</a:t>
            </a:r>
            <a:r>
              <a:rPr lang="en-US" sz="1400" dirty="0"/>
              <a:t>];</a:t>
            </a:r>
          </a:p>
          <a:p>
            <a:r>
              <a:rPr lang="en-US" sz="1400" dirty="0"/>
              <a:t>   }</a:t>
            </a:r>
          </a:p>
          <a:p>
            <a:r>
              <a:rPr lang="en-US" sz="1400" dirty="0"/>
              <a:t>    return mean / </a:t>
            </a:r>
            <a:r>
              <a:rPr lang="en-US" sz="1400" dirty="0" err="1"/>
              <a:t>numbers.size</a:t>
            </a:r>
            <a:r>
              <a:rPr lang="en-US" sz="1400" dirty="0"/>
              <a:t>();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22" name="Content Placeholder 10">
            <a:extLst>
              <a:ext uri="{FF2B5EF4-FFF2-40B4-BE49-F238E27FC236}">
                <a16:creationId xmlns:a16="http://schemas.microsoft.com/office/drawing/2014/main" id="{5A45C982-C035-4E07-ABC9-BE19EE6D02CB}"/>
              </a:ext>
            </a:extLst>
          </p:cNvPr>
          <p:cNvSpPr txBox="1">
            <a:spLocks/>
          </p:cNvSpPr>
          <p:nvPr/>
        </p:nvSpPr>
        <p:spPr>
          <a:xfrm>
            <a:off x="609601" y="1441079"/>
            <a:ext cx="11367864" cy="47242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07950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341438" indent="-261938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write the minimum amount of code that will make the test successfully pass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72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988C2-3208-856B-2759-A1E6A6930F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4114799" cy="4536505"/>
          </a:xfrm>
        </p:spPr>
        <p:txBody>
          <a:bodyPr/>
          <a:lstStyle/>
          <a:p>
            <a:r>
              <a:rPr lang="en-US" dirty="0"/>
              <a:t>All modules made through</a:t>
            </a:r>
          </a:p>
          <a:p>
            <a:pPr marL="0" indent="0">
              <a:buNone/>
            </a:pPr>
            <a:r>
              <a:rPr lang="en-US" dirty="0" err="1"/>
              <a:t>ExtensionWizard</a:t>
            </a:r>
            <a:r>
              <a:rPr lang="en-US" dirty="0"/>
              <a:t> have a Test class.</a:t>
            </a:r>
          </a:p>
          <a:p>
            <a:r>
              <a:rPr lang="en-US" dirty="0"/>
              <a:t>Test class is initialized and “</a:t>
            </a:r>
            <a:r>
              <a:rPr lang="en-US" dirty="0" err="1"/>
              <a:t>runTest</a:t>
            </a:r>
            <a:r>
              <a:rPr lang="en-US" dirty="0"/>
              <a:t>” is called when “Reload and Test” is pressed in UI </a:t>
            </a:r>
          </a:p>
          <a:p>
            <a:r>
              <a:rPr lang="en-US" dirty="0"/>
              <a:t>We have a </a:t>
            </a:r>
            <a:r>
              <a:rPr lang="en-US" dirty="0" err="1"/>
              <a:t>setUp</a:t>
            </a:r>
            <a:r>
              <a:rPr lang="en-US" dirty="0"/>
              <a:t> and then different tests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024031-F837-C0DE-D16A-ACE3F4A1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– 3D Slicer Considerations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6E522-9399-89A8-014C-C778354DE2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5" t="40392" r="50000" b="8889"/>
          <a:stretch/>
        </p:blipFill>
        <p:spPr>
          <a:xfrm>
            <a:off x="4818436" y="1707421"/>
            <a:ext cx="6943257" cy="423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1BA34B-B45E-3D44-FD52-2A023B3B32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5262281" cy="45365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setup function is where you must</a:t>
            </a:r>
          </a:p>
          <a:p>
            <a:pPr lvl="1"/>
            <a:r>
              <a:rPr lang="en-US" dirty="0"/>
              <a:t>Clear the </a:t>
            </a:r>
            <a:r>
              <a:rPr lang="en-US" dirty="0" err="1"/>
              <a:t>mrml</a:t>
            </a:r>
            <a:r>
              <a:rPr lang="en-US" dirty="0"/>
              <a:t> Scene if you would like to remove data that may cause unintentional problems (remember this will reset the data you have loaded!)</a:t>
            </a:r>
          </a:p>
          <a:p>
            <a:pPr lvl="1"/>
            <a:r>
              <a:rPr lang="en-US" dirty="0"/>
              <a:t>Load in data that you would like to use for the test</a:t>
            </a:r>
          </a:p>
          <a:p>
            <a:pPr lvl="1"/>
            <a:r>
              <a:rPr lang="en-US" dirty="0"/>
              <a:t>Best practice is to put data on a repository somewhere and download from the internet</a:t>
            </a:r>
          </a:p>
          <a:p>
            <a:pPr lvl="1"/>
            <a:r>
              <a:rPr lang="en-US" dirty="0"/>
              <a:t>For this class you can hard code the data location – just make sure to comment so I know what code to change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FD26C5-BE81-3034-DD60-120DAD20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– 3D Slicer </a:t>
            </a:r>
            <a:r>
              <a:rPr lang="en-US" dirty="0" err="1"/>
              <a:t>SetUp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EAD36-76AF-BC2C-EBE3-4BED315A2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4" t="13333" r="49044" b="33821"/>
          <a:stretch/>
        </p:blipFill>
        <p:spPr>
          <a:xfrm>
            <a:off x="6009486" y="1709482"/>
            <a:ext cx="6182514" cy="392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2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1116AA-2C38-EB7C-8F61-FA976B8CBF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4038188" cy="45365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test make it as simple as you can </a:t>
            </a:r>
          </a:p>
          <a:p>
            <a:pPr lvl="1"/>
            <a:r>
              <a:rPr lang="en-US" dirty="0"/>
              <a:t>Known inputs/outputs</a:t>
            </a:r>
          </a:p>
          <a:p>
            <a:pPr lvl="1"/>
            <a:r>
              <a:rPr lang="en-US" dirty="0"/>
              <a:t>Try to test an individual function in a class</a:t>
            </a:r>
          </a:p>
          <a:p>
            <a:pPr lvl="1"/>
            <a:r>
              <a:rPr lang="en-US" dirty="0"/>
              <a:t>This should be done for logic classes and functions</a:t>
            </a:r>
          </a:p>
          <a:p>
            <a:pPr lvl="1"/>
            <a:r>
              <a:rPr lang="en-US" dirty="0"/>
              <a:t>This is an example of a negative test – I know the points should return false</a:t>
            </a:r>
          </a:p>
          <a:p>
            <a:pPr lvl="1"/>
            <a:r>
              <a:rPr lang="en-US" dirty="0"/>
              <a:t>For completeness you need positive and edge tests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8BD20B-D549-2313-F8FB-9D65DAB3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– 3D Slicer Tests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C8676-4123-6B09-DD19-B58777D220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44" t="16470" r="36912" b="10101"/>
          <a:stretch/>
        </p:blipFill>
        <p:spPr>
          <a:xfrm>
            <a:off x="4647789" y="1228164"/>
            <a:ext cx="7445600" cy="520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BEEBE8-F5D2-4027-9EF6-236A2248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F41B10-1325-41D8-B9EE-E0C37DF2E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learned what is test driven development and </a:t>
            </a:r>
          </a:p>
          <a:p>
            <a:r>
              <a:rPr lang="en-US" dirty="0"/>
              <a:t>Demonstrated a minimal working example – Computing the average of a set of points</a:t>
            </a:r>
          </a:p>
          <a:p>
            <a:r>
              <a:rPr lang="en-US" dirty="0"/>
              <a:t>Demonstrated a (longer) practical exampled in 3D Slicer – Target point selection which you can know find in SlicerWeek2Tutorial/</a:t>
            </a:r>
            <a:r>
              <a:rPr lang="en-US" dirty="0" err="1"/>
              <a:t>PathPlanning</a:t>
            </a:r>
            <a:r>
              <a:rPr lang="en-US" dirty="0"/>
              <a:t> (don’t forget to pull from the repo first!)</a:t>
            </a:r>
          </a:p>
        </p:txBody>
      </p:sp>
    </p:spTree>
    <p:extLst>
      <p:ext uri="{BB962C8B-B14F-4D97-AF65-F5344CB8AC3E}">
        <p14:creationId xmlns:p14="http://schemas.microsoft.com/office/powerpoint/2010/main" val="25112890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2_Custom Desig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4359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5">
        <a:dk1>
          <a:srgbClr val="000000"/>
        </a:dk1>
        <a:lt1>
          <a:srgbClr val="FFFFFF"/>
        </a:lt1>
        <a:dk2>
          <a:srgbClr val="004359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C88B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ME_research_Rene_Botna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KingsAcademicPlan</Template>
  <TotalTime>1274</TotalTime>
  <Words>1394</Words>
  <Application>Microsoft Office PowerPoint</Application>
  <PresentationFormat>Widescreen</PresentationFormat>
  <Paragraphs>216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Calibri Light</vt:lpstr>
      <vt:lpstr>Georgia</vt:lpstr>
      <vt:lpstr>Impact</vt:lpstr>
      <vt:lpstr>Wingdings</vt:lpstr>
      <vt:lpstr>Retrospect</vt:lpstr>
      <vt:lpstr>2_Custom Design</vt:lpstr>
      <vt:lpstr>BME_research_Rene_Botnar</vt:lpstr>
      <vt:lpstr>6_Office Theme</vt:lpstr>
      <vt:lpstr>KCL UPDATE v4 4x3</vt:lpstr>
      <vt:lpstr>PowerPoint Presentation</vt:lpstr>
      <vt:lpstr>Overview</vt:lpstr>
      <vt:lpstr>What is a test?</vt:lpstr>
      <vt:lpstr>Software Development Best Practices</vt:lpstr>
      <vt:lpstr>Traditional Software Development Cycle</vt:lpstr>
      <vt:lpstr>Traditional Software Development Cycle</vt:lpstr>
      <vt:lpstr>Traditional Software Development Cycle</vt:lpstr>
      <vt:lpstr>Advantages of Test Driven Development?</vt:lpstr>
      <vt:lpstr>Test Driven Development Theory</vt:lpstr>
      <vt:lpstr>Test Driven Development – Averaging Example</vt:lpstr>
      <vt:lpstr>Test Driven Development – Averaging Example</vt:lpstr>
      <vt:lpstr>Test Driven Development – Averaging Example</vt:lpstr>
      <vt:lpstr>Test Driven Development – 3D Slicer Considerations</vt:lpstr>
      <vt:lpstr>Test Driven Development – 3D Slicer SetUp</vt:lpstr>
      <vt:lpstr>Test Driven Development – 3D Slicer Tests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Driven Development (TDD)</dc:title>
  <dc:creator>Rachel Sparks</dc:creator>
  <cp:lastModifiedBy>Rachel Sparks</cp:lastModifiedBy>
  <cp:revision>33</cp:revision>
  <dcterms:created xsi:type="dcterms:W3CDTF">2019-10-09T14:00:08Z</dcterms:created>
  <dcterms:modified xsi:type="dcterms:W3CDTF">2024-01-28T14:10:26Z</dcterms:modified>
</cp:coreProperties>
</file>