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9" r:id="rId2"/>
    <p:sldId id="257" r:id="rId3"/>
    <p:sldId id="260" r:id="rId4"/>
    <p:sldId id="263" r:id="rId5"/>
    <p:sldId id="262" r:id="rId6"/>
    <p:sldId id="264" r:id="rId7"/>
    <p:sldId id="266" r:id="rId8"/>
    <p:sldId id="267" r:id="rId9"/>
    <p:sldId id="268" r:id="rId10"/>
    <p:sldId id="259" r:id="rId11"/>
    <p:sldId id="265" r:id="rId12"/>
    <p:sldId id="261" r:id="rId13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C04A85-D4E9-7CA8-3ED9-C083A7EB422F}" v="2" dt="2024-01-20T12:24:40.226"/>
    <p1510:client id="{52639841-423C-7899-B2EC-27FC6A1A856F}" v="2" dt="2024-01-20T12:12:13.9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58" d="100"/>
          <a:sy n="58" d="100"/>
        </p:scale>
        <p:origin x="39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chel Sparks" userId="S::k1780973@kcl.ac.uk::97c8494a-d7ca-4ad2-875e-2d5b5432d1e7" providerId="AD" clId="Web-{52639841-423C-7899-B2EC-27FC6A1A856F}"/>
    <pc:docChg chg="modSld">
      <pc:chgData name="Rachel Sparks" userId="S::k1780973@kcl.ac.uk::97c8494a-d7ca-4ad2-875e-2d5b5432d1e7" providerId="AD" clId="Web-{52639841-423C-7899-B2EC-27FC6A1A856F}" dt="2024-01-20T12:12:13.985" v="1"/>
      <pc:docMkLst>
        <pc:docMk/>
      </pc:docMkLst>
      <pc:sldChg chg="addSp delSp">
        <pc:chgData name="Rachel Sparks" userId="S::k1780973@kcl.ac.uk::97c8494a-d7ca-4ad2-875e-2d5b5432d1e7" providerId="AD" clId="Web-{52639841-423C-7899-B2EC-27FC6A1A856F}" dt="2024-01-20T12:12:13.985" v="1"/>
        <pc:sldMkLst>
          <pc:docMk/>
          <pc:sldMk cId="902491239" sldId="289"/>
        </pc:sldMkLst>
        <pc:spChg chg="add">
          <ac:chgData name="Rachel Sparks" userId="S::k1780973@kcl.ac.uk::97c8494a-d7ca-4ad2-875e-2d5b5432d1e7" providerId="AD" clId="Web-{52639841-423C-7899-B2EC-27FC6A1A856F}" dt="2024-01-20T12:12:13.985" v="1"/>
          <ac:spMkLst>
            <pc:docMk/>
            <pc:sldMk cId="902491239" sldId="289"/>
            <ac:spMk id="2" creationId="{A7E76D0D-5B90-4B3E-4048-7859462A2562}"/>
          </ac:spMkLst>
        </pc:spChg>
        <pc:spChg chg="del">
          <ac:chgData name="Rachel Sparks" userId="S::k1780973@kcl.ac.uk::97c8494a-d7ca-4ad2-875e-2d5b5432d1e7" providerId="AD" clId="Web-{52639841-423C-7899-B2EC-27FC6A1A856F}" dt="2024-01-20T12:12:13.469" v="0"/>
          <ac:spMkLst>
            <pc:docMk/>
            <pc:sldMk cId="902491239" sldId="289"/>
            <ac:spMk id="17" creationId="{AC0BA1EB-1949-4708-884C-5B234C9A0A39}"/>
          </ac:spMkLst>
        </pc:spChg>
      </pc:sldChg>
    </pc:docChg>
  </pc:docChgLst>
  <pc:docChgLst>
    <pc:chgData name="Rachel Sparks" userId="S::k1780973@kcl.ac.uk::97c8494a-d7ca-4ad2-875e-2d5b5432d1e7" providerId="AD" clId="Web-{4EC04A85-D4E9-7CA8-3ED9-C083A7EB422F}"/>
    <pc:docChg chg="modSld">
      <pc:chgData name="Rachel Sparks" userId="S::k1780973@kcl.ac.uk::97c8494a-d7ca-4ad2-875e-2d5b5432d1e7" providerId="AD" clId="Web-{4EC04A85-D4E9-7CA8-3ED9-C083A7EB422F}" dt="2024-01-20T12:24:40.226" v="1"/>
      <pc:docMkLst>
        <pc:docMk/>
      </pc:docMkLst>
      <pc:sldChg chg="addSp delSp">
        <pc:chgData name="Rachel Sparks" userId="S::k1780973@kcl.ac.uk::97c8494a-d7ca-4ad2-875e-2d5b5432d1e7" providerId="AD" clId="Web-{4EC04A85-D4E9-7CA8-3ED9-C083A7EB422F}" dt="2024-01-20T12:24:40.226" v="1"/>
        <pc:sldMkLst>
          <pc:docMk/>
          <pc:sldMk cId="902491239" sldId="289"/>
        </pc:sldMkLst>
        <pc:spChg chg="add">
          <ac:chgData name="Rachel Sparks" userId="S::k1780973@kcl.ac.uk::97c8494a-d7ca-4ad2-875e-2d5b5432d1e7" providerId="AD" clId="Web-{4EC04A85-D4E9-7CA8-3ED9-C083A7EB422F}" dt="2024-01-20T12:24:40.226" v="1"/>
          <ac:spMkLst>
            <pc:docMk/>
            <pc:sldMk cId="902491239" sldId="289"/>
            <ac:spMk id="3" creationId="{6DB3E955-567D-75F8-6301-01EE0A89D847}"/>
          </ac:spMkLst>
        </pc:spChg>
        <pc:spChg chg="del">
          <ac:chgData name="Rachel Sparks" userId="S::k1780973@kcl.ac.uk::97c8494a-d7ca-4ad2-875e-2d5b5432d1e7" providerId="AD" clId="Web-{4EC04A85-D4E9-7CA8-3ED9-C083A7EB422F}" dt="2024-01-20T12:24:39.554" v="0"/>
          <ac:spMkLst>
            <pc:docMk/>
            <pc:sldMk cId="902491239" sldId="289"/>
            <ac:spMk id="18" creationId="{0E23BF61-9E14-4C1E-8581-F4C58B97C42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file://localhost/Users/mac1/Desktop/KCL%20LOGO%20WOB.png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file://localhost/Volumes/Day1_Data/WORK%20ARCHIVE/%20K/KING'S/11143%20KCL%20POWERPOINT%20UPDATE/BUILD/IMAGES/_DSC8361-rs.jpg" TargetMode="External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file://localhost/Users/mac1/Desktop/KCL_box_red_485_rgb.png" TargetMode="Externa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file://localhost/Users/mac1/Desktop/KCL_box_red_485_rgb.png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K 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CL-LOGO-INTERNATIONAL.png"/>
          <p:cNvPicPr>
            <a:picLocks noChangeAspect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8959" y="1397958"/>
            <a:ext cx="7814084" cy="4062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030992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joint - a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_DSC1517.jpg"/>
          <p:cNvPicPr>
            <a:picLocks noChangeAspect="1"/>
          </p:cNvPicPr>
          <p:nvPr/>
        </p:nvPicPr>
        <p:blipFill rotWithShape="1"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45" r="4990" b="23836"/>
          <a:stretch>
            <a:fillRect/>
          </a:stretch>
        </p:blipFill>
        <p:spPr>
          <a:xfrm>
            <a:off x="0" y="4"/>
            <a:ext cx="12192000" cy="5554979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0"/>
            <a:ext cx="12192000" cy="339725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50000"/>
                </a:schemeClr>
              </a:gs>
              <a:gs pos="100000">
                <a:srgbClr val="FFFFFF">
                  <a:alpha val="0"/>
                </a:srgbClr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0000" y="180001"/>
            <a:ext cx="11232000" cy="1080000"/>
          </a:xfrm>
        </p:spPr>
        <p:txBody>
          <a:bodyPr anchor="b" anchorCtr="0"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0000" y="1440000"/>
            <a:ext cx="11232000" cy="8917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FF"/>
                </a:solidFill>
                <a:latin typeface="Georgia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480484" y="5733722"/>
            <a:ext cx="8995856" cy="94428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0" name="KCL-LOGO-UK-1.png"/>
          <p:cNvPicPr>
            <a:picLocks noChangeAspect="1"/>
          </p:cNvPicPr>
          <p:nvPr/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000" y="5555734"/>
            <a:ext cx="2280000" cy="130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036052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-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0000" y="4689299"/>
            <a:ext cx="11232000" cy="728721"/>
          </a:xfrm>
        </p:spPr>
        <p:txBody>
          <a:bodyPr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0000" y="5598000"/>
            <a:ext cx="11232000" cy="10800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FF"/>
                </a:solidFill>
                <a:latin typeface="Georgia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7019492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- lim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0000" y="4689299"/>
            <a:ext cx="11232000" cy="728721"/>
          </a:xfrm>
        </p:spPr>
        <p:txBody>
          <a:bodyPr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0000" y="5598000"/>
            <a:ext cx="11232000" cy="8917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FF"/>
                </a:solidFill>
                <a:latin typeface="Georgia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088453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0000" y="4689299"/>
            <a:ext cx="11232000" cy="728721"/>
          </a:xfrm>
        </p:spPr>
        <p:txBody>
          <a:bodyPr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0000" y="5598000"/>
            <a:ext cx="11232000" cy="8917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FF"/>
                </a:solidFill>
                <a:latin typeface="Georgia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935587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- sea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0000" y="4689299"/>
            <a:ext cx="11232000" cy="728721"/>
          </a:xfrm>
        </p:spPr>
        <p:txBody>
          <a:bodyPr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0000" y="5598000"/>
            <a:ext cx="11232000" cy="8917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FF"/>
                </a:solidFill>
                <a:latin typeface="Georgia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974757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text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000">
                <a:solidFill>
                  <a:srgbClr val="0A2D50"/>
                </a:solidFill>
                <a:latin typeface="Impact"/>
                <a:cs typeface="Impact"/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buNone/>
              <a:defRPr sz="2000">
                <a:latin typeface="Georgia"/>
                <a:cs typeface="Georgia"/>
              </a:defRPr>
            </a:lvl2pPr>
            <a:lvl3pPr marL="269875" indent="-269875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3pPr>
            <a:lvl4pPr marL="539750" indent="-269875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4pPr>
            <a:lvl5pPr marL="809625" indent="-269875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000">
                <a:latin typeface="Georgia"/>
                <a:cs typeface="Georgia"/>
              </a:defRPr>
            </a:lvl1pPr>
          </a:lstStyle>
          <a:p>
            <a:fld id="{A1838828-4598-4F42-85B1-C8EDFA983154}" type="datetimeFigureOut">
              <a:rPr lang="en-GB" smtClean="0"/>
              <a:t>20/01/2024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>
                <a:latin typeface="Georgia"/>
                <a:cs typeface="Georgia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52000" y="6498000"/>
            <a:ext cx="960000" cy="360000"/>
          </a:xfrm>
        </p:spPr>
        <p:txBody>
          <a:bodyPr/>
          <a:lstStyle>
            <a:lvl1pPr>
              <a:defRPr sz="1000">
                <a:latin typeface="Georgia"/>
                <a:cs typeface="Georgia"/>
              </a:defRPr>
            </a:lvl1pPr>
          </a:lstStyle>
          <a:p>
            <a:fld id="{70F3AB61-E3DD-4B08-A148-53C63CEFC201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rgbClr val="C2B6A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6379183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-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269875" indent="-269875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1pPr>
            <a:lvl2pPr marL="539750" indent="-269875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2pPr>
            <a:lvl3pPr marL="809625" indent="-269875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3pPr>
            <a:lvl4pPr marL="1079500" indent="-269875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4pPr>
            <a:lvl5pPr marL="1341438" indent="-261938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000">
                <a:latin typeface="Georgia"/>
                <a:cs typeface="Georgia"/>
              </a:defRPr>
            </a:lvl1pPr>
          </a:lstStyle>
          <a:p>
            <a:fld id="{A1838828-4598-4F42-85B1-C8EDFA983154}" type="datetimeFigureOut">
              <a:rPr lang="en-GB" smtClean="0"/>
              <a:t>20/01/2024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>
                <a:latin typeface="Georgia"/>
                <a:cs typeface="Georgia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52000" y="6498000"/>
            <a:ext cx="960000" cy="360000"/>
          </a:xfrm>
        </p:spPr>
        <p:txBody>
          <a:bodyPr/>
          <a:lstStyle>
            <a:lvl1pPr>
              <a:defRPr sz="1000">
                <a:latin typeface="Georgia"/>
                <a:cs typeface="Georgia"/>
              </a:defRPr>
            </a:lvl1pPr>
          </a:lstStyle>
          <a:p>
            <a:fld id="{70F3AB61-E3DD-4B08-A148-53C63CEFC201}" type="slidenum">
              <a:rPr lang="en-GB" smtClean="0"/>
              <a:t>‹#›</a:t>
            </a:fld>
            <a:endParaRPr lang="en-GB"/>
          </a:p>
        </p:txBody>
      </p:sp>
      <p:cxnSp>
        <p:nvCxnSpPr>
          <p:cNvPr id="11" name="Straight Connector 10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6313591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 - text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0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A2D50"/>
                </a:solidFill>
                <a:latin typeface="Impact"/>
                <a:cs typeface="Impact"/>
              </a:defRPr>
            </a:lvl1pPr>
            <a:lvl2pPr marL="0" indent="0">
              <a:buNone/>
              <a:defRPr sz="2000"/>
            </a:lvl2pPr>
            <a:lvl3pPr marL="269875" indent="-269875">
              <a:defRPr sz="2000"/>
            </a:lvl3pPr>
            <a:lvl4pPr marL="539750" indent="-269875">
              <a:defRPr sz="2000"/>
            </a:lvl4pPr>
            <a:lvl5pPr marL="809625" indent="-269875"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6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A2D50"/>
                </a:solidFill>
                <a:latin typeface="Impact"/>
                <a:cs typeface="Impact"/>
              </a:defRPr>
            </a:lvl1pPr>
            <a:lvl2pPr marL="0" indent="0">
              <a:buNone/>
              <a:defRPr sz="2000"/>
            </a:lvl2pPr>
            <a:lvl3pPr marL="269875" indent="-269875">
              <a:defRPr sz="2000"/>
            </a:lvl3pPr>
            <a:lvl4pPr marL="539750" indent="-269875">
              <a:defRPr sz="2000"/>
            </a:lvl4pPr>
            <a:lvl5pPr marL="809625" indent="-269875"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38828-4598-4F42-85B1-C8EDFA983154}" type="datetimeFigureOut">
              <a:rPr lang="en-GB" smtClean="0"/>
              <a:t>20/01/2024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3AB61-E3DD-4B08-A148-53C63CEFC201}" type="slidenum">
              <a:rPr lang="en-GB" smtClean="0"/>
              <a:t>‹#›</a:t>
            </a:fld>
            <a:endParaRPr lang="en-GB"/>
          </a:p>
        </p:txBody>
      </p:sp>
      <p:cxnSp>
        <p:nvCxnSpPr>
          <p:cNvPr id="12" name="Straight Connector 11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9468940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 - bullet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0000" y="1088721"/>
            <a:ext cx="5376000" cy="486056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6000" y="1088721"/>
            <a:ext cx="5376000" cy="486056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38828-4598-4F42-85B1-C8EDFA983154}" type="datetimeFigureOut">
              <a:rPr lang="en-GB" smtClean="0"/>
              <a:t>20/01/2024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3AB61-E3DD-4B08-A148-53C63CEFC201}" type="slidenum">
              <a:rPr lang="en-GB" smtClean="0"/>
              <a:t>‹#›</a:t>
            </a:fld>
            <a:endParaRPr lang="en-GB"/>
          </a:p>
        </p:txBody>
      </p:sp>
      <p:cxnSp>
        <p:nvCxnSpPr>
          <p:cNvPr id="11" name="Straight Connector 10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7801364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x1 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0000" y="1088723"/>
            <a:ext cx="11232000" cy="46805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0000" y="5949280"/>
            <a:ext cx="11232000" cy="5487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38828-4598-4F42-85B1-C8EDFA983154}" type="datetimeFigureOut">
              <a:rPr lang="en-GB" smtClean="0"/>
              <a:t>20/01/2024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3AB61-E3DD-4B08-A148-53C63CEFC201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5576237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x 6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0003" y="1088720"/>
            <a:ext cx="3600028" cy="22502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0000" y="5949280"/>
            <a:ext cx="11232000" cy="5487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38828-4598-4F42-85B1-C8EDFA983154}" type="datetimeFigureOut">
              <a:rPr lang="en-GB" smtClean="0"/>
              <a:t>20/01/2024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3AB61-E3DD-4B08-A148-53C63CEFC201}" type="slidenum">
              <a:rPr lang="en-GB" smtClean="0"/>
              <a:t>‹#›</a:t>
            </a:fld>
            <a:endParaRPr lang="en-GB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/>
          </p:nvPr>
        </p:nvSpPr>
        <p:spPr>
          <a:xfrm>
            <a:off x="480003" y="3519000"/>
            <a:ext cx="3600028" cy="22546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/>
          </p:nvPr>
        </p:nvSpPr>
        <p:spPr>
          <a:xfrm>
            <a:off x="8111971" y="1088720"/>
            <a:ext cx="3603072" cy="22502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5"/>
          </p:nvPr>
        </p:nvSpPr>
        <p:spPr>
          <a:xfrm>
            <a:off x="8111971" y="3519000"/>
            <a:ext cx="3603072" cy="22546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Picture Placeholder 2"/>
          <p:cNvSpPr>
            <a:spLocks noGrp="1"/>
          </p:cNvSpPr>
          <p:nvPr>
            <p:ph type="pic" idx="16"/>
          </p:nvPr>
        </p:nvSpPr>
        <p:spPr>
          <a:xfrm>
            <a:off x="4295985" y="1088720"/>
            <a:ext cx="3603072" cy="22502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"/>
          <p:cNvSpPr>
            <a:spLocks noGrp="1"/>
          </p:cNvSpPr>
          <p:nvPr>
            <p:ph type="pic" idx="17"/>
          </p:nvPr>
        </p:nvSpPr>
        <p:spPr>
          <a:xfrm>
            <a:off x="4295985" y="3519000"/>
            <a:ext cx="3603072" cy="22546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20" name="Straight Connector 19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5753036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x 4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0000" y="1088720"/>
            <a:ext cx="5496000" cy="22502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0000" y="5949280"/>
            <a:ext cx="11232000" cy="5487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38828-4598-4F42-85B1-C8EDFA983154}" type="datetimeFigureOut">
              <a:rPr lang="en-GB" smtClean="0"/>
              <a:t>20/01/2024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3AB61-E3DD-4B08-A148-53C63CEFC201}" type="slidenum">
              <a:rPr lang="en-GB" smtClean="0"/>
              <a:t>‹#›</a:t>
            </a:fld>
            <a:endParaRPr lang="en-GB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/>
          </p:nvPr>
        </p:nvSpPr>
        <p:spPr>
          <a:xfrm>
            <a:off x="480000" y="3519000"/>
            <a:ext cx="5496000" cy="22546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/>
          </p:nvPr>
        </p:nvSpPr>
        <p:spPr>
          <a:xfrm>
            <a:off x="6216001" y="1088720"/>
            <a:ext cx="5499043" cy="22502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5"/>
          </p:nvPr>
        </p:nvSpPr>
        <p:spPr>
          <a:xfrm>
            <a:off x="6216001" y="3519000"/>
            <a:ext cx="5499043" cy="22546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1367485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bullets and image - a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0000" y="1088721"/>
            <a:ext cx="5376000" cy="486056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38828-4598-4F42-85B1-C8EDFA983154}" type="datetimeFigureOut">
              <a:rPr lang="en-GB" smtClean="0"/>
              <a:t>20/01/2024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3AB61-E3DD-4B08-A148-53C63CEFC201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6339903" y="1089025"/>
            <a:ext cx="5372100" cy="48609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637259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bullets and image - a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6000" y="1088721"/>
            <a:ext cx="5376000" cy="486056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38828-4598-4F42-85B1-C8EDFA983154}" type="datetimeFigureOut">
              <a:rPr lang="en-GB" smtClean="0"/>
              <a:t>20/01/2024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3AB61-E3DD-4B08-A148-53C63CEFC201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80003" y="1089025"/>
            <a:ext cx="5372100" cy="48609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4071115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- text/bullets and image - a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0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A2D50"/>
                </a:solidFill>
                <a:latin typeface="Impact"/>
                <a:cs typeface="Impact"/>
              </a:defRPr>
            </a:lvl1pPr>
            <a:lvl2pPr marL="0" indent="0">
              <a:buNone/>
              <a:defRPr sz="2000"/>
            </a:lvl2pPr>
            <a:lvl3pPr marL="269875" indent="-269875">
              <a:defRPr sz="2000"/>
            </a:lvl3pPr>
            <a:lvl4pPr marL="539750" indent="-269875">
              <a:defRPr sz="2000"/>
            </a:lvl4pPr>
            <a:lvl5pPr marL="809625" indent="-269875"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38828-4598-4F42-85B1-C8EDFA983154}" type="datetimeFigureOut">
              <a:rPr lang="en-GB" smtClean="0"/>
              <a:t>20/01/2024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3AB61-E3DD-4B08-A148-53C63CEFC201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6335668" y="1089025"/>
            <a:ext cx="5376333" cy="48609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5304515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- text/bullets and image - a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6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A2D50"/>
                </a:solidFill>
                <a:latin typeface="Impact"/>
                <a:cs typeface="Impact"/>
              </a:defRPr>
            </a:lvl1pPr>
            <a:lvl2pPr marL="0" indent="0">
              <a:buNone/>
              <a:defRPr sz="2000"/>
            </a:lvl2pPr>
            <a:lvl3pPr marL="269875" indent="-269875">
              <a:defRPr sz="2000"/>
            </a:lvl3pPr>
            <a:lvl4pPr marL="539750" indent="-269875">
              <a:defRPr sz="2000"/>
            </a:lvl4pPr>
            <a:lvl5pPr marL="809625" indent="-269875"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38828-4598-4F42-85B1-C8EDFA983154}" type="datetimeFigureOut">
              <a:rPr lang="en-GB" smtClean="0"/>
              <a:t>20/01/2024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3AB61-E3DD-4B08-A148-53C63CEFC201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480000" y="1088356"/>
            <a:ext cx="5376333" cy="48609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5449458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00" y="3420000"/>
            <a:ext cx="11232000" cy="2520000"/>
          </a:xfrm>
        </p:spPr>
        <p:txBody>
          <a:bodyPr anchor="b" anchorCtr="0">
            <a:normAutofit/>
          </a:bodyPr>
          <a:lstStyle>
            <a:lvl1pPr>
              <a:defRPr sz="1600" b="0" baseline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00" y="6120019"/>
            <a:ext cx="11232000" cy="358407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1200">
                <a:solidFill>
                  <a:srgbClr val="FFFFFF"/>
                </a:solidFill>
                <a:latin typeface="Georgia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3D4156C-ADF2-43F6-877B-1E484E3E57B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912000" y="3"/>
            <a:ext cx="2280000" cy="1303021"/>
            <a:chOff x="7949775" y="1"/>
            <a:chExt cx="1194225" cy="910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1F07F61-E5AB-4397-84C4-C4D8BE32CBE4}"/>
                </a:ext>
              </a:extLst>
            </p:cNvPr>
            <p:cNvSpPr/>
            <p:nvPr userDrawn="1"/>
          </p:nvSpPr>
          <p:spPr>
            <a:xfrm>
              <a:off x="7949775" y="1"/>
              <a:ext cx="1194225" cy="910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pic>
          <p:nvPicPr>
            <p:cNvPr id="9" name="KCL-LOGO-UK-1.png">
              <a:extLst>
                <a:ext uri="{FF2B5EF4-FFF2-40B4-BE49-F238E27FC236}">
                  <a16:creationId xmlns:a16="http://schemas.microsoft.com/office/drawing/2014/main" id="{56E69839-3C72-4506-BFD8-426FEB20241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r:link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49775" y="258"/>
              <a:ext cx="1194225" cy="9094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2173299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56793"/>
            <a:ext cx="5384800" cy="426946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  <a:lvl2pPr>
              <a:defRPr sz="2130"/>
            </a:lvl2pPr>
            <a:lvl3pPr>
              <a:defRPr sz="1870"/>
            </a:lvl3pPr>
            <a:lvl4pPr>
              <a:defRPr sz="2133"/>
            </a:lvl4pPr>
            <a:lvl5pPr>
              <a:defRPr sz="2133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7276534-D227-482D-AC62-73FA3EB83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1838828-4598-4F42-85B1-C8EDFA983154}" type="datetimeFigureOut">
              <a:rPr lang="en-GB" smtClean="0"/>
              <a:t>20/01/2024</a:t>
            </a:fld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9FEEBE0-EE3E-44CA-9D29-BE798CB79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1" y="6356351"/>
            <a:ext cx="3860800" cy="36618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646E212-76A5-422F-A842-EDE34BF20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F3AB61-E3DD-4B08-A148-53C63CEFC201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itle 5"/>
          <p:cNvSpPr>
            <a:spLocks noGrp="1"/>
          </p:cNvSpPr>
          <p:nvPr>
            <p:ph type="title"/>
          </p:nvPr>
        </p:nvSpPr>
        <p:spPr>
          <a:xfrm>
            <a:off x="609600" y="793378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609625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15"/>
          <p:cNvSpPr>
            <a:spLocks noGrp="1"/>
          </p:cNvSpPr>
          <p:nvPr>
            <p:ph sz="quarter" idx="13"/>
          </p:nvPr>
        </p:nvSpPr>
        <p:spPr>
          <a:xfrm>
            <a:off x="609601" y="1628799"/>
            <a:ext cx="10972800" cy="453650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algn="r">
              <a:defRPr/>
            </a:lvl1pPr>
          </a:lstStyle>
          <a:p>
            <a:fld id="{A1838828-4598-4F42-85B1-C8EDFA983154}" type="datetimeFigureOut">
              <a:rPr lang="en-GB" smtClean="0"/>
              <a:t>20/01/2024</a:t>
            </a:fld>
            <a:endParaRPr lang="en-GB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0F3AB61-E3DD-4B08-A148-53C63CEFC201}" type="slidenum">
              <a:rPr lang="en-GB" smtClean="0"/>
              <a:t>‹#›</a:t>
            </a:fld>
            <a:endParaRPr lang="en-GB"/>
          </a:p>
        </p:txBody>
      </p:sp>
      <p:sp>
        <p:nvSpPr>
          <p:cNvPr id="15" name="Title 5"/>
          <p:cNvSpPr>
            <a:spLocks noGrp="1"/>
          </p:cNvSpPr>
          <p:nvPr>
            <p:ph type="title"/>
          </p:nvPr>
        </p:nvSpPr>
        <p:spPr>
          <a:xfrm>
            <a:off x="609600" y="793378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02332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rategy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15"/>
          <p:cNvSpPr>
            <a:spLocks noGrp="1"/>
          </p:cNvSpPr>
          <p:nvPr>
            <p:ph sz="quarter" idx="13"/>
          </p:nvPr>
        </p:nvSpPr>
        <p:spPr>
          <a:xfrm>
            <a:off x="609601" y="1628799"/>
            <a:ext cx="10972800" cy="453650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algn="r">
              <a:defRPr/>
            </a:lvl1pPr>
          </a:lstStyle>
          <a:p>
            <a:fld id="{A1838828-4598-4F42-85B1-C8EDFA983154}" type="datetimeFigureOut">
              <a:rPr lang="en-GB" smtClean="0"/>
              <a:t>20/01/2024</a:t>
            </a:fld>
            <a:endParaRPr lang="en-GB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0F3AB61-E3DD-4B08-A148-53C63CEFC201}" type="slidenum">
              <a:rPr lang="en-GB" smtClean="0"/>
              <a:t>‹#›</a:t>
            </a:fld>
            <a:endParaRPr lang="en-GB"/>
          </a:p>
        </p:txBody>
      </p:sp>
      <p:sp>
        <p:nvSpPr>
          <p:cNvPr id="15" name="Title 5"/>
          <p:cNvSpPr>
            <a:spLocks noGrp="1"/>
          </p:cNvSpPr>
          <p:nvPr>
            <p:ph type="title"/>
          </p:nvPr>
        </p:nvSpPr>
        <p:spPr>
          <a:xfrm>
            <a:off x="609600" y="793378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20353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91C3AB7-B446-4F72-ABF4-5CD8EB436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1838828-4598-4F42-85B1-C8EDFA983154}" type="datetimeFigureOut">
              <a:rPr lang="en-GB" smtClean="0"/>
              <a:t>20/01/2024</a:t>
            </a:fld>
            <a:endParaRPr lang="en-GB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A30E2C6-999F-4EDE-95E6-51D642113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F3AB61-E3DD-4B08-A148-53C63CEFC201}" type="slidenum">
              <a:rPr lang="en-GB" smtClean="0"/>
              <a:t>‹#›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2A6D1-940A-4FE1-91A1-99304940D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1" y="6356351"/>
            <a:ext cx="3860800" cy="36618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8381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0000" y="180000"/>
            <a:ext cx="11232000" cy="720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0000" y="1089220"/>
            <a:ext cx="11232000" cy="4856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0000" y="6498000"/>
            <a:ext cx="960000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00">
                <a:solidFill>
                  <a:schemeClr val="tx2"/>
                </a:solidFill>
                <a:latin typeface="Georgia"/>
                <a:cs typeface="Georgia"/>
              </a:defRPr>
            </a:lvl1pPr>
          </a:lstStyle>
          <a:p>
            <a:fld id="{A1838828-4598-4F42-85B1-C8EDFA983154}" type="datetimeFigureOut">
              <a:rPr lang="en-GB" smtClean="0"/>
              <a:t>20/01/2024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0000" y="6498000"/>
            <a:ext cx="9312000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00">
                <a:solidFill>
                  <a:schemeClr val="tx2"/>
                </a:solidFill>
                <a:latin typeface="Georgia"/>
                <a:cs typeface="Georgia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2000" y="6498000"/>
            <a:ext cx="960000" cy="360000"/>
          </a:xfrm>
          <a:prstGeom prst="rect">
            <a:avLst/>
          </a:prstGeom>
        </p:spPr>
        <p:txBody>
          <a:bodyPr vert="horz" lIns="91440" tIns="0" rIns="0" bIns="0" rtlCol="0" anchor="t" anchorCtr="0"/>
          <a:lstStyle>
            <a:lvl1pPr algn="r">
              <a:defRPr sz="1000">
                <a:solidFill>
                  <a:schemeClr val="tx2"/>
                </a:solidFill>
                <a:latin typeface="Georgia"/>
                <a:cs typeface="Georgia"/>
              </a:defRPr>
            </a:lvl1pPr>
          </a:lstStyle>
          <a:p>
            <a:fld id="{70F3AB61-E3DD-4B08-A148-53C63CEFC2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0763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</p:sldLayoutIdLst>
  <p:transition>
    <p:fade/>
  </p:transition>
  <p:txStyles>
    <p:titleStyle>
      <a:lvl1pPr algn="l" defTabSz="457200" rtl="0" eaLnBrk="1" latinLnBrk="0" hangingPunct="1">
        <a:spcBef>
          <a:spcPct val="0"/>
        </a:spcBef>
        <a:buNone/>
        <a:defRPr sz="3200" kern="1200">
          <a:solidFill>
            <a:srgbClr val="0A2D50"/>
          </a:solidFill>
          <a:latin typeface="Impact"/>
          <a:ea typeface="+mj-ea"/>
          <a:cs typeface="Impact"/>
        </a:defRPr>
      </a:lvl1pPr>
    </p:titleStyle>
    <p:bodyStyle>
      <a:lvl1pPr marL="269875" indent="-269875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Georgia"/>
          <a:ea typeface="+mn-ea"/>
          <a:cs typeface="Georgia"/>
        </a:defRPr>
      </a:lvl1pPr>
      <a:lvl2pPr marL="539750" indent="-269875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Georgia"/>
          <a:ea typeface="+mn-ea"/>
          <a:cs typeface="Georgia"/>
        </a:defRPr>
      </a:lvl2pPr>
      <a:lvl3pPr marL="809625" indent="-269875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Georgia"/>
          <a:ea typeface="+mn-ea"/>
          <a:cs typeface="Georgia"/>
        </a:defRPr>
      </a:lvl3pPr>
      <a:lvl4pPr marL="1079500" indent="-269875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Georgia"/>
          <a:ea typeface="+mn-ea"/>
          <a:cs typeface="Georgia"/>
        </a:defRPr>
      </a:lvl4pPr>
      <a:lvl5pPr marL="1341438" indent="-261938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Georgia"/>
          <a:ea typeface="+mn-ea"/>
          <a:cs typeface="Georgia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lab.com/rsparks/7mri0070.git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lab.com/rsparks/7mri0070.git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docs/gittutorial" TargetMode="External"/><Relationship Id="rId2" Type="http://schemas.openxmlformats.org/officeDocument/2006/relationships/hyperlink" Target="http://sethrobertson.github.io/GitFixUm/fixup.html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92984BE8-D9D7-4702-AC20-1B3D92B8229D}"/>
              </a:ext>
            </a:extLst>
          </p:cNvPr>
          <p:cNvSpPr txBox="1"/>
          <p:nvPr/>
        </p:nvSpPr>
        <p:spPr>
          <a:xfrm>
            <a:off x="1488557" y="2340821"/>
            <a:ext cx="85804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+mj-lt"/>
              </a:rPr>
              <a:t>Version Control &amp; Git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E76D0D-5B90-4B3E-4048-7859462A2562}"/>
              </a:ext>
            </a:extLst>
          </p:cNvPr>
          <p:cNvSpPr txBox="1"/>
          <p:nvPr/>
        </p:nvSpPr>
        <p:spPr>
          <a:xfrm>
            <a:off x="-5263" y="1509824"/>
            <a:ext cx="12194315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algn="ctr"/>
            <a:r>
              <a:rPr lang="en-US" sz="4800" dirty="0">
                <a:latin typeface="+mj-lt"/>
                <a:ea typeface="ＭＳ Ｐゴシック"/>
              </a:rPr>
              <a:t>Image-guide Navigation for Robotics</a:t>
            </a:r>
            <a:endParaRPr lang="en-US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6DB3E955-567D-75F8-6301-01EE0A89D847}"/>
              </a:ext>
            </a:extLst>
          </p:cNvPr>
          <p:cNvSpPr txBox="1"/>
          <p:nvPr/>
        </p:nvSpPr>
        <p:spPr>
          <a:xfrm>
            <a:off x="154709" y="4882490"/>
            <a:ext cx="70493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2400" dirty="0">
                <a:latin typeface="+mn-lt"/>
              </a:rPr>
              <a:t>Rachel Sparks, Ph.D.</a:t>
            </a:r>
          </a:p>
          <a:p>
            <a:r>
              <a:rPr lang="en-US" sz="2400" dirty="0">
                <a:latin typeface="+mn-lt"/>
              </a:rPr>
              <a:t>Rachel.sparks@kcl.ac.uk</a:t>
            </a:r>
          </a:p>
          <a:p>
            <a:r>
              <a:rPr lang="en-US" sz="2400" dirty="0">
                <a:latin typeface="+mj-lt"/>
              </a:rPr>
              <a:t>Lecturer in Surgical &amp; Interventional Engineering</a:t>
            </a:r>
          </a:p>
          <a:p>
            <a:r>
              <a:rPr lang="en-US" sz="2400" dirty="0">
                <a:latin typeface="+mj-lt"/>
              </a:rPr>
              <a:t>School of Biomedical Engineering &amp; Imaging Sciences</a:t>
            </a:r>
          </a:p>
        </p:txBody>
      </p:sp>
    </p:spTree>
    <p:extLst>
      <p:ext uri="{BB962C8B-B14F-4D97-AF65-F5344CB8AC3E}">
        <p14:creationId xmlns:p14="http://schemas.microsoft.com/office/powerpoint/2010/main" val="902491239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use Version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At its most basic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Allows tracking of changes in files</a:t>
            </a:r>
          </a:p>
          <a:p>
            <a:pPr lvl="5"/>
            <a:r>
              <a:rPr lang="en-GB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diff </a:t>
            </a:r>
            <a:r>
              <a:rPr lang="en-GB" dirty="0"/>
              <a:t>to compare individual “branches” or individual files</a:t>
            </a:r>
          </a:p>
          <a:p>
            <a:pPr lvl="5"/>
            <a:r>
              <a:rPr lang="en-GB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log </a:t>
            </a:r>
            <a:r>
              <a:rPr lang="en-GB" dirty="0"/>
              <a:t>to see commits over time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Allows storage of files in one remote place</a:t>
            </a:r>
          </a:p>
          <a:p>
            <a:pPr lvl="5"/>
            <a:r>
              <a:rPr lang="en-GB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clone </a:t>
            </a:r>
            <a:r>
              <a:rPr lang="en-GB" dirty="0"/>
              <a:t>&lt;</a:t>
            </a:r>
            <a:r>
              <a:rPr lang="en-GB" dirty="0" err="1"/>
              <a:t>url</a:t>
            </a:r>
            <a:r>
              <a:rPr lang="en-GB" dirty="0"/>
              <a:t>&gt; to clone from source </a:t>
            </a:r>
            <a:r>
              <a:rPr lang="en-GB" dirty="0" err="1"/>
              <a:t>url</a:t>
            </a:r>
            <a:r>
              <a:rPr lang="en-GB" dirty="0"/>
              <a:t> to local file</a:t>
            </a:r>
          </a:p>
          <a:p>
            <a:pPr lvl="5"/>
            <a:r>
              <a:rPr lang="en-GB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pull </a:t>
            </a:r>
            <a:r>
              <a:rPr lang="en-GB" dirty="0"/>
              <a:t>to retrieve changes on server</a:t>
            </a:r>
          </a:p>
          <a:p>
            <a:pPr lvl="5"/>
            <a:r>
              <a:rPr lang="en-GB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push </a:t>
            </a:r>
            <a:r>
              <a:rPr lang="en-GB" dirty="0"/>
              <a:t>to put changes onto server</a:t>
            </a:r>
          </a:p>
          <a:p>
            <a:pPr marL="914400" lvl="2" indent="0">
              <a:buNone/>
            </a:pP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4195316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874"/>
          <a:stretch/>
        </p:blipFill>
        <p:spPr>
          <a:xfrm>
            <a:off x="5314220" y="3379483"/>
            <a:ext cx="1866973" cy="155512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Code Repository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4422229" cy="4351338"/>
          </a:xfrm>
        </p:spPr>
        <p:txBody>
          <a:bodyPr>
            <a:normAutofit/>
          </a:bodyPr>
          <a:lstStyle/>
          <a:p>
            <a:pPr lvl="2"/>
            <a:r>
              <a:rPr lang="en-GB" dirty="0"/>
              <a:t>Version control gives users ways to access a repository (code located on a server)</a:t>
            </a:r>
          </a:p>
          <a:p>
            <a:pPr lvl="2"/>
            <a:r>
              <a:rPr lang="en-GB" dirty="0"/>
              <a:t>Each user can </a:t>
            </a:r>
            <a:r>
              <a:rPr lang="en-GB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pull </a:t>
            </a:r>
            <a:r>
              <a:rPr lang="en-GB" dirty="0"/>
              <a:t>changes from the server</a:t>
            </a:r>
          </a:p>
          <a:p>
            <a:pPr lvl="2"/>
            <a:r>
              <a:rPr lang="en-GB" dirty="0"/>
              <a:t>Each user can make changes to their own copy </a:t>
            </a:r>
          </a:p>
          <a:p>
            <a:pPr lvl="2"/>
            <a:r>
              <a:rPr lang="en-GB" dirty="0"/>
              <a:t>Each user can </a:t>
            </a:r>
            <a:r>
              <a:rPr lang="en-GB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push </a:t>
            </a:r>
            <a:r>
              <a:rPr lang="en-GB" dirty="0"/>
              <a:t>changes back onto the server</a:t>
            </a:r>
          </a:p>
          <a:p>
            <a:endParaRPr lang="en-GB" dirty="0"/>
          </a:p>
          <a:p>
            <a:pPr marL="914400" lvl="2" indent="0">
              <a:buNone/>
            </a:pPr>
            <a:r>
              <a:rPr lang="en-GB" dirty="0"/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1664" y="1406909"/>
            <a:ext cx="857906" cy="9981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558659" y="3969134"/>
            <a:ext cx="1399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Dev A</a:t>
            </a:r>
          </a:p>
        </p:txBody>
      </p:sp>
      <p:sp>
        <p:nvSpPr>
          <p:cNvPr id="7" name="Left-Right Arrow 6"/>
          <p:cNvSpPr/>
          <p:nvPr/>
        </p:nvSpPr>
        <p:spPr>
          <a:xfrm rot="18760441">
            <a:off x="6716111" y="2581604"/>
            <a:ext cx="930165" cy="496614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Left-Right Arrow 7"/>
          <p:cNvSpPr/>
          <p:nvPr/>
        </p:nvSpPr>
        <p:spPr>
          <a:xfrm rot="16200000">
            <a:off x="7916919" y="2722180"/>
            <a:ext cx="930165" cy="496614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Left-Right Arrow 8"/>
          <p:cNvSpPr/>
          <p:nvPr/>
        </p:nvSpPr>
        <p:spPr>
          <a:xfrm rot="14063264">
            <a:off x="9092604" y="2679431"/>
            <a:ext cx="930165" cy="496614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874"/>
          <a:stretch/>
        </p:blipFill>
        <p:spPr>
          <a:xfrm>
            <a:off x="7500371" y="3823545"/>
            <a:ext cx="1866973" cy="155512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874"/>
          <a:stretch/>
        </p:blipFill>
        <p:spPr>
          <a:xfrm>
            <a:off x="9839859" y="3305911"/>
            <a:ext cx="1866973" cy="15551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067800" y="1855076"/>
            <a:ext cx="1399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1068" y="4416441"/>
            <a:ext cx="1399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Dev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18670" y="3898807"/>
            <a:ext cx="1399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Dev C</a:t>
            </a:r>
          </a:p>
        </p:txBody>
      </p:sp>
    </p:spTree>
    <p:extLst>
      <p:ext uri="{BB962C8B-B14F-4D97-AF65-F5344CB8AC3E}">
        <p14:creationId xmlns:p14="http://schemas.microsoft.com/office/powerpoint/2010/main" val="171260297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 animBg="1"/>
      <p:bldP spid="9" grpId="0" animBg="1"/>
      <p:bldP spid="15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Code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/>
            <a:r>
              <a:rPr lang="en-GB" dirty="0"/>
              <a:t>Track desired changes with </a:t>
            </a:r>
            <a:r>
              <a:rPr lang="en-GB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commit</a:t>
            </a:r>
          </a:p>
          <a:p>
            <a:pPr lvl="4"/>
            <a:r>
              <a:rPr lang="en-GB" dirty="0">
                <a:cs typeface="Courier New" panose="02070309020205020404" pitchFamily="49" charset="0"/>
              </a:rPr>
              <a:t>Associate the file changes with a commit</a:t>
            </a:r>
          </a:p>
          <a:p>
            <a:pPr lvl="4"/>
            <a:r>
              <a:rPr lang="en-GB" dirty="0">
                <a:cs typeface="Courier New" panose="02070309020205020404" pitchFamily="49" charset="0"/>
              </a:rPr>
              <a:t>Message to describe the changes – nice to provide quick summary of changes</a:t>
            </a:r>
          </a:p>
          <a:p>
            <a:pPr lvl="2"/>
            <a:r>
              <a:rPr lang="en-GB" dirty="0">
                <a:cs typeface="Courier New" panose="02070309020205020404" pitchFamily="49" charset="0"/>
              </a:rPr>
              <a:t>Each commit represented as a node </a:t>
            </a:r>
          </a:p>
          <a:p>
            <a:pPr lvl="4"/>
            <a:r>
              <a:rPr lang="en-GB" dirty="0">
                <a:cs typeface="Courier New" panose="02070309020205020404" pitchFamily="49" charset="0"/>
              </a:rPr>
              <a:t>Nodes are sequential</a:t>
            </a:r>
          </a:p>
          <a:p>
            <a:pPr lvl="4"/>
            <a:r>
              <a:rPr lang="en-GB" dirty="0">
                <a:cs typeface="Courier New" panose="02070309020205020404" pitchFamily="49" charset="0"/>
              </a:rPr>
              <a:t>Can have many parallel nodes – typically referred to as branches</a:t>
            </a:r>
          </a:p>
          <a:p>
            <a:pPr lvl="2"/>
            <a:r>
              <a:rPr lang="en-GB" dirty="0">
                <a:cs typeface="Courier New" panose="02070309020205020404" pitchFamily="49" charset="0"/>
              </a:rPr>
              <a:t>A series of commits keeps a sense of “history”</a:t>
            </a:r>
          </a:p>
          <a:p>
            <a:pPr lvl="4"/>
            <a:r>
              <a:rPr lang="en-GB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log </a:t>
            </a:r>
            <a:r>
              <a:rPr lang="en-GB" dirty="0">
                <a:cs typeface="Courier New" panose="02070309020205020404" pitchFamily="49" charset="0"/>
              </a:rPr>
              <a:t>to read the history of commits for a file or code database</a:t>
            </a:r>
          </a:p>
          <a:p>
            <a:pPr lvl="4"/>
            <a:r>
              <a:rPr lang="en-GB" dirty="0">
                <a:cs typeface="Courier New" panose="02070309020205020404" pitchFamily="49" charset="0"/>
              </a:rPr>
              <a:t>Check for local file changes using </a:t>
            </a:r>
            <a:r>
              <a:rPr lang="en-GB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diff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E913E10-625C-4CD6-AD40-F7F92620C5D9}"/>
              </a:ext>
            </a:extLst>
          </p:cNvPr>
          <p:cNvSpPr/>
          <p:nvPr/>
        </p:nvSpPr>
        <p:spPr>
          <a:xfrm>
            <a:off x="3167023" y="4832903"/>
            <a:ext cx="504645" cy="5348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87FA24C-6503-44F3-80D5-7157006259A2}"/>
              </a:ext>
            </a:extLst>
          </p:cNvPr>
          <p:cNvSpPr/>
          <p:nvPr/>
        </p:nvSpPr>
        <p:spPr>
          <a:xfrm>
            <a:off x="4992947" y="4832903"/>
            <a:ext cx="504645" cy="5348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377F755-FAD0-457F-85ED-1EFE3C079232}"/>
              </a:ext>
            </a:extLst>
          </p:cNvPr>
          <p:cNvSpPr/>
          <p:nvPr/>
        </p:nvSpPr>
        <p:spPr>
          <a:xfrm>
            <a:off x="6566548" y="4832903"/>
            <a:ext cx="504645" cy="5348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Curved Connector 11">
            <a:extLst>
              <a:ext uri="{FF2B5EF4-FFF2-40B4-BE49-F238E27FC236}">
                <a16:creationId xmlns:a16="http://schemas.microsoft.com/office/drawing/2014/main" id="{6FAF559E-75D0-4D29-9FA2-42EE1578509B}"/>
              </a:ext>
            </a:extLst>
          </p:cNvPr>
          <p:cNvCxnSpPr>
            <a:stCxn id="4" idx="6"/>
            <a:endCxn id="5" idx="2"/>
          </p:cNvCxnSpPr>
          <p:nvPr/>
        </p:nvCxnSpPr>
        <p:spPr>
          <a:xfrm>
            <a:off x="3671668" y="5100322"/>
            <a:ext cx="1321279" cy="12700"/>
          </a:xfrm>
          <a:prstGeom prst="curvedConnector3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urved Connector 13">
            <a:extLst>
              <a:ext uri="{FF2B5EF4-FFF2-40B4-BE49-F238E27FC236}">
                <a16:creationId xmlns:a16="http://schemas.microsoft.com/office/drawing/2014/main" id="{31736CD4-8104-4DDD-88D3-718FEFC67CB8}"/>
              </a:ext>
            </a:extLst>
          </p:cNvPr>
          <p:cNvCxnSpPr>
            <a:stCxn id="5" idx="6"/>
            <a:endCxn id="6" idx="2"/>
          </p:cNvCxnSpPr>
          <p:nvPr/>
        </p:nvCxnSpPr>
        <p:spPr>
          <a:xfrm>
            <a:off x="5497592" y="5100322"/>
            <a:ext cx="1068956" cy="12700"/>
          </a:xfrm>
          <a:prstGeom prst="curvedConnector3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F110E8C0-7364-4486-BE4A-38531CD70C8D}"/>
              </a:ext>
            </a:extLst>
          </p:cNvPr>
          <p:cNvSpPr/>
          <p:nvPr/>
        </p:nvSpPr>
        <p:spPr>
          <a:xfrm>
            <a:off x="7635504" y="4832901"/>
            <a:ext cx="504645" cy="5348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Curved Connector 28">
            <a:extLst>
              <a:ext uri="{FF2B5EF4-FFF2-40B4-BE49-F238E27FC236}">
                <a16:creationId xmlns:a16="http://schemas.microsoft.com/office/drawing/2014/main" id="{0726FFC7-C3A9-4F8A-9A5B-CD5E75756150}"/>
              </a:ext>
            </a:extLst>
          </p:cNvPr>
          <p:cNvCxnSpPr>
            <a:stCxn id="6" idx="6"/>
            <a:endCxn id="9" idx="2"/>
          </p:cNvCxnSpPr>
          <p:nvPr/>
        </p:nvCxnSpPr>
        <p:spPr>
          <a:xfrm flipV="1">
            <a:off x="7071193" y="5100320"/>
            <a:ext cx="564311" cy="2"/>
          </a:xfrm>
          <a:prstGeom prst="curvedConnector3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A941B625-46E7-4CE8-8F2C-42409998C8DA}"/>
              </a:ext>
            </a:extLst>
          </p:cNvPr>
          <p:cNvSpPr/>
          <p:nvPr/>
        </p:nvSpPr>
        <p:spPr>
          <a:xfrm>
            <a:off x="6818871" y="5831965"/>
            <a:ext cx="504645" cy="53483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Curved Connector 20">
            <a:extLst>
              <a:ext uri="{FF2B5EF4-FFF2-40B4-BE49-F238E27FC236}">
                <a16:creationId xmlns:a16="http://schemas.microsoft.com/office/drawing/2014/main" id="{4FD701C1-6B19-422D-9335-81B1A5B2B85A}"/>
              </a:ext>
            </a:extLst>
          </p:cNvPr>
          <p:cNvCxnSpPr>
            <a:endCxn id="11" idx="2"/>
          </p:cNvCxnSpPr>
          <p:nvPr/>
        </p:nvCxnSpPr>
        <p:spPr>
          <a:xfrm>
            <a:off x="5497592" y="5113022"/>
            <a:ext cx="1321279" cy="986362"/>
          </a:xfrm>
          <a:prstGeom prst="curved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9BEF29AC-366B-473A-B0E0-682AA59FC870}"/>
              </a:ext>
            </a:extLst>
          </p:cNvPr>
          <p:cNvSpPr/>
          <p:nvPr/>
        </p:nvSpPr>
        <p:spPr>
          <a:xfrm>
            <a:off x="7889264" y="5831965"/>
            <a:ext cx="504645" cy="53483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Curved Connector 25">
            <a:extLst>
              <a:ext uri="{FF2B5EF4-FFF2-40B4-BE49-F238E27FC236}">
                <a16:creationId xmlns:a16="http://schemas.microsoft.com/office/drawing/2014/main" id="{9760CACE-E4DD-44AE-8067-48FDA46248C4}"/>
              </a:ext>
            </a:extLst>
          </p:cNvPr>
          <p:cNvCxnSpPr>
            <a:stCxn id="11" idx="6"/>
            <a:endCxn id="13" idx="2"/>
          </p:cNvCxnSpPr>
          <p:nvPr/>
        </p:nvCxnSpPr>
        <p:spPr>
          <a:xfrm>
            <a:off x="7323516" y="6099384"/>
            <a:ext cx="565748" cy="12700"/>
          </a:xfrm>
          <a:prstGeom prst="curvedConnector3">
            <a:avLst/>
          </a:prstGeom>
          <a:ln w="190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426916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  <p:bldP spid="11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874"/>
          <a:stretch/>
        </p:blipFill>
        <p:spPr>
          <a:xfrm>
            <a:off x="5314220" y="3379483"/>
            <a:ext cx="1866973" cy="155512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Code Repository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4422229" cy="4594882"/>
          </a:xfrm>
        </p:spPr>
        <p:txBody>
          <a:bodyPr>
            <a:normAutofit/>
          </a:bodyPr>
          <a:lstStyle/>
          <a:p>
            <a:pPr lvl="2"/>
            <a:r>
              <a:rPr lang="en-GB" dirty="0"/>
              <a:t>Distributed code development model gives rise to certain issues</a:t>
            </a:r>
          </a:p>
          <a:p>
            <a:pPr lvl="2"/>
            <a:r>
              <a:rPr lang="en-GB" dirty="0"/>
              <a:t>Dev A and Dev B could make different changes to the same file – which changes should we keep</a:t>
            </a:r>
          </a:p>
          <a:p>
            <a:pPr lvl="2"/>
            <a:r>
              <a:rPr lang="en-GB" dirty="0"/>
              <a:t>Dev C may need to update their code base to use changes from Dev B</a:t>
            </a:r>
          </a:p>
          <a:p>
            <a:pPr marL="914400" lvl="2" indent="0">
              <a:buNone/>
            </a:pPr>
            <a:r>
              <a:rPr lang="en-GB" dirty="0"/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1664" y="1406909"/>
            <a:ext cx="857906" cy="9981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558659" y="3969134"/>
            <a:ext cx="1399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Dev A</a:t>
            </a:r>
          </a:p>
        </p:txBody>
      </p:sp>
      <p:sp>
        <p:nvSpPr>
          <p:cNvPr id="7" name="Left-Right Arrow 6"/>
          <p:cNvSpPr/>
          <p:nvPr/>
        </p:nvSpPr>
        <p:spPr>
          <a:xfrm rot="18760441">
            <a:off x="6716111" y="2581604"/>
            <a:ext cx="930165" cy="496614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Left-Right Arrow 7"/>
          <p:cNvSpPr/>
          <p:nvPr/>
        </p:nvSpPr>
        <p:spPr>
          <a:xfrm rot="16200000">
            <a:off x="7916919" y="2722180"/>
            <a:ext cx="930165" cy="496614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Left-Right Arrow 8"/>
          <p:cNvSpPr/>
          <p:nvPr/>
        </p:nvSpPr>
        <p:spPr>
          <a:xfrm rot="14063264">
            <a:off x="9092604" y="2679431"/>
            <a:ext cx="930165" cy="496614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874"/>
          <a:stretch/>
        </p:blipFill>
        <p:spPr>
          <a:xfrm>
            <a:off x="7500371" y="3823545"/>
            <a:ext cx="1866973" cy="155512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874"/>
          <a:stretch/>
        </p:blipFill>
        <p:spPr>
          <a:xfrm>
            <a:off x="9839859" y="3305911"/>
            <a:ext cx="1866973" cy="15551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067800" y="1855076"/>
            <a:ext cx="1399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1068" y="4416441"/>
            <a:ext cx="1399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Dev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18670" y="3898807"/>
            <a:ext cx="1399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Dev C</a:t>
            </a:r>
          </a:p>
        </p:txBody>
      </p:sp>
      <p:sp>
        <p:nvSpPr>
          <p:cNvPr id="4" name="Left-Right Arrow 3"/>
          <p:cNvSpPr/>
          <p:nvPr/>
        </p:nvSpPr>
        <p:spPr>
          <a:xfrm rot="2041522">
            <a:off x="6865360" y="4397865"/>
            <a:ext cx="989286" cy="382201"/>
          </a:xfrm>
          <a:prstGeom prst="leftRightArrow">
            <a:avLst>
              <a:gd name="adj1" fmla="val 25185"/>
              <a:gd name="adj2" fmla="val 39043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/>
          <p:cNvSpPr txBox="1"/>
          <p:nvPr/>
        </p:nvSpPr>
        <p:spPr>
          <a:xfrm>
            <a:off x="6893973" y="4386898"/>
            <a:ext cx="1040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Conflict!</a:t>
            </a:r>
          </a:p>
        </p:txBody>
      </p:sp>
      <p:sp>
        <p:nvSpPr>
          <p:cNvPr id="20" name="Right Arrow 19"/>
          <p:cNvSpPr/>
          <p:nvPr/>
        </p:nvSpPr>
        <p:spPr>
          <a:xfrm rot="19141248">
            <a:off x="9107027" y="4300587"/>
            <a:ext cx="989639" cy="204141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/>
          <p:cNvSpPr txBox="1"/>
          <p:nvPr/>
        </p:nvSpPr>
        <p:spPr>
          <a:xfrm>
            <a:off x="8952643" y="4178083"/>
            <a:ext cx="1467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Out of date!</a:t>
            </a:r>
          </a:p>
        </p:txBody>
      </p:sp>
    </p:spTree>
    <p:extLst>
      <p:ext uri="{BB962C8B-B14F-4D97-AF65-F5344CB8AC3E}">
        <p14:creationId xmlns:p14="http://schemas.microsoft.com/office/powerpoint/2010/main" val="257054315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/>
      <p:bldP spid="20" grpId="0" animBg="1"/>
      <p:bldP spid="19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Version Control – Branch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/>
            <a:r>
              <a:rPr lang="en-GB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pull </a:t>
            </a:r>
            <a:r>
              <a:rPr lang="en-GB" dirty="0">
                <a:cs typeface="Courier New" panose="02070309020205020404" pitchFamily="49" charset="0"/>
              </a:rPr>
              <a:t>will query the changes to the server and then try to combine your local change with the remove changes</a:t>
            </a:r>
          </a:p>
          <a:p>
            <a:pPr lvl="2"/>
            <a:r>
              <a:rPr lang="en-GB" dirty="0">
                <a:cs typeface="Courier New" panose="02070309020205020404" pitchFamily="49" charset="0"/>
              </a:rPr>
              <a:t>To integrate changes across branches with </a:t>
            </a:r>
            <a:r>
              <a:rPr lang="en-GB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merge</a:t>
            </a:r>
          </a:p>
          <a:p>
            <a:pPr lvl="4"/>
            <a:r>
              <a:rPr lang="en-GB" dirty="0">
                <a:cs typeface="Courier New" panose="02070309020205020404" pitchFamily="49" charset="0"/>
              </a:rPr>
              <a:t>Will check changes between branches using history</a:t>
            </a:r>
          </a:p>
          <a:p>
            <a:pPr lvl="4"/>
            <a:r>
              <a:rPr lang="en-GB" dirty="0">
                <a:cs typeface="Courier New" panose="02070309020205020404" pitchFamily="49" charset="0"/>
              </a:rPr>
              <a:t>If there are conflicts the user is responsible for resolving them</a:t>
            </a:r>
          </a:p>
          <a:p>
            <a:pPr lvl="2"/>
            <a:r>
              <a:rPr lang="en-GB" dirty="0">
                <a:cs typeface="Courier New" panose="02070309020205020404" pitchFamily="49" charset="0"/>
              </a:rPr>
              <a:t>Easy way to “undo” changes</a:t>
            </a:r>
          </a:p>
          <a:p>
            <a:pPr lvl="4"/>
            <a:r>
              <a:rPr lang="en-GB" dirty="0">
                <a:cs typeface="Courier New" panose="02070309020205020404" pitchFamily="49" charset="0"/>
              </a:rPr>
              <a:t>Roll back changes </a:t>
            </a:r>
            <a:r>
              <a:rPr lang="en-GB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revert HEAD~2</a:t>
            </a:r>
          </a:p>
          <a:p>
            <a:pPr lvl="4"/>
            <a:r>
              <a:rPr lang="en-GB" dirty="0">
                <a:cs typeface="Courier New" panose="02070309020205020404" pitchFamily="49" charset="0"/>
              </a:rPr>
              <a:t>Undo local changes </a:t>
            </a:r>
            <a:r>
              <a:rPr lang="en-GB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stash </a:t>
            </a:r>
            <a:r>
              <a:rPr lang="en-GB" dirty="0">
                <a:cs typeface="Courier New" panose="02070309020205020404" pitchFamily="49" charset="0"/>
              </a:rPr>
              <a:t>(</a:t>
            </a:r>
            <a:r>
              <a:rPr lang="en-GB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stash pop</a:t>
            </a:r>
            <a:r>
              <a:rPr lang="en-GB" dirty="0">
                <a:cs typeface="Courier New" panose="02070309020205020404" pitchFamily="49" charset="0"/>
              </a:rPr>
              <a:t> to reapply local changes)</a:t>
            </a:r>
          </a:p>
          <a:p>
            <a:pPr lvl="4"/>
            <a:endParaRPr lang="en-GB" dirty="0">
              <a:cs typeface="Courier New" panose="02070309020205020404" pitchFamily="49" charset="0"/>
            </a:endParaRPr>
          </a:p>
        </p:txBody>
      </p:sp>
      <p:sp>
        <p:nvSpPr>
          <p:cNvPr id="4" name="AutoShape 2" descr="Image result for git branch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Oval 7"/>
          <p:cNvSpPr/>
          <p:nvPr/>
        </p:nvSpPr>
        <p:spPr>
          <a:xfrm>
            <a:off x="3284762" y="4510613"/>
            <a:ext cx="504645" cy="5348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/>
          <p:cNvSpPr/>
          <p:nvPr/>
        </p:nvSpPr>
        <p:spPr>
          <a:xfrm>
            <a:off x="5110686" y="4510613"/>
            <a:ext cx="504645" cy="5348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/>
          <p:cNvSpPr/>
          <p:nvPr/>
        </p:nvSpPr>
        <p:spPr>
          <a:xfrm>
            <a:off x="6684287" y="4510613"/>
            <a:ext cx="504645" cy="5348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Curved Connector 11"/>
          <p:cNvCxnSpPr>
            <a:stCxn id="8" idx="6"/>
            <a:endCxn id="9" idx="2"/>
          </p:cNvCxnSpPr>
          <p:nvPr/>
        </p:nvCxnSpPr>
        <p:spPr>
          <a:xfrm>
            <a:off x="3789407" y="4778032"/>
            <a:ext cx="1321279" cy="12700"/>
          </a:xfrm>
          <a:prstGeom prst="curvedConnector3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urved Connector 13"/>
          <p:cNvCxnSpPr>
            <a:stCxn id="9" idx="6"/>
            <a:endCxn id="10" idx="2"/>
          </p:cNvCxnSpPr>
          <p:nvPr/>
        </p:nvCxnSpPr>
        <p:spPr>
          <a:xfrm>
            <a:off x="5615331" y="4778032"/>
            <a:ext cx="1068956" cy="12700"/>
          </a:xfrm>
          <a:prstGeom prst="curvedConnector3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110686" y="5496975"/>
            <a:ext cx="504645" cy="53483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" name="Curved Connector 20"/>
          <p:cNvCxnSpPr>
            <a:stCxn id="8" idx="6"/>
            <a:endCxn id="19" idx="2"/>
          </p:cNvCxnSpPr>
          <p:nvPr/>
        </p:nvCxnSpPr>
        <p:spPr>
          <a:xfrm>
            <a:off x="3789407" y="4778032"/>
            <a:ext cx="1321279" cy="986362"/>
          </a:xfrm>
          <a:prstGeom prst="curved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6181079" y="5496975"/>
            <a:ext cx="504645" cy="53483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6" name="Curved Connector 25"/>
          <p:cNvCxnSpPr>
            <a:stCxn id="19" idx="6"/>
            <a:endCxn id="24" idx="2"/>
          </p:cNvCxnSpPr>
          <p:nvPr/>
        </p:nvCxnSpPr>
        <p:spPr>
          <a:xfrm>
            <a:off x="5615331" y="5764394"/>
            <a:ext cx="565748" cy="12700"/>
          </a:xfrm>
          <a:prstGeom prst="curvedConnector3">
            <a:avLst/>
          </a:prstGeom>
          <a:ln w="190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7753243" y="4510611"/>
            <a:ext cx="504645" cy="5348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9" name="Curved Connector 28"/>
          <p:cNvCxnSpPr>
            <a:stCxn id="10" idx="6"/>
            <a:endCxn id="28" idx="2"/>
          </p:cNvCxnSpPr>
          <p:nvPr/>
        </p:nvCxnSpPr>
        <p:spPr>
          <a:xfrm flipV="1">
            <a:off x="7188932" y="4778030"/>
            <a:ext cx="564311" cy="2"/>
          </a:xfrm>
          <a:prstGeom prst="curvedConnector3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urved Connector 33"/>
          <p:cNvCxnSpPr>
            <a:stCxn id="24" idx="6"/>
            <a:endCxn id="28" idx="2"/>
          </p:cNvCxnSpPr>
          <p:nvPr/>
        </p:nvCxnSpPr>
        <p:spPr>
          <a:xfrm flipV="1">
            <a:off x="6685724" y="4778030"/>
            <a:ext cx="1067519" cy="986364"/>
          </a:xfrm>
          <a:prstGeom prst="curved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E83FC777-CFE7-4666-99DE-A4622979D111}"/>
              </a:ext>
            </a:extLst>
          </p:cNvPr>
          <p:cNvSpPr/>
          <p:nvPr/>
        </p:nvSpPr>
        <p:spPr>
          <a:xfrm>
            <a:off x="7298724" y="4399005"/>
            <a:ext cx="1252152" cy="790831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1F25852-B475-4433-8309-5FB04E20EBB1}"/>
              </a:ext>
            </a:extLst>
          </p:cNvPr>
          <p:cNvSpPr/>
          <p:nvPr/>
        </p:nvSpPr>
        <p:spPr>
          <a:xfrm>
            <a:off x="4770234" y="4399005"/>
            <a:ext cx="1252152" cy="790831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45125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4" grpId="0" animBg="1"/>
      <p:bldP spid="5" grpId="0" animBg="1"/>
      <p:bldP spid="5" grpId="1" animBg="1"/>
      <p:bldP spid="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Version Control – Master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/>
            <a:r>
              <a:rPr lang="en-GB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merge</a:t>
            </a:r>
            <a:r>
              <a:rPr lang="en-GB" dirty="0">
                <a:cs typeface="Courier New" panose="02070309020205020404" pitchFamily="49" charset="0"/>
              </a:rPr>
              <a:t> has the potential to break things</a:t>
            </a:r>
          </a:p>
          <a:p>
            <a:pPr lvl="4"/>
            <a:r>
              <a:rPr lang="en-GB" dirty="0">
                <a:cs typeface="Courier New" panose="02070309020205020404" pitchFamily="49" charset="0"/>
              </a:rPr>
              <a:t>Git only considers items conflicts it the same line has been altered by the same person</a:t>
            </a:r>
          </a:p>
          <a:p>
            <a:pPr lvl="4"/>
            <a:r>
              <a:rPr lang="en-GB" dirty="0">
                <a:cs typeface="Courier New" panose="02070309020205020404" pitchFamily="49" charset="0"/>
              </a:rPr>
              <a:t>If two people fix a bug in two different ways git will apply both changes</a:t>
            </a:r>
          </a:p>
          <a:p>
            <a:pPr lvl="2"/>
            <a:r>
              <a:rPr lang="en-GB" dirty="0">
                <a:cs typeface="Courier New" panose="02070309020205020404" pitchFamily="49" charset="0"/>
              </a:rPr>
              <a:t>To deal with this most projects have a “master branch” </a:t>
            </a:r>
          </a:p>
          <a:p>
            <a:pPr lvl="4"/>
            <a:r>
              <a:rPr lang="en-GB" dirty="0">
                <a:cs typeface="Courier New" panose="02070309020205020404" pitchFamily="49" charset="0"/>
              </a:rPr>
              <a:t>Branch with the most up to date working version of the software</a:t>
            </a:r>
          </a:p>
          <a:p>
            <a:pPr lvl="4"/>
            <a:r>
              <a:rPr lang="en-GB" dirty="0">
                <a:cs typeface="Courier New" panose="02070309020205020404" pitchFamily="49" charset="0"/>
              </a:rPr>
              <a:t>Often times continuous integration (CI) used to only allow people to merge to master if their code passes unit tests</a:t>
            </a:r>
          </a:p>
          <a:p>
            <a:endParaRPr lang="en-GB" dirty="0">
              <a:cs typeface="Courier New" panose="02070309020205020404" pitchFamily="49" charset="0"/>
            </a:endParaRPr>
          </a:p>
        </p:txBody>
      </p:sp>
      <p:sp>
        <p:nvSpPr>
          <p:cNvPr id="4" name="AutoShape 2" descr="Image result for git branch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0ABD98-9F80-404D-B4A4-419EE40FC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901986" y="2061725"/>
            <a:ext cx="2155087" cy="59911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C30142-E671-4465-800B-CB2B9CA72038}"/>
              </a:ext>
            </a:extLst>
          </p:cNvPr>
          <p:cNvSpPr txBox="1"/>
          <p:nvPr/>
        </p:nvSpPr>
        <p:spPr>
          <a:xfrm>
            <a:off x="861238" y="5931445"/>
            <a:ext cx="1977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Master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49E1F2-755E-4C04-AE73-D82468832887}"/>
              </a:ext>
            </a:extLst>
          </p:cNvPr>
          <p:cNvSpPr txBox="1"/>
          <p:nvPr/>
        </p:nvSpPr>
        <p:spPr>
          <a:xfrm>
            <a:off x="861238" y="4765408"/>
            <a:ext cx="1977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Dev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374333-2231-4708-997C-D497DAEEDF92}"/>
              </a:ext>
            </a:extLst>
          </p:cNvPr>
          <p:cNvSpPr txBox="1"/>
          <p:nvPr/>
        </p:nvSpPr>
        <p:spPr>
          <a:xfrm>
            <a:off x="1006302" y="5528258"/>
            <a:ext cx="1977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Dev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EB8269-BE24-44FF-ADCA-62D152C1A106}"/>
              </a:ext>
            </a:extLst>
          </p:cNvPr>
          <p:cNvSpPr txBox="1"/>
          <p:nvPr/>
        </p:nvSpPr>
        <p:spPr>
          <a:xfrm>
            <a:off x="8938823" y="4959921"/>
            <a:ext cx="20822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Long Running Feature Branches</a:t>
            </a:r>
          </a:p>
        </p:txBody>
      </p:sp>
    </p:spTree>
    <p:extLst>
      <p:ext uri="{BB962C8B-B14F-4D97-AF65-F5344CB8AC3E}">
        <p14:creationId xmlns:p14="http://schemas.microsoft.com/office/powerpoint/2010/main" val="3937834322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Git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/>
            <a:r>
              <a:rPr lang="en-GB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clone </a:t>
            </a:r>
            <a:r>
              <a:rPr lang="en-GB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https://gitlab.com/rsparks/7mri0070.git</a:t>
            </a:r>
            <a:r>
              <a:rPr lang="en-GB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./</a:t>
            </a:r>
            <a:r>
              <a:rPr lang="en-GB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endParaRPr lang="en-GB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GB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checkout –b </a:t>
            </a:r>
            <a:r>
              <a:rPr lang="en-GB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myAwesomeBranch</a:t>
            </a:r>
            <a:r>
              <a:rPr lang="en-GB" dirty="0"/>
              <a:t> to create a new branch</a:t>
            </a:r>
          </a:p>
          <a:p>
            <a:pPr lvl="3"/>
            <a:r>
              <a:rPr lang="en-GB" dirty="0"/>
              <a:t>Work on your branch as long as you want, using </a:t>
            </a:r>
            <a:r>
              <a:rPr lang="en-GB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commit </a:t>
            </a:r>
            <a:r>
              <a:rPr lang="en-GB" dirty="0">
                <a:latin typeface="+mn-lt"/>
                <a:cs typeface="Courier New" panose="02070309020205020404" pitchFamily="49" charset="0"/>
              </a:rPr>
              <a:t>to make local log files</a:t>
            </a:r>
          </a:p>
          <a:p>
            <a:pPr lvl="3"/>
            <a:r>
              <a:rPr lang="en-GB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status </a:t>
            </a:r>
            <a:r>
              <a:rPr lang="en-GB" dirty="0">
                <a:latin typeface="+mn-lt"/>
                <a:cs typeface="Courier New" panose="02070309020205020404" pitchFamily="49" charset="0"/>
              </a:rPr>
              <a:t>and </a:t>
            </a:r>
            <a:r>
              <a:rPr lang="en-GB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revert </a:t>
            </a:r>
            <a:r>
              <a:rPr lang="en-GB" dirty="0">
                <a:latin typeface="+mn-lt"/>
                <a:cs typeface="Courier New" panose="02070309020205020404" pitchFamily="49" charset="0"/>
              </a:rPr>
              <a:t>to check local changes and undo any changes you would not like</a:t>
            </a:r>
          </a:p>
          <a:p>
            <a:pPr lvl="3"/>
            <a:r>
              <a:rPr lang="en-GB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push </a:t>
            </a:r>
            <a:r>
              <a:rPr lang="en-GB" dirty="0">
                <a:latin typeface="+mn-lt"/>
                <a:cs typeface="Courier New" panose="02070309020205020404" pitchFamily="49" charset="0"/>
              </a:rPr>
              <a:t>to publish your log files to the server once tested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693F24-50C4-47F9-AA74-CCA0FF07CE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034" y="4166007"/>
            <a:ext cx="8943265" cy="2164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882620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Git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/>
            <a:r>
              <a:rPr lang="en-GB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clone </a:t>
            </a:r>
            <a:r>
              <a:rPr lang="en-GB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https://gitlab.com/rsparks/7mri0070.git</a:t>
            </a:r>
            <a:r>
              <a:rPr lang="en-GB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./</a:t>
            </a:r>
            <a:r>
              <a:rPr lang="en-GB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endParaRPr lang="en-GB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GB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checkout –b </a:t>
            </a:r>
            <a:r>
              <a:rPr lang="en-GB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myAwesomeBranch</a:t>
            </a:r>
            <a:r>
              <a:rPr lang="en-GB" dirty="0"/>
              <a:t> to create a new branch</a:t>
            </a:r>
          </a:p>
          <a:p>
            <a:pPr lvl="3"/>
            <a:r>
              <a:rPr lang="en-GB" dirty="0"/>
              <a:t>Work on your branch as long as you want, using </a:t>
            </a:r>
            <a:r>
              <a:rPr lang="en-GB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commit </a:t>
            </a:r>
            <a:r>
              <a:rPr lang="en-GB" dirty="0">
                <a:latin typeface="+mn-lt"/>
                <a:cs typeface="Courier New" panose="02070309020205020404" pitchFamily="49" charset="0"/>
              </a:rPr>
              <a:t>to make local log files</a:t>
            </a:r>
          </a:p>
          <a:p>
            <a:pPr lvl="3"/>
            <a:r>
              <a:rPr lang="en-GB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push </a:t>
            </a:r>
            <a:r>
              <a:rPr lang="en-GB" dirty="0">
                <a:latin typeface="+mn-lt"/>
                <a:cs typeface="Courier New" panose="02070309020205020404" pitchFamily="49" charset="0"/>
              </a:rPr>
              <a:t>will publish your log files to the server</a:t>
            </a:r>
          </a:p>
          <a:p>
            <a:pPr marL="269875" lvl="3" indent="0">
              <a:buNone/>
            </a:pPr>
            <a:endParaRPr lang="en-GB" dirty="0">
              <a:latin typeface="+mn-lt"/>
              <a:cs typeface="Courier New" panose="02070309020205020404" pitchFamily="49" charset="0"/>
            </a:endParaRPr>
          </a:p>
          <a:p>
            <a:pPr lvl="2"/>
            <a:r>
              <a:rPr lang="en-GB" dirty="0">
                <a:cs typeface="Courier New" panose="02070309020205020404" pitchFamily="49" charset="0"/>
              </a:rPr>
              <a:t>When you are done with your branch and are ready to merge</a:t>
            </a:r>
          </a:p>
          <a:p>
            <a:pPr lvl="3"/>
            <a:r>
              <a:rPr lang="en-GB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pull </a:t>
            </a:r>
            <a:r>
              <a:rPr lang="en-GB" dirty="0">
                <a:cs typeface="Courier New" panose="02070309020205020404" pitchFamily="49" charset="0"/>
              </a:rPr>
              <a:t>to update everything from the server </a:t>
            </a:r>
          </a:p>
          <a:p>
            <a:pPr lvl="3"/>
            <a:r>
              <a:rPr lang="en-GB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merge </a:t>
            </a:r>
            <a:r>
              <a:rPr lang="en-GB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myAwesomeBranch</a:t>
            </a:r>
            <a:r>
              <a:rPr lang="en-GB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master </a:t>
            </a:r>
            <a:r>
              <a:rPr lang="en-GB" dirty="0">
                <a:cs typeface="Courier New" panose="02070309020205020404" pitchFamily="49" charset="0"/>
              </a:rPr>
              <a:t>to merge to master branch</a:t>
            </a:r>
          </a:p>
          <a:p>
            <a:pPr lvl="4"/>
            <a:r>
              <a:rPr lang="en-GB" dirty="0">
                <a:cs typeface="Courier New" panose="02070309020205020404" pitchFamily="49" charset="0"/>
              </a:rPr>
              <a:t>If there are conflicts you will need to resolve them before finishing your merge</a:t>
            </a:r>
          </a:p>
          <a:p>
            <a:pPr lvl="3"/>
            <a:r>
              <a:rPr lang="en-GB" dirty="0">
                <a:cs typeface="Courier New" panose="02070309020205020404" pitchFamily="49" charset="0"/>
              </a:rPr>
              <a:t>Remember</a:t>
            </a:r>
            <a:r>
              <a:rPr lang="en-GB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git push </a:t>
            </a:r>
            <a:r>
              <a:rPr lang="en-GB" dirty="0">
                <a:cs typeface="Courier New" panose="02070309020205020404" pitchFamily="49" charset="0"/>
              </a:rPr>
              <a:t>to publish your merge to the server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15996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Fork?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GB" dirty="0"/>
              <a:t>If you try to push to </a:t>
            </a:r>
            <a:r>
              <a:rPr lang="en-GB" dirty="0" err="1"/>
              <a:t>rsparks</a:t>
            </a:r>
            <a:r>
              <a:rPr lang="en-GB" dirty="0"/>
              <a:t>/ 7mri0070 you are going to get an error because you are not a developer</a:t>
            </a:r>
          </a:p>
          <a:p>
            <a:pPr marL="612775" lvl="2" indent="-342900">
              <a:buFont typeface="Arial" panose="020B0604020202020204" pitchFamily="34" charset="0"/>
              <a:buChar char="•"/>
            </a:pPr>
            <a:r>
              <a:rPr lang="en-GB" dirty="0"/>
              <a:t>Many project control who is allowed to publish commits to their code</a:t>
            </a:r>
          </a:p>
          <a:p>
            <a:pPr marL="612775" lvl="2" indent="-342900">
              <a:buFont typeface="Arial" panose="020B0604020202020204" pitchFamily="34" charset="0"/>
              <a:buChar char="•"/>
            </a:pPr>
            <a:r>
              <a:rPr lang="en-GB" dirty="0"/>
              <a:t>While we could copy and paste that is bad form (similar to plagiarising, as you are hiding other contributions)</a:t>
            </a:r>
          </a:p>
          <a:p>
            <a:pPr marL="612775" lvl="2" indent="-342900">
              <a:buFont typeface="Arial" panose="020B0604020202020204" pitchFamily="34" charset="0"/>
              <a:buChar char="•"/>
            </a:pPr>
            <a:r>
              <a:rPr lang="en-GB" dirty="0"/>
              <a:t>Fork can let you copy the project and history to make changes while keeping clear contributions of the original authors.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84D4C3-78DA-4D78-9D98-11924E65F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846" y="3970228"/>
            <a:ext cx="8943265" cy="21646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F682D31-5683-4339-9011-2391287932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354" y="4115775"/>
            <a:ext cx="5953125" cy="256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40834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Other Git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GB" dirty="0"/>
              <a:t>Git choose your own adventure: </a:t>
            </a:r>
            <a:r>
              <a:rPr lang="en-GB" dirty="0">
                <a:hlinkClick r:id="rId2"/>
              </a:rPr>
              <a:t>http://sethrobertson.github.io/GitFixUm/fixup.html</a:t>
            </a:r>
            <a:endParaRPr lang="en-GB" dirty="0"/>
          </a:p>
          <a:p>
            <a:pPr lvl="1"/>
            <a:r>
              <a:rPr lang="en-GB" dirty="0"/>
              <a:t>Git Documentation: </a:t>
            </a:r>
            <a:r>
              <a:rPr lang="en-GB" dirty="0">
                <a:hlinkClick r:id="rId3"/>
              </a:rPr>
              <a:t>https://git-scm.com/docs/gittutorial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70062744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Git Cheat 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00" y="1089220"/>
            <a:ext cx="3556541" cy="4856400"/>
          </a:xfrm>
        </p:spPr>
        <p:txBody>
          <a:bodyPr/>
          <a:lstStyle/>
          <a:p>
            <a:pPr lvl="1"/>
            <a:r>
              <a:rPr lang="en-GB" dirty="0"/>
              <a:t>To retrieve data from repository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clone</a:t>
            </a:r>
            <a:r>
              <a:rPr lang="en-GB" dirty="0"/>
              <a:t>: checkout out code from repository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fetch</a:t>
            </a:r>
            <a:r>
              <a:rPr lang="en-GB" dirty="0"/>
              <a:t>: check repository for changes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checkout</a:t>
            </a:r>
            <a:r>
              <a:rPr lang="en-GB" dirty="0"/>
              <a:t>: –b &lt;branch&gt; check out specific branch from repository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pull</a:t>
            </a:r>
            <a:r>
              <a:rPr lang="en-GB" dirty="0"/>
              <a:t>: update local branch from repository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A76D751-C668-42E0-B958-52669A294A7F}"/>
              </a:ext>
            </a:extLst>
          </p:cNvPr>
          <p:cNvSpPr txBox="1">
            <a:spLocks/>
          </p:cNvSpPr>
          <p:nvPr/>
        </p:nvSpPr>
        <p:spPr>
          <a:xfrm>
            <a:off x="4036542" y="1060290"/>
            <a:ext cx="3352800" cy="4856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None/>
              <a:defRPr sz="2000" kern="1200">
                <a:solidFill>
                  <a:srgbClr val="0A2D50"/>
                </a:solidFill>
                <a:latin typeface="Impact"/>
                <a:ea typeface="+mn-ea"/>
                <a:cs typeface="Impact"/>
              </a:defRPr>
            </a:lvl1pPr>
            <a:lvl2pPr marL="0" indent="0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None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269875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539750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809625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auto">
              <a:spcAft>
                <a:spcPts val="0"/>
              </a:spcAft>
            </a:pPr>
            <a:r>
              <a:rPr lang="en-GB" dirty="0"/>
              <a:t>To check history</a:t>
            </a:r>
          </a:p>
          <a:p>
            <a:pPr marL="342900" lvl="1" indent="-342900" fontAlgn="auto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status</a:t>
            </a:r>
            <a:r>
              <a:rPr lang="en-GB" dirty="0"/>
              <a:t>: check what local files differ from last commit to you branch; check commits differ from repository</a:t>
            </a:r>
          </a:p>
          <a:p>
            <a:pPr marL="342900" lvl="1" indent="-342900" fontAlgn="auto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log</a:t>
            </a:r>
            <a:r>
              <a:rPr lang="en-GB" dirty="0"/>
              <a:t>: check history of all commits</a:t>
            </a:r>
          </a:p>
          <a:p>
            <a:pPr marL="342900" lvl="1" indent="-342900" fontAlgn="auto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E08BF47-018D-494D-9B60-0B61350B1A0F}"/>
              </a:ext>
            </a:extLst>
          </p:cNvPr>
          <p:cNvSpPr txBox="1">
            <a:spLocks/>
          </p:cNvSpPr>
          <p:nvPr/>
        </p:nvSpPr>
        <p:spPr>
          <a:xfrm>
            <a:off x="7553843" y="1000800"/>
            <a:ext cx="4310049" cy="4856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None/>
              <a:defRPr sz="2000" kern="1200">
                <a:solidFill>
                  <a:srgbClr val="0A2D50"/>
                </a:solidFill>
                <a:latin typeface="Impact"/>
                <a:ea typeface="+mn-ea"/>
                <a:cs typeface="Impact"/>
              </a:defRPr>
            </a:lvl1pPr>
            <a:lvl2pPr marL="0" indent="0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None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269875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539750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4pPr>
            <a:lvl5pPr marL="809625" indent="-26987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auto">
              <a:spcAft>
                <a:spcPts val="0"/>
              </a:spcAft>
            </a:pPr>
            <a:r>
              <a:rPr lang="en-GB" dirty="0"/>
              <a:t>To push data to repository</a:t>
            </a:r>
          </a:p>
          <a:p>
            <a:pPr marL="342900" lvl="1" indent="-342900" fontAlgn="auto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push</a:t>
            </a:r>
            <a:r>
              <a:rPr lang="en-GB" dirty="0"/>
              <a:t>: push data to repository. This will fail if your local repository is not up to date</a:t>
            </a:r>
          </a:p>
          <a:p>
            <a:pPr marL="342900" lvl="1" indent="-342900" fontAlgn="auto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merge</a:t>
            </a:r>
            <a:r>
              <a:rPr lang="en-GB" dirty="0">
                <a:latin typeface="+mn-lt"/>
                <a:cs typeface="Courier New" panose="02070309020205020404" pitchFamily="49" charset="0"/>
              </a:rPr>
              <a:t>: merge two branches</a:t>
            </a:r>
          </a:p>
          <a:p>
            <a:pPr marL="342900" lvl="1" indent="-342900" fontAlgn="auto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 push --dry-run </a:t>
            </a:r>
            <a:r>
              <a:rPr lang="en-GB" dirty="0">
                <a:latin typeface="+mn-lt"/>
                <a:cs typeface="Courier New" panose="02070309020205020404" pitchFamily="49" charset="0"/>
              </a:rPr>
              <a:t>to see what would happen if you pushed to repository </a:t>
            </a:r>
            <a:endParaRPr lang="en-GB" dirty="0">
              <a:latin typeface="+mn-lt"/>
            </a:endParaRPr>
          </a:p>
          <a:p>
            <a:pPr marL="342900" lvl="1" indent="-342900" fontAlgn="auto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8080436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KCL UPDATE v4 4x3">
  <a:themeElements>
    <a:clrScheme name="KCL">
      <a:dk1>
        <a:sysClr val="windowText" lastClr="000000"/>
      </a:dk1>
      <a:lt1>
        <a:sysClr val="window" lastClr="FFFFFF"/>
      </a:lt1>
      <a:dk2>
        <a:srgbClr val="0A2D50"/>
      </a:dk2>
      <a:lt2>
        <a:srgbClr val="CDD7DC"/>
      </a:lt2>
      <a:accent1>
        <a:srgbClr val="E2231A"/>
      </a:accent1>
      <a:accent2>
        <a:srgbClr val="FF5F05"/>
      </a:accent2>
      <a:accent3>
        <a:srgbClr val="F5B90F"/>
      </a:accent3>
      <a:accent4>
        <a:srgbClr val="C8E128"/>
      </a:accent4>
      <a:accent5>
        <a:srgbClr val="009EA0"/>
      </a:accent5>
      <a:accent6>
        <a:srgbClr val="005AD2"/>
      </a:accent6>
      <a:hlink>
        <a:srgbClr val="E2231A"/>
      </a:hlink>
      <a:folHlink>
        <a:srgbClr val="E2231A"/>
      </a:folHlink>
    </a:clrScheme>
    <a:fontScheme name="KCL-fonts">
      <a:majorFont>
        <a:latin typeface="Impact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D80815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07MRI007_CodeDesign</Template>
  <TotalTime>2666</TotalTime>
  <Words>878</Words>
  <Application>Microsoft Office PowerPoint</Application>
  <PresentationFormat>Widescreen</PresentationFormat>
  <Paragraphs>103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KCL UPDATE v4 4x3</vt:lpstr>
      <vt:lpstr>PowerPoint Presentation</vt:lpstr>
      <vt:lpstr>Why use Version Control</vt:lpstr>
      <vt:lpstr>Code Repository</vt:lpstr>
      <vt:lpstr>Code Repository</vt:lpstr>
      <vt:lpstr>Code Repository</vt:lpstr>
      <vt:lpstr>Version Control – Branch </vt:lpstr>
      <vt:lpstr>Version Control – Master </vt:lpstr>
      <vt:lpstr>Git Workflow</vt:lpstr>
      <vt:lpstr>Git Workflow</vt:lpstr>
      <vt:lpstr>Why Fork?</vt:lpstr>
      <vt:lpstr>Other Git Resources</vt:lpstr>
      <vt:lpstr>Git Cheat Sheet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rachel.e.sparks</dc:creator>
  <cp:lastModifiedBy>Rachel</cp:lastModifiedBy>
  <cp:revision>32</cp:revision>
  <dcterms:created xsi:type="dcterms:W3CDTF">2020-01-24T11:58:29Z</dcterms:created>
  <dcterms:modified xsi:type="dcterms:W3CDTF">2024-01-20T12:24:48Z</dcterms:modified>
</cp:coreProperties>
</file>